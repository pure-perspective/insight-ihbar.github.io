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vector1.svg" ContentType="image/svg+xml"/>
  <Override PartName="/ppt/media/vector10.svg" ContentType="image/svg+xml"/>
  <Override PartName="/ppt/media/vector11.svg" ContentType="image/svg+xml"/>
  <Override PartName="/ppt/media/vector12.svg" ContentType="image/svg+xml"/>
  <Override PartName="/ppt/media/vector13.svg" ContentType="image/svg+xml"/>
  <Override PartName="/ppt/media/vector14.svg" ContentType="image/svg+xml"/>
  <Override PartName="/ppt/media/vector2.svg" ContentType="image/svg+xml"/>
  <Override PartName="/ppt/media/vector3.svg" ContentType="image/svg+xml"/>
  <Override PartName="/ppt/media/vector4.svg" ContentType="image/svg+xml"/>
  <Override PartName="/ppt/media/vector5.svg" ContentType="image/svg+xml"/>
  <Override PartName="/ppt/media/vector6.svg" ContentType="image/svg+xml"/>
  <Override PartName="/ppt/media/vector7.svg" ContentType="image/svg+xml"/>
  <Override PartName="/ppt/media/vector8.svg" ContentType="image/svg+xml"/>
  <Override PartName="/ppt/media/vector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[01/100] Circuit Quantization and Josephson Anharmonicity</a:t>
            </a:r>
          </a:p>
          <a:p/>
          <a:p>
            <a:r>
              <a:t>PHYS598500 · WEEK 2</a:t>
            </a:r>
          </a:p>
          <a:p>
            <a:r>
              <a:t>Circuit Quantization and Josephson Anharmonicity</a:t>
            </a:r>
          </a:p>
          <a:p>
            <a:r>
              <a:t>PHYS598500 · Week 2 · T2</a:t>
            </a:r>
          </a:p>
          <a:p>
            <a:r>
              <a:t>Hardware → Protection → Superconductivity → Josephson Nonlinearity</a:t>
            </a:r>
          </a:p>
          <a:p>
            <a:r>
              <a:t>Manual slide source</a:t>
            </a:r>
          </a:p>
          <a:p>
            <a:r>
              <a:t>01 / 100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[02/100] What Must a Quantum Hardware Platform Actually Do?</a:t>
            </a:r>
          </a:p>
          <a:p/>
          <a:p>
            <a:r>
              <a:t>PHYS598500 · WEEK 2</a:t>
            </a:r>
          </a:p>
          <a:p>
            <a:r>
              <a:t>What Must a Quantum Hardware Platform Actually Do?</a:t>
            </a:r>
          </a:p>
          <a:p>
            <a:r>
              <a:t>Hardware-first prelude · 30–40 min</a:t>
            </a:r>
          </a:p>
          <a:p>
            <a:r>
              <a:t>Start from the machine, then earn the Hamiltonian</a:t>
            </a:r>
          </a:p>
          <a:p>
            <a:r>
              <a:t>Manual slide source</a:t>
            </a:r>
          </a:p>
          <a:p>
            <a:r>
              <a:t>02 / 100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[03/100] What Must a Quantum Hardware Platform Actually Do?</a:t>
            </a:r>
          </a:p>
          <a:p/>
          <a:p>
            <a:r>
              <a:t>PHYS598500 · WEEK 2</a:t>
            </a:r>
          </a:p>
          <a:p>
            <a:r>
              <a:t>What Must a Quantum Hardware Platform Actually Do?</a:t>
            </a:r>
          </a:p>
          <a:p>
            <a:r>
              <a:t>Superconducting Circuits · Josephson Artificial Atoms</a:t>
            </a:r>
          </a:p>
          <a:p>
            <a:r>
              <a:t>Representative companies: IBM Quantum, Google Quantum AI, Rigetti, IQM, Fujitsu, SEEQC, Alice &amp; Bob, D-Wave</a:t>
            </a:r>
          </a:p>
          <a:p>
            <a:r>
              <a:t>Superconducting processor used in a cross-platform algorithm comparison. Figure 1a, Linke et al., PNAS 114, 3305 (2017), doi:10.1073/pnas.1618020114.</a:t>
            </a:r>
          </a:p>
          <a:p>
            <a:r>
              <a:t>Manual slide source</a:t>
            </a:r>
          </a:p>
          <a:p>
            <a:r>
              <a:t>03 / 100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[04/100] What Must a Quantum Hardware Platform Actually Do?</a:t>
            </a:r>
          </a:p>
          <a:p/>
          <a:p>
            <a:r>
              <a:t>PHYS598500 · WEEK 2</a:t>
            </a:r>
          </a:p>
          <a:p>
            <a:r>
              <a:t>What Must a Quantum Hardware Platform Actually Do?</a:t>
            </a:r>
          </a:p>
          <a:p>
            <a:r>
              <a:t>Trapped Ions · Atomic Qubits in a Quantum CCD</a:t>
            </a:r>
          </a:p>
          <a:p>
            <a:r>
              <a:t>Representative companies: IonQ, Quantinuum, AQT, eleQtron</a:t>
            </a:r>
          </a:p>
          <a:p>
            <a:r>
              <a:t>Ion-trap quantum processor: laser beams manipulate seven trapped-ion qubits between surrounding electrodes. E. Cartlidge, Nature (24 May 2023), source.</a:t>
            </a:r>
          </a:p>
          <a:p>
            <a:r>
              <a:t>Manual slide source</a:t>
            </a:r>
          </a:p>
          <a:p>
            <a:r>
              <a:t>04 / 100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[05/100] What Must a Quantum Hardware Platform Actually Do?</a:t>
            </a:r>
          </a:p>
          <a:p/>
          <a:p>
            <a:r>
              <a:t>PHYS598500 · WEEK 2</a:t>
            </a:r>
          </a:p>
          <a:p>
            <a:r>
              <a:t>What Must a Quantum Hardware Platform Actually Do?</a:t>
            </a:r>
          </a:p>
          <a:p>
            <a:r>
              <a:t>Neutral Atoms · Reconfigurable Tweezer Arrays</a:t>
            </a:r>
          </a:p>
          <a:p>
            <a:r>
              <a:t>Representative companies: QuEra, Pasqal, Atom Computing, Infleqtion</a:t>
            </a:r>
          </a:p>
          <a:p>
            <a:r>
              <a:t>Programmable logical processor with spatially separated storage, Rydberg-entangling, and readout zones. Figure 1, Bluvstein et al., Nature 626, 58 (2024), doi:10.1038/s41586-023-06927-3.</a:t>
            </a:r>
          </a:p>
          <a:p>
            <a:r>
              <a:t>Manual slide source</a:t>
            </a:r>
          </a:p>
          <a:p>
            <a:r>
              <a:t>05 / 100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[06/100] What Must a Quantum Hardware Platform Actually Do?</a:t>
            </a:r>
          </a:p>
          <a:p/>
          <a:p>
            <a:r>
              <a:t>PHYS598500 · WEEK 2</a:t>
            </a:r>
          </a:p>
          <a:p>
            <a:r>
              <a:t>What Must a Quantum Hardware Platform Actually Do?</a:t>
            </a:r>
          </a:p>
          <a:p>
            <a:r>
              <a:t>Semiconductor Spins · Two Electrons, One CNOT</a:t>
            </a:r>
          </a:p>
          <a:p>
            <a:r>
              <a:t>Representative companies: Intel, Diraq, Quantum Motion, Equal1, Silicon Quantum Computing</a:t>
            </a:r>
          </a:p>
          <a:p>
            <a:r>
              <a:t>Two electron-spin qubits in a Si/SiGe double quantum dot and the magnetic-field gradient used for addressability. Figure 1, Zajac et al., Science 359, 439 (2018), doi:10.1126/science.aao5965.</a:t>
            </a:r>
          </a:p>
          <a:p>
            <a:r>
              <a:t>Manual slide source</a:t>
            </a:r>
          </a:p>
          <a:p>
            <a:r>
              <a:t>06 / 100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[07/100] What Must a Quantum Hardware Platform Actually Do?</a:t>
            </a:r>
          </a:p>
          <a:p/>
          <a:p>
            <a:r>
              <a:t>PHYS598500 · WEEK 2</a:t>
            </a:r>
          </a:p>
          <a:p>
            <a:r>
              <a:t>What Must a Quantum Hardware Platform Actually Do?</a:t>
            </a:r>
          </a:p>
          <a:p>
            <a:r>
              <a:t>Electrons on Helium · A Nearly Defect-Free Interface</a:t>
            </a:r>
          </a:p>
          <a:p>
            <a:r>
              <a:t>Representative company: EeroQ</a:t>
            </a:r>
          </a:p>
          <a:p>
            <a:r>
              <a:t>Electron-on-helium quantum dot integrated with circuit QED: device, control schematic, micrograph, and cross-section. Figure 1, Koolstra et al., Nature Communications 10, 5323 (2019), doi:10.1038/s41467-019-13335-7.</a:t>
            </a:r>
          </a:p>
          <a:p>
            <a:r>
              <a:t>Manual slide source</a:t>
            </a:r>
          </a:p>
          <a:p>
            <a:r>
              <a:t>07 / 100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[08/100] What Must a Quantum Hardware Platform Actually Do?</a:t>
            </a:r>
          </a:p>
          <a:p/>
          <a:p>
            <a:r>
              <a:t>PHYS598500 · WEEK 2</a:t>
            </a:r>
          </a:p>
          <a:p>
            <a:r>
              <a:t>What Must a Quantum Hardware Platform Actually Do?</a:t>
            </a:r>
          </a:p>
          <a:p>
            <a:r>
              <a:t>Photonics · Light Is Both the Qubit and the Bus</a:t>
            </a:r>
          </a:p>
          <a:p>
            <a:r>
              <a:t>Representative companies: Xanadu, PsiQuantum, Quandela, ORCA Computing</a:t>
            </a:r>
          </a:p>
          <a:p>
            <a:r>
              <a:t>Photonic chip, superconducting nanowire detector, and Gaussian boson sampling network. Direct images: PIC, detector, and GBS.</a:t>
            </a:r>
          </a:p>
          <a:p>
            <a:r>
              <a:t>Manual slide source</a:t>
            </a:r>
          </a:p>
          <a:p>
            <a:r>
              <a:t>08 / 100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[09/100] What Must a Quantum Hardware Platform Actually Do?</a:t>
            </a:r>
          </a:p>
          <a:p/>
          <a:p>
            <a:r>
              <a:t>PHYS598500 · WEEK 2</a:t>
            </a:r>
          </a:p>
          <a:p>
            <a:r>
              <a:t>What Must a Quantum Hardware Platform Actually Do?</a:t>
            </a:r>
          </a:p>
          <a:p>
            <a:r>
              <a:t>DiVincenzo Criteria: A Hardware Design Contract</a:t>
            </a:r>
          </a:p>
          <a:p>
            <a:r>
              <a:t>1 · Scalable qubits</a:t>
            </a:r>
          </a:p>
          <a:p>
            <a:r>
              <a:t>A scalable physical system with well-characterized qubits</a:t>
            </a:r>
          </a:p>
          <a:p>
            <a:r>
              <a:t>2 · Initialization</a:t>
            </a:r>
          </a:p>
          <a:p>
            <a:r>
              <a:t>Prepare a simple fiducial state such as</a:t>
            </a:r>
          </a:p>
          <a:p>
            <a:r>
              <a:t>3 · Long coherence</a:t>
            </a:r>
          </a:p>
          <a:p>
            <a:r>
              <a:t>Decoherence times must greatly exceed operation times</a:t>
            </a:r>
          </a:p>
          <a:p>
            <a:r>
              <a:t>4 · Universal control</a:t>
            </a:r>
          </a:p>
          <a:p>
            <a:r>
              <a:t>A universal set of one- and two-qubit gates</a:t>
            </a:r>
          </a:p>
          <a:p>
            <a:r>
              <a:t>5 · Measurement</a:t>
            </a:r>
          </a:p>
          <a:p>
            <a:r>
              <a:t>Qubit-specific, high-fidelity readout</a:t>
            </a:r>
          </a:p>
          <a:p>
            <a:r>
              <a:t>6 · Stationary ↔ flying</a:t>
            </a:r>
          </a:p>
          <a:p>
            <a:r>
              <a:t>Interconvert memory qubits and communication qubits</a:t>
            </a:r>
          </a:p>
          <a:p>
            <a:r>
              <a:t>7 · Transmission</a:t>
            </a:r>
          </a:p>
          <a:p>
            <a:r>
              <a:t>Faithfully send flying qubits between locations</a:t>
            </a:r>
          </a:p>
          <a:p>
            <a:r>
              <a:t>Source: D. P. DiVincenzo, “The Physical Implementation of Quantum Computation” (2000), IBM Research publication page.</a:t>
            </a:r>
          </a:p>
          <a:p>
            <a:r>
              <a:t>Manual slide source</a:t>
            </a:r>
          </a:p>
          <a:p>
            <a:r>
              <a:t>09 / 100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[10/100] What Must a Quantum Hardware Platform Actually Do?</a:t>
            </a:r>
          </a:p>
          <a:p/>
          <a:p>
            <a:r>
              <a:t>PHYS598500 · WEEK 2</a:t>
            </a:r>
          </a:p>
          <a:p>
            <a:r>
              <a:t>What Must a Quantum Hardware Platform Actually Do?</a:t>
            </a:r>
          </a:p>
          <a:p>
            <a:r>
              <a:t>Superconducting Circuits vs Trapped Ions</a:t>
            </a:r>
          </a:p>
          <a:p>
            <a:r>
              <a:t>Figure 1, Linke et al., PNAS 114, 3305 (2017), doi:10.1073/pnas.1618020114.</a:t>
            </a:r>
          </a:p>
          <a:p>
            <a:r>
              <a:t>Engineering trade-off: Stronger isolation preserves coherence but slows control. Stronger coupling speeds control but opens more noise channels.</a:t>
            </a:r>
          </a:p>
          <a:p>
            <a:r>
              <a:t>Times and connectivity are the measured 2017 devices in Linke et al. Ion shuttling reference: Pino et al., Nature 592, 209 (2021), doi:10.1038/s41586-021-03318-4.</a:t>
            </a:r>
          </a:p>
          <a:p>
            <a:r>
              <a:t>Manual slide source</a:t>
            </a:r>
          </a:p>
          <a:p>
            <a:r>
              <a:t>10 / 100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[11/100] What Must a Quantum Hardware Platform Actually Do?</a:t>
            </a:r>
          </a:p>
          <a:p/>
          <a:p>
            <a:r>
              <a:t>PHYS598500 · WEEK 2</a:t>
            </a:r>
          </a:p>
          <a:p>
            <a:r>
              <a:t>What Must a Quantum Hardware Platform Actually Do?</a:t>
            </a:r>
          </a:p>
          <a:p>
            <a:r>
              <a:t>Planar Layout and 3D Cavity Solve Different Electromagnetic Problems</a:t>
            </a:r>
          </a:p>
          <a:p>
            <a:r>
              <a:t>Planar chip layout. Readout resonators, control wiring, coupling graph, and chip edges are all part of the mode structure. Cropped from Figure 1A, Linke et al., PNAS (2017), DOI.</a:t>
            </a:r>
          </a:p>
          <a:p>
            <a:r>
              <a:t>3D circuit QED. The enclosure itself becomes the resonator. The photograph and micrograph show the centimetre cavity and transmon antenna; panel c shows the nonlinear cavity response. Figure 1, Paik et al., Phys. Rev. Lett. 107, 240501 (2011), DOI.</a:t>
            </a:r>
          </a:p>
          <a:p>
            <a:r>
              <a:t>Manual slide source</a:t>
            </a:r>
          </a:p>
          <a:p>
            <a:r>
              <a:t>11 / 100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[12/100] Source PPT · Page 82</a:t>
            </a:r>
          </a:p>
          <a:p/>
          <a:p>
            <a:r>
              <a:t>https://www.researchgate.net/figure/An-image-of-IBMs-five-qubit-processor-with-its-main-elements-highlighted-including-the_fig4_358153899 · https://www.youtube.com/watch?v=2pB87H3_F_c · https://www.anl.gov/article/resurrecting-niobium-for-quantum-science · Ref: 10.1557/mrs.2013.229 · https://electronics360.globalspec.com/article/13553/how-quantum-computers-work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[13/100] Source PPT · Page 82</a:t>
            </a:r>
          </a:p>
          <a:p/>
          <a:p>
            <a:r>
              <a:t>Zooming into the junction: the cross-sectional TEM (d) shows the Pt cap, C cap, Top-Al, the ~1 nm AlOx tunnel barrier, Bottom Al on Si, with interfacial defects (blue arrows).</a:t>
            </a:r>
          </a:p>
          <a:p>
            <a:r>
              <a:t>Sources: IBM processor image · IBM qubit-cell schematic · Argonne niobium-junction article · Al/AlOx/Al TEM, DOI: 10.1557/mrs.2013.229 · Electronics360 overview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[14/100] IBM Five-Qubit Processor</a:t>
            </a:r>
          </a:p>
          <a:p/>
          <a:p>
            <a:r>
              <a:t>PHYS598500 · WEEK 2</a:t>
            </a:r>
          </a:p>
          <a:p>
            <a:r>
              <a:t>IBM Five-Qubit Processor</a:t>
            </a:r>
          </a:p>
          <a:p>
            <a:r>
              <a:t>Five Qubits Share Readout and Bus Resonators</a:t>
            </a:r>
          </a:p>
          <a:p>
            <a:r>
              <a:t>IBM's five-qubit processor. Red regions mark qubits, yellow identifies the shared bus, and blue identifies control and readout resonators.</a:t>
            </a:r>
          </a:p>
          <a:p>
            <a:r>
              <a:t>Each qubit occupies a local circuit cell.</a:t>
            </a:r>
          </a:p>
          <a:p>
            <a:r>
              <a:t>The bus resonator provides shared coupling.</a:t>
            </a:r>
          </a:p>
          <a:p>
            <a:r>
              <a:t>The physical layout belongs to the Hamiltonian.</a:t>
            </a:r>
          </a:p>
          <a:p>
            <a:r>
              <a:t>Reference retained from PPT P82: [1] ResearchGate figure, IBM five-qubit processor.</a:t>
            </a:r>
          </a:p>
          <a:p>
            <a:r>
              <a:t>Manual slide source</a:t>
            </a:r>
          </a:p>
          <a:p>
            <a:r>
              <a:t>14 / 100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[15/100] IBM Five-Qubit Processor</a:t>
            </a:r>
          </a:p>
          <a:p/>
          <a:p>
            <a:r>
              <a:t>PHYS598500 · WEEK 2</a:t>
            </a:r>
          </a:p>
          <a:p>
            <a:r>
              <a:t>IBM Five-Qubit Processor</a:t>
            </a:r>
          </a:p>
          <a:p>
            <a:r>
              <a:t>One Qubit Connects a Capacitor, Junction, Readout Port, and Bus</a:t>
            </a:r>
          </a:p>
          <a:p>
            <a:r>
              <a:t>The niobium pads provide the large shunt capacitance. The aluminum Josephson junction adds nonlinear inductance. Separate couplers connect the cell to its readout resonator and the quantum bus.</a:t>
            </a:r>
          </a:p>
          <a:p>
            <a:r>
              <a:t>Reference retained from PPT P82: [2] https://www.youtube.com/watch?v=2pB87H3_F_c.</a:t>
            </a:r>
          </a:p>
          <a:p>
            <a:r>
              <a:t>Manual slide source</a:t>
            </a:r>
          </a:p>
          <a:p>
            <a:r>
              <a:t>15 / 100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[16/100] Qubit Cell and Junction Stack</a:t>
            </a:r>
          </a:p>
          <a:p/>
          <a:p>
            <a:r>
              <a:t>PHYS598500 · WEEK 2</a:t>
            </a:r>
          </a:p>
          <a:p>
            <a:r>
              <a:t>Qubit Cell and Junction Stack</a:t>
            </a:r>
          </a:p>
          <a:p>
            <a:r>
              <a:t>From the Qubit Cell to the Nanometre Junction Stack</a:t>
            </a:r>
          </a:p>
          <a:p>
            <a:r>
              <a:t>The niobium pads provide the large shunt capacitance. The aluminum Josephson junction adds nonlinear inductance. Separate couplers connect the cell to its readout resonator and the quantum bus.</a:t>
            </a:r>
          </a:p>
          <a:p>
            <a:r>
              <a:t>Zooming into the junction: the cross-sectional TEM (d) shows the Pt cap, C cap, Top-Al, the ~1 nm AlOx tunnel barrier, Bottom Al on Si, with interfacial defects (blue arrows).</a:t>
            </a:r>
          </a:p>
          <a:p>
            <a:r>
              <a:t>Qubit cell: https://www.youtube.com/watch?v=2pB87H3_F_c · ResearchGate, IBM five-qubit processor. Al/AlOx/Al junction TEM: 10.1016/j.apsusc.2023.158337.</a:t>
            </a:r>
          </a:p>
          <a:p>
            <a:r>
              <a:t>Manual slide source</a:t>
            </a:r>
          </a:p>
          <a:p>
            <a:r>
              <a:t>16 / 100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[17/100] Josephson Junction Hardware</a:t>
            </a:r>
          </a:p>
          <a:p/>
          <a:p>
            <a:r>
              <a:t>PHYS598500 · WEEK 2</a:t>
            </a:r>
          </a:p>
          <a:p>
            <a:r>
              <a:t>Josephson Junction Hardware</a:t>
            </a:r>
          </a:p>
          <a:p>
            <a:r>
              <a:t>A Nanometre-Scale Barrier Sets the Junction Properties</a:t>
            </a:r>
          </a:p>
          <a:p>
            <a:r>
              <a:t>The insulating barrier is roughly one nanometre thick. Shadow-evaporated Al/AlOx/Al junctions and multilayer processes realize the same superconducting tunnel element with different fabrication stacks.</a:t>
            </a:r>
          </a:p>
          <a:p>
            <a:r>
              <a:t>A fabricated junction viewed at submicrometre scale.</a:t>
            </a:r>
          </a:p>
          <a:p>
            <a:r>
              <a:t>References retained from PPT P82: [3] Argonne, “Resurrecting niobium for quantum science”. [4] Ref: 10.1557/mrs.2013.229.</a:t>
            </a:r>
          </a:p>
          <a:p>
            <a:r>
              <a:t>Manual slide source</a:t>
            </a:r>
          </a:p>
          <a:p>
            <a:r>
              <a:t>17 / 100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[18/100] Transmon Spectrum</a:t>
            </a:r>
          </a:p>
          <a:p/>
          <a:p>
            <a:r>
              <a:t>PHYS598500 · WEEK 2</a:t>
            </a:r>
          </a:p>
          <a:p>
            <a:r>
              <a:t>Transmon Spectrum</a:t>
            </a:r>
          </a:p>
          <a:p>
            <a:r>
              <a:t>Josephson Nonlinearity Separates the Transmon Transitions</a:t>
            </a:r>
          </a:p>
          <a:p>
            <a:r>
              <a:t>The LC resonator has equally spaced levels. Replacing the linear inductor with a Josephson element produces a cosine potential and unequal transition frequencies.</a:t>
            </a:r>
          </a:p>
          <a:p>
            <a:r>
              <a:t>Linear LC oscillator.</a:t>
            </a:r>
          </a:p>
          <a:p>
            <a:r>
              <a:t>Transmon circuit.</a:t>
            </a:r>
          </a:p>
          <a:p>
            <a:r>
              <a:t>Computational subspace.</a:t>
            </a:r>
          </a:p>
          <a:p>
            <a:r>
              <a:t>Reference retained from PPT P82: [5] Electronics360, “How quantum computers work”.</a:t>
            </a:r>
          </a:p>
          <a:p>
            <a:r>
              <a:t>Manual slide source</a:t>
            </a:r>
          </a:p>
          <a:p>
            <a:r>
              <a:t>18 / 100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[19/100] What Is a Superconductor?</a:t>
            </a:r>
          </a:p>
          <a:p/>
          <a:p>
            <a:r>
              <a:t>PHYS598500 · WEEK 2</a:t>
            </a:r>
          </a:p>
          <a:p>
            <a:r>
              <a:t>What Is a Superconductor?</a:t>
            </a:r>
          </a:p>
          <a:p>
            <a:r>
              <a:t>Microscopic ingredients → circuit variables</a:t>
            </a:r>
          </a:p>
          <a:p>
            <a:r>
              <a:t>Gap, phase stiffness, and the length scales that hardware designers inherit</a:t>
            </a:r>
          </a:p>
          <a:p>
            <a:r>
              <a:t>Manual slide source</a:t>
            </a:r>
          </a:p>
          <a:p>
            <a:r>
              <a:t>19 / 100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[20/100] Superconductivity Primer</a:t>
            </a:r>
          </a:p>
          <a:p/>
          <a:p>
            <a:r>
              <a:t>PHYS598500 · WEEK 2</a:t>
            </a:r>
          </a:p>
          <a:p>
            <a:r>
              <a:t>Superconductivity Primer</a:t>
            </a:r>
          </a:p>
          <a:p>
            <a:r>
              <a:t>Below , Electrons Form a Collective State</a:t>
            </a:r>
          </a:p>
          <a:p>
            <a:r>
              <a:t>Pairing. Electrons near the Fermi level acquire a weak effective attraction through the crystal lattice and form Cooper pairs.</a:t>
            </a:r>
          </a:p>
          <a:p>
            <a:r>
              <a:t>Condensation. The pairs behave collectively and share a phase-coherent ground state.</a:t>
            </a:r>
          </a:p>
          <a:p>
            <a:r>
              <a:t>Energy gap. Creating quasiparticles or breaking a pair requires a finite energy .</a:t>
            </a:r>
          </a:p>
          <a:p>
            <a:r>
              <a:t>Zero dc resistivity. At low temperature, the gap suppresses the scattering processes responsible for ordinary resistance.</a:t>
            </a:r>
          </a:p>
          <a:p>
            <a:r>
              <a:t>Measured band-gap evidence for a Type-I superconductor.</a:t>
            </a:r>
          </a:p>
          <a:p>
            <a:r>
              <a:t>The weak-coupling BCS relation connects the zero-temperature gap to .</a:t>
            </a:r>
          </a:p>
          <a:p>
            <a:r>
              <a:t>Source and images: HyperPhysics, “BCS Theory of Superconductivity”.</a:t>
            </a:r>
          </a:p>
          <a:p>
            <a:r>
              <a:t>Manual slide source</a:t>
            </a:r>
          </a:p>
          <a:p>
            <a:r>
              <a:t>20 / 100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[21/100] Superconductivity Primer</a:t>
            </a:r>
          </a:p>
          <a:p/>
          <a:p>
            <a:r>
              <a:t>PHYS598500 · WEEK 2</a:t>
            </a:r>
          </a:p>
          <a:p>
            <a:r>
              <a:t>Superconductivity Primer</a:t>
            </a:r>
          </a:p>
          <a:p>
            <a:r>
              <a:t>The Gap Closes at  and Changes the Heat Capacity</a:t>
            </a:r>
          </a:p>
          <a:p>
            <a:r>
              <a:t>Microwave absorption. The measured gap decreases toward zero as the sample approaches .</a:t>
            </a:r>
          </a:p>
          <a:p>
            <a:r>
              <a:t>Vanadium heat capacity. The superconducting and field-driven normal states follow different temperature dependences.</a:t>
            </a:r>
          </a:p>
          <a:p>
            <a:r>
              <a:t>Activated behavior. The exponential low-temperature response provides evidence for a finite excitation gap.</a:t>
            </a:r>
          </a:p>
          <a:p>
            <a:r>
              <a:t>The gap weakens as  approaches . Above the transition, the paired state disappears and normal resistivity returns.</a:t>
            </a:r>
          </a:p>
          <a:p>
            <a:r>
              <a:t>Source and images: HyperPhysics, “BCS Theory of Superconductivity”. Vanadium data cited there to W. S. Korak et al., Phys. Rev. 102, 656 (1956).</a:t>
            </a:r>
          </a:p>
          <a:p>
            <a:r>
              <a:t>Manual slide source</a:t>
            </a:r>
          </a:p>
          <a:p>
            <a:r>
              <a:t>21 / 100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[22/100] Superconductivity Primer</a:t>
            </a:r>
          </a:p>
          <a:p/>
          <a:p>
            <a:r>
              <a:t>PHYS598500 · WEEK 2</a:t>
            </a:r>
          </a:p>
          <a:p>
            <a:r>
              <a:t>Superconductivity Primer</a:t>
            </a:r>
          </a:p>
          <a:p>
            <a:r>
              <a:t>Pairing Extends Far Beyond One Lattice Spacing</a:t>
            </a:r>
          </a:p>
          <a:p>
            <a:r>
              <a:t>A Cooper pair can correlate electrons over hundreds of nanometres, much farther than the spacing between neighboring ions.</a:t>
            </a:r>
          </a:p>
          <a:p>
            <a:r>
              <a:t>Single electrons are fermions. The Pauli exclusion principle prevents them from all occupying one state.</a:t>
            </a:r>
          </a:p>
          <a:p>
            <a:r>
              <a:t>A pair has integer total spin. Cooper pairs can therefore show boson-like collective behavior.</a:t>
            </a:r>
          </a:p>
          <a:p>
            <a:r>
              <a:t>The binding energy is small. It is typically measured in millielectron-volts, so superconductivity requires low temperature.</a:t>
            </a:r>
          </a:p>
          <a:p>
            <a:r>
              <a:t>The phase is macroscopic. A common condensate phase later becomes the circuit variable across a Josephson junction.</a:t>
            </a:r>
          </a:p>
          <a:p>
            <a:r>
              <a:t>Source and image: HyperPhysics, “Cooper Pairs”.</a:t>
            </a:r>
          </a:p>
          <a:p>
            <a:r>
              <a:t>Manual slide source</a:t>
            </a:r>
          </a:p>
          <a:p>
            <a:r>
              <a:t>22 / 100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[23/100] Superconductivity Primer</a:t>
            </a:r>
          </a:p>
          <a:p/>
          <a:p>
            <a:r>
              <a:t>PHYS598500 · WEEK 2</a:t>
            </a:r>
          </a:p>
          <a:p>
            <a:r>
              <a:t>Superconductivity Primer</a:t>
            </a:r>
          </a:p>
          <a:p>
            <a:r>
              <a:t>A Lattice Distortion Couples Two Electrons</a:t>
            </a:r>
          </a:p>
          <a:p>
            <a:r>
              <a:t>1</a:t>
            </a:r>
          </a:p>
          <a:p>
            <a:r>
              <a:t>2</a:t>
            </a:r>
          </a:p>
          <a:p>
            <a:r>
              <a:t>The bare Coulomb interaction remains repulsive. The delayed response of the lattice adds an effective low-energy attraction that can bind time-reversed electron states.</a:t>
            </a:r>
          </a:p>
          <a:p>
            <a:r>
              <a:t>Source and images: HyperPhysics, “A model of Cooper pair attraction”.</a:t>
            </a:r>
          </a:p>
          <a:p>
            <a:r>
              <a:t>Manual slide source</a:t>
            </a:r>
          </a:p>
          <a:p>
            <a:r>
              <a:t>23 / 100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[24/100] Superconductivity Primer</a:t>
            </a:r>
          </a:p>
          <a:p/>
          <a:p>
            <a:r>
              <a:t>PHYS598500 · WEEK 2</a:t>
            </a:r>
          </a:p>
          <a:p>
            <a:r>
              <a:t>Superconductivity Primer</a:t>
            </a:r>
          </a:p>
          <a:p>
            <a:r>
              <a:t>Real-Space Distortion and Phonon Exchange Describe the Same Coupling</a:t>
            </a:r>
          </a:p>
          <a:p>
            <a:r>
              <a:t>The first electron polarizes the ionic lattice.</a:t>
            </a:r>
          </a:p>
          <a:p>
            <a:r>
              <a:t>The displaced lattice attracts the second electron.</a:t>
            </a:r>
          </a:p>
          <a:p>
            <a:r>
              <a:t>A phonon-exchange diagram represents the same effective interaction in momentum and energy language.</a:t>
            </a:r>
          </a:p>
          <a:p>
            <a:r>
              <a:t>The microscopic interaction supports a collective condensate only when pairing wins over thermal agitation and other pair-breaking processes.</a:t>
            </a:r>
          </a:p>
          <a:p>
            <a:r>
              <a:t>Source and images: HyperPhysics, “Model of Pair Attraction”.</a:t>
            </a:r>
          </a:p>
          <a:p>
            <a:r>
              <a:t>Manual slide source</a:t>
            </a:r>
          </a:p>
          <a:p>
            <a:r>
              <a:t>24 / 100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[25/100] Superconductivity Primer</a:t>
            </a:r>
          </a:p>
          <a:p/>
          <a:p>
            <a:r>
              <a:t>PHYS598500 · WEEK 2</a:t>
            </a:r>
          </a:p>
          <a:p>
            <a:r>
              <a:t>Superconductivity Primer</a:t>
            </a:r>
          </a:p>
          <a:p>
            <a:r>
              <a:t>The Isotope Effect Connects  to Atomic Mass</a:t>
            </a:r>
          </a:p>
          <a:p>
            <a:r>
              <a:t>Mercury isotopes show that the superconducting transition temperature depends on nuclear mass.</a:t>
            </a:r>
          </a:p>
          <a:p>
            <a:r>
              <a:t>A purely electronic model would miss this dependence. Changing the isotope changes nuclear mass without changing the electron count.</a:t>
            </a:r>
          </a:p>
          <a:p>
            <a:r>
              <a:t>Lattice vibration frequencies depend on mass. The shift in  therefore links the pairing scale to lattice motion.</a:t>
            </a:r>
          </a:p>
          <a:p>
            <a:r>
              <a:t>The result supported phonon-mediated pairing. It became an important experimental clue behind BCS theory.</a:t>
            </a:r>
          </a:p>
          <a:p>
            <a:r>
              <a:t>Source and image: HyperPhysics, “Isotope Effect, Mercury”.</a:t>
            </a:r>
          </a:p>
          <a:p>
            <a:r>
              <a:t>Manual slide source</a:t>
            </a:r>
          </a:p>
          <a:p>
            <a:r>
              <a:t>25 / 100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[26/100] Superconductivity Primer</a:t>
            </a:r>
          </a:p>
          <a:p/>
          <a:p>
            <a:r>
              <a:t>PHYS598500 · WEEK 2</a:t>
            </a:r>
          </a:p>
          <a:p>
            <a:r>
              <a:t>Superconductivity Primer</a:t>
            </a:r>
          </a:p>
          <a:p>
            <a:r>
              <a:t>A SQUID Converts Magnetic Flux into a Voltage Signal</a:t>
            </a:r>
          </a:p>
          <a:p>
            <a:r>
              <a:t>Flux enters the interference response in units of .</a:t>
            </a:r>
          </a:p>
          <a:p>
            <a:r>
              <a:t>Two Josephson junctions form a loop. Their phase differences depend on the enclosed magnetic flux.</a:t>
            </a:r>
          </a:p>
          <a:p>
            <a:r>
              <a:t>A constant bias current produces a periodic voltage. Counting the oscillations measures the change in flux.</a:t>
            </a:r>
          </a:p>
          <a:p>
            <a:r>
              <a:t>Magnetometer scale. HyperPhysics quotes a threshold near , below the magnetic field produced by the human brain.</a:t>
            </a:r>
          </a:p>
          <a:p>
            <a:r>
              <a:t>The loop converts phase interference into a measurable periodic voltage response.</a:t>
            </a:r>
          </a:p>
          <a:p>
            <a:r>
              <a:t>Source and images: HyperPhysics, “SQUID Magnetometer”.</a:t>
            </a:r>
          </a:p>
          <a:p>
            <a:r>
              <a:t>Manual slide source</a:t>
            </a:r>
          </a:p>
          <a:p>
            <a:r>
              <a:t>26 / 100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[27/100] Superconductivity Primer</a:t>
            </a:r>
          </a:p>
          <a:p/>
          <a:p>
            <a:r>
              <a:t>PHYS598500 · WEEK 2</a:t>
            </a:r>
          </a:p>
          <a:p>
            <a:r>
              <a:t>Superconductivity Primer</a:t>
            </a:r>
          </a:p>
          <a:p>
            <a:r>
              <a:t>Cooper Pairs Tunnel Through a Thin Insulator</a:t>
            </a:r>
          </a:p>
          <a:p>
            <a:r>
              <a:t>The pair wavefunctions penetrate the insulating barrier and establish a phase-sensitive coupling.</a:t>
            </a:r>
          </a:p>
          <a:p>
            <a:r>
              <a:t>DC Josephson effect. A supercurrent flows at zero voltage, with .</a:t>
            </a:r>
          </a:p>
          <a:p>
            <a:r>
              <a:t>AC Josephson effect. A constant voltage makes the phase evolve at a frequency proportional to that voltage.</a:t>
            </a:r>
          </a:p>
          <a:p>
            <a:r>
              <a:t>Circuit consequence. The junction stores a nonlinear phase-dependent energy, which gives superconducting qubits their anharmonic spectrum.</a:t>
            </a:r>
          </a:p>
          <a:p>
            <a:r>
              <a:t>Source and image: HyperPhysics, “Josephson Junction”.</a:t>
            </a:r>
          </a:p>
          <a:p>
            <a:r>
              <a:t>Manual slide source</a:t>
            </a:r>
          </a:p>
          <a:p>
            <a:r>
              <a:t>27 / 100</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[28/100] Superconductivity Primer</a:t>
            </a:r>
          </a:p>
          <a:p/>
          <a:p>
            <a:r>
              <a:t>PHYS598500 · WEEK 2</a:t>
            </a:r>
          </a:p>
          <a:p>
            <a:r>
              <a:t>Superconductivity Primer</a:t>
            </a:r>
          </a:p>
          <a:p>
            <a:r>
              <a:t>Frequency Provides a Precise Realization of Voltage</a:t>
            </a:r>
          </a:p>
          <a:p>
            <a:r>
              <a:t>The conversion uses fundamental constants. The Josephson frequency satisfies .</a:t>
            </a:r>
          </a:p>
          <a:p>
            <a:r>
              <a:t>One microvolt corresponds to about 483.6 MHz. Frequency can be measured with exceptionally high precision.</a:t>
            </a:r>
          </a:p>
          <a:p>
            <a:r>
              <a:t>Junction arrays scale the voltage. HyperPhysics describes a 19,000-junction NIST chip producing a standard near 10 V.</a:t>
            </a:r>
          </a:p>
          <a:p>
            <a:r>
              <a:t>The same phase-voltage relation that supports metrology also controls microwave-driven superconducting circuits.</a:t>
            </a:r>
          </a:p>
          <a:p>
            <a:r>
              <a:t>Josephson oscillation frequency is proportional to voltage.</a:t>
            </a:r>
          </a:p>
          <a:p>
            <a:r>
              <a:t>The numerical conversion for an applied voltage of .</a:t>
            </a:r>
          </a:p>
          <a:p>
            <a:r>
              <a:t>Source and images: HyperPhysics, “Josephson Voltage Standard” and “The Standard Volt”.</a:t>
            </a:r>
          </a:p>
          <a:p>
            <a:r>
              <a:t>Manual slide source</a:t>
            </a:r>
          </a:p>
          <a:p>
            <a:r>
              <a:t>28 / 100</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[29/100] What Is a Superconductor?</a:t>
            </a:r>
          </a:p>
          <a:p/>
          <a:p>
            <a:r>
              <a:t>PHYS598500 · WEEK 2</a:t>
            </a:r>
          </a:p>
          <a:p>
            <a:r>
              <a:t>What Is a Superconductor?</a:t>
            </a:r>
          </a:p>
          <a:p>
            <a:r>
              <a:t>A Superconductor Is an Ordered Quantum Phase</a:t>
            </a:r>
          </a:p>
          <a:p>
            <a:r>
              <a:t>Official Nobel 2025 Figure 5. Normal conduction, Cooper pairing, the junction gap, and the collective wavefunction are shown in one physical sequence. © Johan Jarnestad / The Royal Swedish Academy of Sciences, official popular background.</a:t>
            </a:r>
          </a:p>
          <a:p>
            <a:r>
              <a:t>Gap : pairing removes low-energy single-particle states; quasiparticles cost energy and are thermally suppressed.</a:t>
            </a:r>
          </a:p>
          <a:p>
            <a:r>
              <a:t>Phase stiffness: . Many Cooper pairs share a collective phase that becomes a circuit coordinate.</a:t>
            </a:r>
          </a:p>
          <a:p>
            <a:r>
              <a:t>Meissner screening: magnetic response is part of the ordered phase; zero dc resistance by itself is not the full definition.</a:t>
            </a:r>
          </a:p>
          <a:p>
            <a:r>
              <a:t>For qubits: the gap reduces dissipation; the phase gives a coherent degree of freedom. Neither protects against all quasiparticles, vortices, lossy interfaces, or radiation.</a:t>
            </a:r>
          </a:p>
          <a:p>
            <a:r>
              <a:t>microscopic order parameter</a:t>
            </a:r>
          </a:p>
          <a:p>
            <a:r>
              <a:t>→</a:t>
            </a:r>
          </a:p>
          <a:p>
            <a:r>
              <a:t>gauge-invariant phase difference</a:t>
            </a:r>
          </a:p>
          <a:p>
            <a:r>
              <a:t>flux, current, and circuit energy</a:t>
            </a:r>
          </a:p>
          <a:p>
            <a:r>
              <a:t>Manual slide source</a:t>
            </a:r>
          </a:p>
          <a:p>
            <a:r>
              <a:t>29 / 100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[30/100] What Is a Superconductor?</a:t>
            </a:r>
          </a:p>
          <a:p/>
          <a:p>
            <a:r>
              <a:t>PHYS598500 · WEEK 2</a:t>
            </a:r>
          </a:p>
          <a:p>
            <a:r>
              <a:t>What Is a Superconductor?</a:t>
            </a:r>
          </a:p>
          <a:p>
            <a:r>
              <a:t>Gap Protection Is Exponential, Not Absolute</a:t>
            </a:r>
          </a:p>
          <a:p>
            <a:r>
              <a:t>and</a:t>
            </a:r>
          </a:p>
          <a:p>
            <a:r>
              <a:t>Al</a:t>
            </a:r>
          </a:p>
          <a:p>
            <a:r>
              <a:t>K,  meV. Excellent Al/AlO/Al tunnel junctions; native oxide can also host TLS loss.</a:t>
            </a:r>
          </a:p>
          <a:p>
            <a:r>
              <a:t>Nb</a:t>
            </a:r>
          </a:p>
          <a:p>
            <a:r>
              <a:t>K,  meV. Robust wiring and resonators; multiple oxides and interfaces require control.</a:t>
            </a:r>
          </a:p>
          <a:p>
            <a:r>
              <a:t>Ta</a:t>
            </a:r>
          </a:p>
          <a:p>
            <a:r>
              <a:t>K,  meV. High-coherence capacitor films in optimized processes; phase and surface chemistry matter.</a:t>
            </a:r>
          </a:p>
          <a:p>
            <a:r>
              <a:t>TiN / NbTiN</a:t>
            </a:r>
          </a:p>
          <a:p>
            <a:r>
              <a:t>Useful for low-loss or high-kinetic-inductance structures; stoichiometry, stress, and process compatibility are design variables.</a:t>
            </a:r>
          </a:p>
          <a:p>
            <a:r>
              <a:t>For equilibrium quasiparticles at ,</a:t>
            </a:r>
          </a:p>
          <a:p>
            <a:r>
              <a:t>Cooling from kelvin to millikelvin temperatures should therefore empty quasiparticles exponentially. Observed devices still see nonequilibrium quasiparticles from stray infrared radiation, cosmic rays, pair-breaking phonons, and imperfect thermalization.</a:t>
            </a:r>
          </a:p>
          <a:p>
            <a:r>
              <a:t>Manual slide source</a:t>
            </a:r>
          </a:p>
          <a:p>
            <a:r>
              <a:t>30 / 100</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[31/100] What Is a Superconductor?</a:t>
            </a:r>
          </a:p>
          <a:p/>
          <a:p>
            <a:r>
              <a:t>PHYS598500 · WEEK 2</a:t>
            </a:r>
          </a:p>
          <a:p>
            <a:r>
              <a:t>What Is a Superconductor?</a:t>
            </a:r>
          </a:p>
          <a:p>
            <a:r>
              <a:t>Penetration Depth and Coherence Length Govern Different Physics</a:t>
            </a:r>
          </a:p>
          <a:p>
            <a:r>
              <a:t>: field screening</a:t>
            </a:r>
          </a:p>
          <a:p>
            <a:r>
              <a:t>Magnetic field and supercurrent decay over the London penetration depth.</a:t>
            </a:r>
          </a:p>
          <a:p>
            <a:r>
              <a:t>: order-parameter healing</a:t>
            </a:r>
          </a:p>
          <a:p>
            <a:r>
              <a:t>The condensate amplitude recovers over the coherence length near a defect or boundary.</a:t>
            </a:r>
          </a:p>
          <a:p>
            <a:r>
              <a:t>versus</a:t>
            </a:r>
          </a:p>
          <a:p>
            <a:r>
              <a:t>Bulk classification</a:t>
            </a:r>
          </a:p>
          <a:p>
            <a:r>
              <a:t>separates ideal type-I and type-II behavior. Type-II films can admit quantized vortices that become mobile loss and dephasing sources.</a:t>
            </a:r>
          </a:p>
          <a:p>
            <a:r>
              <a:t>Thin-film reality</a:t>
            </a:r>
          </a:p>
          <a:p>
            <a:r>
              <a:t>When film thickness , screening becomes nonlocal over the Pearl scale</a:t>
            </a:r>
          </a:p>
          <a:p>
            <a:r>
              <a:t>Thickness, linewidth, slots, and ground-plane holes therefore affect current crowding, kinetic inductance, vortex entry, and microwave loss.</a:t>
            </a:r>
          </a:p>
          <a:p>
            <a:r>
              <a:t>Design takeaway:  tells us where current and field live;  tells us how sharply superconductivity can vary. Geometry must be compared with both, not merely with the microwave wavelength.</a:t>
            </a:r>
          </a:p>
          <a:p>
            <a:r>
              <a:t>Manual slide source</a:t>
            </a:r>
          </a:p>
          <a:p>
            <a:r>
              <a:t>31 / 100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[32/100] What Is a Superconductor?</a:t>
            </a:r>
          </a:p>
          <a:p/>
          <a:p>
            <a:r>
              <a:t>PHYS598500 · WEEK 2</a:t>
            </a:r>
          </a:p>
          <a:p>
            <a:r>
              <a:t>What Is a Superconductor?</a:t>
            </a:r>
          </a:p>
          <a:p>
            <a:r>
              <a:t>What the Prize Actually Recognized</a:t>
            </a:r>
          </a:p>
          <a:p>
            <a:r>
              <a:t>Official Nobel 2025 Figure 6. A centimetre-scale chip and heavily filtered microwave apparatus made the collective phase of billions of Cooper pairs behave as one quantum degree of freedom. © Johan Jarnestad / The Royal Swedish Academy of Sciences, official source.</a:t>
            </a:r>
          </a:p>
          <a:p>
            <a:r>
              <a:t>Laureates: John Clarke, Michel H. Devoret, and John M. Martinis</a:t>
            </a:r>
          </a:p>
          <a:p>
            <a:r>
              <a:t>“for the discovery of macroscopic quantum mechanical tunnelling and energy quantisation in an electric circuit”</a:t>
            </a:r>
          </a:p>
          <a:p>
            <a:r>
              <a:t>Macroscopic tunnelling: the junction phase escapes a metastable zero-voltage well even when thermal activation is frozen out.</a:t>
            </a:r>
          </a:p>
          <a:p>
            <a:r>
              <a:t>Energy quantisation: microwave activation resolves discrete levels of that same collective circuit coordinate.</a:t>
            </a:r>
          </a:p>
          <a:p>
            <a:r>
              <a:t>Why it matters here: a fabricated electrical mode can be a quantum mechanical particle—and therefore can be engineered as an artificial atom.</a:t>
            </a:r>
          </a:p>
          <a:p>
            <a:r>
              <a:t>Official award summary: Nobel Prize in Physics 2025.</a:t>
            </a:r>
          </a:p>
          <a:p>
            <a:r>
              <a:t>Manual slide source</a:t>
            </a:r>
          </a:p>
          <a:p>
            <a:r>
              <a:t>32 / 100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[33/100] What Is a Superconductor?</a:t>
            </a:r>
          </a:p>
          <a:p/>
          <a:p>
            <a:r>
              <a:t>PHYS598500 · WEEK 2</a:t>
            </a:r>
          </a:p>
          <a:p>
            <a:r>
              <a:t>What Is a Superconductor?</a:t>
            </a:r>
          </a:p>
          <a:p>
            <a:r>
              <a:t>The Evidence: Escape Statistics + Junction Spectroscopy</a:t>
            </a:r>
          </a:p>
          <a:p>
            <a:r>
              <a:t>Macroscopic quantum tunnelling. The “quantum junction” escape temperature stops following the thermal line below the crossover; the control junction verifies that the cryostat itself is colder. Cropped from Figure 3 of the official 2025 scientific background.</a:t>
            </a:r>
          </a:p>
          <a:p>
            <a:r>
              <a:t>Quantised junction levels. A 2-GHz microwave drive enhances escape when it matches transitions out of the first, second, and third excited levels of the tilted Josephson potential. Cropped from Figure 4 of the official scientific background.</a:t>
            </a:r>
          </a:p>
          <a:p>
            <a:r>
              <a:t>Logical chain: discrete microwave resonances establish level quantisation; low-temperature escape statistics establish tunnelling of the macroscopic phase coordinate.</a:t>
            </a:r>
          </a:p>
          <a:p>
            <a:r>
              <a:t>Manual slide source</a:t>
            </a:r>
          </a:p>
          <a:p>
            <a:r>
              <a:t>33 / 100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[34/100] 1985: Energy Quantization</a:t>
            </a:r>
          </a:p>
          <a:p/>
          <a:p>
            <a:r>
              <a:t>PHYS598500 · WEEK 2</a:t>
            </a:r>
          </a:p>
          <a:p>
            <a:r>
              <a:t>1985: Energy Quantization</a:t>
            </a:r>
          </a:p>
          <a:p>
            <a:r>
              <a:t>1985: Energy Quantization in a Circuit</a:t>
            </a:r>
          </a:p>
          <a:p>
            <a:r>
              <a:t>Nobel Prize in Physics 2025. Ref. [1]</a:t>
            </a:r>
          </a:p>
          <a:p>
            <a:r>
              <a:t>(a) Quantized levels in the washboard potential; (b) bias circuit with microwave drive. Ref. [3]</a:t>
            </a:r>
          </a:p>
          <a:p>
            <a:r>
              <a:t>Spectroscopy of the junction levels. A 2-GHz drive enhances the escape rate when it matches a level spacing (a); the resonant bias currents track the calculated transitions , ,  (b). As  the spacing shrinks, as  predicts. Ref. [3]</a:t>
            </a:r>
          </a:p>
          <a:p>
            <a:r>
              <a:t>Manual slide source</a:t>
            </a:r>
          </a:p>
          <a:p>
            <a:r>
              <a:t>34 / 100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[35/100] What Is a Superconductor?</a:t>
            </a:r>
          </a:p>
          <a:p/>
          <a:p>
            <a:r>
              <a:t>PHYS598500 · WEEK 2</a:t>
            </a:r>
          </a:p>
          <a:p>
            <a:r>
              <a:t>What Is a Superconductor?</a:t>
            </a:r>
          </a:p>
          <a:p>
            <a:r>
              <a:t>From Spectroscopy to Coherent Control (1997–1999)</a:t>
            </a:r>
          </a:p>
          <a:p>
            <a:r>
              <a:t>The device is the Hamiltonian. The island (“box”), Josephson junctions, gates, probe junction, and capacitances are visible in the micrograph and circuit model. Figure 1, Nakamura, Pashkin &amp; Tsai, Nature 398, 786 (1999), DOI.</a:t>
            </a:r>
          </a:p>
          <a:p>
            <a:r>
              <a:t>Time domain agrees with the earlier spectrum. The main panel resolves coherent charge oscillations versus pulse length. In the inset,  extracted from the oscillation period agrees with microwave spectroscopy—the 1997 Nakamura–C. D. Chen–J. S. Tsai result cited as Ref. 4 in the paper. Figure 4, Nakamura, Pashkin &amp; Tsai (1999).</a:t>
            </a:r>
          </a:p>
          <a:p>
            <a:r>
              <a:t>Manual slide source</a:t>
            </a:r>
          </a:p>
          <a:p>
            <a:r>
              <a:t>35 / 100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[36/100] What Is a Superconductor?</a:t>
            </a:r>
          </a:p>
          <a:p/>
          <a:p>
            <a:r>
              <a:t>PHYS598500 · WEEK 2</a:t>
            </a:r>
          </a:p>
          <a:p>
            <a:r>
              <a:t>What Is a Superconductor?</a:t>
            </a:r>
          </a:p>
          <a:p>
            <a:r>
              <a:t>The Citation Chain Matters</a:t>
            </a:r>
          </a:p>
          <a:p>
            <a:r>
              <a:t>Why this 1999 panel also points back to Chen. The main graph is the time-domain oscillation; the inset overlays  inferred from it with microwave-spectroscopy data cited as Ref. 4—the 1997 Nakamura–C. D. Chen–J. S. Tsai paper. Figure 4, Nakamura, Pashkin &amp; Tsai, Nature 398, 786 (1999), DOI.</a:t>
            </a:r>
          </a:p>
          <a:p>
            <a:r>
              <a:t>1997 · frequency domain</a:t>
            </a:r>
          </a:p>
          <a:p>
            <a:r>
              <a:t>Nakamura, C. D. Chen &amp; J. S. Tsai observed Josephson-induced level splitting between coherently superposed macroscopic charge states, PRL 79, 2328.</a:t>
            </a:r>
          </a:p>
          <a:p>
            <a:r>
              <a:t>1999 · time domain</a:t>
            </a:r>
          </a:p>
          <a:p>
            <a:r>
              <a:t>Nakamura, Pashkin &amp; Tsai used fast gate pulses to drive and read out coherent oscillations of a single-Cooper-pair box, Nature 398, 786.</a:t>
            </a:r>
          </a:p>
          <a:p>
            <a:r>
              <a:t>Historical distinction: these charge-qubit papers are not the 2025 Nobel-winning experiments. They convert quantised Josephson-circuit physics into a controllable computational two-level system.</a:t>
            </a:r>
          </a:p>
          <a:p>
            <a:r>
              <a:t>Manual slide source</a:t>
            </a:r>
          </a:p>
          <a:p>
            <a:r>
              <a:t>36 / 100</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[37/100] Opening: What Are Artificial Atoms?</a:t>
            </a:r>
          </a:p>
          <a:p/>
          <a:p>
            <a:r>
              <a:t>PHYS598500 · WEEK 2</a:t>
            </a:r>
          </a:p>
          <a:p>
            <a:r>
              <a:t>Opening: What Are Artificial Atoms?</a:t>
            </a:r>
          </a:p>
          <a:p>
            <a:r>
              <a:t>Manual slide source</a:t>
            </a:r>
          </a:p>
          <a:p>
            <a:r>
              <a:t>37 / 100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[38/100] Opening: What Are Artificial Atoms?</a:t>
            </a:r>
          </a:p>
          <a:p/>
          <a:p>
            <a:r>
              <a:t>PHYS598500 · WEEK 2</a:t>
            </a:r>
          </a:p>
          <a:p>
            <a:r>
              <a:t>Opening: What Are Artificial Atoms?</a:t>
            </a:r>
          </a:p>
          <a:p>
            <a:r>
              <a:t>Properties of the transmon</a:t>
            </a:r>
          </a:p>
          <a:p>
            <a:r>
              <a:t>The current mainstream superconducting qubit</a:t>
            </a:r>
          </a:p>
          <a:p>
            <a:r>
              <a:t>The transmon is an artificial atom: instead of an electron bound to a nucleus, it is a circuit made of a Josephson junction (a nonlinear inductance) shunted by a large capacitor. Its energy levels are quantized like a real atom, but can be engineered by choosing the circuit values—the idea developed throughout this module.</a:t>
            </a:r>
          </a:p>
          <a:p>
            <a:r>
              <a:t>Manual slide source</a:t>
            </a:r>
          </a:p>
          <a:p>
            <a:r>
              <a:t>38 / 100</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[39/100] Opening: What Are Artificial Atoms?</a:t>
            </a:r>
          </a:p>
          <a:p/>
          <a:p>
            <a:r>
              <a:t>PHYS598500 · WEEK 2</a:t>
            </a:r>
          </a:p>
          <a:p>
            <a:r>
              <a:t>Opening: What Are Artificial Atoms?</a:t>
            </a:r>
          </a:p>
          <a:p>
            <a:r>
              <a:t>▲ Potential-energy curves and the quantized energy levels of the transmon. The spacing between adjacent levels is not equal (anharmonicity), so the transition between the ground state and the first excited state can be addressed independently of the higher levels.</a:t>
            </a:r>
          </a:p>
          <a:p>
            <a:r>
              <a:t>Ref: DOI:10.48550/arXiv.2203.04164</a:t>
            </a:r>
          </a:p>
          <a:p>
            <a:r>
              <a:t>Manual slide source</a:t>
            </a:r>
          </a:p>
          <a:p>
            <a:r>
              <a:t>39 / 100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[40/100] Opening: What Are Artificial Atoms?</a:t>
            </a:r>
          </a:p>
          <a:p/>
          <a:p>
            <a:r>
              <a:t>PHYS598500 · WEEK 2</a:t>
            </a:r>
          </a:p>
          <a:p>
            <a:r>
              <a:t>Opening: What Are Artificial Atoms?</a:t>
            </a:r>
          </a:p>
          <a:p>
            <a:r>
              <a:t>Question 1: Why Can a Macroscopic Circuit Have Quantum Energy Levels?</a:t>
            </a:r>
          </a:p>
          <a:p>
            <a:r>
              <a:t>“Macroscopic” does not mean “necessarily classical.” Cooper pairs in a superconductor form a condensate with a shared phase. At low temperature, with low loss and a controlled electromagnetic environment, collective circuit modes can retain quantum coherence long enough to be useful. What is quantized is not the position of an individual electron, but the charge, flux, and phase degrees of freedom of the circuit mode as a whole.</a:t>
            </a:r>
          </a:p>
          <a:p>
            <a:r>
              <a:t>First Correct a Common Misconception: Many Particles Do Not Necessarily Mean Many Degrees of Freedom</a:t>
            </a:r>
          </a:p>
          <a:p>
            <a:r>
              <a:t>A piece of superconducting metal certainly contains an enormous number of electrons, but at low energy we do not need to track them individually. The electrons first form Cooper pairs and then condense into a many-body quantum state with long-range phase coherence. It can be represented by a macroscopic order parameter:</a:t>
            </a:r>
          </a:p>
          <a:p>
            <a:r>
              <a:t>Manual slide source</a:t>
            </a:r>
          </a:p>
          <a:p>
            <a:r>
              <a:t>40 / 100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[41/100] Opening: What Are Artificial Atoms?</a:t>
            </a:r>
          </a:p>
          <a:p/>
          <a:p>
            <a:r>
              <a:t>PHYS598500 · WEEK 2</a:t>
            </a:r>
          </a:p>
          <a:p>
            <a:r>
              <a:t>Opening: What Are Artificial Atoms?</a:t>
            </a:r>
          </a:p>
          <a:p>
            <a:r>
              <a:t>Here  describes the condensate density and  its phase. The absolute phase is not itself observable; the gauge-invariant phase difference between superconducting nodes is what enters the current, magnetic flux, and circuit energy. In other words, many microscopic particles can collectively form a small number of controllablecollective coordinates. The real question is not “How many electrons are in the circuit?” but “How many independent modes remain in its low-energy dynamics?”</a:t>
            </a:r>
          </a:p>
          <a:p>
            <a:r>
              <a:t>By analogy, a tuning fork also contains many atoms, yet its lowest vibration can be described by a single normal-mode amplitude. The crucial difference for a superconducting circuit is that this collective mode can enter the quantum limit in a cold, low-loss environment instead of behaving only as a classical vibration.</a:t>
            </a:r>
          </a:p>
          <a:p>
            <a:r>
              <a:t>From a Macroscopic Phase to a Quantizable Circuit Mode</a:t>
            </a:r>
          </a:p>
          <a:p>
            <a:r>
              <a:t>A superconductor provides more than “zero resistance.” The superconducting gap suppresses low-energy quasiparticle excitations, while the condensate provides phase stiffness. With suitable capacitances, inductances, and boundary conditions, the circuit can retain only a few low-loss electromagnetic modes. For one such mode, the branch flux becomes the coordinate (formalized in Question 2):</a:t>
            </a:r>
          </a:p>
          <a:p>
            <a:r>
              <a:t>Manual slide source</a:t>
            </a:r>
          </a:p>
          <a:p>
            <a:r>
              <a:t>41 / 100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[42/100] Opening: What Are Artificial Atoms?</a:t>
            </a:r>
          </a:p>
          <a:p/>
          <a:p>
            <a:r>
              <a:t>PHYS598500 · WEEK 2</a:t>
            </a:r>
          </a:p>
          <a:p>
            <a:r>
              <a:t>Opening: What Are Artificial Atoms?</a:t>
            </a:r>
          </a:p>
          <a:p>
            <a:r>
              <a:t>This is the shortest existence proof that a macroscopic circuit can have discrete quantum levels: first identify a collective mode with a restoring energy, then quantize that mode. Question 2 will formally explain why  and  form a conjugate pair; Question 3 will then ask why this ladder of equally spaced levels still cannot serve directly as a qubit.</a:t>
            </a:r>
          </a:p>
          <a:p>
            <a:r>
              <a:t>The Existence of Energy Levels Is One Thing; Resolving Them Experimentally Is Another</a:t>
            </a:r>
          </a:p>
          <a:p>
            <a:r>
              <a:t>Formal quantization guarantees . But if thermal fluctuations or the environment-induced linewidth exceed the level spacing, an experiment will reveal only an approximately continuous classical response. Resolving the lowest few levels requires at least</a:t>
            </a:r>
          </a:p>
          <a:p>
            <a:r>
              <a:t>where  is the mode's energy-decay rate and  its dephasing rate. The first condition suppresses thermal excitation; the other two prevent relaxation and phase noise from broadening the levels beyond recognition. The mean thermal excitation number is</a:t>
            </a:r>
          </a:p>
          <a:p>
            <a:r>
              <a:t>Manual slide source</a:t>
            </a:r>
          </a:p>
          <a:p>
            <a:r>
              <a:t>42 / 100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[43/100] Opening: What Are Artificial Atoms?</a:t>
            </a:r>
          </a:p>
          <a:p/>
          <a:p>
            <a:r>
              <a:t>PHYS598500 · WEEK 2</a:t>
            </a:r>
          </a:p>
          <a:p>
            <a:r>
              <a:t>Opening: What Are Artificial Atoms?</a:t>
            </a:r>
          </a:p>
          <a:p>
            <a:r>
              <a:t>For example, when , . If the chip mode is genuinely thermalized to , then : the system is almost always in its ground state. In practice, attenuation, filtering, shielding, and good packaging are still required to keep hot photons and external noise from raising the effective temperature.</a:t>
            </a:r>
          </a:p>
          <a:p>
            <a:r>
              <a:t>Why Do Everyday Circuits Still Look Classical?</a:t>
            </a:r>
          </a:p>
          <a:p>
            <a:r>
              <a:t>An ordinary RLC circuit is not “devoid of quantum mechanics.” Its quantum structure is usually hidden by three effects: room temperature populates many levels; resistance and environmental coupling broaden the linewidth; and strong driving fills the mode with many quanta. For a coherent state with mean photon number , relative fluctuations shrink approximately as , so the motion approaches a classical waveform. Superconductivity, dilution refrigeration, and microwave engineering push the same kind of circuit back into the regime  with sufficiently low loss.</a:t>
            </a:r>
          </a:p>
          <a:p>
            <a:r>
              <a:t>Manual slide source</a:t>
            </a:r>
          </a:p>
          <a:p>
            <a:r>
              <a:t>43 / 100</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[44/100] Opening: What Are Artificial Atoms?</a:t>
            </a:r>
          </a:p>
          <a:p/>
          <a:p>
            <a:r>
              <a:t>PHYS598500 · WEEK 2</a:t>
            </a:r>
          </a:p>
          <a:p>
            <a:r>
              <a:t>Opening: What Are Artificial Atoms?</a:t>
            </a:r>
          </a:p>
          <a:p>
            <a:r>
              <a:t>A Josephson Junction Converts Phase into Current and Energy</a:t>
            </a:r>
          </a:p>
          <a:p>
            <a:r>
              <a:t>Paper schematic—not a redrawn course icon. The macroscopic order parameters on the two sides acquire a phase difference that directly determines current and voltage. Figure 1, J. S. Tsai, Proc. Jpn. Acad. B 86, 275 (2010), DOI.</a:t>
            </a:r>
          </a:p>
          <a:p>
            <a:r>
              <a:t>Manual slide source</a:t>
            </a:r>
          </a:p>
          <a:p>
            <a:r>
              <a:t>44 / 100</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[45/100] Opening: What Are Artificial Atoms?</a:t>
            </a:r>
          </a:p>
          <a:p/>
          <a:p>
            <a:r>
              <a:t>PHYS598500 · WEEK 2</a:t>
            </a:r>
          </a:p>
          <a:p>
            <a:r>
              <a:t>Opening: What Are Artificial Atoms?</a:t>
            </a:r>
          </a:p>
          <a:p>
            <a:r>
              <a:t>Josephson Phase: Kinematics and Inductance</a:t>
            </a:r>
          </a:p>
          <a:p>
            <a:r>
              <a:t>Expand and rearrange. The phase  is the canonical coordinate conjugate to the Cooper-pair charge; its rate of change fixes the voltage:</a:t>
            </a:r>
          </a:p>
          <a:p>
            <a:r>
              <a:t>Because the current is a sinusoid of the phase, the effective junction inductance is phase-dependent:</a:t>
            </a:r>
          </a:p>
          <a:p>
            <a:r>
              <a:t>The Josephson Energy</a:t>
            </a:r>
          </a:p>
          <a:p>
            <a:r>
              <a:t>Define the Josephson energy  so that . Since potential energy is defined only up to an additive constant, the conventional form is . The capacitive energy is:</a:t>
            </a:r>
          </a:p>
          <a:p>
            <a:r>
              <a:t>Manual slide source</a:t>
            </a:r>
          </a:p>
          <a:p>
            <a:r>
              <a:t>45 / 100</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[46/100] Opening: What Are Artificial Atoms?</a:t>
            </a:r>
          </a:p>
          <a:p/>
          <a:p>
            <a:r>
              <a:t>PHYS598500 · WEEK 2</a:t>
            </a:r>
          </a:p>
          <a:p>
            <a:r>
              <a:t>Opening: What Are Artificial Atoms?</a:t>
            </a:r>
          </a:p>
          <a:p>
            <a:r>
              <a:t>Lagrangian and the Canonical Pair</a:t>
            </a:r>
          </a:p>
          <a:p>
            <a:r>
              <a:t>Using the conventional Josephson potential , the Lagrangian is :</a:t>
            </a:r>
          </a:p>
          <a:p>
            <a:r>
              <a:t>From the Josephson voltage–phase relation and the capacitor relation,  and :</a:t>
            </a:r>
          </a:p>
          <a:p>
            <a:r>
              <a:t>If the charge is written in terms of the Cooper-pair number , , then the canonical momentum conjugate to  is:</a:t>
            </a:r>
          </a:p>
          <a:p>
            <a:r>
              <a:t>Manual slide source</a:t>
            </a:r>
          </a:p>
          <a:p>
            <a:r>
              <a:t>46 / 100</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[47/100] Opening: What Are Artificial Atoms?</a:t>
            </a:r>
          </a:p>
          <a:p/>
          <a:p>
            <a:r>
              <a:t>PHYS598500 · WEEK 2</a:t>
            </a:r>
          </a:p>
          <a:p>
            <a:r>
              <a:t>Opening: What Are Artificial Atoms?</a:t>
            </a:r>
          </a:p>
          <a:p>
            <a:r>
              <a:t>The Hamiltonian:</a:t>
            </a:r>
          </a:p>
          <a:p>
            <a:r>
              <a:t>The Hamiltonian is obtained through the Legendre transformation . Solving for  and substituting:</a:t>
            </a:r>
          </a:p>
          <a:p>
            <a:r>
              <a:t>Recognising , the first term becomes ; with :</a:t>
            </a:r>
          </a:p>
          <a:p>
            <a:r>
              <a:t>Define the charging energy , so that :</a:t>
            </a:r>
          </a:p>
          <a:p>
            <a:r>
              <a:t>Manual slide source</a:t>
            </a:r>
          </a:p>
          <a:p>
            <a:r>
              <a:t>47 / 100</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[48/100] Opening: What Are Artificial Atoms?</a:t>
            </a:r>
          </a:p>
          <a:p/>
          <a:p>
            <a:r>
              <a:t>PHYS598500 · WEEK 2</a:t>
            </a:r>
          </a:p>
          <a:p>
            <a:r>
              <a:t>Opening: What Are Artificial Atoms?</a:t>
            </a:r>
          </a:p>
          <a:p>
            <a:r>
              <a:t>Quantization:</a:t>
            </a:r>
          </a:p>
          <a:p>
            <a:r>
              <a:t>To quantize the circuit, promote  and  to operators obeying the canonical commutation relation:</a:t>
            </a:r>
          </a:p>
          <a:p>
            <a:r>
              <a:t>The phase and number eigenstates are defined by  and . In the phase representation  acts multiplicatively and  is a derivative:</a:t>
            </a:r>
          </a:p>
          <a:p>
            <a:r>
              <a:t>Manual slide source</a:t>
            </a:r>
          </a:p>
          <a:p>
            <a:r>
              <a:t>48 / 100</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[49/100] Opening: What Are Artificial Atoms?</a:t>
            </a:r>
          </a:p>
          <a:p/>
          <a:p>
            <a:r>
              <a:t>PHYS598500 · WEEK 2</a:t>
            </a:r>
          </a:p>
          <a:p>
            <a:r>
              <a:t>Opening: What Are Artificial Atoms?</a:t>
            </a:r>
          </a:p>
          <a:p>
            <a:r>
              <a:t>The Schrödinger Equation</a:t>
            </a:r>
          </a:p>
          <a:p>
            <a:r>
              <a:t>Indeed, . The Hamiltonian operator is therefore , and the time-independent Schrödinger equation becomes:</a:t>
            </a:r>
          </a:p>
          <a:p>
            <a:r>
              <a:t>Manual slide source</a:t>
            </a:r>
          </a:p>
          <a:p>
            <a:r>
              <a:t>49 / 100</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[50/100] Opening: What Are Artificial Atoms?</a:t>
            </a:r>
          </a:p>
          <a:p/>
          <a:p>
            <a:r>
              <a:t>PHYS598500 · WEEK 2</a:t>
            </a:r>
          </a:p>
          <a:p>
            <a:r>
              <a:t>Opening: What Are Artificial Atoms?</a:t>
            </a:r>
          </a:p>
          <a:p>
            <a:r>
              <a:t>The Integer Spectrum of the Cooper-Pair Number</a:t>
            </a:r>
          </a:p>
          <a:p>
            <a:r>
              <a:t>The Josephson phase is an angular variable defined modulo , so the phase degree of freedom is compact, . The operator  generates phase translations. With  and the Baker–Campbell–Hausdorff relation:</a:t>
            </a:r>
          </a:p>
          <a:p>
            <a:r>
              <a:t>Because the phase is an angular variable, a translation by  returns to the same physical phase, . Hence , and since this holds for the complete phase basis:</a:t>
            </a:r>
          </a:p>
          <a:p>
            <a:r>
              <a:t>Manual slide source</a:t>
            </a:r>
          </a:p>
          <a:p>
            <a:r>
              <a:t>50 / 100</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[51/100] Opening: What Are Artificial Atoms?</a:t>
            </a:r>
          </a:p>
          <a:p/>
          <a:p>
            <a:r>
              <a:t>PHYS598500 · WEEK 2</a:t>
            </a:r>
          </a:p>
          <a:p>
            <a:r>
              <a:t>Opening: What Are Artificial Atoms?</a:t>
            </a:r>
          </a:p>
          <a:p>
            <a:r>
              <a:t>The  Basis and the Meaning of</a:t>
            </a:r>
          </a:p>
          <a:p>
            <a:r>
              <a:t>Projecting the number eigenvalue equation onto the phase basis, the overlap is a plane wave . Periodicity  gives , and the normalization  fixes . Choosing  real and positive:</a:t>
            </a:r>
          </a:p>
          <a:p>
            <a:r>
              <a:t>The charge operator is . Acting on a number eigenstate, , so the charge eigenvalue is . Changing the Cooper-pair number by one, , changes the charge by .</a:t>
            </a:r>
          </a:p>
          <a:p>
            <a:r>
              <a:t>Manual slide source</a:t>
            </a:r>
          </a:p>
          <a:p>
            <a:r>
              <a:t>51 / 100</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[52/100] Opening: What Are Artificial Atoms?</a:t>
            </a:r>
          </a:p>
          <a:p/>
          <a:p>
            <a:r>
              <a:t>PHYS598500 · WEEK 2</a:t>
            </a:r>
          </a:p>
          <a:p>
            <a:r>
              <a:t>Opening: What Are Artificial Atoms?</a:t>
            </a:r>
          </a:p>
          <a:p>
            <a:r>
              <a:t>Fourier Series and the Josephson Coupling</a:t>
            </a:r>
          </a:p>
          <a:p>
            <a:r>
              <a:t>The charge eigenstates are complete, , so . Projecting onto the phase basis relates the two bases by a Fourier series:</a:t>
            </a:r>
          </a:p>
          <a:p>
            <a:r>
              <a:t>The Josephson term  acts on a charge eigenstate by shifting it, because :</a:t>
            </a:r>
          </a:p>
          <a:p>
            <a:r>
              <a:t>Manual slide source</a:t>
            </a:r>
          </a:p>
          <a:p>
            <a:r>
              <a:t>52 / 100</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[53/100] Opening: What Are Artificial Atoms?</a:t>
            </a:r>
          </a:p>
          <a:p/>
          <a:p>
            <a:r>
              <a:t>PHYS598500 · WEEK 2</a:t>
            </a:r>
          </a:p>
          <a:p>
            <a:r>
              <a:t>Opening: What Are Artificial Atoms?</a:t>
            </a:r>
          </a:p>
          <a:p>
            <a:r>
              <a:t>The Hamiltonian in the Charge Basis</a:t>
            </a:r>
          </a:p>
          <a:p>
            <a:r>
              <a:t>Thus  transfers one Cooper pair across the junction. Combining the charging and Josephson terms, the full Hamiltonian in the charge basis is:</a:t>
            </a:r>
          </a:p>
          <a:p>
            <a:r>
              <a:t>Manual slide source</a:t>
            </a:r>
          </a:p>
          <a:p>
            <a:r>
              <a:t>53 / 100</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[54/100] Opening: What Are Artificial Atoms?</a:t>
            </a:r>
          </a:p>
          <a:p/>
          <a:p>
            <a:r>
              <a:t>PHYS598500 · WEEK 2</a:t>
            </a:r>
          </a:p>
          <a:p>
            <a:r>
              <a:t>Opening: What Are Artificial Atoms?</a:t>
            </a:r>
          </a:p>
          <a:p>
            <a:r>
              <a:t>When Is  the Right Statement?</a:t>
            </a:r>
          </a:p>
          <a:p>
            <a:r>
              <a:t>Josephson element: observables are periodic</a:t>
            </a:r>
          </a:p>
          <a:p>
            <a:r>
              <a:t>The relative condensate phase is angular. A phase advance by  returns the local Josephson energy and current to the same value.</a:t>
            </a:r>
          </a:p>
          <a:p>
            <a:r>
              <a:t>Isolated island: compact configuration space</a:t>
            </a:r>
          </a:p>
          <a:p>
            <a:r>
              <a:t>For a Cooper-pair box or transmon, wavefunctions obey a twisted boundary condition</a:t>
            </a:r>
          </a:p>
          <a:p>
            <a:r>
              <a:t>equivalent to an integer charge spectrum  with offset charge . Compactness and charge quantisation are Fourier-dual statements.</a:t>
            </a:r>
          </a:p>
          <a:p>
            <a:r>
              <a:t>Inductive shunt: unwrap the phase</a:t>
            </a:r>
          </a:p>
          <a:p>
            <a:r>
              <a:t>Adding  distinguishes neighbouring Josephson wells. For fluxonium and related circuits,  is normally treated as an extended flux coordinate.</a:t>
            </a:r>
          </a:p>
          <a:p>
            <a:r>
              <a:t>What stays quantised?</a:t>
            </a:r>
          </a:p>
          <a:p>
            <a:r>
              <a:t>Fluxoid quantisation constrains phase winding around superconducting loops, while the node-flux coordinate used in circuit quantisation can span many  wells. The circuit topology decides the boundary condition.</a:t>
            </a:r>
          </a:p>
          <a:p>
            <a:r>
              <a:t>Safe statement: the Josephson potential is always -periodic; the quantum coordinate is compact only when the circuit topology and boundary conditions make it so.</a:t>
            </a:r>
          </a:p>
          <a:p>
            <a:r>
              <a:t>Manual slide source</a:t>
            </a:r>
          </a:p>
          <a:p>
            <a:r>
              <a:t>54 / 100</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[55/100] LC Circuit (II)</a:t>
            </a:r>
          </a:p>
          <a:p/>
          <a:p>
            <a:r>
              <a:t>PHYS598500 · WEEK 2</a:t>
            </a:r>
          </a:p>
          <a:p>
            <a:r>
              <a:t>LC Circuit (II)</a:t>
            </a:r>
          </a:p>
          <a:p>
            <a:r>
              <a:t>LC Circuit: Lagrangian and Hamiltonian</a:t>
            </a:r>
          </a:p>
          <a:p>
            <a:r>
              <a:t>Manual slide source</a:t>
            </a:r>
          </a:p>
          <a:p>
            <a:r>
              <a:t>55 / 100</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[56/100] LC Circuit (III)</a:t>
            </a:r>
          </a:p>
          <a:p/>
          <a:p>
            <a:r>
              <a:t>PHYS598500 · WEEK 2</a:t>
            </a:r>
          </a:p>
          <a:p>
            <a:r>
              <a:t>LC Circuit (III)</a:t>
            </a:r>
          </a:p>
          <a:p>
            <a:r>
              <a:t>LC Circuit: Ladder Operators</a:t>
            </a:r>
          </a:p>
          <a:p>
            <a:r>
              <a:t>Quantum harmonic oscillator: equally spaced levels  — no isolated two-level system yet. Ref. [2]</a:t>
            </a:r>
          </a:p>
          <a:p>
            <a:r>
              <a:t>Manual slide source</a:t>
            </a:r>
          </a:p>
          <a:p>
            <a:r>
              <a:t>56 / 100</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[57/100] Opening: What Are Artificial Atoms?</a:t>
            </a:r>
          </a:p>
          <a:p/>
          <a:p>
            <a:r>
              <a:t>PHYS598500 · WEEK 2</a:t>
            </a:r>
          </a:p>
          <a:p>
            <a:r>
              <a:t>Opening: What Are Artificial Atoms?</a:t>
            </a:r>
          </a:p>
          <a:p>
            <a:r>
              <a:t>The final expression makes the physical relation between phase and charge explicit:  changes the Cooper-pair number on the island by one. The Josephson term can therefore also be written as</a:t>
            </a:r>
          </a:p>
          <a:p>
            <a:r>
              <a:t>In the phase picture it is a cosine potential; in the charge picture it is coherent tunneling between adjacent charge states. The two pictures describe the same Hamiltonian.</a:t>
            </a:r>
          </a:p>
          <a:p>
            <a:r>
              <a:t>Charge and phase therefore cannot both have arbitrarily precise values. The differences among later qubit types can all be viewed as rearrangements, at different energy scales, of the fluctuations, localization, and sensitivity of this conjugate pair. A larger charging energy tends to restrict charge fluctuations; a larger Josephson energy tends to localize phase near a minimum of the cosine potential. The two cannot both be narrowed without limit.</a:t>
            </a:r>
          </a:p>
          <a:p>
            <a:r>
              <a:t>Manual slide source</a:t>
            </a:r>
          </a:p>
          <a:p>
            <a:r>
              <a:t>57 / 100</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[58/100] LC Circuit (I)</a:t>
            </a:r>
          </a:p>
          <a:p/>
          <a:p>
            <a:r>
              <a:t>PHYS598500 · WEEK 2</a:t>
            </a:r>
          </a:p>
          <a:p>
            <a:r>
              <a:t>LC Circuit (I)</a:t>
            </a:r>
          </a:p>
          <a:p>
            <a:r>
              <a:t>LC Circuit: Charge or Flux as the Coordinate?</a:t>
            </a:r>
          </a:p>
          <a:p>
            <a:r>
              <a:t>charge  → kinetic term</a:t>
            </a:r>
          </a:p>
          <a:p>
            <a:r>
              <a:t>Josephson</a:t>
            </a:r>
          </a:p>
          <a:p>
            <a:r>
              <a:t>flux  → potential term</a:t>
            </a:r>
          </a:p>
          <a:p>
            <a:r>
              <a:t>tunable</a:t>
            </a:r>
          </a:p>
          <a:p>
            <a:r>
              <a:t>→</a:t>
            </a:r>
          </a:p>
          <a:p>
            <a:r>
              <a:t>QHO: equally spaced levels  — the reference harmonic potential.</a:t>
            </a:r>
          </a:p>
          <a:p>
            <a:r>
              <a:t>Transmon: anharmonic spacing  — the computational subspace. Ref. [2]</a:t>
            </a:r>
          </a:p>
          <a:p>
            <a:r>
              <a:t>With charge  as the coordinate the Josephson inductance puts the nonlinearity in the kinetic term; with flux  it becomes a nonlinear potential — the familiar anharmonic-oscillator problem.</a:t>
            </a:r>
          </a:p>
          <a:p>
            <a:r>
              <a:t>Manual slide source</a:t>
            </a:r>
          </a:p>
          <a:p>
            <a:r>
              <a:t>58 / 100</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[59/100] Opening: What Are Artificial Atoms?</a:t>
            </a:r>
          </a:p>
          <a:p/>
          <a:p>
            <a:r>
              <a:t>PHYS598500 · WEEK 2</a:t>
            </a:r>
          </a:p>
          <a:p>
            <a:r>
              <a:t>Opening: What Are Artificial Atoms?</a:t>
            </a:r>
          </a:p>
          <a:p>
            <a:r>
              <a:t>Question 3: Why is the simplest artificial atom still not a qubit?</a:t>
            </a:r>
          </a:p>
          <a:p>
            <a:r>
              <a:t>A quantized LC circuit already has discrete energy levels:</a:t>
            </a:r>
          </a:p>
          <a:p>
            <a:r>
              <a:t>First establish that an LC circuit really is a quantum system</a:t>
            </a:r>
          </a:p>
          <a:p>
            <a:r>
              <a:t>Define the characteristic impedance , so the flux and charge operators can be written as</a:t>
            </a:r>
          </a:p>
          <a:p>
            <a:r>
              <a:t>Manual slide source</a:t>
            </a:r>
          </a:p>
          <a:p>
            <a:r>
              <a:t>59 / 100</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[60/100] Opening: What Are Artificial Atoms?</a:t>
            </a:r>
          </a:p>
          <a:p/>
          <a:p>
            <a:r>
              <a:t>PHYS598500 · WEEK 2</a:t>
            </a:r>
          </a:p>
          <a:p>
            <a:r>
              <a:t>Opening: What Are Artificial Atoms?</a:t>
            </a:r>
          </a:p>
          <a:p>
            <a:r>
              <a:t>Even in the ground state, flux and charge retain zero-point fluctuations. The energy eigenstates  are also genuinely discrete:</a:t>
            </a:r>
          </a:p>
          <a:p>
            <a:r>
              <a:t>The problem, then, is not that the LC oscillator is “insufficiently quantum.” Quite the opposite: it is an overly ideal linear quantum system in which every rung obeys exactly the same rule.</a:t>
            </a:r>
          </a:p>
          <a:p>
            <a:r>
              <a:t>An equally spaced spectrum makes all adjacent transition frequencies coincide</a:t>
            </a:r>
          </a:p>
          <a:p>
            <a:r>
              <a:t>The transition frequency between adjacent levels is</a:t>
            </a:r>
          </a:p>
          <a:p>
            <a:r>
              <a:t>Manual slide source</a:t>
            </a:r>
          </a:p>
          <a:p>
            <a:r>
              <a:t>60 / 100</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[61/100] Opening: What Are Artificial Atoms?</a:t>
            </a:r>
          </a:p>
          <a:p/>
          <a:p>
            <a:r>
              <a:t>PHYS598500 · WEEK 2</a:t>
            </a:r>
          </a:p>
          <a:p>
            <a:r>
              <a:t>Opening: What Are Artificial Atoms?</a:t>
            </a:r>
          </a:p>
          <a:p>
            <a:r>
              <a:t>Therefore,</a:t>
            </a:r>
          </a:p>
          <a:p>
            <a:r>
              <a:t>A resonant microwave tone sees not only  but also every higher transition. Frequency selectivity cannot tell the system to use only the two lowest levels.</a:t>
            </a:r>
          </a:p>
          <a:p>
            <a:r>
              <a:t>The drive Hamiltonian shows why leakage is unavoidable</a:t>
            </a:r>
          </a:p>
          <a:p>
            <a:r>
              <a:t>Suppose the oscillator is driven by a capacitively coupled microwave voltage. Ignoring a coupling prefactor that does not affect the main point, the control term can be written as</a:t>
            </a:r>
          </a:p>
          <a:p>
            <a:r>
              <a:t>The matrix element between adjacent levels is</a:t>
            </a:r>
          </a:p>
          <a:p>
            <a:r>
              <a:t>Manual slide source</a:t>
            </a:r>
          </a:p>
          <a:p>
            <a:r>
              <a:t>61 / 100</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[62/100] Opening: What Are Artificial Atoms?</a:t>
            </a:r>
          </a:p>
          <a:p/>
          <a:p>
            <a:r>
              <a:t>PHYS598500 · WEEK 2</a:t>
            </a:r>
          </a:p>
          <a:p>
            <a:r>
              <a:t>Opening: What Are Artificial Atoms?</a:t>
            </a:r>
          </a:p>
          <a:p>
            <a:r>
              <a:t>The drive initially pushes  toward . Once  acquires population, the same frequency also drives  exactly on resonance, with a matrix element larger by a factor of . The same pattern continues upward. Therefore,  is not a closed invariant subspace under this control.</a:t>
            </a:r>
          </a:p>
          <a:p>
            <a:r>
              <a:t>A stronger statement: a linear drive creates a coherent state, not a pure  state</a:t>
            </a:r>
          </a:p>
          <a:p>
            <a:r>
              <a:t>Under the rotating-wave approximation, a driven harmonic oscillator can be written as</a:t>
            </a:r>
          </a:p>
          <a:p>
            <a:r>
              <a:t>If the initial state is the vacuum, any such linear pulse can only produce a displacement:</a:t>
            </a:r>
          </a:p>
          <a:p>
            <a:r>
              <a:t>Manual slide source</a:t>
            </a:r>
          </a:p>
          <a:p>
            <a:r>
              <a:t>62 / 100</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[63/100] Opening: What Are Artificial Atoms?</a:t>
            </a:r>
          </a:p>
          <a:p/>
          <a:p>
            <a:r>
              <a:t>PHYS598500 · WEEK 2</a:t>
            </a:r>
          </a:p>
          <a:p>
            <a:r>
              <a:t>Opening: What Are Artificial Atoms?</a:t>
            </a:r>
          </a:p>
          <a:p>
            <a:r>
              <a:t>To maximize  one must choose , but then , and the remaining population is still distributed over . In other words, applying a conventional qubit “ pulse” to a bare harmonic oscillator cannot deterministically flip  to .</a:t>
            </a:r>
          </a:p>
          <a:p>
            <a:r>
              <a:t>A qubit also requires spectral addressability</a:t>
            </a:r>
          </a:p>
          <a:p>
            <a:r>
              <a:t>Define the anharmonicity</a:t>
            </a:r>
          </a:p>
          <a:p>
            <a:r>
              <a:t>For a harmonic oscillator, . Only when nonlinearity makes  can the drive frequency select the computational transition through  while remaining off-resonant from . For a simple pulse, we generally want</a:t>
            </a:r>
          </a:p>
          <a:p>
            <a:r>
              <a:t>Manual slide source</a:t>
            </a:r>
          </a:p>
          <a:p>
            <a:r>
              <a:t>63 / 100</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[64/100] Opening: What Are Artificial Atoms?</a:t>
            </a:r>
          </a:p>
          <a:p/>
          <a:p>
            <a:r>
              <a:t>PHYS598500 · WEEK 2</a:t>
            </a:r>
          </a:p>
          <a:p>
            <a:r>
              <a:t>Opening: What Are Artificial Atoms?</a:t>
            </a:r>
          </a:p>
          <a:p>
            <a:r>
              <a:t>where  is the Rabi rate. A faster drive has a broader bandwidth, and the leakage amplitude typically increases on the scale of ; a slower drive instead accumulates more decoherence. This is the speed–leakage trade-off later addressed by pulse shaping and DRAG control.</a:t>
            </a:r>
          </a:p>
          <a:p>
            <a:r>
              <a:t>A precise statement: A harmonic oscillator is not incapable of carrying quantum information. With multiple Fock states, cat states, or another bosonic encoding, an oscillator can still serve as a logical qubit. But if only ordinary linear microwave control is allowed, a bare LC oscillator does not naturally provide an independently controllable two-lowest-level qubit.</a:t>
            </a:r>
          </a:p>
          <a:p>
            <a:r>
              <a:t>In-class task: Draw harmonic and anharmonic spectra and mark which transitions are connected by a drive at the same frequency.</a:t>
            </a:r>
          </a:p>
          <a:p>
            <a:r>
              <a:t>Conclusion to Question 3:“Discrete energy levels” only guarantee that the system is quantum; “unequally spaced energy levels” are what make  frequency-selective and suppress leakage to a controllable level.</a:t>
            </a:r>
          </a:p>
          <a:p>
            <a:r>
              <a:t>Manual slide source</a:t>
            </a:r>
          </a:p>
          <a:p>
            <a:r>
              <a:t>64 / 100</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[65/100] Opening: What Are Artificial Atoms?</a:t>
            </a:r>
          </a:p>
          <a:p/>
          <a:p>
            <a:r>
              <a:t>PHYS598500 · WEEK 2</a:t>
            </a:r>
          </a:p>
          <a:p>
            <a:r>
              <a:t>Opening: What Are Artificial Atoms?</a:t>
            </a:r>
          </a:p>
          <a:p>
            <a:r>
              <a:t>The Hamiltonian becomes</a:t>
            </a:r>
          </a:p>
          <a:p>
            <a:r>
              <a:t>In the “quantum particle” picture,  is position and  is momentum;  sets the kinetic-energy scale, while  sets the depth of the periodic potential. Changing the junction critical current changes , and changing the shunt capacitance changes . The “mass, confinement strength, and spectrum” of this artificial atom can therefore all be designed through its circuit.</a:t>
            </a:r>
          </a:p>
          <a:p>
            <a:r>
              <a:t>Higher-order terms of the cosine break equal spacing</a:t>
            </a:r>
          </a:p>
          <a:p>
            <a:r>
              <a:t>In the linearized approximation, retain only the quadratic term near a potential minimum:</a:t>
            </a:r>
          </a:p>
          <a:p>
            <a:r>
              <a:t>Manual slide source</a:t>
            </a:r>
          </a:p>
          <a:p>
            <a:r>
              <a:t>65 / 100</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[66/100] Opening: What Are Artificial Atoms?</a:t>
            </a:r>
          </a:p>
          <a:p/>
          <a:p>
            <a:r>
              <a:t>PHYS598500 · WEEK 2</a:t>
            </a:r>
          </a:p>
          <a:p>
            <a:r>
              <a:t>Opening: What Are Artificial Atoms?</a:t>
            </a:r>
          </a:p>
          <a:p>
            <a:r>
              <a:t>The minus sign means that the spacing between adjacent levels decreases at higher energy. This result comes from the negative quartic correction of the cosine; it is precisely what detunes the  drive from  and makes selective control of the two lowest levels possible.</a:t>
            </a:r>
          </a:p>
          <a:p>
            <a:r>
              <a:t>The same cosine provides two complementary intuitions in two different bases</a:t>
            </a:r>
          </a:p>
          <a:p>
            <a:r>
              <a:t>phase basis:  forms periodic wells; as  increases, the low-energy wavefunction becomes more localized near one minimum.</a:t>
            </a:r>
          </a:p>
          <a:p>
            <a:r>
              <a:t>charge basis:  couples  and , turning crossings of the bare charge-state energies into avoided crossings.</a:t>
            </a:r>
          </a:p>
          <a:p>
            <a:r>
              <a:t>Conclusion to Question 4: A Josephson junction does not simply “add another inductor”; it replaces a quadratic potential with a cosine potential designable through . Its quadratic part sets the dominant frequency, while its quartic and higher-order terms create anharmonicity. This is how an artificial atom acquires a controllable spectrum.</a:t>
            </a:r>
          </a:p>
          <a:p>
            <a:r>
              <a:t>Josephson Junction</a:t>
            </a:r>
          </a:p>
          <a:p>
            <a:r>
              <a:t>Manual slide source</a:t>
            </a:r>
          </a:p>
          <a:p>
            <a:r>
              <a:t>66 / 100</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[67/100] Opening: What Are Artificial Atoms?</a:t>
            </a:r>
          </a:p>
          <a:p/>
          <a:p>
            <a:r>
              <a:t>PHYS598500 · WEEK 2</a:t>
            </a:r>
          </a:p>
          <a:p>
            <a:r>
              <a:t>Opening: What Are Artificial Atoms?</a:t>
            </a:r>
          </a:p>
          <a:p>
            <a:r>
              <a:t>The first equation is:  Separating real and imaginary parts gives:  Its complex-conjugate equation is:</a:t>
            </a:r>
          </a:p>
          <a:p>
            <a:r>
              <a:t>Manual slide source</a:t>
            </a:r>
          </a:p>
          <a:p>
            <a:r>
              <a:t>67 / 100</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[68/100] Opening: What Are Artificial Atoms?</a:t>
            </a:r>
          </a:p>
          <a:p/>
          <a:p>
            <a:r>
              <a:t>PHYS598500 · WEEK 2</a:t>
            </a:r>
          </a:p>
          <a:p>
            <a:r>
              <a:t>Opening: What Are Artificial Atoms?</a:t>
            </a:r>
          </a:p>
          <a:p>
            <a:r>
              <a:t>Add and subtract the two conjugate equations for site A. The sum isolates the phase dynamics; the difference isolates the population dynamics:</a:t>
            </a:r>
          </a:p>
          <a:p>
            <a:r>
              <a:t>Manual slide source</a:t>
            </a:r>
          </a:p>
          <a:p>
            <a:r>
              <a:t>68 / 100</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[69/100] Opening: What Are Artificial Atoms?</a:t>
            </a:r>
          </a:p>
          <a:p/>
          <a:p>
            <a:r>
              <a:t>PHYS598500 · WEEK 2</a:t>
            </a:r>
          </a:p>
          <a:p>
            <a:r>
              <a:t>Opening: What Are Artificial Atoms?</a:t>
            </a:r>
          </a:p>
          <a:p>
            <a:r>
              <a:t>Repeating the same add/subtract procedure for site B:</a:t>
            </a:r>
          </a:p>
          <a:p>
            <a:r>
              <a:t>Manual slide source</a:t>
            </a:r>
          </a:p>
          <a:p>
            <a:r>
              <a:t>69 / 100</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[70/100] Opening: What Are Artificial Atoms?</a:t>
            </a:r>
          </a:p>
          <a:p/>
          <a:p>
            <a:r>
              <a:t>PHYS598500 · WEEK 2</a:t>
            </a:r>
          </a:p>
          <a:p>
            <a:r>
              <a:t>Opening: What Are Artificial Atoms?</a:t>
            </a:r>
          </a:p>
          <a:p>
            <a:r>
              <a:t>Define the phase difference . Subtract the two phase equations and combine the two population equations with :</a:t>
            </a:r>
          </a:p>
          <a:p>
            <a:r>
              <a:t>where  is the critical current of the Josephson junction.</a:t>
            </a:r>
          </a:p>
          <a:p>
            <a:r>
              <a:t>Manual slide source</a:t>
            </a:r>
          </a:p>
          <a:p>
            <a:r>
              <a:t>70 / 100</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[71/100] Nonlinear LC Circuit</a:t>
            </a:r>
          </a:p>
          <a:p/>
          <a:p>
            <a:r>
              <a:t>PHYS598500 · WEEK 2</a:t>
            </a:r>
          </a:p>
          <a:p>
            <a:r>
              <a:t>Nonlinear LC Circuit</a:t>
            </a:r>
          </a:p>
          <a:p>
            <a:r>
              <a:t>Superconducting Qubit: A Nonlinear LC Circuit</a:t>
            </a:r>
          </a:p>
          <a:p>
            <a:r>
              <a:t>Two condensates, one barrier. ; the phase difference  drives the supercurrent, and the wavefunctions leak through the barrier. Ref. [15]</a:t>
            </a:r>
          </a:p>
          <a:p>
            <a:r>
              <a:t>Real junction (SEM, scale bar 500 nm): electrode A crosses over electrode B through a thin oxide. Ref. [15]</a:t>
            </a:r>
          </a:p>
          <a:p>
            <a:r>
              <a:t>These two relations define the junction. The next slide combines them into a current-dependent inductance, which is what makes the LC circuit anharmonic.</a:t>
            </a:r>
          </a:p>
          <a:p>
            <a:r>
              <a:t>Manual slide source</a:t>
            </a:r>
          </a:p>
          <a:p>
            <a:r>
              <a:t>71 / 100</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[72/100] The Junction as a Nonlinear Inductor</a:t>
            </a:r>
          </a:p>
          <a:p/>
          <a:p>
            <a:r>
              <a:t>PHYS598500 · WEEK 2</a:t>
            </a:r>
          </a:p>
          <a:p>
            <a:r>
              <a:t>The Junction as a Nonlinear Inductor</a:t>
            </a:r>
          </a:p>
          <a:p>
            <a:r>
              <a:t>⟶</a:t>
            </a:r>
          </a:p>
          <a:p>
            <a:r>
              <a:t>The junction acts as a current-dependent, nonlinear inductor : replace  by  and the LC oscillator becomes anharmonic.</a:t>
            </a:r>
          </a:p>
          <a:p>
            <a:r>
              <a:t>Manual slide source</a:t>
            </a:r>
          </a:p>
          <a:p>
            <a:r>
              <a:t>72 / 100</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[73/100] Opening: What Are Artificial Atoms?</a:t>
            </a:r>
          </a:p>
          <a:p/>
          <a:p>
            <a:r>
              <a:t>PHYS598500 · WEEK 2</a:t>
            </a:r>
          </a:p>
          <a:p>
            <a:r>
              <a:t>Opening: What Are Artificial Atoms?</a:t>
            </a:r>
          </a:p>
          <a:p>
            <a:r>
              <a:t>▲ A linear  circuit becomes a nonlinear  circuit by incorporating the nonlinear inductance of a Josephson junction.  is the junction inductance.</a:t>
            </a:r>
          </a:p>
          <a:p>
            <a:r>
              <a:t>Nonlinear LC Circuit</a:t>
            </a:r>
          </a:p>
          <a:p>
            <a:r>
              <a:t>A transmon can be understood as a nonlinear LC oscillator. It replaces an ordinary linear inductor with a Josephson junction and adds a large shunt capacitance. The Josephson junction supplies nonlinearity, while the shunt capacitor lowers the charging energy, making the qubit insensitive to offset-charge noise.</a:t>
            </a:r>
          </a:p>
          <a:p>
            <a:r>
              <a:t>Manual slide source</a:t>
            </a:r>
          </a:p>
          <a:p>
            <a:r>
              <a:t>73 / 100</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[74/100] Opening: What Are Artificial Atoms?</a:t>
            </a:r>
          </a:p>
          <a:p/>
          <a:p>
            <a:r>
              <a:t>PHYS598500 · WEEK 2</a:t>
            </a:r>
          </a:p>
          <a:p>
            <a:r>
              <a:t>Opening: What Are Artificial Atoms?</a:t>
            </a:r>
          </a:p>
          <a:p>
            <a:r>
              <a:t>Treat the quadratic part first, as a harmonic oscillator:</a:t>
            </a:r>
          </a:p>
          <a:p>
            <a:r>
              <a:t>With  set, the zero-point amplitudes follow from , :</a:t>
            </a:r>
          </a:p>
          <a:p>
            <a:r>
              <a:t>Manual slide source</a:t>
            </a:r>
          </a:p>
          <a:p>
            <a:r>
              <a:t>74 / 100</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[75/100] Opening: What Are Artificial Atoms?</a:t>
            </a:r>
          </a:p>
          <a:p/>
          <a:p>
            <a:r>
              <a:t>PHYS598500 · WEEK 2</a:t>
            </a:r>
          </a:p>
          <a:p>
            <a:r>
              <a:t>Opening: What Are Artificial Atoms?</a:t>
            </a:r>
          </a:p>
          <a:p>
            <a:r>
              <a:t>Now treat the quartic term  as a first-order perturbation. The key matrix element:</a:t>
            </a:r>
          </a:p>
          <a:p>
            <a:r>
              <a:t>Adjacent transitions no longer coincide:</a:t>
            </a:r>
          </a:p>
          <a:p>
            <a:r>
              <a:t>The anharmonicity  scales as , and the transition is selective precisely because the spectrum is no longer equally spaced.</a:t>
            </a:r>
          </a:p>
          <a:p>
            <a:r>
              <a:t>Manual slide source</a:t>
            </a:r>
          </a:p>
          <a:p>
            <a:r>
              <a:t>75 / 100</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[76/100] Opening: What Are Artificial Atoms?</a:t>
            </a:r>
          </a:p>
          <a:p/>
          <a:p>
            <a:r>
              <a:t>PHYS598500 · WEEK 2</a:t>
            </a:r>
          </a:p>
          <a:p>
            <a:r>
              <a:t>Opening: What Are Artificial Atoms?</a:t>
            </a:r>
          </a:p>
          <a:p>
            <a:r>
              <a:t>Transmon Qubit</a:t>
            </a:r>
          </a:p>
          <a:p>
            <a:r>
              <a:t>Transmon Hamiltonian</a:t>
            </a:r>
          </a:p>
          <a:p>
            <a:r>
              <a:t>The transmon Hamiltonian can be written as:</a:t>
            </a:r>
          </a:p>
          <a:p>
            <a:r>
              <a:t>where:</a:t>
            </a:r>
          </a:p>
          <a:p>
            <a:r>
              <a:t>: Cooper pair number operator.</a:t>
            </a:r>
          </a:p>
          <a:p>
            <a:r>
              <a:t>: the superconducting phase difference across the Josephson junction.</a:t>
            </a:r>
          </a:p>
          <a:p>
            <a:r>
              <a:t>: offset charge, representing environmental charge noise or gate-induced charge.</a:t>
            </a:r>
          </a:p>
          <a:p>
            <a:r>
              <a:t>: the charging energy, set by the total capacitance .</a:t>
            </a:r>
          </a:p>
          <a:p>
            <a:r>
              <a:t>: the Josephson energy, set by the junction critical current.</a:t>
            </a:r>
          </a:p>
          <a:p>
            <a:r>
              <a:t>An important transmon design condition is:</a:t>
            </a:r>
          </a:p>
          <a:p>
            <a:r>
              <a:t>In this regime, the sensitivity of the energy levels to offset charge  is strongly suppressed, while enough anharmonicity remains for the two lowest levels to serve as a qubit.</a:t>
            </a:r>
          </a:p>
          <a:p>
            <a:r>
              <a:t>Manual slide source</a:t>
            </a:r>
          </a:p>
          <a:p>
            <a:r>
              <a:t>76 / 100</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[77/100] Opening: What Are Artificial Atoms?</a:t>
            </a:r>
          </a:p>
          <a:p/>
          <a:p>
            <a:r>
              <a:t>PHYS598500 · WEEK 2</a:t>
            </a:r>
          </a:p>
          <a:p>
            <a:r>
              <a:t>Opening: What Are Artificial Atoms?</a:t>
            </a:r>
          </a:p>
          <a:p>
            <a:r>
              <a:t>Energy Spectrum and Anharmonicity</a:t>
            </a:r>
          </a:p>
          <a:p>
            <a:r>
              <a:t>Under the approximation , the lowest transmon levels form an approximate weakly anharmonic oscillator. Its  transition frequency is approximately:</a:t>
            </a:r>
          </a:p>
          <a:p>
            <a:r>
              <a:t>The transmon anharmonicity is approximately:</a:t>
            </a:r>
          </a:p>
          <a:p>
            <a:r>
              <a:t>Anharmonicity is an important parameter for quantum-gate control. If  is too small, microwave pulses readily cause leakage into ; if  is too large, it usually implies larger  and potentially greater charge-noise sensitivity. A transmon must therefore balance charge-noise protection against control selectivity.</a:t>
            </a:r>
          </a:p>
          <a:p>
            <a:r>
              <a:t>Manual slide source</a:t>
            </a:r>
          </a:p>
          <a:p>
            <a:r>
              <a:t>77 / 100</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[78/100] Opening: What Are Artificial Atoms?</a:t>
            </a:r>
          </a:p>
          <a:p/>
          <a:p>
            <a:r>
              <a:t>PHYS598500 · WEEK 2</a:t>
            </a:r>
          </a:p>
          <a:p>
            <a:r>
              <a:t>Opening: What Are Artificial Atoms?</a:t>
            </a:r>
          </a:p>
          <a:p>
            <a:r>
              <a:t>Design of  and</a:t>
            </a:r>
          </a:p>
          <a:p>
            <a:r>
              <a:t>The core of transmon design is choosing suitable , , and . These parameters are set respectively by chip geometry, materials, and the Josephson-junction process.</a:t>
            </a:r>
          </a:p>
          <a:p>
            <a:r>
              <a:t>Fixed-Frequency and Tunable Transmon</a:t>
            </a:r>
          </a:p>
          <a:p>
            <a:r>
              <a:t>Manual slide source</a:t>
            </a:r>
          </a:p>
          <a:p>
            <a:r>
              <a:t>78 / 100</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[79/100] Opening: What Are Artificial Atoms?</a:t>
            </a:r>
          </a:p>
          <a:p/>
          <a:p>
            <a:r>
              <a:t>PHYS598500 · WEEK 2</a:t>
            </a:r>
          </a:p>
          <a:p>
            <a:r>
              <a:t>Opening: What Are Artificial Atoms?</a:t>
            </a:r>
          </a:p>
          <a:p>
            <a:r>
              <a:t>A macroscopic circuit can therefore exhibit quantum energy levels only after four links are established in sequence:</a:t>
            </a:r>
          </a:p>
          <a:p>
            <a:r>
              <a:t>Superconducting condensate and Cooper-pair condensate: organize many electrons into a phase-coherent low-energy many-body state.</a:t>
            </a:r>
          </a:p>
          <a:p>
            <a:r>
              <a:t>Macroscopic quantum phase: makes the phase difference between nodes a collective variable that enters circuit dynamics.</a:t>
            </a:r>
          </a:p>
          <a:p>
            <a:r>
              <a:t>Low-loss circuit and low-temperature environment: keep both  and the energy linewidth below the mode quantum .</a:t>
            </a:r>
          </a:p>
          <a:p>
            <a:r>
              <a:t>Quantization of a collective circuit mode: identify a bounded normal mode from the circuit energy and obtain discrete levels .</a:t>
            </a:r>
          </a:p>
          <a:p>
            <a:r>
              <a:t>Core criterion: Whether a circuit has quantum energy levels depends on whether it possesses a collective degree of freedom that can be identified, quantized, and isolated sufficiently well from the environment. “Having discrete levels” completes only the first step toward an artificial atom. Selective control of just two levels is the design problem addressed by the next three questions.</a:t>
            </a:r>
          </a:p>
          <a:p>
            <a:r>
              <a:t>Manual slide source</a:t>
            </a:r>
          </a:p>
          <a:p>
            <a:r>
              <a:t>79 / 100</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[80/100] Opening: What Are Artificial Atoms?</a:t>
            </a:r>
          </a:p>
          <a:p/>
          <a:p>
            <a:r>
              <a:t>PHYS598500 · WEEK 2</a:t>
            </a:r>
          </a:p>
          <a:p>
            <a:r>
              <a:t>Opening: What Are Artificial Atoms?</a:t>
            </a:r>
          </a:p>
          <a:p>
            <a:r>
              <a:t>Preview of Week 3</a:t>
            </a:r>
          </a:p>
          <a:p>
            <a:r>
              <a:t>SQUID tunability and Transmon parameter design are developed in the sections that follow</a:t>
            </a:r>
          </a:p>
          <a:p>
            <a:r>
              <a:t>Manual slide source</a:t>
            </a:r>
          </a:p>
          <a:p>
            <a:r>
              <a:t>80 / 100</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[81/100] Opening: What Are Artificial Atoms?</a:t>
            </a:r>
          </a:p>
          <a:p/>
          <a:p>
            <a:r>
              <a:t>PHYS598500 · WEEK 2</a:t>
            </a:r>
          </a:p>
          <a:p>
            <a:r>
              <a:t>Opening: What Are Artificial Atoms?</a:t>
            </a:r>
          </a:p>
          <a:p>
            <a:r>
              <a:t>Superconducting qubits can be classified into several types according to their dominant energy scales and circuit designs. Common examples include the charge qubit, flux qubit, phase qubit, transmon, fluxonium, and 0–π qubit. In modern gate-based superconducting quantum computing, the transmon is among the most widely used designs; fluxonium has also attracted substantial attention for its long coherence, low relaxation rate, and distinctive level structure.</a:t>
            </a:r>
          </a:p>
          <a:p>
            <a:r>
              <a:t>Manual slide source</a:t>
            </a:r>
          </a:p>
          <a:p>
            <a:r>
              <a:t>81 / 100</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[82/100] Opening: What Are Artificial Atoms?</a:t>
            </a:r>
          </a:p>
          <a:p/>
          <a:p>
            <a:r>
              <a:t>PHYS598500 · WEEK 2</a:t>
            </a:r>
          </a:p>
          <a:p>
            <a:r>
              <a:t>Opening: What Are Artificial Atoms?</a:t>
            </a:r>
          </a:p>
          <a:p>
            <a:r>
              <a:t>Nonlinear inductive properties of a two-junction SQUID</a:t>
            </a:r>
          </a:p>
          <a:p>
            <a:r>
              <a:t>Frequency-tunable qubits</a:t>
            </a:r>
          </a:p>
          <a:p>
            <a:r>
              <a:t>Two Josephson junctions in a loop form a SQUID whose effective inductance depends on the enclosed flux . Replacing the single junction of a fixed-frequency transmon with this SQUID loop makes the effective Josephson energy, and hence the qubit frequency, tunable by an applied magnetic flux.</a:t>
            </a:r>
          </a:p>
          <a:p>
            <a:r>
              <a:t>Manual slide source</a:t>
            </a:r>
          </a:p>
          <a:p>
            <a:r>
              <a:t>82 / 100</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[83/100] Opening: What Are Artificial Atoms?</a:t>
            </a:r>
          </a:p>
          <a:p/>
          <a:p>
            <a:r>
              <a:t>PHYS598500 · WEEK 2</a:t>
            </a:r>
          </a:p>
          <a:p>
            <a:r>
              <a:t>Opening: What Are Artificial Atoms?</a:t>
            </a:r>
          </a:p>
          <a:p>
            <a:r>
              <a:t>Combine two Josephson junctions  and  to form a closed loop threaded by flux  and subject to voltage . By flux quantization, the loop integral of the superconducting phase must satisfy:  Since the discontinuities at the junctions contribute  and , with , substitution gives:</a:t>
            </a:r>
          </a:p>
          <a:p>
            <a:r>
              <a:t>Manual slide source</a:t>
            </a:r>
          </a:p>
          <a:p>
            <a:r>
              <a:t>83 / 100</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[84/100] Opening: What Are Artificial Atoms?</a:t>
            </a:r>
          </a:p>
          <a:p/>
          <a:p>
            <a:r>
              <a:t>PHYS598500 · WEEK 2</a:t>
            </a:r>
          </a:p>
          <a:p>
            <a:r>
              <a:t>Opening: What Are Artificial Atoms?</a:t>
            </a:r>
          </a:p>
          <a:p>
            <a:r>
              <a:t>When current  is sent through the entire SQUID, use the Josephson current relation from the previous section. For a symmetric SQUID, the two Josephson junctions have identical properties . We obtain:    Applying a trigonometric identity gives:</a:t>
            </a:r>
          </a:p>
          <a:p>
            <a:r>
              <a:t>Manual slide source</a:t>
            </a:r>
          </a:p>
          <a:p>
            <a:r>
              <a:t>84 / 100</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[85/100] Opening: What Are Artificial Atoms?</a:t>
            </a:r>
          </a:p>
          <a:p/>
          <a:p>
            <a:r>
              <a:t>PHYS598500 · WEEK 2</a:t>
            </a:r>
          </a:p>
          <a:p>
            <a:r>
              <a:t>Opening: What Are Artificial Atoms?</a:t>
            </a:r>
          </a:p>
          <a:p>
            <a:r>
              <a:t>The previous section showed that a Josephson junction behaves inductively; the inductive behavior of a SQUID can be analyzed similarly. Differentiate the current with respect to time:  The relation among  and voltage  is:  Substitution gives the inductance:</a:t>
            </a:r>
          </a:p>
          <a:p>
            <a:r>
              <a:t>Manual slide source</a:t>
            </a:r>
          </a:p>
          <a:p>
            <a:r>
              <a:t>85 / 100</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[86/100] Opening: What Are Artificial Atoms?</a:t>
            </a:r>
          </a:p>
          <a:p/>
          <a:p>
            <a:r>
              <a:t>PHYS598500 · WEEK 2</a:t>
            </a:r>
          </a:p>
          <a:p>
            <a:r>
              <a:t>Opening: What Are Artificial Atoms?</a:t>
            </a:r>
          </a:p>
          <a:p>
            <a:r>
              <a:t>Notice that  depends on the applied flux . This is the key to frequency tuning in a tunable transmon. Define the variable :  with:  The voltage  and current  are respectively:</a:t>
            </a:r>
          </a:p>
          <a:p>
            <a:r>
              <a:t>Manual slide source</a:t>
            </a:r>
          </a:p>
          <a:p>
            <a:r>
              <a:t>86 / 100</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[87/100] Opening: What Are Artificial Atoms?</a:t>
            </a:r>
          </a:p>
          <a:p/>
          <a:p>
            <a:r>
              <a:t>PHYS598500 · WEEK 2</a:t>
            </a:r>
          </a:p>
          <a:p>
            <a:r>
              <a:t>Opening: What Are Artificial Atoms?</a:t>
            </a:r>
          </a:p>
          <a:p>
            <a:r>
              <a:t>At fixed external field , the energy stored in a SQUID is:  Simplifying gives:</a:t>
            </a:r>
          </a:p>
          <a:p>
            <a:r>
              <a:t>Manual slide source</a:t>
            </a:r>
          </a:p>
          <a:p>
            <a:r>
              <a:t>87 / 100</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[88/100] Opening: What Are Artificial Atoms?</a:t>
            </a:r>
          </a:p>
          <a:p/>
          <a:p>
            <a:r>
              <a:t>PHYS598500 · WEEK 2</a:t>
            </a:r>
          </a:p>
          <a:p>
            <a:r>
              <a:t>Opening: What Are Artificial Atoms?</a:t>
            </a:r>
          </a:p>
          <a:p>
            <a:r>
              <a:t>Tunable Transmon</a:t>
            </a:r>
          </a:p>
          <a:p>
            <a:r>
              <a:t>Frequency-tunable transmon</a:t>
            </a:r>
          </a:p>
          <a:p>
            <a:r>
              <a:t>▲ A  circuit composed of two Josephson junctions, with tunable inductance.</a:t>
            </a:r>
          </a:p>
          <a:p>
            <a:r>
              <a:t>Manual slide source</a:t>
            </a:r>
          </a:p>
          <a:p>
            <a:r>
              <a:t>88 / 100</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[89/100] Josephson Junction Loop</a:t>
            </a:r>
          </a:p>
          <a:p/>
          <a:p>
            <a:r>
              <a:t>PHYS598500 · WEEK 2</a:t>
            </a:r>
          </a:p>
          <a:p>
            <a:r>
              <a:t>Josephson Junction Loop</a:t>
            </a:r>
          </a:p>
          <a:p>
            <a:r>
              <a:t>Josephson Junction Loop (SQUID)</a:t>
            </a:r>
          </a:p>
          <a:p>
            <a:r>
              <a:t>Transmon</a:t>
            </a:r>
          </a:p>
          <a:p>
            <a:r>
              <a:t>Tunable transmon</a:t>
            </a:r>
          </a:p>
          <a:p>
            <a:r>
              <a:t>Two junctions in a loop. Integrating the phase gradient around the ring  links the two junction phases to the enclosed flux . Ref. [15]</a:t>
            </a:r>
          </a:p>
          <a:p>
            <a:r>
              <a:t>The external flux  shifts the effective junction phase, so the qubit frequency can be tuned in situ with a flux-bias current.</a:t>
            </a:r>
          </a:p>
          <a:p>
            <a:r>
              <a:t>Manual slide source</a:t>
            </a:r>
          </a:p>
          <a:p>
            <a:r>
              <a:t>89 / 100</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[90/100] JJ Loop: Real Device</a:t>
            </a:r>
          </a:p>
          <a:p/>
          <a:p>
            <a:r>
              <a:t>PHYS598500 · WEEK 2</a:t>
            </a:r>
          </a:p>
          <a:p>
            <a:r>
              <a:t>JJ Loop: Real Device</a:t>
            </a:r>
          </a:p>
          <a:p>
            <a:r>
              <a:t>Josephson Junction Loop: The Real Device</a:t>
            </a:r>
          </a:p>
          <a:p>
            <a:r>
              <a:t>Flux-bias line next to a SQUID. Current  in the on-chip line threads the external flux  through the loop. Ref. [13]</a:t>
            </a:r>
          </a:p>
          <a:p>
            <a:r>
              <a:t>Design trade-off: the same line that tunes the qubit is also a channel for flux noise and loss.</a:t>
            </a:r>
          </a:p>
          <a:p>
            <a:r>
              <a:t>Manual slide source</a:t>
            </a:r>
          </a:p>
          <a:p>
            <a:r>
              <a:t>90 / 100</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[91/100] Opening: What Are Artificial Atoms?</a:t>
            </a:r>
          </a:p>
          <a:p/>
          <a:p>
            <a:r>
              <a:t>PHYS598500 · WEEK 2</a:t>
            </a:r>
          </a:p>
          <a:p>
            <a:r>
              <a:t>Opening: What Are Artificial Atoms?</a:t>
            </a:r>
          </a:p>
          <a:p>
            <a:r>
              <a:t>We now write the Hamiltonian:   where:</a:t>
            </a:r>
          </a:p>
          <a:p>
            <a:r>
              <a:t>Manual slide source</a:t>
            </a:r>
          </a:p>
          <a:p>
            <a:r>
              <a:t>91 / 100</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[92/100] Rabi Chevron</a:t>
            </a:r>
          </a:p>
          <a:p/>
          <a:p>
            <a:r>
              <a:t>PHYS598500 · WEEK 2</a:t>
            </a:r>
          </a:p>
          <a:p>
            <a:r>
              <a:t>Rabi Chevron</a:t>
            </a:r>
          </a:p>
          <a:p>
            <a:r>
              <a:t>Rabi oscillation on resonance. Ref. [12]</a:t>
            </a:r>
          </a:p>
          <a:p>
            <a:r>
              <a:t>Rabi chevron. Sweeping drive detuning and pulse length: off resonance the oscillation speeds up (generalized Rabi frequency ) and loses contrast. Ref. [14]</a:t>
            </a:r>
          </a:p>
          <a:p>
            <a:r>
              <a:t>Flux bias sets ; qubit drive sets . Ref. [15]</a:t>
            </a:r>
          </a:p>
          <a:p>
            <a:r>
              <a:t>Equivalent circuit. Ref. [15]</a:t>
            </a:r>
          </a:p>
          <a:p>
            <a:r>
              <a:t>Manual slide source</a:t>
            </a:r>
          </a:p>
          <a:p>
            <a:r>
              <a:t>92 / 100</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[93/100] How Does the Transmon Balance Noise Protection and Controllability?</a:t>
            </a:r>
          </a:p>
          <a:p/>
          <a:p>
            <a:r>
              <a:t>PHYS598500 · WEEK 2</a:t>
            </a:r>
          </a:p>
          <a:p>
            <a:r>
              <a:t>How Does the Transmon Balance Noise Protection and Controllability?</a:t>
            </a:r>
          </a:p>
          <a:p>
            <a:r>
              <a:t>Charge-Noise Suppression and the Anharmonicity Trade-off</a:t>
            </a:r>
          </a:p>
          <a:p>
            <a:r>
              <a:t>Manual slide source</a:t>
            </a:r>
          </a:p>
          <a:p>
            <a:r>
              <a:t>93 / 100</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[94/100] How Does the Transmon Balance Noise Protection and Controllability?</a:t>
            </a:r>
          </a:p>
          <a:p/>
          <a:p>
            <a:r>
              <a:t>PHYS598500 · WEEK 2</a:t>
            </a:r>
          </a:p>
          <a:p>
            <a:r>
              <a:t>How Does the Transmon Balance Noise Protection and Controllability?</a:t>
            </a:r>
          </a:p>
          <a:p>
            <a:r>
              <a:t>Question 5: Why is the artificial atom ultimately designed as a transmon?</a:t>
            </a:r>
          </a:p>
          <a:p>
            <a:r>
              <a:t>A charge qubit is highly sensitive to offset charge . By increasing the shunt capacitance, a transmon lowers  and raises , exponentially suppressing the charge dispersion of the energy with respect to . The cost is a smaller magnitude of anharmonicity, requiring a new trade-off between control selectivity and gate speed.</a:t>
            </a:r>
          </a:p>
          <a:p>
            <a:r>
              <a:t>First identify the problem with the original charge qubit</a:t>
            </a:r>
          </a:p>
          <a:p>
            <a:r>
              <a:t>In the charge basis, first set . Each integer Cooper-pair number  then corresponds to a charging parabola:</a:t>
            </a:r>
          </a:p>
          <a:p>
            <a:r>
              <a:t>Manual slide source</a:t>
            </a:r>
          </a:p>
          <a:p>
            <a:r>
              <a:t>94 / 100</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[95/100] How Does the Transmon Balance Noise Protection and Controllability?</a:t>
            </a:r>
          </a:p>
          <a:p/>
          <a:p>
            <a:r>
              <a:t>PHYS598500 · WEEK 2</a:t>
            </a:r>
          </a:p>
          <a:p>
            <a:r>
              <a:t>How Does the Transmon Balance Noise Protection and Controllability?</a:t>
            </a:r>
          </a:p>
          <a:p>
            <a:r>
              <a:t>is set by the gate voltage, background trapped charge, and environmental offset-charge fluctuations. Near , retaining only  and , Josephson tunneling gives the approximate matrix</a:t>
            </a:r>
          </a:p>
          <a:p>
            <a:r>
              <a:t>so the two-level splitting is approximately</a:t>
            </a:r>
          </a:p>
          <a:p>
            <a:r>
              <a:t>At exactly  there is a charge sweet spot, ; but once the operating point drifts away, the frequency changes rapidly. If the background charge jumps, the qubit frequency jumps with it. Precise biasing at one point alone is not robust hardware protection.</a:t>
            </a:r>
          </a:p>
          <a:p>
            <a:r>
              <a:t>The transmon's hardware move is simple: make the capacitance large</a:t>
            </a:r>
          </a:p>
          <a:p>
            <a:r>
              <a:t>Manual slide source</a:t>
            </a:r>
          </a:p>
          <a:p>
            <a:r>
              <a:t>95 / 100</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[96/100] How Does the Transmon Balance Noise Protection and Controllability?</a:t>
            </a:r>
          </a:p>
          <a:p/>
          <a:p>
            <a:r>
              <a:t>PHYS598500 · WEEK 2</a:t>
            </a:r>
          </a:p>
          <a:p>
            <a:r>
              <a:t>How Does the Transmon Balance Noise Protection and Controllability?</a:t>
            </a:r>
          </a:p>
          <a:p>
            <a:r>
              <a:t>For total capacitance ,</a:t>
            </a:r>
          </a:p>
          <a:p>
            <a:r>
              <a:t>Adding a large shunt capacitor increases  and lowers , while the junction critical current can still set  independently. Thus  can be shifted from the charge-qubit regime toward the transmon regime of . This does not introduce a different Hamiltonian; it moves the same Hamiltonian into another parameter regime.</a:t>
            </a:r>
          </a:p>
          <a:p>
            <a:r>
              <a:t>In the phase picture, larger  localizes low-energy wavefunctions near a cosine minimum and reduces the quantum phase-slip amplitude between neighboring wells. Offset charge  plays the role of a boundary phase for the periodic potential; the dependence of energy on  comes precisely from interwell tunneling. As the relative barrier height grows, the energy band flattens with respect to .</a:t>
            </a:r>
          </a:p>
          <a:p>
            <a:r>
              <a:t>Manual slide source</a:t>
            </a:r>
          </a:p>
          <a:p>
            <a:r>
              <a:t>96 / 100</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[97/100] How Does the Transmon Balance Noise Protection and Controllability?</a:t>
            </a:r>
          </a:p>
          <a:p/>
          <a:p>
            <a:r>
              <a:t>PHYS598500 · WEEK 2</a:t>
            </a:r>
          </a:p>
          <a:p>
            <a:r>
              <a:t>How Does the Transmon Balance Noise Protection and Controllability?</a:t>
            </a:r>
          </a:p>
          <a:p>
            <a:r>
              <a:t>Protection does not turn off control along with noise</a:t>
            </a:r>
          </a:p>
          <a:p>
            <a:r>
              <a:t>A capacitive microwave drive couples primarily through . In the harmonic approximation,</a:t>
            </a:r>
          </a:p>
          <a:p>
            <a:r>
              <a:t>Thus, increasing  suppresses charge dispersion without eliminating the  electric-dipole matrix element. The transmon therefore retains effective microwave drive and dispersive readout. The converse is that the same nonzero matrix element means a transmon is not automatically immune to all high-frequency electric noise. It primarily addresses low-frequency offset-charge dephasing, not relaxation in general.</a:t>
            </a:r>
          </a:p>
          <a:p>
            <a:r>
              <a:t>Fixed-frequency and tunable transmons introduce the next trade-off</a:t>
            </a:r>
          </a:p>
          <a:p>
            <a:r>
              <a:t>Manual slide source</a:t>
            </a:r>
          </a:p>
          <a:p>
            <a:r>
              <a:t>97 / 100</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[98/100] How Does the Transmon Balance Noise Protection and Controllability?</a:t>
            </a:r>
          </a:p>
          <a:p/>
          <a:p>
            <a:r>
              <a:t>PHYS598500 · WEEK 2</a:t>
            </a:r>
          </a:p>
          <a:p>
            <a:r>
              <a:t>How Does the Transmon Balance Noise Protection and Controllability?</a:t>
            </a:r>
          </a:p>
          <a:p>
            <a:r>
              <a:t>Reassessing the transmon with four design criteria</a:t>
            </a:r>
          </a:p>
          <a:p>
            <a:r>
              <a:t>Dephasing protection:  receives exponential suppression from charge dispersion.</a:t>
            </a:r>
          </a:p>
          <a:p>
            <a:r>
              <a:t>Relaxation protection:  There is no generic ; material loss, Purcell loss, and high-frequency electric noise must still be engineered separately.</a:t>
            </a:r>
          </a:p>
          <a:p>
            <a:r>
              <a:t>Controllability: , preserving effective microwave control and readout coupling.</a:t>
            </a:r>
          </a:p>
          <a:p>
            <a:r>
              <a:t>Leakage suppression:  is finite; gate speed, pulse shaping, and residual anharmonicity must be balanced.</a:t>
            </a:r>
          </a:p>
          <a:p>
            <a:r>
              <a:t>Benefits: lower charge dispersion, mature microwave control, and a designable frequency range.</a:t>
            </a:r>
          </a:p>
          <a:p>
            <a:r>
              <a:t>Costs: weaker anharmonicity, possible leakage, and different noise and calibration burdens for fixed and tunable designs.</a:t>
            </a:r>
          </a:p>
          <a:p>
            <a:r>
              <a:t>Design principle: the transmon is not the “best artificial atom,” but a successful parameter choice balancing noise sensitivity, control, and manufacturability.</a:t>
            </a:r>
          </a:p>
          <a:p>
            <a:r>
              <a:t>Manual slide source</a:t>
            </a:r>
          </a:p>
          <a:p>
            <a:r>
              <a:t>98 / 100</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[99/100] How Does the Transmon Balance Noise Protection and Controllability?</a:t>
            </a:r>
          </a:p>
          <a:p/>
          <a:p>
            <a:r>
              <a:t>PHYS598500 · WEEK 2</a:t>
            </a:r>
          </a:p>
          <a:p>
            <a:r>
              <a:t>How Does the Transmon Balance Noise Protection and Controllability?</a:t>
            </a:r>
          </a:p>
          <a:p>
            <a:r>
              <a:t>Conclusion for this week: Discrete energy levels alone do not make a qubit. Josephson nonlinearity must create a selectively controllable spectrum, after which  tunes the trade-off between charge sensitivity and anharmonicity. The transmon became mainstream not because it eliminates every source of noise, but because exponential-versus-linear scaling places it at an especially effective Pareto point that remains controllable and manufacturable.</a:t>
            </a:r>
          </a:p>
          <a:p>
            <a:r>
              <a:t>Manual slide source</a:t>
            </a:r>
          </a:p>
          <a:p>
            <a:r>
              <a:t>99 / 100</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[100/100] Thank you!</a:t>
            </a:r>
          </a:p>
          <a:p/>
          <a:p>
            <a:r>
              <a:t>PHYS598500 · WEEK 2</a:t>
            </a:r>
          </a:p>
          <a:p>
            <a:r>
              <a:t>Thank you!</a:t>
            </a:r>
          </a:p>
          <a:p>
            <a:r>
              <a:t>PHYS598500 · Week 2</a:t>
            </a:r>
          </a:p>
          <a:p>
            <a:r>
              <a:t>Manual slide source</a:t>
            </a:r>
          </a:p>
          <a:p>
            <a:r>
              <a:t>100 / 100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hyperlink" Target="https://doi.org/10.1073/pnas.1618020114" TargetMode="Externa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d41586-023-01644-3"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doi.org/10.1038/s41586-023-06927-3"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doi.org/10.1126/science.aao5965"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https://doi.org/10.1038/s41467-019-13335-7"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vector1.svg"/><Relationship Id="rId4" Type="http://schemas.openxmlformats.org/officeDocument/2006/relationships/hyperlink" Target="https://www.xanadu.ai/" TargetMode="External"/><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hyperlink" Target="https://galileo-unbound.blog/wp-content/uploads/2021/12/photonic-integrated-circuit_schematic.png" TargetMode="External"/><Relationship Id="rId9" Type="http://schemas.openxmlformats.org/officeDocument/2006/relationships/hyperlink" Target="https://galileo-unbound.blog/wp-content/uploads/2021/12/20131105e-1.png" TargetMode="External"/><Relationship Id="rId10" Type="http://schemas.openxmlformats.org/officeDocument/2006/relationships/hyperlink" Target="https://galileo-unbound.blog/wp-content/uploads/2021/12/gbs.png" TargetMode="Externa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earch.ibm.com/publications/the-physical-implementation-of-quantum-computation"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hyperlink" Target="https://doi.org/10.1073/pnas.1618020114" TargetMode="External"/><Relationship Id="rId4" Type="http://schemas.openxmlformats.org/officeDocument/2006/relationships/hyperlink" Target="https://doi.org/10.1038/s41586-021-03318-4" TargetMode="Externa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hyperlink" Target="https://doi.org/10.1073/pnas.1618020114" TargetMode="External"/><Relationship Id="rId4" Type="http://schemas.openxmlformats.org/officeDocument/2006/relationships/image" Target="../media/image12.png"/><Relationship Id="rId5" Type="http://schemas.openxmlformats.org/officeDocument/2006/relationships/hyperlink" Target="https://doi.org/10.1103/PhysRevLett.107.240501" TargetMode="Externa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jpg"/><Relationship Id="rId5" Type="http://schemas.openxmlformats.org/officeDocument/2006/relationships/image" Target="../media/image16.jpg"/><Relationship Id="rId6" Type="http://schemas.openxmlformats.org/officeDocument/2006/relationships/image" Target="../media/image17.png"/><Relationship Id="rId7" Type="http://schemas.openxmlformats.org/officeDocument/2006/relationships/hyperlink" Target="https://www.researchgate.net/figure/An-image-of-IBMs-five-qubit-processor-with-its-main-elements-highlighted-including-the_fig4_358153899" TargetMode="External"/><Relationship Id="rId8" Type="http://schemas.openxmlformats.org/officeDocument/2006/relationships/hyperlink" Target="https://www.youtube.com/watch?v=2pB87H3_F_c" TargetMode="External"/><Relationship Id="rId9" Type="http://schemas.openxmlformats.org/officeDocument/2006/relationships/hyperlink" Target="https://www.anl.gov/article/resurrecting-niobium-for-quantum-science" TargetMode="External"/><Relationship Id="rId10" Type="http://schemas.openxmlformats.org/officeDocument/2006/relationships/hyperlink" Target="https://doi.org/10.1557/mrs.2013.229" TargetMode="External"/><Relationship Id="rId11" Type="http://schemas.openxmlformats.org/officeDocument/2006/relationships/hyperlink" Target="https://electronics360.globalspec.com/article/13553/how-quantum-computers-work" TargetMode="Externa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hyperlink" Target="https://www.researchgate.net/figure/An-image-of-IBMs-five-qubit-processor-with-its-main-elements-highlighted-including-the_fig4_358153899" TargetMode="External"/><Relationship Id="rId6" Type="http://schemas.openxmlformats.org/officeDocument/2006/relationships/hyperlink" Target="https://www.youtube.com/watch?v=2pB87H3_F_c" TargetMode="External"/><Relationship Id="rId7" Type="http://schemas.openxmlformats.org/officeDocument/2006/relationships/hyperlink" Target="https://www.anl.gov/article/resurrecting-niobium-for-quantum-science" TargetMode="External"/><Relationship Id="rId8" Type="http://schemas.openxmlformats.org/officeDocument/2006/relationships/hyperlink" Target="https://doi.org/10.1557/mrs.2013.229" TargetMode="External"/><Relationship Id="rId9" Type="http://schemas.openxmlformats.org/officeDocument/2006/relationships/hyperlink" Target="https://electronics360.globalspec.com/article/13553/how-quantum-computers-work" TargetMode="Externa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hyperlink" Target="https://www.researchgate.net/figure/An-image-of-IBMs-five-qubit-processor-with-its-main-elements-highlighted-including-the_fig4_358153899"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hyperlink" Target="https://www.youtube.com/watch?v=2pB87H3_F_c"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8.png"/><Relationship Id="rId4" Type="http://schemas.openxmlformats.org/officeDocument/2006/relationships/hyperlink" Target="https://www.youtube.com/watch?v=2pB87H3_F_c" TargetMode="External"/><Relationship Id="rId5" Type="http://schemas.openxmlformats.org/officeDocument/2006/relationships/hyperlink" Target="https://www.researchgate.net/figure/An-image-of-IBMs-five-qubit-processor-with-its-main-elements-highlighted-including-the_fig4_358153899" TargetMode="External"/><Relationship Id="rId6" Type="http://schemas.openxmlformats.org/officeDocument/2006/relationships/hyperlink" Target="https://doi.org/10.1016/j.apsusc.2023.158337" TargetMode="Externa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png"/><Relationship Id="rId4" Type="http://schemas.openxmlformats.org/officeDocument/2006/relationships/hyperlink" Target="https://www.anl.gov/article/resurrecting-niobium-for-quantum-science" TargetMode="External"/><Relationship Id="rId5" Type="http://schemas.openxmlformats.org/officeDocument/2006/relationships/hyperlink" Target="https://doi.org/10.1557/mrs.2013.229" TargetMode="Externa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hyperlink" Target="https://electronics360.globalspec.com/article/13553/how-quantum-computers-work" TargetMode="Externa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hyperlink" Target="http://hyperphysics.phy-astr.gsu.edu/hbase/Solids/bcs.html" TargetMode="Externa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hyperlink" Target="http://hyperphysics.phy-astr.gsu.edu/hbase/Solids/bcs.html" TargetMode="Externa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hyperlink" Target="http://hyperphysics.phy-astr.gsu.edu/hbase/Solids/coop.html" TargetMode="Externa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hyperlink" Target="http://hyperphysics.phy-astr.gsu.edu/hbase/Solids/coop.html" TargetMode="Externa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hyperlink" Target="http://hyperphysics.phy-astr.gsu.edu/hbase/Solids/coop.html" TargetMode="Externa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hyperlink" Target="http://hyperphysics.phy-astr.gsu.edu/hbase/Solids/coop.html" TargetMode="Externa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gif"/><Relationship Id="rId3" Type="http://schemas.openxmlformats.org/officeDocument/2006/relationships/image" Target="../media/image32.png"/><Relationship Id="rId4" Type="http://schemas.openxmlformats.org/officeDocument/2006/relationships/hyperlink" Target="http://hyperphysics.phy-astr.gsu.edu/hbase/Solids/Squid.html" TargetMode="Externa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hyperlink" Target="http://hyperphysics.phy-astr.gsu.edu/hbase/Solids/Squid.html" TargetMode="Externa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hyperlink" Target="http://hyperphysics.phy-astr.gsu.edu/hbase/Solids/Squid.html" TargetMode="Externa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hyperlink" Target="https://www.nobelprize.org/prizes/physics/2025/popular-information/" TargetMode="Externa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hyperlink" Target="https://www.nobelprize.org/prizes/physics/2025/popular-information/" TargetMode="External"/><Relationship Id="rId4" Type="http://schemas.openxmlformats.org/officeDocument/2006/relationships/hyperlink" Target="https://www.nobelprize.org/prizes/physics/2025/summary/" TargetMode="Externa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hyperlink" Target="https://www.nobelprize.org/uploads/2025/10/advanced-physicsprize2025.pdf" TargetMode="External"/><Relationship Id="rId4" Type="http://schemas.openxmlformats.org/officeDocument/2006/relationships/image" Target="../media/image39.jpg"/><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hyperlink" Target="https://www.nobelprize.org/prizes/physics/2025/summary/" TargetMode="External"/><Relationship Id="rId4" Type="http://schemas.openxmlformats.org/officeDocument/2006/relationships/image" Target="../media/image41.png"/><Relationship Id="rId5" Type="http://schemas.openxmlformats.org/officeDocument/2006/relationships/image" Target="../media/vector2.svg"/><Relationship Id="rId6" Type="http://schemas.openxmlformats.org/officeDocument/2006/relationships/image" Target="../media/image42.png"/><Relationship Id="rId7" Type="http://schemas.openxmlformats.org/officeDocument/2006/relationships/hyperlink" Target="https://doi.org/10.1103/PhysRevLett.55.1543" TargetMode="External"/><Relationship Id="rId8" Type="http://schemas.openxmlformats.org/officeDocument/2006/relationships/image" Target="../media/image43.png"/><Relationship Id="rId9"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hyperlink" Target="https://doi.org/10.1038/19718" TargetMode="External"/><Relationship Id="rId4" Type="http://schemas.openxmlformats.org/officeDocument/2006/relationships/image" Target="../media/image45.jpg"/><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hyperlink" Target="https://doi.org/10.1038/19718" TargetMode="External"/><Relationship Id="rId4" Type="http://schemas.openxmlformats.org/officeDocument/2006/relationships/hyperlink" Target="https://doi.org/10.1103/PhysRevLett.79.2328" TargetMode="Externa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hyperlink" Target="../../ImagePool/Transmon.png" TargetMode="Externa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hyperlink" Target="../../ImagePool/Transmon%20state.png" TargetMode="Externa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hyperlink" Target="https://doi.org/10.2183/pjab.86.275" TargetMode="Externa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vector3.svg"/><Relationship Id="rId4" Type="http://schemas.openxmlformats.org/officeDocument/2006/relationships/image" Target="../media/image50.png"/><Relationship Id="rId5" Type="http://schemas.openxmlformats.org/officeDocument/2006/relationships/image" Target="../media/vector4.svg"/><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vector5.svg"/><Relationship Id="rId4" Type="http://schemas.openxmlformats.org/officeDocument/2006/relationships/image" Target="../media/image52.jpg"/><Relationship Id="rId5" Type="http://schemas.openxmlformats.org/officeDocument/2006/relationships/hyperlink" Target="https://doi.org/10.1063/1.5089550" TargetMode="External"/><Relationship Id="rId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vector6.svg"/><Relationship Id="rId4" Type="http://schemas.openxmlformats.org/officeDocument/2006/relationships/image" Target="../media/image54.png"/><Relationship Id="rId5" Type="http://schemas.openxmlformats.org/officeDocument/2006/relationships/image" Target="../media/vector7.svg"/><Relationship Id="rId6" Type="http://schemas.openxmlformats.org/officeDocument/2006/relationships/image" Target="../media/image55.png"/><Relationship Id="rId7" Type="http://schemas.openxmlformats.org/officeDocument/2006/relationships/image" Target="../media/vector8.svg"/><Relationship Id="rId8" Type="http://schemas.openxmlformats.org/officeDocument/2006/relationships/image" Target="../media/image56.png"/><Relationship Id="rId9" Type="http://schemas.openxmlformats.org/officeDocument/2006/relationships/image" Target="../media/vector9.svg"/><Relationship Id="rId10" Type="http://schemas.openxmlformats.org/officeDocument/2006/relationships/image" Target="../media/image57.jpg"/><Relationship Id="rId11" Type="http://schemas.openxmlformats.org/officeDocument/2006/relationships/image" Target="../media/image58.jpg"/><Relationship Id="rId12" Type="http://schemas.openxmlformats.org/officeDocument/2006/relationships/hyperlink" Target="https://doi.org/10.1063/1.5089550" TargetMode="External"/><Relationship Id="rId1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17.png"/><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vector10.svg"/><Relationship Id="rId4" Type="http://schemas.openxmlformats.org/officeDocument/2006/relationships/image" Target="../media/image61.png"/><Relationship Id="rId5" Type="http://schemas.openxmlformats.org/officeDocument/2006/relationships/image" Target="../media/vector11.svg"/><Relationship Id="rId6"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hyperlink" Target="../../ImagePool/LC%20JJ%20circuit.png" TargetMode="Externa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hyperlink" Target="../../ImagePool/SQUID.png" TargetMode="Externa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hyperlink" Target="../../ImagePool/SQUID%20transmon.png" TargetMode="External"/><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image" Target="../media/vector12.svg"/><Relationship Id="rId4" Type="http://schemas.openxmlformats.org/officeDocument/2006/relationships/image" Target="../media/image66.png"/><Relationship Id="rId5" Type="http://schemas.openxmlformats.org/officeDocument/2006/relationships/image" Target="../media/vector13.svg"/><Relationship Id="rId6" Type="http://schemas.openxmlformats.org/officeDocument/2006/relationships/image" Target="../media/image67.png"/><Relationship Id="rId7"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hyperlink" Target="https://quantumcomputing.stackexchange.com/questions/33136/how-to-estimate-the-losses-of-a-transmon-qubit-to-its-flux-bias-line" TargetMode="External"/><Relationship Id="rId4" Type="http://schemas.openxmlformats.org/officeDocument/2006/relationships/image" Target="../media/image69.png"/><Relationship Id="rId5" Type="http://schemas.openxmlformats.org/officeDocument/2006/relationships/image" Target="../media/vector14.svg"/><Relationship Id="rId6"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hyperlink" Target="https://www.researchgate.net/figure/Fig-S2-Time-domain-Rabi-oscillations-from-transmon-J2-measured-up-to-a-220-ns-and-b_fig2_221745534" TargetMode="External"/><Relationship Id="rId4" Type="http://schemas.openxmlformats.org/officeDocument/2006/relationships/image" Target="../media/image71.png"/><Relationship Id="rId5" Type="http://schemas.openxmlformats.org/officeDocument/2006/relationships/hyperlink" Target="https://www.quantum-machines.co/blog/enhancing-qubit-control/" TargetMode="External"/><Relationship Id="rId6" Type="http://schemas.openxmlformats.org/officeDocument/2006/relationships/image" Target="../media/image72.png"/><Relationship Id="rId7" Type="http://schemas.openxmlformats.org/officeDocument/2006/relationships/image" Target="../media/image73.png"/><Relationship Id="rId8"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s-000.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FFFFFF"/>
                </a:solidFill>
                <a:latin typeface="Montserrat"/>
                <a:ea typeface="Montserrat"/>
                <a:cs typeface="Montserrat"/>
              </a:rPr>
              <a:t>PHYS598500 · WEEK 2</a:t>
            </a:r>
          </a:p>
        </p:txBody>
      </p:sp>
      <p:sp>
        <p:nvSpPr>
          <p:cNvPr id="4" name="TextBox 3"/>
          <p:cNvSpPr txBox="1"/>
          <p:nvPr/>
        </p:nvSpPr>
        <p:spPr>
          <a:xfrm>
            <a:off x="8352896" y="324115"/>
            <a:ext cx="3348037" cy="181372"/>
          </a:xfrm>
          <a:prstGeom prst="rect">
            <a:avLst/>
          </a:prstGeom>
          <a:noFill/>
        </p:spPr>
        <p:txBody>
          <a:bodyPr wrap="none" lIns="0" rIns="0" tIns="0" bIns="0" anchor="t">
            <a:noAutofit/>
          </a:bodyPr>
          <a:lstStyle/>
          <a:p>
            <a:pPr algn="l">
              <a:lnSpc>
                <a:spcPts val="1430"/>
              </a:lnSpc>
            </a:pPr>
            <a:r>
              <a:rPr sz="1000" b="1" i="0">
                <a:solidFill>
                  <a:srgbClr val="FFFFFF"/>
                </a:solidFill>
                <a:latin typeface="Montserrat"/>
                <a:ea typeface="Montserrat"/>
                <a:cs typeface="Montserrat"/>
              </a:rPr>
              <a:t>Circuit Quantization and Josephson Anharmonicity</a:t>
            </a:r>
          </a:p>
        </p:txBody>
      </p:sp>
      <p:sp>
        <p:nvSpPr>
          <p:cNvPr id="5" name="TextBox 4"/>
          <p:cNvSpPr txBox="1"/>
          <p:nvPr/>
        </p:nvSpPr>
        <p:spPr>
          <a:xfrm>
            <a:off x="1016000" y="2507589"/>
            <a:ext cx="10160000" cy="231643"/>
          </a:xfrm>
          <a:prstGeom prst="rect">
            <a:avLst/>
          </a:prstGeom>
          <a:noFill/>
        </p:spPr>
        <p:txBody>
          <a:bodyPr wrap="none" lIns="0" rIns="0" tIns="0" bIns="0" anchor="t">
            <a:noAutofit/>
          </a:bodyPr>
          <a:lstStyle/>
          <a:p>
            <a:pPr algn="ctr">
              <a:lnSpc>
                <a:spcPts val="1820"/>
              </a:lnSpc>
            </a:pPr>
            <a:r>
              <a:rPr sz="1200" b="1" i="0" spc="144">
                <a:solidFill>
                  <a:srgbClr val="FFFFFF"/>
                </a:solidFill>
                <a:latin typeface="Montserrat"/>
                <a:ea typeface="Montserrat"/>
                <a:cs typeface="Montserrat"/>
              </a:rPr>
              <a:t>PHYS598500 · Week 2 · T2</a:t>
            </a:r>
          </a:p>
        </p:txBody>
      </p:sp>
      <p:sp>
        <p:nvSpPr>
          <p:cNvPr id="6" name="TextBox 5"/>
          <p:cNvSpPr txBox="1"/>
          <p:nvPr/>
        </p:nvSpPr>
        <p:spPr>
          <a:xfrm>
            <a:off x="1016000" y="2874698"/>
            <a:ext cx="10160000" cy="1099873"/>
          </a:xfrm>
          <a:prstGeom prst="rect">
            <a:avLst/>
          </a:prstGeom>
          <a:noFill/>
        </p:spPr>
        <p:txBody>
          <a:bodyPr wrap="square" lIns="0" rIns="0" tIns="0" bIns="0" anchor="t">
            <a:noAutofit/>
          </a:bodyPr>
          <a:lstStyle/>
          <a:p>
            <a:pPr algn="ctr">
              <a:lnSpc>
                <a:spcPts val="4330"/>
              </a:lnSpc>
            </a:pPr>
            <a:r>
              <a:rPr sz="3870" b="1" i="0" spc="-97">
                <a:solidFill>
                  <a:srgbClr val="FFFFFF"/>
                </a:solidFill>
                <a:latin typeface="Montserrat"/>
                <a:ea typeface="Montserrat"/>
                <a:cs typeface="Montserrat"/>
              </a:rPr>
              <a:t>Circuit Quantization and Josephson Anharmonicity</a:t>
            </a:r>
          </a:p>
        </p:txBody>
      </p:sp>
      <p:sp>
        <p:nvSpPr>
          <p:cNvPr id="7" name="TextBox 6"/>
          <p:cNvSpPr txBox="1"/>
          <p:nvPr/>
        </p:nvSpPr>
        <p:spPr>
          <a:xfrm>
            <a:off x="1016000" y="4194704"/>
            <a:ext cx="10160000" cy="308107"/>
          </a:xfrm>
          <a:prstGeom prst="rect">
            <a:avLst/>
          </a:prstGeom>
          <a:noFill/>
        </p:spPr>
        <p:txBody>
          <a:bodyPr wrap="none" lIns="0" rIns="0" tIns="0" bIns="0" anchor="t">
            <a:noAutofit/>
          </a:bodyPr>
          <a:lstStyle/>
          <a:p>
            <a:pPr algn="ctr">
              <a:lnSpc>
                <a:spcPts val="2430"/>
              </a:lnSpc>
            </a:pPr>
            <a:r>
              <a:rPr sz="1870" b="0" i="0">
                <a:solidFill>
                  <a:srgbClr val="FFFFFF"/>
                </a:solidFill>
                <a:latin typeface="Montserrat"/>
                <a:ea typeface="Montserrat"/>
                <a:cs typeface="Montserrat"/>
              </a:rPr>
              <a:t>Hardware → Protection → Superconductivity → Josephson Nonlinearity</a:t>
            </a:r>
          </a:p>
        </p:txBody>
      </p:sp>
      <p:sp>
        <p:nvSpPr>
          <p:cNvPr id="8" name="Rectangle 7"/>
          <p:cNvSpPr/>
          <p:nvPr/>
        </p:nvSpPr>
        <p:spPr>
          <a:xfrm>
            <a:off x="491067" y="6434667"/>
            <a:ext cx="11209867" cy="8467"/>
          </a:xfrm>
          <a:prstGeom prst="rect">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FFFFFF"/>
                </a:solidFill>
                <a:latin typeface="Montserrat"/>
                <a:ea typeface="Montserrat"/>
                <a:cs typeface="Montserrat"/>
              </a:rPr>
              <a:t>Manual slide source</a:t>
            </a:r>
          </a:p>
        </p:txBody>
      </p:sp>
      <p:sp>
        <p:nvSpPr>
          <p:cNvPr id="10" name="TextBox 9"/>
          <p:cNvSpPr txBox="1"/>
          <p:nvPr/>
        </p:nvSpPr>
        <p:spPr>
          <a:xfrm>
            <a:off x="11253391" y="6565900"/>
            <a:ext cx="447543" cy="169333"/>
          </a:xfrm>
          <a:prstGeom prst="rect">
            <a:avLst/>
          </a:prstGeom>
          <a:noFill/>
        </p:spPr>
        <p:txBody>
          <a:bodyPr wrap="none" lIns="0" rIns="0" tIns="0" bIns="0" anchor="t">
            <a:noAutofit/>
          </a:bodyPr>
          <a:lstStyle/>
          <a:p>
            <a:pPr algn="l">
              <a:lnSpc>
                <a:spcPts val="1330"/>
              </a:lnSpc>
            </a:pPr>
            <a:r>
              <a:rPr sz="930" b="1" i="0">
                <a:solidFill>
                  <a:srgbClr val="FFFFFF"/>
                </a:solidFill>
                <a:latin typeface="Montserrat"/>
                <a:ea typeface="Montserrat"/>
                <a:cs typeface="Montserrat"/>
              </a:rPr>
              <a:t>01 / 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s-000.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FFFFFF"/>
                </a:solidFill>
                <a:latin typeface="Montserrat"/>
                <a:ea typeface="Montserrat"/>
                <a:cs typeface="Montserrat"/>
              </a:rPr>
              <a:t>PHYS598500 · WEEK 2</a:t>
            </a:r>
          </a:p>
        </p:txBody>
      </p:sp>
      <p:sp>
        <p:nvSpPr>
          <p:cNvPr id="4" name="TextBox 3"/>
          <p:cNvSpPr txBox="1"/>
          <p:nvPr/>
        </p:nvSpPr>
        <p:spPr>
          <a:xfrm>
            <a:off x="8053255" y="324115"/>
            <a:ext cx="3647678" cy="181372"/>
          </a:xfrm>
          <a:prstGeom prst="rect">
            <a:avLst/>
          </a:prstGeom>
          <a:noFill/>
        </p:spPr>
        <p:txBody>
          <a:bodyPr wrap="none" lIns="0" rIns="0" tIns="0" bIns="0" anchor="t">
            <a:noAutofit/>
          </a:bodyPr>
          <a:lstStyle/>
          <a:p>
            <a:pPr algn="l">
              <a:lnSpc>
                <a:spcPts val="1430"/>
              </a:lnSpc>
            </a:pPr>
            <a:r>
              <a:rPr sz="1000" b="1" i="0">
                <a:solidFill>
                  <a:srgbClr val="FFFFFF"/>
                </a:solidFill>
                <a:latin typeface="Montserrat"/>
                <a:ea typeface="Montserrat"/>
                <a:cs typeface="Montserrat"/>
              </a:rPr>
              <a:t>What Must a Quantum Hardware Platform Actually Do?</a:t>
            </a:r>
          </a:p>
        </p:txBody>
      </p:sp>
      <p:sp>
        <p:nvSpPr>
          <p:cNvPr id="5" name="TextBox 4"/>
          <p:cNvSpPr txBox="1"/>
          <p:nvPr/>
        </p:nvSpPr>
        <p:spPr>
          <a:xfrm>
            <a:off x="1016000" y="2507589"/>
            <a:ext cx="10160000" cy="231643"/>
          </a:xfrm>
          <a:prstGeom prst="rect">
            <a:avLst/>
          </a:prstGeom>
          <a:noFill/>
        </p:spPr>
        <p:txBody>
          <a:bodyPr wrap="none" lIns="0" rIns="0" tIns="0" bIns="0" anchor="t">
            <a:noAutofit/>
          </a:bodyPr>
          <a:lstStyle/>
          <a:p>
            <a:pPr algn="ctr">
              <a:lnSpc>
                <a:spcPts val="1820"/>
              </a:lnSpc>
            </a:pPr>
            <a:r>
              <a:rPr sz="1200" b="1" i="0" spc="144">
                <a:solidFill>
                  <a:srgbClr val="FFFFFF"/>
                </a:solidFill>
                <a:latin typeface="Montserrat"/>
                <a:ea typeface="Montserrat"/>
                <a:cs typeface="Montserrat"/>
              </a:rPr>
              <a:t>Hardware-first prelude · 30–40 min</a:t>
            </a:r>
          </a:p>
        </p:txBody>
      </p:sp>
      <p:sp>
        <p:nvSpPr>
          <p:cNvPr id="6" name="TextBox 5"/>
          <p:cNvSpPr txBox="1"/>
          <p:nvPr/>
        </p:nvSpPr>
        <p:spPr>
          <a:xfrm>
            <a:off x="1016000" y="2874698"/>
            <a:ext cx="10160000" cy="1099873"/>
          </a:xfrm>
          <a:prstGeom prst="rect">
            <a:avLst/>
          </a:prstGeom>
          <a:noFill/>
        </p:spPr>
        <p:txBody>
          <a:bodyPr wrap="square" lIns="0" rIns="0" tIns="0" bIns="0" anchor="t">
            <a:noAutofit/>
          </a:bodyPr>
          <a:lstStyle/>
          <a:p>
            <a:pPr algn="ctr">
              <a:lnSpc>
                <a:spcPts val="4330"/>
              </a:lnSpc>
            </a:pPr>
            <a:r>
              <a:rPr sz="3870" b="1" i="0" spc="-97">
                <a:solidFill>
                  <a:srgbClr val="FFFFFF"/>
                </a:solidFill>
                <a:latin typeface="Montserrat"/>
                <a:ea typeface="Montserrat"/>
                <a:cs typeface="Montserrat"/>
              </a:rPr>
              <a:t>What Must a Quantum Hardware Platform Actually Do?</a:t>
            </a:r>
          </a:p>
        </p:txBody>
      </p:sp>
      <p:sp>
        <p:nvSpPr>
          <p:cNvPr id="7" name="TextBox 6"/>
          <p:cNvSpPr txBox="1"/>
          <p:nvPr/>
        </p:nvSpPr>
        <p:spPr>
          <a:xfrm>
            <a:off x="1016000" y="4194704"/>
            <a:ext cx="10160000" cy="308107"/>
          </a:xfrm>
          <a:prstGeom prst="rect">
            <a:avLst/>
          </a:prstGeom>
          <a:noFill/>
        </p:spPr>
        <p:txBody>
          <a:bodyPr wrap="none" lIns="0" rIns="0" tIns="0" bIns="0" anchor="t">
            <a:noAutofit/>
          </a:bodyPr>
          <a:lstStyle/>
          <a:p>
            <a:pPr algn="ctr">
              <a:lnSpc>
                <a:spcPts val="2430"/>
              </a:lnSpc>
            </a:pPr>
            <a:r>
              <a:rPr sz="1870" b="0" i="0">
                <a:solidFill>
                  <a:srgbClr val="FFFFFF"/>
                </a:solidFill>
                <a:latin typeface="Montserrat"/>
                <a:ea typeface="Montserrat"/>
                <a:cs typeface="Montserrat"/>
              </a:rPr>
              <a:t>Start from the machine, then earn the Hamiltonian</a:t>
            </a:r>
          </a:p>
        </p:txBody>
      </p:sp>
      <p:sp>
        <p:nvSpPr>
          <p:cNvPr id="8" name="Rectangle 7"/>
          <p:cNvSpPr/>
          <p:nvPr/>
        </p:nvSpPr>
        <p:spPr>
          <a:xfrm>
            <a:off x="491067" y="6434667"/>
            <a:ext cx="11209867" cy="8467"/>
          </a:xfrm>
          <a:prstGeom prst="rect">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FFFFFF"/>
                </a:solidFill>
                <a:latin typeface="Montserrat"/>
                <a:ea typeface="Montserrat"/>
                <a:cs typeface="Montserrat"/>
              </a:rPr>
              <a:t>Manual slide source</a:t>
            </a:r>
          </a:p>
        </p:txBody>
      </p:sp>
      <p:sp>
        <p:nvSpPr>
          <p:cNvPr id="10" name="TextBox 9"/>
          <p:cNvSpPr txBox="1"/>
          <p:nvPr/>
        </p:nvSpPr>
        <p:spPr>
          <a:xfrm>
            <a:off x="11229975" y="6565900"/>
            <a:ext cx="470958" cy="169333"/>
          </a:xfrm>
          <a:prstGeom prst="rect">
            <a:avLst/>
          </a:prstGeom>
          <a:noFill/>
        </p:spPr>
        <p:txBody>
          <a:bodyPr wrap="none" lIns="0" rIns="0" tIns="0" bIns="0" anchor="t">
            <a:noAutofit/>
          </a:bodyPr>
          <a:lstStyle/>
          <a:p>
            <a:pPr algn="l">
              <a:lnSpc>
                <a:spcPts val="1330"/>
              </a:lnSpc>
            </a:pPr>
            <a:r>
              <a:rPr sz="930" b="1" i="0">
                <a:solidFill>
                  <a:srgbClr val="FFFFFF"/>
                </a:solidFill>
                <a:latin typeface="Montserrat"/>
                <a:ea typeface="Montserrat"/>
                <a:cs typeface="Montserrat"/>
              </a:rPr>
              <a:t>02 / 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8053255" y="324115"/>
            <a:ext cx="3647678"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What Must a Quantum Hardware Platform Actually Do?</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Superconducting Circuits · Josephson Artificial Atoms</a:t>
            </a:r>
          </a:p>
        </p:txBody>
      </p:sp>
      <p:sp>
        <p:nvSpPr>
          <p:cNvPr id="6" name="TextBox 5"/>
          <p:cNvSpPr txBox="1"/>
          <p:nvPr/>
        </p:nvSpPr>
        <p:spPr>
          <a:xfrm>
            <a:off x="575733" y="1351227"/>
            <a:ext cx="11040533" cy="117210"/>
          </a:xfrm>
          <a:prstGeom prst="rect">
            <a:avLst/>
          </a:prstGeom>
          <a:noFill/>
        </p:spPr>
        <p:txBody>
          <a:bodyPr wrap="none" lIns="0" rIns="0" tIns="0" bIns="0" anchor="t">
            <a:noAutofit/>
          </a:bodyPr>
          <a:lstStyle/>
          <a:p>
            <a:pPr algn="r">
              <a:lnSpc>
                <a:spcPts val="919"/>
              </a:lnSpc>
            </a:pPr>
            <a:r>
              <a:rPr sz="840" b="1" i="0" cap="all" spc="67">
                <a:solidFill>
                  <a:srgbClr val="70549A"/>
                </a:solidFill>
                <a:latin typeface="Montserrat"/>
                <a:ea typeface="Montserrat"/>
                <a:cs typeface="Montserrat"/>
              </a:rPr>
              <a:t>Representative companies:</a:t>
            </a:r>
            <a:r>
              <a:rPr sz="840" b="0" i="0">
                <a:solidFill>
                  <a:srgbClr val="4F4C56"/>
                </a:solidFill>
                <a:latin typeface="Montserrat"/>
                <a:ea typeface="Montserrat"/>
                <a:cs typeface="Montserrat"/>
              </a:rPr>
              <a:t> IBM Quantum, Google Quantum AI, Rigetti, IQM, Fujitsu, SEEQC, Alice &amp; Bob, D-Wave</a:t>
            </a:r>
          </a:p>
        </p:txBody>
      </p:sp>
      <p:pic>
        <p:nvPicPr>
          <p:cNvPr id="7" name="Five-qubit superconducting processor with qubits and microwave resonators labell" descr="linke-2017-superconducting-layout.jpg"/>
          <p:cNvPicPr>
            <a:picLocks noChangeAspect="1"/>
          </p:cNvPicPr>
          <p:nvPr/>
        </p:nvPicPr>
        <p:blipFill>
          <a:blip r:embed="rId2"/>
          <a:stretch>
            <a:fillRect/>
          </a:stretch>
        </p:blipFill>
        <p:spPr>
          <a:xfrm>
            <a:off x="4340073" y="1536171"/>
            <a:ext cx="3511855" cy="4402667"/>
          </a:xfrm>
          <a:prstGeom prst="rect">
            <a:avLst/>
          </a:prstGeom>
        </p:spPr>
      </p:pic>
      <p:sp>
        <p:nvSpPr>
          <p:cNvPr id="8" name="TextBox 7"/>
          <p:cNvSpPr txBox="1"/>
          <p:nvPr/>
        </p:nvSpPr>
        <p:spPr>
          <a:xfrm>
            <a:off x="575733" y="5989638"/>
            <a:ext cx="11040533" cy="153194"/>
          </a:xfrm>
          <a:prstGeom prst="rect">
            <a:avLst/>
          </a:prstGeom>
          <a:noFill/>
        </p:spPr>
        <p:txBody>
          <a:bodyPr wrap="none" lIns="0" rIns="0" tIns="0" bIns="0" anchor="t">
            <a:noAutofit/>
          </a:bodyPr>
          <a:lstStyle/>
          <a:p>
            <a:pPr algn="l">
              <a:lnSpc>
                <a:spcPts val="1210"/>
              </a:lnSpc>
            </a:pPr>
            <a:r>
              <a:rPr sz="969" b="0" i="0">
                <a:solidFill>
                  <a:srgbClr val="635C69"/>
                </a:solidFill>
                <a:latin typeface="Montserrat"/>
                <a:ea typeface="Montserrat"/>
                <a:cs typeface="Montserrat"/>
              </a:rPr>
              <a:t>Superconducting processor used in a cross-platform algorithm comparison. Figure 1a, Linke et al., </a:t>
            </a:r>
            <a:r>
              <a:rPr sz="969" b="0" i="1">
                <a:solidFill>
                  <a:srgbClr val="635C69"/>
                </a:solidFill>
                <a:latin typeface="Montserrat"/>
                <a:ea typeface="Montserrat"/>
                <a:cs typeface="Montserrat"/>
              </a:rPr>
              <a:t>PNAS</a:t>
            </a:r>
            <a:r>
              <a:rPr sz="969" b="0" i="0">
                <a:solidFill>
                  <a:srgbClr val="635C69"/>
                </a:solidFill>
                <a:latin typeface="Montserrat"/>
                <a:ea typeface="Montserrat"/>
                <a:cs typeface="Montserrat"/>
              </a:rPr>
              <a:t> 114, 3305 (2017), </a:t>
            </a:r>
            <a:r>
              <a:rPr sz="969" b="0" i="0">
                <a:solidFill>
                  <a:srgbClr val="355C9A"/>
                </a:solidFill>
                <a:latin typeface="Montserrat"/>
                <a:ea typeface="Montserrat"/>
                <a:cs typeface="Montserrat"/>
                <a:hlinkClick r:id="rId3"/>
              </a:rPr>
              <a:t>doi:10.1073/pnas.1618020114</a:t>
            </a:r>
            <a:r>
              <a:rPr sz="969" b="0" i="0">
                <a:solidFill>
                  <a:srgbClr val="635C69"/>
                </a:solidFill>
                <a:latin typeface="Montserrat"/>
                <a:ea typeface="Montserrat"/>
                <a:cs typeface="Montserrat"/>
              </a:rPr>
              <a:t>. </a:t>
            </a:r>
          </a:p>
        </p:txBody>
      </p:sp>
      <p:sp>
        <p:nvSpPr>
          <p:cNvPr id="9" name="Rectangle 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1" name="TextBox 10"/>
          <p:cNvSpPr txBox="1"/>
          <p:nvPr/>
        </p:nvSpPr>
        <p:spPr>
          <a:xfrm>
            <a:off x="11230504" y="6565900"/>
            <a:ext cx="470429"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03 / 100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8053255" y="324115"/>
            <a:ext cx="3647678"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What Must a Quantum Hardware Platform Actually Do?</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Trapped Ions · Atomic Qubits in a Quantum CCD</a:t>
            </a:r>
          </a:p>
        </p:txBody>
      </p:sp>
      <p:sp>
        <p:nvSpPr>
          <p:cNvPr id="6" name="TextBox 5"/>
          <p:cNvSpPr txBox="1"/>
          <p:nvPr/>
        </p:nvSpPr>
        <p:spPr>
          <a:xfrm>
            <a:off x="575733" y="1351227"/>
            <a:ext cx="11040533" cy="117210"/>
          </a:xfrm>
          <a:prstGeom prst="rect">
            <a:avLst/>
          </a:prstGeom>
          <a:noFill/>
        </p:spPr>
        <p:txBody>
          <a:bodyPr wrap="none" lIns="0" rIns="0" tIns="0" bIns="0" anchor="t">
            <a:noAutofit/>
          </a:bodyPr>
          <a:lstStyle/>
          <a:p>
            <a:pPr algn="r">
              <a:lnSpc>
                <a:spcPts val="919"/>
              </a:lnSpc>
            </a:pPr>
            <a:r>
              <a:rPr sz="840" b="1" i="0" cap="all" spc="67">
                <a:solidFill>
                  <a:srgbClr val="70549A"/>
                </a:solidFill>
                <a:latin typeface="Montserrat"/>
                <a:ea typeface="Montserrat"/>
                <a:cs typeface="Montserrat"/>
              </a:rPr>
              <a:t>Representative companies:</a:t>
            </a:r>
            <a:r>
              <a:rPr sz="840" b="0" i="0">
                <a:solidFill>
                  <a:srgbClr val="4F4C56"/>
                </a:solidFill>
                <a:latin typeface="Montserrat"/>
                <a:ea typeface="Montserrat"/>
                <a:cs typeface="Montserrat"/>
              </a:rPr>
              <a:t> IonQ, Quantinuum, AQT, eleQtron</a:t>
            </a:r>
          </a:p>
        </p:txBody>
      </p:sp>
      <p:pic>
        <p:nvPicPr>
          <p:cNvPr id="7" name="Nature schematic of an ion-trap quantum processor showing seven trapped ions, la" descr="conv-1343363097690484937.png"/>
          <p:cNvPicPr>
            <a:picLocks noChangeAspect="1"/>
          </p:cNvPicPr>
          <p:nvPr/>
        </p:nvPicPr>
        <p:blipFill>
          <a:blip r:embed="rId2"/>
          <a:stretch>
            <a:fillRect/>
          </a:stretch>
        </p:blipFill>
        <p:spPr>
          <a:xfrm>
            <a:off x="3504775" y="1536171"/>
            <a:ext cx="5182449" cy="4402667"/>
          </a:xfrm>
          <a:prstGeom prst="rect">
            <a:avLst/>
          </a:prstGeom>
        </p:spPr>
      </p:pic>
      <p:sp>
        <p:nvSpPr>
          <p:cNvPr id="8" name="TextBox 7"/>
          <p:cNvSpPr txBox="1"/>
          <p:nvPr/>
        </p:nvSpPr>
        <p:spPr>
          <a:xfrm>
            <a:off x="575733" y="5989638"/>
            <a:ext cx="11040533" cy="153194"/>
          </a:xfrm>
          <a:prstGeom prst="rect">
            <a:avLst/>
          </a:prstGeom>
          <a:noFill/>
        </p:spPr>
        <p:txBody>
          <a:bodyPr wrap="none" lIns="0" rIns="0" tIns="0" bIns="0" anchor="t">
            <a:noAutofit/>
          </a:bodyPr>
          <a:lstStyle/>
          <a:p>
            <a:pPr algn="l">
              <a:lnSpc>
                <a:spcPts val="1210"/>
              </a:lnSpc>
            </a:pPr>
            <a:r>
              <a:rPr sz="969" b="0" i="0">
                <a:solidFill>
                  <a:srgbClr val="635C69"/>
                </a:solidFill>
                <a:latin typeface="Montserrat"/>
                <a:ea typeface="Montserrat"/>
                <a:cs typeface="Montserrat"/>
              </a:rPr>
              <a:t>Ion-trap quantum processor: laser beams manipulate seven trapped-ion qubits between surrounding electrodes. E. Cartlidge, </a:t>
            </a:r>
            <a:r>
              <a:rPr sz="969" b="0" i="1">
                <a:solidFill>
                  <a:srgbClr val="635C69"/>
                </a:solidFill>
                <a:latin typeface="Montserrat"/>
                <a:ea typeface="Montserrat"/>
                <a:cs typeface="Montserrat"/>
              </a:rPr>
              <a:t>Nature</a:t>
            </a:r>
            <a:r>
              <a:rPr sz="969" b="0" i="0">
                <a:solidFill>
                  <a:srgbClr val="635C69"/>
                </a:solidFill>
                <a:latin typeface="Montserrat"/>
                <a:ea typeface="Montserrat"/>
                <a:cs typeface="Montserrat"/>
              </a:rPr>
              <a:t> (24 May 2023), </a:t>
            </a:r>
            <a:r>
              <a:rPr sz="969" b="0" i="0">
                <a:solidFill>
                  <a:srgbClr val="355C9A"/>
                </a:solidFill>
                <a:latin typeface="Montserrat"/>
                <a:ea typeface="Montserrat"/>
                <a:cs typeface="Montserrat"/>
                <a:hlinkClick r:id="rId3"/>
              </a:rPr>
              <a:t>source</a:t>
            </a:r>
            <a:r>
              <a:rPr sz="969" b="0" i="0">
                <a:solidFill>
                  <a:srgbClr val="635C69"/>
                </a:solidFill>
                <a:latin typeface="Montserrat"/>
                <a:ea typeface="Montserrat"/>
                <a:cs typeface="Montserrat"/>
              </a:rPr>
              <a:t>. </a:t>
            </a:r>
          </a:p>
        </p:txBody>
      </p:sp>
      <p:sp>
        <p:nvSpPr>
          <p:cNvPr id="9" name="Rectangle 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1" name="TextBox 10"/>
          <p:cNvSpPr txBox="1"/>
          <p:nvPr/>
        </p:nvSpPr>
        <p:spPr>
          <a:xfrm>
            <a:off x="11217804" y="6565900"/>
            <a:ext cx="483129"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04 / 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8053255" y="324115"/>
            <a:ext cx="3647678"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What Must a Quantum Hardware Platform Actually Do?</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Neutral Atoms · Reconfigurable Tweezer Arrays</a:t>
            </a:r>
          </a:p>
        </p:txBody>
      </p:sp>
      <p:sp>
        <p:nvSpPr>
          <p:cNvPr id="6" name="TextBox 5"/>
          <p:cNvSpPr txBox="1"/>
          <p:nvPr/>
        </p:nvSpPr>
        <p:spPr>
          <a:xfrm>
            <a:off x="575733" y="1351227"/>
            <a:ext cx="11040533" cy="117210"/>
          </a:xfrm>
          <a:prstGeom prst="rect">
            <a:avLst/>
          </a:prstGeom>
          <a:noFill/>
        </p:spPr>
        <p:txBody>
          <a:bodyPr wrap="none" lIns="0" rIns="0" tIns="0" bIns="0" anchor="t">
            <a:noAutofit/>
          </a:bodyPr>
          <a:lstStyle/>
          <a:p>
            <a:pPr algn="r">
              <a:lnSpc>
                <a:spcPts val="919"/>
              </a:lnSpc>
            </a:pPr>
            <a:r>
              <a:rPr sz="840" b="1" i="0" cap="all" spc="67">
                <a:solidFill>
                  <a:srgbClr val="70549A"/>
                </a:solidFill>
                <a:latin typeface="Montserrat"/>
                <a:ea typeface="Montserrat"/>
                <a:cs typeface="Montserrat"/>
              </a:rPr>
              <a:t>Representative companies:</a:t>
            </a:r>
            <a:r>
              <a:rPr sz="840" b="0" i="0">
                <a:solidFill>
                  <a:srgbClr val="4F4C56"/>
                </a:solidFill>
                <a:latin typeface="Montserrat"/>
                <a:ea typeface="Montserrat"/>
                <a:cs typeface="Montserrat"/>
              </a:rPr>
              <a:t> QuEra, Pasqal, Atom Computing, Infleqtion </a:t>
            </a:r>
          </a:p>
        </p:txBody>
      </p:sp>
      <p:pic>
        <p:nvPicPr>
          <p:cNvPr id="7" name="Reconfigurable neutral-atom processor with storage, entangling, and readout zone" descr="bluvstein-2024-neutral-atom-fig1.png"/>
          <p:cNvPicPr>
            <a:picLocks noChangeAspect="1"/>
          </p:cNvPicPr>
          <p:nvPr/>
        </p:nvPicPr>
        <p:blipFill>
          <a:blip r:embed="rId2"/>
          <a:stretch>
            <a:fillRect/>
          </a:stretch>
        </p:blipFill>
        <p:spPr>
          <a:xfrm>
            <a:off x="2200076" y="1536171"/>
            <a:ext cx="7791848" cy="4402667"/>
          </a:xfrm>
          <a:prstGeom prst="rect">
            <a:avLst/>
          </a:prstGeom>
        </p:spPr>
      </p:pic>
      <p:sp>
        <p:nvSpPr>
          <p:cNvPr id="8" name="TextBox 7"/>
          <p:cNvSpPr txBox="1"/>
          <p:nvPr/>
        </p:nvSpPr>
        <p:spPr>
          <a:xfrm>
            <a:off x="575733" y="5989638"/>
            <a:ext cx="11040533" cy="306388"/>
          </a:xfrm>
          <a:prstGeom prst="rect">
            <a:avLst/>
          </a:prstGeom>
          <a:noFill/>
        </p:spPr>
        <p:txBody>
          <a:bodyPr wrap="square" lIns="0" rIns="0" tIns="0" bIns="0" anchor="t">
            <a:noAutofit/>
          </a:bodyPr>
          <a:lstStyle/>
          <a:p>
            <a:pPr algn="l">
              <a:lnSpc>
                <a:spcPts val="1210"/>
              </a:lnSpc>
            </a:pPr>
            <a:r>
              <a:rPr sz="969" b="0" i="0">
                <a:solidFill>
                  <a:srgbClr val="635C69"/>
                </a:solidFill>
                <a:latin typeface="Montserrat"/>
                <a:ea typeface="Montserrat"/>
                <a:cs typeface="Montserrat"/>
              </a:rPr>
              <a:t>Programmable logical processor with spatially separated storage, Rydberg-entangling, and readout zones. Figure 1, Bluvstein et al., </a:t>
            </a:r>
            <a:r>
              <a:rPr sz="969" b="0" i="1">
                <a:solidFill>
                  <a:srgbClr val="635C69"/>
                </a:solidFill>
                <a:latin typeface="Montserrat"/>
                <a:ea typeface="Montserrat"/>
                <a:cs typeface="Montserrat"/>
              </a:rPr>
              <a:t>Nature</a:t>
            </a:r>
            <a:r>
              <a:rPr sz="969" b="0" i="0">
                <a:solidFill>
                  <a:srgbClr val="635C69"/>
                </a:solidFill>
                <a:latin typeface="Montserrat"/>
                <a:ea typeface="Montserrat"/>
                <a:cs typeface="Montserrat"/>
              </a:rPr>
              <a:t> 626, 58 (2024), </a:t>
            </a:r>
            <a:r>
              <a:rPr sz="969" b="0" i="0">
                <a:solidFill>
                  <a:srgbClr val="355C9A"/>
                </a:solidFill>
                <a:latin typeface="Montserrat"/>
                <a:ea typeface="Montserrat"/>
                <a:cs typeface="Montserrat"/>
                <a:hlinkClick r:id="rId3"/>
              </a:rPr>
              <a:t>doi:10.1038/s41586-023-06927-3</a:t>
            </a:r>
            <a:r>
              <a:rPr sz="969" b="0" i="0">
                <a:solidFill>
                  <a:srgbClr val="635C69"/>
                </a:solidFill>
                <a:latin typeface="Montserrat"/>
                <a:ea typeface="Montserrat"/>
                <a:cs typeface="Montserrat"/>
              </a:rPr>
              <a:t>. </a:t>
            </a:r>
          </a:p>
        </p:txBody>
      </p:sp>
      <p:sp>
        <p:nvSpPr>
          <p:cNvPr id="9" name="Rectangle 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1" name="TextBox 10"/>
          <p:cNvSpPr txBox="1"/>
          <p:nvPr/>
        </p:nvSpPr>
        <p:spPr>
          <a:xfrm>
            <a:off x="11228917" y="6565900"/>
            <a:ext cx="472017"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05 / 100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8053255" y="324115"/>
            <a:ext cx="3647678"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What Must a Quantum Hardware Platform Actually Do?</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Semiconductor Spins · Two Electrons, One CNOT</a:t>
            </a:r>
          </a:p>
        </p:txBody>
      </p:sp>
      <p:sp>
        <p:nvSpPr>
          <p:cNvPr id="6" name="TextBox 5"/>
          <p:cNvSpPr txBox="1"/>
          <p:nvPr/>
        </p:nvSpPr>
        <p:spPr>
          <a:xfrm>
            <a:off x="575733" y="1351227"/>
            <a:ext cx="11040533" cy="117210"/>
          </a:xfrm>
          <a:prstGeom prst="rect">
            <a:avLst/>
          </a:prstGeom>
          <a:noFill/>
        </p:spPr>
        <p:txBody>
          <a:bodyPr wrap="none" lIns="0" rIns="0" tIns="0" bIns="0" anchor="t">
            <a:noAutofit/>
          </a:bodyPr>
          <a:lstStyle/>
          <a:p>
            <a:pPr algn="r">
              <a:lnSpc>
                <a:spcPts val="919"/>
              </a:lnSpc>
            </a:pPr>
            <a:r>
              <a:rPr sz="840" b="1" i="0" cap="all" spc="67">
                <a:solidFill>
                  <a:srgbClr val="70549A"/>
                </a:solidFill>
                <a:latin typeface="Montserrat"/>
                <a:ea typeface="Montserrat"/>
                <a:cs typeface="Montserrat"/>
              </a:rPr>
              <a:t>Representative companies:</a:t>
            </a:r>
            <a:r>
              <a:rPr sz="840" b="0" i="0">
                <a:solidFill>
                  <a:srgbClr val="4F4C56"/>
                </a:solidFill>
                <a:latin typeface="Montserrat"/>
                <a:ea typeface="Montserrat"/>
                <a:cs typeface="Montserrat"/>
              </a:rPr>
              <a:t> Intel, Diraq, Quantum Motion, Equal1, Silicon Quantum Computing</a:t>
            </a:r>
          </a:p>
        </p:txBody>
      </p:sp>
      <p:pic>
        <p:nvPicPr>
          <p:cNvPr id="7" name="Silicon silicon-germanium double quantum dot with two electron spin qubits and a" descr="zajac-2018-silicon-spin-cnot.png"/>
          <p:cNvPicPr>
            <a:picLocks noChangeAspect="1"/>
          </p:cNvPicPr>
          <p:nvPr/>
        </p:nvPicPr>
        <p:blipFill>
          <a:blip r:embed="rId2"/>
          <a:stretch>
            <a:fillRect/>
          </a:stretch>
        </p:blipFill>
        <p:spPr>
          <a:xfrm>
            <a:off x="1344341" y="1536171"/>
            <a:ext cx="9503317" cy="4402667"/>
          </a:xfrm>
          <a:prstGeom prst="rect">
            <a:avLst/>
          </a:prstGeom>
        </p:spPr>
      </p:pic>
      <p:sp>
        <p:nvSpPr>
          <p:cNvPr id="8" name="TextBox 7"/>
          <p:cNvSpPr txBox="1"/>
          <p:nvPr/>
        </p:nvSpPr>
        <p:spPr>
          <a:xfrm>
            <a:off x="575733" y="5989638"/>
            <a:ext cx="11040533" cy="306388"/>
          </a:xfrm>
          <a:prstGeom prst="rect">
            <a:avLst/>
          </a:prstGeom>
          <a:noFill/>
        </p:spPr>
        <p:txBody>
          <a:bodyPr wrap="square" lIns="0" rIns="0" tIns="0" bIns="0" anchor="t">
            <a:noAutofit/>
          </a:bodyPr>
          <a:lstStyle/>
          <a:p>
            <a:pPr algn="l">
              <a:lnSpc>
                <a:spcPts val="1210"/>
              </a:lnSpc>
            </a:pPr>
            <a:r>
              <a:rPr sz="969" b="0" i="0">
                <a:solidFill>
                  <a:srgbClr val="635C69"/>
                </a:solidFill>
                <a:latin typeface="Montserrat"/>
                <a:ea typeface="Montserrat"/>
                <a:cs typeface="Montserrat"/>
              </a:rPr>
              <a:t>Two electron-spin qubits in a Si/SiGe double quantum dot and the magnetic-field gradient used for addressability. Figure 1, Zajac et al., </a:t>
            </a:r>
            <a:r>
              <a:rPr sz="969" b="0" i="1">
                <a:solidFill>
                  <a:srgbClr val="635C69"/>
                </a:solidFill>
                <a:latin typeface="Montserrat"/>
                <a:ea typeface="Montserrat"/>
                <a:cs typeface="Montserrat"/>
              </a:rPr>
              <a:t>Science</a:t>
            </a:r>
            <a:r>
              <a:rPr sz="969" b="0" i="0">
                <a:solidFill>
                  <a:srgbClr val="635C69"/>
                </a:solidFill>
                <a:latin typeface="Montserrat"/>
                <a:ea typeface="Montserrat"/>
                <a:cs typeface="Montserrat"/>
              </a:rPr>
              <a:t> 359, 439 (2018), </a:t>
            </a:r>
            <a:r>
              <a:rPr sz="969" b="0" i="0">
                <a:solidFill>
                  <a:srgbClr val="355C9A"/>
                </a:solidFill>
                <a:latin typeface="Montserrat"/>
                <a:ea typeface="Montserrat"/>
                <a:cs typeface="Montserrat"/>
                <a:hlinkClick r:id="rId3"/>
              </a:rPr>
              <a:t>doi:10.1126/science.aao5965</a:t>
            </a:r>
            <a:r>
              <a:rPr sz="969" b="0" i="0">
                <a:solidFill>
                  <a:srgbClr val="635C69"/>
                </a:solidFill>
                <a:latin typeface="Montserrat"/>
                <a:ea typeface="Montserrat"/>
                <a:cs typeface="Montserrat"/>
              </a:rPr>
              <a:t>. </a:t>
            </a:r>
          </a:p>
        </p:txBody>
      </p:sp>
      <p:sp>
        <p:nvSpPr>
          <p:cNvPr id="9" name="Rectangle 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1" name="TextBox 10"/>
          <p:cNvSpPr txBox="1"/>
          <p:nvPr/>
        </p:nvSpPr>
        <p:spPr>
          <a:xfrm>
            <a:off x="11223890" y="6565900"/>
            <a:ext cx="477044"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06 / 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8053255" y="324115"/>
            <a:ext cx="3647678"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What Must a Quantum Hardware Platform Actually Do?</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Electrons on Helium · A Nearly Defect-Free Interface</a:t>
            </a:r>
          </a:p>
        </p:txBody>
      </p:sp>
      <p:sp>
        <p:nvSpPr>
          <p:cNvPr id="6" name="TextBox 5"/>
          <p:cNvSpPr txBox="1"/>
          <p:nvPr/>
        </p:nvSpPr>
        <p:spPr>
          <a:xfrm>
            <a:off x="575733" y="1351227"/>
            <a:ext cx="11040533" cy="117210"/>
          </a:xfrm>
          <a:prstGeom prst="rect">
            <a:avLst/>
          </a:prstGeom>
          <a:noFill/>
        </p:spPr>
        <p:txBody>
          <a:bodyPr wrap="none" lIns="0" rIns="0" tIns="0" bIns="0" anchor="t">
            <a:noAutofit/>
          </a:bodyPr>
          <a:lstStyle/>
          <a:p>
            <a:pPr algn="r">
              <a:lnSpc>
                <a:spcPts val="919"/>
              </a:lnSpc>
            </a:pPr>
            <a:r>
              <a:rPr sz="840" b="1" i="0" cap="all" spc="67">
                <a:solidFill>
                  <a:srgbClr val="70549A"/>
                </a:solidFill>
                <a:latin typeface="Montserrat"/>
                <a:ea typeface="Montserrat"/>
                <a:cs typeface="Montserrat"/>
              </a:rPr>
              <a:t>Representative company:</a:t>
            </a:r>
            <a:r>
              <a:rPr sz="840" b="0" i="0">
                <a:solidFill>
                  <a:srgbClr val="4F4C56"/>
                </a:solidFill>
                <a:latin typeface="Montserrat"/>
                <a:ea typeface="Montserrat"/>
                <a:cs typeface="Montserrat"/>
              </a:rPr>
              <a:t> EeroQ</a:t>
            </a:r>
          </a:p>
        </p:txBody>
      </p:sp>
      <p:pic>
        <p:nvPicPr>
          <p:cNvPr id="7" name="Single electron on superfluid helium integrated with a superconducting microwave" descr="koolstra-2019-electron-on-helium-fig1.png"/>
          <p:cNvPicPr>
            <a:picLocks noChangeAspect="1"/>
          </p:cNvPicPr>
          <p:nvPr/>
        </p:nvPicPr>
        <p:blipFill>
          <a:blip r:embed="rId2"/>
          <a:stretch>
            <a:fillRect/>
          </a:stretch>
        </p:blipFill>
        <p:spPr>
          <a:xfrm>
            <a:off x="4057728" y="1536171"/>
            <a:ext cx="4076543" cy="4402667"/>
          </a:xfrm>
          <a:prstGeom prst="rect">
            <a:avLst/>
          </a:prstGeom>
        </p:spPr>
      </p:pic>
      <p:sp>
        <p:nvSpPr>
          <p:cNvPr id="8" name="TextBox 7"/>
          <p:cNvSpPr txBox="1"/>
          <p:nvPr/>
        </p:nvSpPr>
        <p:spPr>
          <a:xfrm>
            <a:off x="575733" y="5989638"/>
            <a:ext cx="11040533" cy="306388"/>
          </a:xfrm>
          <a:prstGeom prst="rect">
            <a:avLst/>
          </a:prstGeom>
          <a:noFill/>
        </p:spPr>
        <p:txBody>
          <a:bodyPr wrap="square" lIns="0" rIns="0" tIns="0" bIns="0" anchor="t">
            <a:noAutofit/>
          </a:bodyPr>
          <a:lstStyle/>
          <a:p>
            <a:pPr algn="l">
              <a:lnSpc>
                <a:spcPts val="1210"/>
              </a:lnSpc>
            </a:pPr>
            <a:r>
              <a:rPr sz="969" b="0" i="0">
                <a:solidFill>
                  <a:srgbClr val="635C69"/>
                </a:solidFill>
                <a:latin typeface="Montserrat"/>
                <a:ea typeface="Montserrat"/>
                <a:cs typeface="Montserrat"/>
              </a:rPr>
              <a:t>Electron-on-helium quantum dot integrated with circuit QED: device, control schematic, micrograph, and cross-section. Figure 1, Koolstra et al., </a:t>
            </a:r>
            <a:r>
              <a:rPr sz="969" b="0" i="1">
                <a:solidFill>
                  <a:srgbClr val="635C69"/>
                </a:solidFill>
                <a:latin typeface="Montserrat"/>
                <a:ea typeface="Montserrat"/>
                <a:cs typeface="Montserrat"/>
              </a:rPr>
              <a:t>Nature Communications</a:t>
            </a:r>
            <a:r>
              <a:rPr sz="969" b="0" i="0">
                <a:solidFill>
                  <a:srgbClr val="635C69"/>
                </a:solidFill>
                <a:latin typeface="Montserrat"/>
                <a:ea typeface="Montserrat"/>
                <a:cs typeface="Montserrat"/>
              </a:rPr>
              <a:t> 10, 5323 (2019), </a:t>
            </a:r>
            <a:r>
              <a:rPr sz="969" b="0" i="0">
                <a:solidFill>
                  <a:srgbClr val="355C9A"/>
                </a:solidFill>
                <a:latin typeface="Montserrat"/>
                <a:ea typeface="Montserrat"/>
                <a:cs typeface="Montserrat"/>
                <a:hlinkClick r:id="rId3"/>
              </a:rPr>
              <a:t>doi:10.1038/s41467-019-13335-7</a:t>
            </a:r>
            <a:r>
              <a:rPr sz="969" b="0" i="0">
                <a:solidFill>
                  <a:srgbClr val="635C69"/>
                </a:solidFill>
                <a:latin typeface="Montserrat"/>
                <a:ea typeface="Montserrat"/>
                <a:cs typeface="Montserrat"/>
              </a:rPr>
              <a:t>. </a:t>
            </a:r>
          </a:p>
        </p:txBody>
      </p:sp>
      <p:sp>
        <p:nvSpPr>
          <p:cNvPr id="9" name="Rectangle 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1" name="TextBox 10"/>
          <p:cNvSpPr txBox="1"/>
          <p:nvPr/>
        </p:nvSpPr>
        <p:spPr>
          <a:xfrm>
            <a:off x="11226403" y="6565900"/>
            <a:ext cx="474530"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07 / 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8053255" y="324115"/>
            <a:ext cx="3647678"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What Must a Quantum Hardware Platform Actually Do?</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Photonics · Light Is Both the Qubit and the Bus</a:t>
            </a:r>
          </a:p>
        </p:txBody>
      </p:sp>
      <p:sp>
        <p:nvSpPr>
          <p:cNvPr id="6" name="TextBox 5"/>
          <p:cNvSpPr txBox="1"/>
          <p:nvPr/>
        </p:nvSpPr>
        <p:spPr>
          <a:xfrm>
            <a:off x="575733" y="1351227"/>
            <a:ext cx="11040533" cy="117210"/>
          </a:xfrm>
          <a:prstGeom prst="rect">
            <a:avLst/>
          </a:prstGeom>
          <a:noFill/>
        </p:spPr>
        <p:txBody>
          <a:bodyPr wrap="none" lIns="0" rIns="0" tIns="0" bIns="0" anchor="t">
            <a:noAutofit/>
          </a:bodyPr>
          <a:lstStyle/>
          <a:p>
            <a:pPr algn="r">
              <a:lnSpc>
                <a:spcPts val="919"/>
              </a:lnSpc>
            </a:pPr>
            <a:r>
              <a:rPr sz="840" b="1" i="0" cap="all" spc="67">
                <a:solidFill>
                  <a:srgbClr val="70549A"/>
                </a:solidFill>
                <a:latin typeface="Montserrat"/>
                <a:ea typeface="Montserrat"/>
                <a:cs typeface="Montserrat"/>
              </a:rPr>
              <a:t>Representative companies:</a:t>
            </a:r>
            <a:r>
              <a:rPr sz="840" b="0" i="0">
                <a:solidFill>
                  <a:srgbClr val="4F4C56"/>
                </a:solidFill>
                <a:latin typeface="Montserrat"/>
                <a:ea typeface="Montserrat"/>
                <a:cs typeface="Montserrat"/>
              </a:rPr>
              <a:t> Xanadu, PsiQuantum, Quandela, ORCA Computing </a:t>
            </a:r>
          </a:p>
        </p:txBody>
      </p:sp>
      <p:sp>
        <p:nvSpPr>
          <p:cNvPr id="7" name="Rounded Rectangle 6"/>
          <p:cNvSpPr/>
          <p:nvPr/>
        </p:nvSpPr>
        <p:spPr>
          <a:xfrm>
            <a:off x="10329333" y="1620838"/>
            <a:ext cx="1202267" cy="394758"/>
          </a:xfrm>
          <a:prstGeom prst="roundRect">
            <a:avLst>
              <a:gd name="adj" fmla="val 17158"/>
            </a:avLst>
          </a:prstGeom>
          <a:solidFill>
            <a:srgbClr val="FFFFFF">
              <a:alpha val="9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el-x3.png">
            <a:hlinkClick r:id="rId4"/>
          </p:cNvPr>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0405666" y="1680111"/>
            <a:ext cx="1049602" cy="276211"/>
          </a:xfrm>
          <a:prstGeom prst="rect">
            <a:avLst/>
          </a:prstGeom>
        </p:spPr>
      </p:pic>
      <p:pic>
        <p:nvPicPr>
          <p:cNvPr id="9" name="Schematic of a photonic integrated circuit with optical sources, resonators, mod" descr="photonic-integrated-circuit_schematic.png"/>
          <p:cNvPicPr>
            <a:picLocks noChangeAspect="1"/>
          </p:cNvPicPr>
          <p:nvPr/>
        </p:nvPicPr>
        <p:blipFill>
          <a:blip r:embed="rId5"/>
          <a:stretch>
            <a:fillRect/>
          </a:stretch>
        </p:blipFill>
        <p:spPr>
          <a:xfrm>
            <a:off x="3407393" y="1536171"/>
            <a:ext cx="5377213" cy="2328333"/>
          </a:xfrm>
          <a:prstGeom prst="rect">
            <a:avLst/>
          </a:prstGeom>
        </p:spPr>
      </p:pic>
      <p:pic>
        <p:nvPicPr>
          <p:cNvPr id="10" name="Cross-section of a superconducting nanowire single-photon detector" descr="photonic-xanadu-20131105e-1.png"/>
          <p:cNvPicPr>
            <a:picLocks noChangeAspect="1"/>
          </p:cNvPicPr>
          <p:nvPr/>
        </p:nvPicPr>
        <p:blipFill>
          <a:blip r:embed="rId6"/>
          <a:stretch>
            <a:fillRect/>
          </a:stretch>
        </p:blipFill>
        <p:spPr>
          <a:xfrm>
            <a:off x="1004006" y="3949171"/>
            <a:ext cx="3635287" cy="2074333"/>
          </a:xfrm>
          <a:prstGeom prst="rect">
            <a:avLst/>
          </a:prstGeom>
        </p:spPr>
      </p:pic>
      <p:pic>
        <p:nvPicPr>
          <p:cNvPr id="11" name="Gaussian boson sampling optical network with squeezed inputs, interferometers, a" descr="photonic-xanadu-gbs.png"/>
          <p:cNvPicPr>
            <a:picLocks noChangeAspect="1"/>
          </p:cNvPicPr>
          <p:nvPr/>
        </p:nvPicPr>
        <p:blipFill>
          <a:blip r:embed="rId7"/>
          <a:stretch>
            <a:fillRect/>
          </a:stretch>
        </p:blipFill>
        <p:spPr>
          <a:xfrm>
            <a:off x="5288889" y="3949171"/>
            <a:ext cx="6190589" cy="2074333"/>
          </a:xfrm>
          <a:prstGeom prst="rect">
            <a:avLst/>
          </a:prstGeom>
        </p:spPr>
      </p:pic>
      <p:sp>
        <p:nvSpPr>
          <p:cNvPr id="12" name="TextBox 11"/>
          <p:cNvSpPr txBox="1"/>
          <p:nvPr/>
        </p:nvSpPr>
        <p:spPr>
          <a:xfrm>
            <a:off x="575733" y="6074304"/>
            <a:ext cx="11040533" cy="153194"/>
          </a:xfrm>
          <a:prstGeom prst="rect">
            <a:avLst/>
          </a:prstGeom>
          <a:noFill/>
        </p:spPr>
        <p:txBody>
          <a:bodyPr wrap="none" lIns="0" rIns="0" tIns="0" bIns="0" anchor="t">
            <a:noAutofit/>
          </a:bodyPr>
          <a:lstStyle/>
          <a:p>
            <a:pPr algn="l">
              <a:lnSpc>
                <a:spcPts val="1210"/>
              </a:lnSpc>
            </a:pPr>
            <a:r>
              <a:rPr sz="969" b="0" i="0">
                <a:solidFill>
                  <a:srgbClr val="635C69"/>
                </a:solidFill>
                <a:latin typeface="Montserrat"/>
                <a:ea typeface="Montserrat"/>
                <a:cs typeface="Montserrat"/>
              </a:rPr>
              <a:t>Photonic chip, superconducting nanowire detector, and Gaussian boson sampling network. Direct images: </a:t>
            </a:r>
            <a:r>
              <a:rPr sz="969" b="0" i="0">
                <a:solidFill>
                  <a:srgbClr val="355C9A"/>
                </a:solidFill>
                <a:latin typeface="Montserrat"/>
                <a:ea typeface="Montserrat"/>
                <a:cs typeface="Montserrat"/>
                <a:hlinkClick r:id="rId8"/>
              </a:rPr>
              <a:t>PIC</a:t>
            </a:r>
            <a:r>
              <a:rPr sz="969" b="0" i="0">
                <a:solidFill>
                  <a:srgbClr val="635C69"/>
                </a:solidFill>
                <a:latin typeface="Montserrat"/>
                <a:ea typeface="Montserrat"/>
                <a:cs typeface="Montserrat"/>
              </a:rPr>
              <a:t>, </a:t>
            </a:r>
            <a:r>
              <a:rPr sz="969" b="0" i="0">
                <a:solidFill>
                  <a:srgbClr val="355C9A"/>
                </a:solidFill>
                <a:latin typeface="Montserrat"/>
                <a:ea typeface="Montserrat"/>
                <a:cs typeface="Montserrat"/>
                <a:hlinkClick r:id="rId9"/>
              </a:rPr>
              <a:t>detector</a:t>
            </a:r>
            <a:r>
              <a:rPr sz="969" b="0" i="0">
                <a:solidFill>
                  <a:srgbClr val="635C69"/>
                </a:solidFill>
                <a:latin typeface="Montserrat"/>
                <a:ea typeface="Montserrat"/>
                <a:cs typeface="Montserrat"/>
              </a:rPr>
              <a:t>, and </a:t>
            </a:r>
            <a:r>
              <a:rPr sz="969" b="0" i="0">
                <a:solidFill>
                  <a:srgbClr val="355C9A"/>
                </a:solidFill>
                <a:latin typeface="Montserrat"/>
                <a:ea typeface="Montserrat"/>
                <a:cs typeface="Montserrat"/>
                <a:hlinkClick r:id="rId10"/>
              </a:rPr>
              <a:t>GBS</a:t>
            </a:r>
            <a:r>
              <a:rPr sz="969" b="0" i="0">
                <a:solidFill>
                  <a:srgbClr val="635C69"/>
                </a:solidFill>
                <a:latin typeface="Montserrat"/>
                <a:ea typeface="Montserrat"/>
                <a:cs typeface="Montserrat"/>
              </a:rPr>
              <a:t>. </a:t>
            </a:r>
          </a:p>
        </p:txBody>
      </p:sp>
      <p:sp>
        <p:nvSpPr>
          <p:cNvPr id="13" name="Rectangle 12"/>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5" name="TextBox 14"/>
          <p:cNvSpPr txBox="1"/>
          <p:nvPr/>
        </p:nvSpPr>
        <p:spPr>
          <a:xfrm>
            <a:off x="11221244" y="6565900"/>
            <a:ext cx="479690"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08 / 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8053255" y="324115"/>
            <a:ext cx="3647678"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What Must a Quantum Hardware Platform Actually Do?</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DiVincenzo Criteria: A Hardware Design Contract</a:t>
            </a:r>
          </a:p>
        </p:txBody>
      </p:sp>
      <p:sp>
        <p:nvSpPr>
          <p:cNvPr id="6" name="Rounded Rectangle 5"/>
          <p:cNvSpPr/>
          <p:nvPr/>
        </p:nvSpPr>
        <p:spPr>
          <a:xfrm>
            <a:off x="575733" y="1452827"/>
            <a:ext cx="2696633" cy="889397"/>
          </a:xfrm>
          <a:prstGeom prst="roundRect">
            <a:avLst>
              <a:gd name="adj" fmla="val 8567"/>
            </a:avLst>
          </a:prstGeom>
          <a:solidFill>
            <a:srgbClr val="F3F0F8"/>
          </a:solidFill>
          <a:ln w="8467">
            <a:solidFill>
              <a:srgbClr val="DAD2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545960"/>
            <a:ext cx="2476500" cy="254000"/>
          </a:xfrm>
          <a:prstGeom prst="rect">
            <a:avLst/>
          </a:prstGeom>
          <a:noFill/>
        </p:spPr>
        <p:txBody>
          <a:bodyPr wrap="none" lIns="0" rIns="0" tIns="0" bIns="0" anchor="t">
            <a:noAutofit/>
          </a:bodyPr>
          <a:lstStyle/>
          <a:p>
            <a:pPr algn="l">
              <a:lnSpc>
                <a:spcPts val="2000"/>
              </a:lnSpc>
            </a:pPr>
            <a:r>
              <a:rPr sz="1400" b="1" i="0">
                <a:solidFill>
                  <a:srgbClr val="5F4B8B"/>
                </a:solidFill>
                <a:latin typeface="Montserrat"/>
                <a:ea typeface="Montserrat"/>
                <a:cs typeface="Montserrat"/>
              </a:rPr>
              <a:t>1 · Scalable qubits</a:t>
            </a:r>
          </a:p>
        </p:txBody>
      </p:sp>
      <p:sp>
        <p:nvSpPr>
          <p:cNvPr id="8" name="TextBox 7"/>
          <p:cNvSpPr txBox="1"/>
          <p:nvPr/>
        </p:nvSpPr>
        <p:spPr>
          <a:xfrm>
            <a:off x="685800" y="1842294"/>
            <a:ext cx="2476500" cy="396875"/>
          </a:xfrm>
          <a:prstGeom prst="rect">
            <a:avLst/>
          </a:prstGeom>
          <a:noFill/>
        </p:spPr>
        <p:txBody>
          <a:bodyPr wrap="square" lIns="0" rIns="0" tIns="0" bIns="0" anchor="t">
            <a:noAutofit/>
          </a:bodyPr>
          <a:lstStyle/>
          <a:p>
            <a:pPr algn="l">
              <a:lnSpc>
                <a:spcPts val="1560"/>
              </a:lnSpc>
            </a:pPr>
            <a:r>
              <a:rPr sz="1260" b="0" i="0">
                <a:solidFill>
                  <a:srgbClr val="22232A"/>
                </a:solidFill>
                <a:latin typeface="Montserrat"/>
                <a:ea typeface="Montserrat"/>
                <a:cs typeface="Montserrat"/>
              </a:rPr>
              <a:t>A scalable physical system with well-characterized qubits</a:t>
            </a:r>
          </a:p>
        </p:txBody>
      </p:sp>
      <p:sp>
        <p:nvSpPr>
          <p:cNvPr id="9" name="Rounded Rectangle 8"/>
          <p:cNvSpPr/>
          <p:nvPr/>
        </p:nvSpPr>
        <p:spPr>
          <a:xfrm>
            <a:off x="3357033" y="1452827"/>
            <a:ext cx="2696633" cy="889397"/>
          </a:xfrm>
          <a:prstGeom prst="roundRect">
            <a:avLst>
              <a:gd name="adj" fmla="val 8567"/>
            </a:avLst>
          </a:prstGeom>
          <a:solidFill>
            <a:srgbClr val="F3F0F8"/>
          </a:solidFill>
          <a:ln w="8467">
            <a:solidFill>
              <a:srgbClr val="DAD2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467100" y="1545960"/>
            <a:ext cx="2476500" cy="254000"/>
          </a:xfrm>
          <a:prstGeom prst="rect">
            <a:avLst/>
          </a:prstGeom>
          <a:noFill/>
        </p:spPr>
        <p:txBody>
          <a:bodyPr wrap="none" lIns="0" rIns="0" tIns="0" bIns="0" anchor="t">
            <a:noAutofit/>
          </a:bodyPr>
          <a:lstStyle/>
          <a:p>
            <a:pPr algn="l">
              <a:lnSpc>
                <a:spcPts val="2000"/>
              </a:lnSpc>
            </a:pPr>
            <a:r>
              <a:rPr sz="1400" b="1" i="0">
                <a:solidFill>
                  <a:srgbClr val="5F4B8B"/>
                </a:solidFill>
                <a:latin typeface="Montserrat"/>
                <a:ea typeface="Montserrat"/>
                <a:cs typeface="Montserrat"/>
              </a:rPr>
              <a:t>2 · Initialization</a:t>
            </a:r>
          </a:p>
        </p:txBody>
      </p:sp>
      <p:sp>
        <p:nvSpPr>
          <p:cNvPr id="11" name="TextBox 10"/>
          <p:cNvSpPr txBox="1"/>
          <p:nvPr/>
        </p:nvSpPr>
        <p:spPr>
          <a:xfrm>
            <a:off x="3467100" y="1842294"/>
            <a:ext cx="2476500" cy="406797"/>
          </a:xfrm>
          <a:prstGeom prst="rect">
            <a:avLst/>
          </a:prstGeom>
          <a:noFill/>
        </p:spPr>
        <p:txBody>
          <a:bodyPr wrap="square" lIns="0" rIns="0" tIns="0" bIns="0" anchor="t">
            <a:noAutofit/>
          </a:bodyPr>
          <a:lstStyle/>
          <a:p>
            <a:pPr algn="l">
              <a:lnSpc>
                <a:spcPts val="1560"/>
              </a:lnSpc>
            </a:pPr>
            <a:r>
              <a:rPr sz="1260" b="0" i="0">
                <a:solidFill>
                  <a:srgbClr val="22232A"/>
                </a:solidFill>
                <a:latin typeface="Montserrat"/>
                <a:ea typeface="Montserrat"/>
                <a:cs typeface="Montserrat"/>
              </a:rPr>
              <a:t>Prepare a simple fiducial state such as </a:t>
            </a:r>
            <mc:AlternateContent xmlns:mc="http://schemas.openxmlformats.org/markup-compatibility/2006">
              <mc:Choice xmlns:a14="http://schemas.microsoft.com/office/drawing/2010/main" Requires="a14">
                <a14:m>
                  <m:oMath xmlns:m="http://schemas.openxmlformats.org/officeDocument/2006/math">
                    <m:box>
                      <m:e>
                        <m:r>
                          <m:rPr>
                            <m:sty m:val="p"/>
                          </m:rPr>
                          <a:rPr lang="en-US" i="0" sz="1498">
                            <a:latin typeface="Cambria Math"/>
                          </a:rPr>
                          <m:t>|</m:t>
                        </m:r>
                        <m:box>
                          <m:e>
                            <m:r>
                              <m:rPr>
                                <m:sty m:val="p"/>
                              </m:rPr>
                              <a:rPr lang="en-US" i="0" sz="1498">
                                <a:latin typeface="Cambria Math"/>
                              </a:rPr>
                              <m:t>00</m:t>
                            </m:r>
                            <m:r>
                              <m:rPr>
                                <m:sty m:val="p"/>
                              </m:rPr>
                              <a:rPr lang="en-US" i="0" sz="1498">
                                <a:latin typeface="Cambria Math"/>
                              </a:rPr>
                              <m:t>⋯</m:t>
                            </m:r>
                            <m:r>
                              <m:rPr>
                                <m:sty m:val="p"/>
                              </m:rPr>
                              <a:rPr lang="en-US" i="0" sz="1498">
                                <a:latin typeface="Cambria Math"/>
                              </a:rPr>
                              <m:t>0</m:t>
                            </m:r>
                          </m:e>
                        </m:box>
                        <m:r>
                          <m:rPr>
                            <m:sty m:val="p"/>
                          </m:rPr>
                          <a:rPr lang="en-US" i="0" sz="1498">
                            <a:latin typeface="Cambria Math"/>
                          </a:rPr>
                          <m:t>⟩</m:t>
                        </m:r>
                      </m:e>
                    </m:box>
                  </m:oMath>
                </a14:m>
              </mc:Choice>
              <mc:Fallback>
                <a:r>
                  <a:rPr lang="en-US" sz="1498" i="1"/>
                  <a:t>\ket{00\cdots0}</a:t>
                </a:r>
              </mc:Fallback>
            </mc:AlternateContent>
          </a:p>
        </p:txBody>
      </p:sp>
      <p:sp>
        <p:nvSpPr>
          <p:cNvPr id="12" name="Rounded Rectangle 11"/>
          <p:cNvSpPr/>
          <p:nvPr/>
        </p:nvSpPr>
        <p:spPr>
          <a:xfrm>
            <a:off x="6138333" y="1452827"/>
            <a:ext cx="2696633" cy="889397"/>
          </a:xfrm>
          <a:prstGeom prst="roundRect">
            <a:avLst>
              <a:gd name="adj" fmla="val 8567"/>
            </a:avLst>
          </a:prstGeom>
          <a:solidFill>
            <a:srgbClr val="F3F0F8"/>
          </a:solidFill>
          <a:ln w="8467">
            <a:solidFill>
              <a:srgbClr val="DAD2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48400" y="1545960"/>
            <a:ext cx="2476500" cy="254000"/>
          </a:xfrm>
          <a:prstGeom prst="rect">
            <a:avLst/>
          </a:prstGeom>
          <a:noFill/>
        </p:spPr>
        <p:txBody>
          <a:bodyPr wrap="none" lIns="0" rIns="0" tIns="0" bIns="0" anchor="t">
            <a:noAutofit/>
          </a:bodyPr>
          <a:lstStyle/>
          <a:p>
            <a:pPr algn="l">
              <a:lnSpc>
                <a:spcPts val="2000"/>
              </a:lnSpc>
            </a:pPr>
            <a:r>
              <a:rPr sz="1400" b="1" i="0">
                <a:solidFill>
                  <a:srgbClr val="5F4B8B"/>
                </a:solidFill>
                <a:latin typeface="Montserrat"/>
                <a:ea typeface="Montserrat"/>
                <a:cs typeface="Montserrat"/>
              </a:rPr>
              <a:t>3 · Long coherence</a:t>
            </a:r>
          </a:p>
        </p:txBody>
      </p:sp>
      <p:sp>
        <p:nvSpPr>
          <p:cNvPr id="14" name="TextBox 13"/>
          <p:cNvSpPr txBox="1"/>
          <p:nvPr/>
        </p:nvSpPr>
        <p:spPr>
          <a:xfrm>
            <a:off x="6248400" y="1842294"/>
            <a:ext cx="2476500" cy="396875"/>
          </a:xfrm>
          <a:prstGeom prst="rect">
            <a:avLst/>
          </a:prstGeom>
          <a:noFill/>
        </p:spPr>
        <p:txBody>
          <a:bodyPr wrap="square" lIns="0" rIns="0" tIns="0" bIns="0" anchor="t">
            <a:noAutofit/>
          </a:bodyPr>
          <a:lstStyle/>
          <a:p>
            <a:pPr algn="l">
              <a:lnSpc>
                <a:spcPts val="1560"/>
              </a:lnSpc>
            </a:pPr>
            <a:r>
              <a:rPr sz="1260" b="0" i="0">
                <a:solidFill>
                  <a:srgbClr val="22232A"/>
                </a:solidFill>
                <a:latin typeface="Montserrat"/>
                <a:ea typeface="Montserrat"/>
                <a:cs typeface="Montserrat"/>
              </a:rPr>
              <a:t>Decoherence times must greatly exceed operation times</a:t>
            </a:r>
          </a:p>
        </p:txBody>
      </p:sp>
      <p:sp>
        <p:nvSpPr>
          <p:cNvPr id="15" name="Rounded Rectangle 14"/>
          <p:cNvSpPr/>
          <p:nvPr/>
        </p:nvSpPr>
        <p:spPr>
          <a:xfrm>
            <a:off x="8919633" y="1452827"/>
            <a:ext cx="2696633" cy="889397"/>
          </a:xfrm>
          <a:prstGeom prst="roundRect">
            <a:avLst>
              <a:gd name="adj" fmla="val 8567"/>
            </a:avLst>
          </a:prstGeom>
          <a:solidFill>
            <a:srgbClr val="F3F0F8"/>
          </a:solidFill>
          <a:ln w="8467">
            <a:solidFill>
              <a:srgbClr val="DAD2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029700" y="1545960"/>
            <a:ext cx="2476500" cy="254000"/>
          </a:xfrm>
          <a:prstGeom prst="rect">
            <a:avLst/>
          </a:prstGeom>
          <a:noFill/>
        </p:spPr>
        <p:txBody>
          <a:bodyPr wrap="none" lIns="0" rIns="0" tIns="0" bIns="0" anchor="t">
            <a:noAutofit/>
          </a:bodyPr>
          <a:lstStyle/>
          <a:p>
            <a:pPr algn="l">
              <a:lnSpc>
                <a:spcPts val="2000"/>
              </a:lnSpc>
            </a:pPr>
            <a:r>
              <a:rPr sz="1400" b="1" i="0">
                <a:solidFill>
                  <a:srgbClr val="5F4B8B"/>
                </a:solidFill>
                <a:latin typeface="Montserrat"/>
                <a:ea typeface="Montserrat"/>
                <a:cs typeface="Montserrat"/>
              </a:rPr>
              <a:t>4 · Universal control</a:t>
            </a:r>
          </a:p>
        </p:txBody>
      </p:sp>
      <p:sp>
        <p:nvSpPr>
          <p:cNvPr id="17" name="TextBox 16"/>
          <p:cNvSpPr txBox="1"/>
          <p:nvPr/>
        </p:nvSpPr>
        <p:spPr>
          <a:xfrm>
            <a:off x="9029700" y="1842294"/>
            <a:ext cx="2476500" cy="396875"/>
          </a:xfrm>
          <a:prstGeom prst="rect">
            <a:avLst/>
          </a:prstGeom>
          <a:noFill/>
        </p:spPr>
        <p:txBody>
          <a:bodyPr wrap="square" lIns="0" rIns="0" tIns="0" bIns="0" anchor="t">
            <a:noAutofit/>
          </a:bodyPr>
          <a:lstStyle/>
          <a:p>
            <a:pPr algn="l">
              <a:lnSpc>
                <a:spcPts val="1560"/>
              </a:lnSpc>
            </a:pPr>
            <a:r>
              <a:rPr sz="1260" b="0" i="0">
                <a:solidFill>
                  <a:srgbClr val="22232A"/>
                </a:solidFill>
                <a:latin typeface="Montserrat"/>
                <a:ea typeface="Montserrat"/>
                <a:cs typeface="Montserrat"/>
              </a:rPr>
              <a:t>A universal set of one- and two-qubit gates</a:t>
            </a:r>
          </a:p>
        </p:txBody>
      </p:sp>
      <p:sp>
        <p:nvSpPr>
          <p:cNvPr id="18" name="Rounded Rectangle 17"/>
          <p:cNvSpPr/>
          <p:nvPr/>
        </p:nvSpPr>
        <p:spPr>
          <a:xfrm>
            <a:off x="575733" y="2426891"/>
            <a:ext cx="2696633" cy="879475"/>
          </a:xfrm>
          <a:prstGeom prst="roundRect">
            <a:avLst>
              <a:gd name="adj" fmla="val 8664"/>
            </a:avLst>
          </a:prstGeom>
          <a:solidFill>
            <a:srgbClr val="F3F0F8"/>
          </a:solidFill>
          <a:ln w="8467">
            <a:solidFill>
              <a:srgbClr val="DAD2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5800" y="2520024"/>
            <a:ext cx="2476500" cy="254000"/>
          </a:xfrm>
          <a:prstGeom prst="rect">
            <a:avLst/>
          </a:prstGeom>
          <a:noFill/>
        </p:spPr>
        <p:txBody>
          <a:bodyPr wrap="none" lIns="0" rIns="0" tIns="0" bIns="0" anchor="t">
            <a:noAutofit/>
          </a:bodyPr>
          <a:lstStyle/>
          <a:p>
            <a:pPr algn="l">
              <a:lnSpc>
                <a:spcPts val="2000"/>
              </a:lnSpc>
            </a:pPr>
            <a:r>
              <a:rPr sz="1400" b="1" i="0">
                <a:solidFill>
                  <a:srgbClr val="5F4B8B"/>
                </a:solidFill>
                <a:latin typeface="Montserrat"/>
                <a:ea typeface="Montserrat"/>
                <a:cs typeface="Montserrat"/>
              </a:rPr>
              <a:t>5 · Measurement</a:t>
            </a:r>
          </a:p>
        </p:txBody>
      </p:sp>
      <p:sp>
        <p:nvSpPr>
          <p:cNvPr id="20" name="TextBox 19"/>
          <p:cNvSpPr txBox="1"/>
          <p:nvPr/>
        </p:nvSpPr>
        <p:spPr>
          <a:xfrm>
            <a:off x="685800" y="2816357"/>
            <a:ext cx="2476500" cy="396875"/>
          </a:xfrm>
          <a:prstGeom prst="rect">
            <a:avLst/>
          </a:prstGeom>
          <a:noFill/>
        </p:spPr>
        <p:txBody>
          <a:bodyPr wrap="square" lIns="0" rIns="0" tIns="0" bIns="0" anchor="t">
            <a:noAutofit/>
          </a:bodyPr>
          <a:lstStyle/>
          <a:p>
            <a:pPr algn="l">
              <a:lnSpc>
                <a:spcPts val="1560"/>
              </a:lnSpc>
            </a:pPr>
            <a:r>
              <a:rPr sz="1260" b="0" i="0">
                <a:solidFill>
                  <a:srgbClr val="22232A"/>
                </a:solidFill>
                <a:latin typeface="Montserrat"/>
                <a:ea typeface="Montserrat"/>
                <a:cs typeface="Montserrat"/>
              </a:rPr>
              <a:t>Qubit-specific, high-fidelity readout</a:t>
            </a:r>
          </a:p>
        </p:txBody>
      </p:sp>
      <p:sp>
        <p:nvSpPr>
          <p:cNvPr id="21" name="Rounded Rectangle 20"/>
          <p:cNvSpPr/>
          <p:nvPr/>
        </p:nvSpPr>
        <p:spPr>
          <a:xfrm>
            <a:off x="3357033" y="2426891"/>
            <a:ext cx="2696633" cy="879475"/>
          </a:xfrm>
          <a:prstGeom prst="roundRect">
            <a:avLst>
              <a:gd name="adj" fmla="val 8664"/>
            </a:avLst>
          </a:prstGeom>
          <a:solidFill>
            <a:srgbClr val="EEF4FB"/>
          </a:solidFill>
          <a:ln w="8467">
            <a:solidFill>
              <a:srgbClr val="CAD9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467100" y="2520024"/>
            <a:ext cx="2476500" cy="254000"/>
          </a:xfrm>
          <a:prstGeom prst="rect">
            <a:avLst/>
          </a:prstGeom>
          <a:noFill/>
        </p:spPr>
        <p:txBody>
          <a:bodyPr wrap="none" lIns="0" rIns="0" tIns="0" bIns="0" anchor="t">
            <a:noAutofit/>
          </a:bodyPr>
          <a:lstStyle/>
          <a:p>
            <a:pPr algn="l">
              <a:lnSpc>
                <a:spcPts val="2000"/>
              </a:lnSpc>
            </a:pPr>
            <a:r>
              <a:rPr sz="1400" b="1" i="0">
                <a:solidFill>
                  <a:srgbClr val="355C9A"/>
                </a:solidFill>
                <a:latin typeface="Montserrat"/>
                <a:ea typeface="Montserrat"/>
                <a:cs typeface="Montserrat"/>
              </a:rPr>
              <a:t>6 · Stationary ↔ flying</a:t>
            </a:r>
          </a:p>
        </p:txBody>
      </p:sp>
      <p:sp>
        <p:nvSpPr>
          <p:cNvPr id="23" name="TextBox 22"/>
          <p:cNvSpPr txBox="1"/>
          <p:nvPr/>
        </p:nvSpPr>
        <p:spPr>
          <a:xfrm>
            <a:off x="3467100" y="2816357"/>
            <a:ext cx="2476500" cy="396875"/>
          </a:xfrm>
          <a:prstGeom prst="rect">
            <a:avLst/>
          </a:prstGeom>
          <a:noFill/>
        </p:spPr>
        <p:txBody>
          <a:bodyPr wrap="square" lIns="0" rIns="0" tIns="0" bIns="0" anchor="t">
            <a:noAutofit/>
          </a:bodyPr>
          <a:lstStyle/>
          <a:p>
            <a:pPr algn="l">
              <a:lnSpc>
                <a:spcPts val="1560"/>
              </a:lnSpc>
            </a:pPr>
            <a:r>
              <a:rPr sz="1260" b="0" i="0">
                <a:solidFill>
                  <a:srgbClr val="22232A"/>
                </a:solidFill>
                <a:latin typeface="Montserrat"/>
                <a:ea typeface="Montserrat"/>
                <a:cs typeface="Montserrat"/>
              </a:rPr>
              <a:t>Interconvert memory qubits and communication qubits</a:t>
            </a:r>
          </a:p>
        </p:txBody>
      </p:sp>
      <p:sp>
        <p:nvSpPr>
          <p:cNvPr id="24" name="Rounded Rectangle 23"/>
          <p:cNvSpPr/>
          <p:nvPr/>
        </p:nvSpPr>
        <p:spPr>
          <a:xfrm>
            <a:off x="6138333" y="2426891"/>
            <a:ext cx="2696633" cy="879475"/>
          </a:xfrm>
          <a:prstGeom prst="roundRect">
            <a:avLst>
              <a:gd name="adj" fmla="val 8664"/>
            </a:avLst>
          </a:prstGeom>
          <a:solidFill>
            <a:srgbClr val="EEF4FB"/>
          </a:solidFill>
          <a:ln w="8467">
            <a:solidFill>
              <a:srgbClr val="CAD9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248400" y="2520024"/>
            <a:ext cx="2476500" cy="254000"/>
          </a:xfrm>
          <a:prstGeom prst="rect">
            <a:avLst/>
          </a:prstGeom>
          <a:noFill/>
        </p:spPr>
        <p:txBody>
          <a:bodyPr wrap="none" lIns="0" rIns="0" tIns="0" bIns="0" anchor="t">
            <a:noAutofit/>
          </a:bodyPr>
          <a:lstStyle/>
          <a:p>
            <a:pPr algn="l">
              <a:lnSpc>
                <a:spcPts val="2000"/>
              </a:lnSpc>
            </a:pPr>
            <a:r>
              <a:rPr sz="1400" b="1" i="0">
                <a:solidFill>
                  <a:srgbClr val="355C9A"/>
                </a:solidFill>
                <a:latin typeface="Montserrat"/>
                <a:ea typeface="Montserrat"/>
                <a:cs typeface="Montserrat"/>
              </a:rPr>
              <a:t>7 · Transmission</a:t>
            </a:r>
          </a:p>
        </p:txBody>
      </p:sp>
      <p:sp>
        <p:nvSpPr>
          <p:cNvPr id="26" name="TextBox 25"/>
          <p:cNvSpPr txBox="1"/>
          <p:nvPr/>
        </p:nvSpPr>
        <p:spPr>
          <a:xfrm>
            <a:off x="6248400" y="2816357"/>
            <a:ext cx="2476500" cy="396875"/>
          </a:xfrm>
          <a:prstGeom prst="rect">
            <a:avLst/>
          </a:prstGeom>
          <a:noFill/>
        </p:spPr>
        <p:txBody>
          <a:bodyPr wrap="square" lIns="0" rIns="0" tIns="0" bIns="0" anchor="t">
            <a:noAutofit/>
          </a:bodyPr>
          <a:lstStyle/>
          <a:p>
            <a:pPr algn="l">
              <a:lnSpc>
                <a:spcPts val="1560"/>
              </a:lnSpc>
            </a:pPr>
            <a:r>
              <a:rPr sz="1260" b="0" i="0">
                <a:solidFill>
                  <a:srgbClr val="22232A"/>
                </a:solidFill>
                <a:latin typeface="Montserrat"/>
                <a:ea typeface="Montserrat"/>
                <a:cs typeface="Montserrat"/>
              </a:rPr>
              <a:t>Faithfully send flying qubits between locations</a:t>
            </a:r>
          </a:p>
        </p:txBody>
      </p:sp>
      <p:graphicFrame>
        <p:nvGraphicFramePr>
          <p:cNvPr id="27" name="Table 26"/>
          <p:cNvGraphicFramePr>
            <a:graphicFrameLocks noGrp="1"/>
          </p:cNvGraphicFramePr>
          <p:nvPr/>
        </p:nvGraphicFramePr>
        <p:xfrm>
          <a:off x="575733" y="3391032"/>
          <a:ext cx="11032067" cy="1673224"/>
        </p:xfrm>
        <a:graphic>
          <a:graphicData uri="http://schemas.openxmlformats.org/drawingml/2006/table">
            <a:tbl>
              <a:tblPr firstRow="1" bandRow="1">
                <a:tableStyleId>{5C22544A-7EE6-4342-B048-85BDC9FD1C3A}</a:tableStyleId>
              </a:tblPr>
              <a:tblGrid>
                <a:gridCol w="1618324"/>
                <a:gridCol w="4061222"/>
                <a:gridCol w="5352521"/>
              </a:tblGrid>
              <a:tr h="321204">
                <a:tc>
                  <a:txBody>
                    <a:bodyPr wrap="square"/>
                    <a:lstStyle/>
                    <a:p>
                      <a:pPr algn="l"/>
                      <a:r>
                        <a:rPr sz="1130" b="1" i="0">
                          <a:solidFill>
                            <a:srgbClr val="302840"/>
                          </a:solidFill>
                          <a:latin typeface="Montserrat"/>
                          <a:ea typeface="Montserrat"/>
                          <a:cs typeface="Montserrat"/>
                        </a:rPr>
                        <a:t>Criterion</a:t>
                      </a:r>
                    </a:p>
                  </a:txBody>
                  <a:tcPr marT="59267" marR="76200" marB="59267" marL="76200" anchor="t">
                    <a:solidFill>
                      <a:srgbClr val="ECE8F3"/>
                    </a:solidFill>
                  </a:tcPr>
                </a:tc>
                <a:tc>
                  <a:txBody>
                    <a:bodyPr wrap="square"/>
                    <a:lstStyle/>
                    <a:p>
                      <a:pPr algn="l"/>
                      <a:r>
                        <a:rPr sz="1130" b="1" i="0">
                          <a:solidFill>
                            <a:srgbClr val="302840"/>
                          </a:solidFill>
                          <a:latin typeface="Montserrat"/>
                          <a:ea typeface="Montserrat"/>
                          <a:cs typeface="Montserrat"/>
                        </a:rPr>
                        <a:t>Superconducting-circuit implementation</a:t>
                      </a:r>
                    </a:p>
                  </a:txBody>
                  <a:tcPr marT="59267" marR="76200" marB="59267" marL="76200" anchor="t">
                    <a:solidFill>
                      <a:srgbClr val="ECE8F3"/>
                    </a:solidFill>
                  </a:tcPr>
                </a:tc>
                <a:tc>
                  <a:txBody>
                    <a:bodyPr wrap="square"/>
                    <a:lstStyle/>
                    <a:p>
                      <a:pPr algn="l"/>
                      <a:r>
                        <a:rPr sz="1130" b="1" i="0">
                          <a:solidFill>
                            <a:srgbClr val="302840"/>
                          </a:solidFill>
                          <a:latin typeface="Montserrat"/>
                          <a:ea typeface="Montserrat"/>
                          <a:cs typeface="Montserrat"/>
                        </a:rPr>
                        <a:t>Hidden engineering bill</a:t>
                      </a:r>
                    </a:p>
                  </a:txBody>
                  <a:tcPr marT="59267" marR="76200" marB="59267" marL="76200" anchor="t">
                    <a:solidFill>
                      <a:srgbClr val="ECE8F3"/>
                    </a:solidFill>
                  </a:tcPr>
                </a:tc>
              </a:tr>
              <a:tr h="515408">
                <a:tc>
                  <a:txBody>
                    <a:bodyPr wrap="square"/>
                    <a:lstStyle/>
                    <a:p>
                      <a:pPr algn="l"/>
                      <a:r>
                        <a:rPr sz="1130" b="0" i="0">
                          <a:solidFill>
                            <a:srgbClr val="22232A"/>
                          </a:solidFill>
                          <a:latin typeface="Montserrat"/>
                          <a:ea typeface="Montserrat"/>
                          <a:cs typeface="Montserrat"/>
                        </a:rPr>
                        <a:t>Initialize / measure</a:t>
                      </a:r>
                    </a:p>
                  </a:txBody>
                  <a:tcPr marT="59267" marR="76200" marB="59267" marL="76200" anchor="t">
                    <a:noFill/>
                  </a:tcPr>
                </a:tc>
                <a:tc>
                  <a:txBody>
                    <a:bodyPr wrap="square"/>
                    <a:lstStyle/>
                    <a:p>
                      <a:pPr algn="l"/>
                      <a:r>
                        <a:rPr sz="1130" b="0" i="0">
                          <a:solidFill>
                            <a:srgbClr val="22232A"/>
                          </a:solidFill>
                          <a:latin typeface="Montserrat"/>
                          <a:ea typeface="Montserrat"/>
                          <a:cs typeface="Montserrat"/>
                        </a:rPr>
                        <a:t>Dilution cooling, active reset, dispersive microwave readout</a:t>
                      </a:r>
                    </a:p>
                  </a:txBody>
                  <a:tcPr marT="59267" marR="76200" marB="59267" marL="76200" anchor="t">
                    <a:noFill/>
                  </a:tcPr>
                </a:tc>
                <a:tc>
                  <a:txBody>
                    <a:bodyPr wrap="square"/>
                    <a:lstStyle/>
                    <a:p>
                      <a:pPr algn="l"/>
                      <a:r>
                        <a:rPr sz="1130" b="0" i="0">
                          <a:solidFill>
                            <a:srgbClr val="22232A"/>
                          </a:solidFill>
                          <a:latin typeface="Montserrat"/>
                          <a:ea typeface="Montserrat"/>
                          <a:cs typeface="Montserrat"/>
                        </a:rPr>
                        <a:t>Thermal photons, amplifier chain, assignment error</a:t>
                      </a:r>
                    </a:p>
                  </a:txBody>
                  <a:tcPr marT="59267" marR="76200" marB="59267" marL="76200" anchor="t">
                    <a:noFill/>
                  </a:tcPr>
                </a:tc>
              </a:tr>
              <a:tr h="321204">
                <a:tc>
                  <a:txBody>
                    <a:bodyPr wrap="square"/>
                    <a:lstStyle/>
                    <a:p>
                      <a:pPr algn="l"/>
                      <a:r>
                        <a:rPr sz="1130" b="0" i="0">
                          <a:solidFill>
                            <a:srgbClr val="22232A"/>
                          </a:solidFill>
                          <a:latin typeface="Montserrat"/>
                          <a:ea typeface="Montserrat"/>
                          <a:cs typeface="Montserrat"/>
                        </a:rPr>
                        <a:t>Control / coherence</a:t>
                      </a:r>
                    </a:p>
                  </a:txBody>
                  <a:tcPr marT="59267" marR="76200" marB="59267" marL="76200" anchor="t">
                    <a:noFill/>
                  </a:tcPr>
                </a:tc>
                <a:tc>
                  <a:txBody>
                    <a:bodyPr wrap="square"/>
                    <a:lstStyle/>
                    <a:p>
                      <a:pPr algn="l"/>
                      <a:r>
                        <a:rPr sz="1130" b="0" i="0">
                          <a:solidFill>
                            <a:srgbClr val="22232A"/>
                          </a:solidFill>
                          <a:latin typeface="Montserrat"/>
                          <a:ea typeface="Montserrat"/>
                          <a:cs typeface="Montserrat"/>
                        </a:rPr>
                        <a:t>Nanosecond microwave pulses and tunable couplers</a:t>
                      </a:r>
                    </a:p>
                  </a:txBody>
                  <a:tcPr marT="59267" marR="76200" marB="59267" marL="76200" anchor="t">
                    <a:noFill/>
                  </a:tcPr>
                </a:tc>
                <a:tc>
                  <a:txBody>
                    <a:bodyPr wrap="square"/>
                    <a:lstStyle/>
                    <a:p>
                      <a:pPr algn="l"/>
                      <a:r>
                        <a:rPr sz="1130" b="0" i="0">
                          <a:solidFill>
                            <a:srgbClr val="22232A"/>
                          </a:solidFill>
                          <a:latin typeface="Montserrat"/>
                          <a:ea typeface="Montserrat"/>
                          <a:cs typeface="Montserrat"/>
                        </a:rPr>
                        <a:t>Leakage, crosstalk, calibration drift, dielectric and quasiparticle loss</a:t>
                      </a:r>
                    </a:p>
                  </a:txBody>
                  <a:tcPr marT="59267" marR="76200" marB="59267" marL="76200" anchor="t">
                    <a:noFill/>
                  </a:tcPr>
                </a:tc>
              </a:tr>
              <a:tr h="515408">
                <a:tc>
                  <a:txBody>
                    <a:bodyPr wrap="square"/>
                    <a:lstStyle/>
                    <a:p>
                      <a:pPr algn="l"/>
                      <a:r>
                        <a:rPr sz="1130" b="0" i="0">
                          <a:solidFill>
                            <a:srgbClr val="22232A"/>
                          </a:solidFill>
                          <a:latin typeface="Montserrat"/>
                          <a:ea typeface="Montserrat"/>
                          <a:cs typeface="Montserrat"/>
                        </a:rPr>
                        <a:t>Scale / communicate</a:t>
                      </a:r>
                    </a:p>
                  </a:txBody>
                  <a:tcPr marT="59267" marR="76200" marB="59267" marL="76200" anchor="t">
                    <a:noFill/>
                  </a:tcPr>
                </a:tc>
                <a:tc>
                  <a:txBody>
                    <a:bodyPr wrap="square"/>
                    <a:lstStyle/>
                    <a:p>
                      <a:pPr algn="l"/>
                      <a:r>
                        <a:rPr sz="1130" b="0" i="0">
                          <a:solidFill>
                            <a:srgbClr val="22232A"/>
                          </a:solidFill>
                          <a:latin typeface="Montserrat"/>
                          <a:ea typeface="Montserrat"/>
                          <a:cs typeface="Montserrat"/>
                        </a:rPr>
                        <a:t>Lithographic circuits, microwave buses, modular links</a:t>
                      </a:r>
                    </a:p>
                  </a:txBody>
                  <a:tcPr marT="59267" marR="76200" marB="59267" marL="76200" anchor="t">
                    <a:noFill/>
                  </a:tcPr>
                </a:tc>
                <a:tc>
                  <a:txBody>
                    <a:bodyPr wrap="square"/>
                    <a:lstStyle/>
                    <a:p>
                      <a:pPr algn="l"/>
                      <a:r>
                        <a:rPr sz="1130" b="0" i="0">
                          <a:solidFill>
                            <a:srgbClr val="22232A"/>
                          </a:solidFill>
                          <a:latin typeface="Montserrat"/>
                          <a:ea typeface="Montserrat"/>
                          <a:cs typeface="Montserrat"/>
                        </a:rPr>
                        <a:t>Frequency crowding, packaging, wiring heat load, microwave–optical conversion</a:t>
                      </a:r>
                    </a:p>
                  </a:txBody>
                  <a:tcPr marT="59267" marR="76200" marB="59267" marL="76200" anchor="t">
                    <a:noFill/>
                  </a:tcPr>
                </a:tc>
              </a:tr>
            </a:tbl>
          </a:graphicData>
        </a:graphic>
      </p:graphicFrame>
      <p:sp>
        <p:nvSpPr>
          <p:cNvPr id="28" name="TextBox 27"/>
          <p:cNvSpPr txBox="1"/>
          <p:nvPr/>
        </p:nvSpPr>
        <p:spPr>
          <a:xfrm>
            <a:off x="575733" y="5106591"/>
            <a:ext cx="11040533" cy="106230"/>
          </a:xfrm>
          <a:prstGeom prst="rect">
            <a:avLst/>
          </a:prstGeom>
          <a:noFill/>
        </p:spPr>
        <p:txBody>
          <a:bodyPr wrap="none" lIns="0" rIns="0" tIns="0" bIns="0" anchor="t">
            <a:noAutofit/>
          </a:bodyPr>
          <a:lstStyle/>
          <a:p>
            <a:pPr algn="l">
              <a:lnSpc>
                <a:spcPts val="840"/>
              </a:lnSpc>
            </a:pPr>
            <a:r>
              <a:rPr sz="730" b="0" i="0">
                <a:solidFill>
                  <a:srgbClr val="4F4C56"/>
                </a:solidFill>
                <a:latin typeface="Montserrat"/>
                <a:ea typeface="Montserrat"/>
                <a:cs typeface="Montserrat"/>
              </a:rPr>
              <a:t>Source: D. P. DiVincenzo, “The Physical Implementation of Quantum Computation” (2000), </a:t>
            </a:r>
            <a:r>
              <a:rPr sz="730" b="0" i="0">
                <a:solidFill>
                  <a:srgbClr val="355C9A"/>
                </a:solidFill>
                <a:latin typeface="Montserrat"/>
                <a:ea typeface="Montserrat"/>
                <a:cs typeface="Montserrat"/>
                <a:hlinkClick r:id="rId2"/>
              </a:rPr>
              <a:t>IBM Research publication page</a:t>
            </a:r>
            <a:r>
              <a:rPr sz="730" b="0" i="0">
                <a:solidFill>
                  <a:srgbClr val="4F4C56"/>
                </a:solidFill>
                <a:latin typeface="Montserrat"/>
                <a:ea typeface="Montserrat"/>
                <a:cs typeface="Montserrat"/>
              </a:rPr>
              <a:t>.</a:t>
            </a:r>
          </a:p>
        </p:txBody>
      </p:sp>
      <p:sp>
        <p:nvSpPr>
          <p:cNvPr id="29" name="Rectangle 2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31" name="TextBox 30"/>
          <p:cNvSpPr txBox="1"/>
          <p:nvPr/>
        </p:nvSpPr>
        <p:spPr>
          <a:xfrm>
            <a:off x="11223890" y="6565900"/>
            <a:ext cx="477044"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09 / 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8053255" y="324115"/>
            <a:ext cx="3647678"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What Must a Quantum Hardware Platform Actually Do?</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Superconducting Circuits vs Trapped Ions</a:t>
            </a:r>
          </a:p>
        </p:txBody>
      </p:sp>
      <p:pic>
        <p:nvPicPr>
          <p:cNvPr id="6" name="Five-qubit superconducting processor and five trapped ions with their connectivi" descr="linke-2017-superconducting-vs-ion.jpg"/>
          <p:cNvPicPr>
            <a:picLocks noChangeAspect="1"/>
          </p:cNvPicPr>
          <p:nvPr/>
        </p:nvPicPr>
        <p:blipFill>
          <a:blip r:embed="rId2"/>
          <a:stretch>
            <a:fillRect/>
          </a:stretch>
        </p:blipFill>
        <p:spPr>
          <a:xfrm>
            <a:off x="575733" y="1788247"/>
            <a:ext cx="4239683" cy="2631160"/>
          </a:xfrm>
          <a:prstGeom prst="rect">
            <a:avLst/>
          </a:prstGeom>
        </p:spPr>
      </p:pic>
      <p:sp>
        <p:nvSpPr>
          <p:cNvPr id="7" name="TextBox 6"/>
          <p:cNvSpPr txBox="1"/>
          <p:nvPr/>
        </p:nvSpPr>
        <p:spPr>
          <a:xfrm>
            <a:off x="575733" y="4788694"/>
            <a:ext cx="4239683" cy="119459"/>
          </a:xfrm>
          <a:prstGeom prst="rect">
            <a:avLst/>
          </a:prstGeom>
          <a:noFill/>
        </p:spPr>
        <p:txBody>
          <a:bodyPr wrap="none" lIns="0" rIns="0" tIns="0" bIns="0" anchor="t">
            <a:noAutofit/>
          </a:bodyPr>
          <a:lstStyle/>
          <a:p>
            <a:pPr algn="l">
              <a:lnSpc>
                <a:spcPts val="940"/>
              </a:lnSpc>
            </a:pPr>
            <a:r>
              <a:rPr sz="780" b="0" i="0">
                <a:solidFill>
                  <a:srgbClr val="6A6370"/>
                </a:solidFill>
                <a:latin typeface="Montserrat"/>
                <a:ea typeface="Montserrat"/>
                <a:cs typeface="Montserrat"/>
              </a:rPr>
              <a:t>Figure 1, Linke et al., </a:t>
            </a:r>
            <a:r>
              <a:rPr sz="780" b="0" i="1">
                <a:solidFill>
                  <a:srgbClr val="6A6370"/>
                </a:solidFill>
                <a:latin typeface="Montserrat"/>
                <a:ea typeface="Montserrat"/>
                <a:cs typeface="Montserrat"/>
              </a:rPr>
              <a:t>PNAS</a:t>
            </a:r>
            <a:r>
              <a:rPr sz="780" b="0" i="0">
                <a:solidFill>
                  <a:srgbClr val="6A6370"/>
                </a:solidFill>
                <a:latin typeface="Montserrat"/>
                <a:ea typeface="Montserrat"/>
                <a:cs typeface="Montserrat"/>
              </a:rPr>
              <a:t> 114, 3305 (2017), </a:t>
            </a:r>
            <a:r>
              <a:rPr sz="780" b="0" i="0">
                <a:solidFill>
                  <a:srgbClr val="355C9A"/>
                </a:solidFill>
                <a:latin typeface="Montserrat"/>
                <a:ea typeface="Montserrat"/>
                <a:cs typeface="Montserrat"/>
                <a:hlinkClick r:id="rId3"/>
              </a:rPr>
              <a:t>doi:10.1073/pnas.1618020114</a:t>
            </a:r>
            <a:r>
              <a:rPr sz="780" b="0" i="0">
                <a:solidFill>
                  <a:srgbClr val="6A6370"/>
                </a:solidFill>
                <a:latin typeface="Montserrat"/>
                <a:ea typeface="Montserrat"/>
                <a:cs typeface="Montserrat"/>
              </a:rPr>
              <a:t>. </a:t>
            </a:r>
          </a:p>
        </p:txBody>
      </p:sp>
      <p:graphicFrame>
        <p:nvGraphicFramePr>
          <p:cNvPr id="8" name="Table 7"/>
          <p:cNvGraphicFramePr>
            <a:graphicFrameLocks noGrp="1"/>
          </p:cNvGraphicFramePr>
          <p:nvPr/>
        </p:nvGraphicFramePr>
        <p:xfrm>
          <a:off x="4984750" y="1588294"/>
          <a:ext cx="6623050" cy="3750334"/>
        </p:xfrm>
        <a:graphic>
          <a:graphicData uri="http://schemas.openxmlformats.org/drawingml/2006/table">
            <a:tbl>
              <a:tblPr firstRow="1" bandRow="1">
                <a:tableStyleId>{5C22544A-7EE6-4342-B048-85BDC9FD1C3A}</a:tableStyleId>
              </a:tblPr>
              <a:tblGrid>
                <a:gridCol w="1457060"/>
                <a:gridCol w="2582995"/>
                <a:gridCol w="2582995"/>
              </a:tblGrid>
              <a:tr h="321204">
                <a:tc>
                  <a:txBody>
                    <a:bodyPr wrap="square"/>
                    <a:lstStyle/>
                    <a:p>
                      <a:pPr algn="l"/>
                      <a:r>
                        <a:rPr sz="1130" b="1" i="0">
                          <a:solidFill>
                            <a:srgbClr val="4F3F70"/>
                          </a:solidFill>
                          <a:latin typeface="Montserrat"/>
                          <a:ea typeface="Montserrat"/>
                          <a:cs typeface="Montserrat"/>
                        </a:rPr>
                        <a:t>Parameter</a:t>
                      </a:r>
                    </a:p>
                  </a:txBody>
                  <a:tcPr marT="59267" marR="67733" marB="59267" marL="67733" anchor="t">
                    <a:solidFill>
                      <a:srgbClr val="ECE8F3"/>
                    </a:solidFill>
                  </a:tcPr>
                </a:tc>
                <a:tc>
                  <a:txBody>
                    <a:bodyPr wrap="square"/>
                    <a:lstStyle/>
                    <a:p>
                      <a:pPr algn="l"/>
                      <a:r>
                        <a:rPr sz="1130" b="1" i="0">
                          <a:solidFill>
                            <a:srgbClr val="302840"/>
                          </a:solidFill>
                          <a:latin typeface="Montserrat"/>
                          <a:ea typeface="Montserrat"/>
                          <a:cs typeface="Montserrat"/>
                        </a:rPr>
                        <a:t>Superconducting circuit</a:t>
                      </a:r>
                    </a:p>
                  </a:txBody>
                  <a:tcPr marT="59267" marR="67733" marB="59267" marL="67733" anchor="t">
                    <a:solidFill>
                      <a:srgbClr val="ECE8F3"/>
                    </a:solidFill>
                  </a:tcPr>
                </a:tc>
                <a:tc>
                  <a:txBody>
                    <a:bodyPr wrap="square"/>
                    <a:lstStyle/>
                    <a:p>
                      <a:pPr algn="l"/>
                      <a:r>
                        <a:rPr sz="1130" b="1" i="0">
                          <a:solidFill>
                            <a:srgbClr val="302840"/>
                          </a:solidFill>
                          <a:latin typeface="Montserrat"/>
                          <a:ea typeface="Montserrat"/>
                          <a:cs typeface="Montserrat"/>
                        </a:rPr>
                        <a:t>Trapped ion</a:t>
                      </a:r>
                    </a:p>
                  </a:txBody>
                  <a:tcPr marT="59267" marR="67733" marB="59267" marL="67733" anchor="t">
                    <a:solidFill>
                      <a:srgbClr val="ECE8F3"/>
                    </a:solidFill>
                  </a:tcPr>
                </a:tc>
              </a:tr>
              <a:tr h="515408">
                <a:tc>
                  <a:txBody>
                    <a:bodyPr wrap="square"/>
                    <a:lstStyle/>
                    <a:p>
                      <a:pPr algn="l"/>
                      <a:r>
                        <a:rPr sz="1130" b="1" i="0">
                          <a:solidFill>
                            <a:srgbClr val="4F3F70"/>
                          </a:solidFill>
                          <a:latin typeface="Montserrat"/>
                          <a:ea typeface="Montserrat"/>
                          <a:cs typeface="Montserrat"/>
                        </a:rPr>
                        <a:t>Qubit</a:t>
                      </a:r>
                    </a:p>
                  </a:txBody>
                  <a:tcPr marT="59267" marR="67733" marB="59267" marL="67733" anchor="t">
                    <a:noFill/>
                  </a:tcPr>
                </a:tc>
                <a:tc>
                  <a:txBody>
                    <a:bodyPr wrap="square"/>
                    <a:lstStyle/>
                    <a:p>
                      <a:pPr algn="l"/>
                      <a:r>
                        <a:rPr sz="1130" b="0" i="0">
                          <a:solidFill>
                            <a:srgbClr val="22232A"/>
                          </a:solidFill>
                          <a:latin typeface="Montserrat"/>
                          <a:ea typeface="Montserrat"/>
                          <a:cs typeface="Montserrat"/>
                        </a:rPr>
                        <a:t>Engineered Josephson artificial atom</a:t>
                      </a:r>
                    </a:p>
                  </a:txBody>
                  <a:tcPr marT="59267" marR="67733" marB="59267" marL="67733" anchor="t">
                    <a:noFill/>
                  </a:tcPr>
                </a:tc>
                <a:tc>
                  <a:txBody>
                    <a:bodyPr wrap="square"/>
                    <a:lstStyle/>
                    <a:p>
                      <a:pPr algn="l"/>
                      <a:r>
                        <a:rPr sz="1130" b="0" i="0">
                          <a:solidFill>
                            <a:srgbClr val="22232A"/>
                          </a:solidFill>
                          <a:latin typeface="Montserrat"/>
                          <a:ea typeface="Montserrat"/>
                          <a:cs typeface="Montserrat"/>
                        </a:rPr>
                        <a:t>Natural </a:t>
                      </a:r>
                      <a:r>
                        <a:rPr sz="850" b="0" i="0" baseline="30000">
                          <a:solidFill>
                            <a:srgbClr val="22232A"/>
                          </a:solidFill>
                          <a:latin typeface="Montserrat"/>
                          <a:ea typeface="Montserrat"/>
                          <a:cs typeface="Montserrat"/>
                        </a:rPr>
                        <a:t>171</a:t>
                      </a:r>
                      <a:r>
                        <a:rPr sz="1130" b="0" i="0">
                          <a:solidFill>
                            <a:srgbClr val="22232A"/>
                          </a:solidFill>
                          <a:latin typeface="Montserrat"/>
                          <a:ea typeface="Montserrat"/>
                          <a:cs typeface="Montserrat"/>
                        </a:rPr>
                        <a:t>Yb</a:t>
                      </a:r>
                      <a:r>
                        <a:rPr sz="850" b="0" i="0" baseline="30000">
                          <a:solidFill>
                            <a:srgbClr val="22232A"/>
                          </a:solidFill>
                          <a:latin typeface="Montserrat"/>
                          <a:ea typeface="Montserrat"/>
                          <a:cs typeface="Montserrat"/>
                        </a:rPr>
                        <a:t>+</a:t>
                      </a:r>
                      <a:r>
                        <a:rPr sz="1130" b="0" i="0">
                          <a:solidFill>
                            <a:srgbClr val="22232A"/>
                          </a:solidFill>
                          <a:latin typeface="Montserrat"/>
                          <a:ea typeface="Montserrat"/>
                          <a:cs typeface="Montserrat"/>
                        </a:rPr>
                        <a:t> hyperfine states</a:t>
                      </a:r>
                    </a:p>
                  </a:txBody>
                  <a:tcPr marT="59267" marR="67733" marB="59267" marL="67733" anchor="t">
                    <a:noFill/>
                  </a:tcPr>
                </a:tc>
              </a:tr>
              <a:tr h="709612">
                <a:tc>
                  <a:txBody>
                    <a:bodyPr wrap="square"/>
                    <a:lstStyle/>
                    <a:p>
                      <a:pPr algn="l"/>
                      <a:r>
                        <a:rPr sz="1130" b="1" i="0">
                          <a:solidFill>
                            <a:srgbClr val="4F3F70"/>
                          </a:solidFill>
                          <a:latin typeface="Montserrat"/>
                          <a:ea typeface="Montserrat"/>
                          <a:cs typeface="Montserrat"/>
                        </a:rPr>
                        <a:t>Tuning and calibration</a:t>
                      </a:r>
                    </a:p>
                  </a:txBody>
                  <a:tcPr marT="59267" marR="67733" marB="59267" marL="67733" anchor="t">
                    <a:noFill/>
                  </a:tcPr>
                </a:tc>
                <a:tc>
                  <a:txBody>
                    <a:bodyPr wrap="square"/>
                    <a:lstStyle/>
                    <a:p>
                      <a:pPr algn="l"/>
                      <a:r>
                        <a:rPr sz="1130" b="0" i="0">
                          <a:solidFill>
                            <a:srgbClr val="22232A"/>
                          </a:solidFill>
                          <a:latin typeface="Montserrat"/>
                          <a:ea typeface="Montserrat"/>
                          <a:cs typeface="Montserrat"/>
                        </a:rPr>
                        <a:t>Tunable frequency and coupling. Fabrication spread and drift require recalibration.</a:t>
                      </a:r>
                    </a:p>
                  </a:txBody>
                  <a:tcPr marT="59267" marR="67733" marB="59267" marL="67733" anchor="t">
                    <a:noFill/>
                  </a:tcPr>
                </a:tc>
                <a:tc>
                  <a:txBody>
                    <a:bodyPr wrap="square"/>
                    <a:lstStyle/>
                    <a:p>
                      <a:pPr algn="l"/>
                      <a:r>
                        <a:rPr sz="1130" b="0" i="0">
                          <a:solidFill>
                            <a:srgbClr val="22232A"/>
                          </a:solidFill>
                          <a:latin typeface="Montserrat"/>
                          <a:ea typeface="Montserrat"/>
                          <a:cs typeface="Montserrat"/>
                        </a:rPr>
                        <a:t>Atoms are identical. Lasers and collective motional modes still require calibration. </a:t>
                      </a:r>
                    </a:p>
                  </a:txBody>
                  <a:tcPr marT="59267" marR="67733" marB="59267" marL="67733" anchor="t">
                    <a:noFill/>
                  </a:tcPr>
                </a:tc>
              </a:tr>
              <a:tr h="324379">
                <a:tc>
                  <a:txBody>
                    <a:bodyPr wrap="square"/>
                    <a:lstStyle/>
                    <a:p>
                      <a:pPr algn="l"/>
                      <a:r>
                        <a:rPr sz="1130" b="1" i="0">
                          <a:solidFill>
                            <a:srgbClr val="4F3F70"/>
                          </a:solidFill>
                          <a:latin typeface="Montserrat"/>
                          <a:ea typeface="Montserrat"/>
                          <a:cs typeface="Montserrat"/>
                        </a:rPr>
                        <a:t>Coherence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348">
                                      <a:latin typeface="Cambria Math"/>
                                    </a:rPr>
                                    <m:t>T</m:t>
                                  </m:r>
                                </m:e>
                                <m:sub>
                                  <m:r>
                                    <m:rPr>
                                      <m:sty m:val="p"/>
                                    </m:rPr>
                                    <a:rPr lang="en-US" i="0" sz="1348">
                                      <a:latin typeface="Cambria Math"/>
                                    </a:rPr>
                                    <m:t>2</m:t>
                                  </m:r>
                                </m:sub>
                              </m:sSub>
                            </m:oMath>
                          </a14:m>
                        </mc:Choice>
                        <mc:Fallback>
                          <a:r>
                            <a:rPr lang="en-US" sz="1347" i="1"/>
                            <a:t>T_2</a:t>
                          </a:r>
                        </mc:Fallback>
                      </mc:AlternateContent>
                    </a:p>
                  </a:txBody>
                  <a:tcPr marT="59267" marR="67733" marB="59267" marL="67733" anchor="t">
                    <a:noFill/>
                  </a:tcPr>
                </a:tc>
                <a:tc>
                  <a:txBody>
                    <a:bodyPr wrap="square"/>
                    <a:lstStyle/>
                    <a:p>
                      <a:pPr algn="l"/>
                      <a:r>
                        <a:rPr sz="1130" b="0" i="0">
                          <a:solidFill>
                            <a:srgbClr val="22232A"/>
                          </a:solidFill>
                          <a:latin typeface="Montserrat"/>
                          <a:ea typeface="Montserrat"/>
                          <a:cs typeface="Montserrat"/>
                        </a:rPr>
                        <a:t>≈ 60 μs</a:t>
                      </a:r>
                    </a:p>
                  </a:txBody>
                  <a:tcPr marT="59267" marR="67733" marB="59267" marL="67733" anchor="t">
                    <a:noFill/>
                  </a:tcPr>
                </a:tc>
                <a:tc>
                  <a:txBody>
                    <a:bodyPr wrap="square"/>
                    <a:lstStyle/>
                    <a:p>
                      <a:pPr algn="l"/>
                      <mc:AlternateContent xmlns:mc="http://schemas.openxmlformats.org/markup-compatibility/2006">
                        <mc:Choice xmlns:a14="http://schemas.microsoft.com/office/drawing/2010/main" Requires="a14">
                          <a14:m>
                            <m:oMath xmlns:m="http://schemas.openxmlformats.org/officeDocument/2006/math">
                              <m:sSubSup>
                                <m:e>
                                  <m:r>
                                    <m:rPr>
                                      <m:sty m:val="i"/>
                                    </m:rPr>
                                    <a:rPr lang="en-US" i="1" sz="1348">
                                      <a:latin typeface="Cambria Math"/>
                                    </a:rPr>
                                    <m:t>T</m:t>
                                  </m:r>
                                </m:e>
                                <m:sub>
                                  <m:r>
                                    <m:rPr>
                                      <m:sty m:val="p"/>
                                    </m:rPr>
                                    <a:rPr lang="en-US" i="0" sz="1348">
                                      <a:latin typeface="Cambria Math"/>
                                    </a:rPr>
                                    <m:t>2</m:t>
                                  </m:r>
                                </m:sub>
                                <m:sup>
                                  <m:r>
                                    <m:rPr>
                                      <m:sty m:val="p"/>
                                    </m:rPr>
                                    <a:rPr lang="en-US" i="0" sz="1348">
                                      <a:latin typeface="Cambria Math"/>
                                    </a:rPr>
                                    <m:t>∗</m:t>
                                  </m:r>
                                </m:sup>
                              </m:sSubSup>
                            </m:oMath>
                          </a14:m>
                        </mc:Choice>
                        <mc:Fallback>
                          <a:r>
                            <a:rPr lang="en-US" sz="1347" i="1"/>
                            <a:t>T_2^*</a:t>
                          </a:r>
                        </mc:Fallback>
                      </mc:AlternateContent>
                      <a:r>
                        <a:rPr sz="1130" b="0" i="0">
                          <a:solidFill>
                            <a:srgbClr val="22232A"/>
                          </a:solidFill>
                          <a:latin typeface="Montserrat"/>
                          <a:ea typeface="Montserrat"/>
                          <a:cs typeface="Montserrat"/>
                        </a:rPr>
                        <a:t> ≈ 0.5 s</a:t>
                      </a:r>
                    </a:p>
                  </a:txBody>
                  <a:tcPr marT="59267" marR="67733" marB="59267" marL="67733" anchor="t">
                    <a:noFill/>
                  </a:tcPr>
                </a:tc>
              </a:tr>
              <a:tr h="321204">
                <a:tc>
                  <a:txBody>
                    <a:bodyPr wrap="square"/>
                    <a:lstStyle/>
                    <a:p>
                      <a:pPr algn="l"/>
                      <a:r>
                        <a:rPr sz="1130" b="1" i="0">
                          <a:solidFill>
                            <a:srgbClr val="4F3F70"/>
                          </a:solidFill>
                          <a:latin typeface="Montserrat"/>
                          <a:ea typeface="Montserrat"/>
                          <a:cs typeface="Montserrat"/>
                        </a:rPr>
                        <a:t>Two-qubit gate</a:t>
                      </a:r>
                    </a:p>
                  </a:txBody>
                  <a:tcPr marT="59267" marR="67733" marB="59267" marL="67733" anchor="t">
                    <a:noFill/>
                  </a:tcPr>
                </a:tc>
                <a:tc>
                  <a:txBody>
                    <a:bodyPr wrap="square"/>
                    <a:lstStyle/>
                    <a:p>
                      <a:pPr algn="l"/>
                      <a:r>
                        <a:rPr sz="1130" b="0" i="0">
                          <a:solidFill>
                            <a:srgbClr val="22232A"/>
                          </a:solidFill>
                          <a:latin typeface="Montserrat"/>
                          <a:ea typeface="Montserrat"/>
                          <a:cs typeface="Montserrat"/>
                        </a:rPr>
                        <a:t>250–450 ns</a:t>
                      </a:r>
                    </a:p>
                  </a:txBody>
                  <a:tcPr marT="59267" marR="67733" marB="59267" marL="67733" anchor="t">
                    <a:noFill/>
                  </a:tcPr>
                </a:tc>
                <a:tc>
                  <a:txBody>
                    <a:bodyPr wrap="square"/>
                    <a:lstStyle/>
                    <a:p>
                      <a:pPr algn="l"/>
                      <a:r>
                        <a:rPr sz="1130" b="0" i="0">
                          <a:solidFill>
                            <a:srgbClr val="22232A"/>
                          </a:solidFill>
                          <a:latin typeface="Montserrat"/>
                          <a:ea typeface="Montserrat"/>
                          <a:cs typeface="Montserrat"/>
                        </a:rPr>
                        <a:t>250 μs</a:t>
                      </a:r>
                    </a:p>
                  </a:txBody>
                  <a:tcPr marT="59267" marR="67733" marB="59267" marL="67733" anchor="t">
                    <a:noFill/>
                  </a:tcPr>
                </a:tc>
              </a:tr>
              <a:tr h="333507">
                <a:tc>
                  <a:txBody>
                    <a:bodyPr wrap="square"/>
                    <a:lstStyle/>
                    <a:p>
                      <a:pPr algn="l"/>
                      <mc:AlternateContent xmlns:mc="http://schemas.openxmlformats.org/markup-compatibility/2006">
                        <mc:Choice xmlns:a14="http://schemas.microsoft.com/office/drawing/2010/main" Requires="a14">
                          <a14:m>
                            <m:oMath xmlns:m="http://schemas.openxmlformats.org/officeDocument/2006/math">
                              <m:sSub>
                                <m:e>
                                  <m:r>
                                    <m:rPr>
                                      <m:sty m:val="i"/>
                                    </m:rPr>
                                    <a:rPr lang="en-US" i="1" sz="1348">
                                      <a:latin typeface="Cambria Math"/>
                                    </a:rPr>
                                    <m:t>T</m:t>
                                  </m:r>
                                </m:e>
                                <m:sub>
                                  <m:r>
                                    <m:rPr>
                                      <m:sty m:val="p"/>
                                    </m:rPr>
                                    <a:rPr lang="en-US" i="0" sz="1348">
                                      <a:latin typeface="Cambria Math"/>
                                    </a:rPr>
                                    <m:t>2</m:t>
                                  </m:r>
                                </m:sub>
                              </m:sSub>
                              <m:box>
                                <m:e>
                                  <m:r>
                                    <m:rPr>
                                      <m:sty m:val="p"/>
                                    </m:rPr>
                                    <a:rPr lang="en-US" i="0" sz="1348">
                                      <a:latin typeface="Cambria Math"/>
                                    </a:rPr>
                                    <m:t>/</m:t>
                                  </m:r>
                                </m:e>
                              </m:box>
                              <m:sSub>
                                <m:e>
                                  <m:r>
                                    <m:rPr>
                                      <m:sty m:val="i"/>
                                    </m:rPr>
                                    <a:rPr lang="en-US" i="1" sz="1348">
                                      <a:latin typeface="Cambria Math"/>
                                    </a:rPr>
                                    <m:t>t</m:t>
                                  </m:r>
                                </m:e>
                                <m:sub>
                                  <m:box>
                                    <m:e>
                                      <m:r>
                                        <m:rPr>
                                          <m:sty m:val="p"/>
                                        </m:rPr>
                                        <a:rPr lang="en-US" i="0" sz="1348">
                                          <a:latin typeface="Cambria Math"/>
                                        </a:rPr>
                                        <m:t>2</m:t>
                                      </m:r>
                                      <m:r>
                                        <m:rPr>
                                          <m:sty m:val="i"/>
                                        </m:rPr>
                                        <a:rPr lang="en-US" i="1" sz="1348">
                                          <a:latin typeface="Cambria Math"/>
                                        </a:rPr>
                                        <m:t>Q</m:t>
                                      </m:r>
                                    </m:e>
                                  </m:box>
                                </m:sub>
                              </m:sSub>
                            </m:oMath>
                          </a14:m>
                        </mc:Choice>
                        <mc:Fallback>
                          <a:r>
                            <a:rPr lang="en-US" sz="1347" i="1"/>
                            <a:t>T_2/t_{2Q}</a:t>
                          </a:r>
                        </mc:Fallback>
                      </mc:AlternateContent>
                    </a:p>
                  </a:txBody>
                  <a:tcPr marT="59267" marR="67733" marB="59267" marL="67733" anchor="t">
                    <a:noFill/>
                  </a:tcPr>
                </a:tc>
                <a:tc>
                  <a:txBody>
                    <a:bodyPr wrap="square"/>
                    <a:lstStyle/>
                    <a:p>
                      <a:pPr algn="l"/>
                      <a:r>
                        <a:rPr sz="1130" b="0" i="0">
                          <a:solidFill>
                            <a:srgbClr val="22232A"/>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r>
                                <m:rPr>
                                  <m:sty m:val="p"/>
                                </m:rPr>
                                <a:rPr lang="en-US" i="0" sz="1348">
                                  <a:latin typeface="Cambria Math"/>
                                </a:rPr>
                                <m:t>1.3</m:t>
                              </m:r>
                              <m:r>
                                <m:rPr>
                                  <m:nor/>
                                </m:rPr>
                                <a:rPr lang="en-US" i="0" sz="1348">
                                  <a:latin typeface="Cambria Math"/>
                                </a:rPr>
                                <m:t>–</m:t>
                              </m:r>
                              <m:r>
                                <m:rPr>
                                  <m:sty m:val="p"/>
                                </m:rPr>
                                <a:rPr lang="en-US" i="0" sz="1348">
                                  <a:latin typeface="Cambria Math"/>
                                </a:rPr>
                                <m:t>2.4</m:t>
                              </m:r>
                              <m:r>
                                <m:rPr>
                                  <m:sty m:val="p"/>
                                </m:rPr>
                                <a:rPr lang="en-US" i="0" sz="1348">
                                  <a:latin typeface="Cambria Math"/>
                                </a:rPr>
                                <m:t>×</m:t>
                              </m:r>
                              <m:sSup>
                                <m:e>
                                  <m:r>
                                    <m:rPr>
                                      <m:sty m:val="p"/>
                                    </m:rPr>
                                    <a:rPr lang="en-US" i="0" sz="1348">
                                      <a:latin typeface="Cambria Math"/>
                                    </a:rPr>
                                    <m:t>10</m:t>
                                  </m:r>
                                </m:e>
                                <m:sup>
                                  <m:r>
                                    <m:rPr>
                                      <m:sty m:val="p"/>
                                    </m:rPr>
                                    <a:rPr lang="en-US" i="0" sz="1348">
                                      <a:latin typeface="Cambria Math"/>
                                    </a:rPr>
                                    <m:t>2</m:t>
                                  </m:r>
                                </m:sup>
                              </m:sSup>
                            </m:oMath>
                          </a14:m>
                        </mc:Choice>
                        <mc:Fallback>
                          <a:r>
                            <a:rPr lang="en-US" sz="1347" i="1"/>
                            <a:t>1.3\text{–}2.4\times10^2</a:t>
                          </a:r>
                        </mc:Fallback>
                      </mc:AlternateContent>
                    </a:p>
                  </a:txBody>
                  <a:tcPr marT="59267" marR="67733" marB="59267" marL="67733" anchor="t">
                    <a:noFill/>
                  </a:tcPr>
                </a:tc>
                <a:tc>
                  <a:txBody>
                    <a:bodyPr wrap="square"/>
                    <a:lstStyle/>
                    <a:p>
                      <a:pPr algn="l"/>
                      <a:r>
                        <a:rPr sz="1130" b="0" i="0">
                          <a:solidFill>
                            <a:srgbClr val="22232A"/>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r>
                                <m:rPr>
                                  <m:sty m:val="p"/>
                                </m:rPr>
                                <a:rPr lang="en-US" i="0" sz="1348">
                                  <a:latin typeface="Cambria Math"/>
                                </a:rPr>
                                <m:t>2</m:t>
                              </m:r>
                              <m:r>
                                <m:rPr>
                                  <m:sty m:val="p"/>
                                </m:rPr>
                                <a:rPr lang="en-US" i="0" sz="1348">
                                  <a:latin typeface="Cambria Math"/>
                                </a:rPr>
                                <m:t>×</m:t>
                              </m:r>
                              <m:sSup>
                                <m:e>
                                  <m:r>
                                    <m:rPr>
                                      <m:sty m:val="p"/>
                                    </m:rPr>
                                    <a:rPr lang="en-US" i="0" sz="1348">
                                      <a:latin typeface="Cambria Math"/>
                                    </a:rPr>
                                    <m:t>10</m:t>
                                  </m:r>
                                </m:e>
                                <m:sup>
                                  <m:r>
                                    <m:rPr>
                                      <m:sty m:val="p"/>
                                    </m:rPr>
                                    <a:rPr lang="en-US" i="0" sz="1348">
                                      <a:latin typeface="Cambria Math"/>
                                    </a:rPr>
                                    <m:t>3</m:t>
                                  </m:r>
                                </m:sup>
                              </m:sSup>
                            </m:oMath>
                          </a14:m>
                        </mc:Choice>
                        <mc:Fallback>
                          <a:r>
                            <a:rPr lang="en-US" sz="1347" i="1"/>
                            <a:t>2\times10^3</a:t>
                          </a:r>
                        </mc:Fallback>
                      </mc:AlternateContent>
                    </a:p>
                  </a:txBody>
                  <a:tcPr marT="59267" marR="67733" marB="59267" marL="67733" anchor="t">
                    <a:noFill/>
                  </a:tcPr>
                </a:tc>
              </a:tr>
              <a:tr h="515408">
                <a:tc>
                  <a:txBody>
                    <a:bodyPr wrap="square"/>
                    <a:lstStyle/>
                    <a:p>
                      <a:pPr algn="l"/>
                      <a:r>
                        <a:rPr sz="1130" b="1" i="0">
                          <a:solidFill>
                            <a:srgbClr val="4F3F70"/>
                          </a:solidFill>
                          <a:latin typeface="Montserrat"/>
                          <a:ea typeface="Montserrat"/>
                          <a:cs typeface="Montserrat"/>
                        </a:rPr>
                        <a:t>Connectivity</a:t>
                      </a:r>
                    </a:p>
                  </a:txBody>
                  <a:tcPr marT="59267" marR="67733" marB="59267" marL="67733" anchor="t">
                    <a:noFill/>
                  </a:tcPr>
                </a:tc>
                <a:tc>
                  <a:txBody>
                    <a:bodyPr wrap="square"/>
                    <a:lstStyle/>
                    <a:p>
                      <a:pPr algn="l"/>
                      <a:r>
                        <a:rPr sz="1130" b="0" i="0">
                          <a:solidFill>
                            <a:srgbClr val="22232A"/>
                          </a:solidFill>
                          <a:latin typeface="Montserrat"/>
                          <a:ea typeface="Montserrat"/>
                          <a:cs typeface="Montserrat"/>
                        </a:rPr>
                        <a:t>Fixed, sparse star graph in this chip</a:t>
                      </a:r>
                    </a:p>
                  </a:txBody>
                  <a:tcPr marT="59267" marR="67733" marB="59267" marL="67733" anchor="t">
                    <a:noFill/>
                  </a:tcPr>
                </a:tc>
                <a:tc>
                  <a:txBody>
                    <a:bodyPr wrap="square"/>
                    <a:lstStyle/>
                    <a:p>
                      <a:pPr algn="l"/>
                      <a:r>
                        <a:rPr sz="1130" b="0" i="0">
                          <a:solidFill>
                            <a:srgbClr val="22232A"/>
                          </a:solidFill>
                          <a:latin typeface="Montserrat"/>
                          <a:ea typeface="Montserrat"/>
                          <a:cs typeface="Montserrat"/>
                        </a:rPr>
                        <a:t>All-to-all within the five-ion chain</a:t>
                      </a:r>
                    </a:p>
                  </a:txBody>
                  <a:tcPr marT="59267" marR="67733" marB="59267" marL="67733" anchor="t">
                    <a:noFill/>
                  </a:tcPr>
                </a:tc>
              </a:tr>
              <a:tr h="709612">
                <a:tc>
                  <a:txBody>
                    <a:bodyPr wrap="square"/>
                    <a:lstStyle/>
                    <a:p>
                      <a:pPr algn="l"/>
                      <a:r>
                        <a:rPr sz="1130" b="1" i="0">
                          <a:solidFill>
                            <a:srgbClr val="4F3F70"/>
                          </a:solidFill>
                          <a:latin typeface="Montserrat"/>
                          <a:ea typeface="Montserrat"/>
                          <a:cs typeface="Montserrat"/>
                        </a:rPr>
                        <a:t>Physical motion</a:t>
                      </a:r>
                    </a:p>
                  </a:txBody>
                  <a:tcPr marT="59267" marR="67733" marB="59267" marL="67733" anchor="t">
                    <a:noFill/>
                  </a:tcPr>
                </a:tc>
                <a:tc>
                  <a:txBody>
                    <a:bodyPr wrap="square"/>
                    <a:lstStyle/>
                    <a:p>
                      <a:pPr algn="l"/>
                      <a:r>
                        <a:rPr sz="1130" b="0" i="0">
                          <a:solidFill>
                            <a:srgbClr val="22232A"/>
                          </a:solidFill>
                          <a:latin typeface="Montserrat"/>
                          <a:ea typeface="Montserrat"/>
                          <a:cs typeface="Montserrat"/>
                        </a:rPr>
                        <a:t>Qubits stay fixed. Quantum states move through gates.</a:t>
                      </a:r>
                    </a:p>
                  </a:txBody>
                  <a:tcPr marT="59267" marR="67733" marB="59267" marL="67733" anchor="t">
                    <a:noFill/>
                  </a:tcPr>
                </a:tc>
                <a:tc>
                  <a:txBody>
                    <a:bodyPr wrap="square"/>
                    <a:lstStyle/>
                    <a:p>
                      <a:pPr algn="l"/>
                      <a:r>
                        <a:rPr sz="1130" b="0" i="0">
                          <a:solidFill>
                            <a:srgbClr val="22232A"/>
                          </a:solidFill>
                          <a:latin typeface="Montserrat"/>
                          <a:ea typeface="Montserrat"/>
                          <a:cs typeface="Montserrat"/>
                        </a:rPr>
                        <a:t>The chain stayed fixed here. QCCD systems can shuttle and split ions.</a:t>
                      </a:r>
                    </a:p>
                  </a:txBody>
                  <a:tcPr marT="59267" marR="67733" marB="59267" marL="67733" anchor="t">
                    <a:noFill/>
                  </a:tcPr>
                </a:tc>
              </a:tr>
            </a:tbl>
          </a:graphicData>
        </a:graphic>
      </p:graphicFrame>
      <p:sp>
        <p:nvSpPr>
          <p:cNvPr id="9" name="Rectangle 8"/>
          <p:cNvSpPr/>
          <p:nvPr/>
        </p:nvSpPr>
        <p:spPr>
          <a:xfrm>
            <a:off x="575733" y="5550297"/>
            <a:ext cx="11040533" cy="508794"/>
          </a:xfrm>
          <a:prstGeom prst="rect">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75733" y="5550297"/>
            <a:ext cx="33867" cy="508794"/>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5733" y="5550297"/>
            <a:ext cx="11040533" cy="508794"/>
          </a:xfrm>
          <a:prstGeom prst="rect">
            <a:avLst/>
          </a:prstGeom>
          <a:noFill/>
        </p:spPr>
        <p:txBody>
          <a:bodyPr wrap="square" lIns="101600" rIns="101600" tIns="67733" bIns="67733" anchor="t">
            <a:noAutofit/>
          </a:bodyPr>
          <a:lstStyle/>
          <a:p>
            <a:pPr algn="l">
              <a:lnSpc>
                <a:spcPts val="1470"/>
              </a:lnSpc>
            </a:pPr>
            <a:r>
              <a:rPr sz="1180" b="1" i="0">
                <a:solidFill>
                  <a:srgbClr val="302840"/>
                </a:solidFill>
                <a:latin typeface="Montserrat"/>
                <a:ea typeface="Montserrat"/>
                <a:cs typeface="Montserrat"/>
              </a:rPr>
              <a:t>Engineering trade-off:</a:t>
            </a:r>
            <a:r>
              <a:rPr sz="1180" b="0" i="0">
                <a:solidFill>
                  <a:srgbClr val="302840"/>
                </a:solidFill>
                <a:latin typeface="Montserrat"/>
                <a:ea typeface="Montserrat"/>
                <a:cs typeface="Montserrat"/>
              </a:rPr>
              <a:t> Stronger isolation preserves coherence but slows control. Stronger coupling speeds control but opens more noise channels.</a:t>
            </a:r>
          </a:p>
        </p:txBody>
      </p:sp>
      <p:sp>
        <p:nvSpPr>
          <p:cNvPr id="12" name="TextBox 11"/>
          <p:cNvSpPr txBox="1"/>
          <p:nvPr/>
        </p:nvSpPr>
        <p:spPr>
          <a:xfrm>
            <a:off x="575733" y="6092957"/>
            <a:ext cx="11040533" cy="106230"/>
          </a:xfrm>
          <a:prstGeom prst="rect">
            <a:avLst/>
          </a:prstGeom>
          <a:noFill/>
        </p:spPr>
        <p:txBody>
          <a:bodyPr wrap="none" lIns="0" rIns="0" tIns="0" bIns="0" anchor="t">
            <a:noAutofit/>
          </a:bodyPr>
          <a:lstStyle/>
          <a:p>
            <a:pPr algn="l">
              <a:lnSpc>
                <a:spcPts val="840"/>
              </a:lnSpc>
            </a:pPr>
            <a:r>
              <a:rPr sz="730" b="0" i="0">
                <a:solidFill>
                  <a:srgbClr val="6A6370"/>
                </a:solidFill>
                <a:latin typeface="Montserrat"/>
                <a:ea typeface="Montserrat"/>
                <a:cs typeface="Montserrat"/>
              </a:rPr>
              <a:t>Times and connectivity are the measured 2017 devices in Linke et al. Ion shuttling reference: Pino et al., </a:t>
            </a:r>
            <a:r>
              <a:rPr sz="730" b="0" i="1">
                <a:solidFill>
                  <a:srgbClr val="6A6370"/>
                </a:solidFill>
                <a:latin typeface="Montserrat"/>
                <a:ea typeface="Montserrat"/>
                <a:cs typeface="Montserrat"/>
              </a:rPr>
              <a:t>Nature</a:t>
            </a:r>
            <a:r>
              <a:rPr sz="730" b="0" i="0">
                <a:solidFill>
                  <a:srgbClr val="6A6370"/>
                </a:solidFill>
                <a:latin typeface="Montserrat"/>
                <a:ea typeface="Montserrat"/>
                <a:cs typeface="Montserrat"/>
              </a:rPr>
              <a:t> 592, 209 (2021), </a:t>
            </a:r>
            <a:r>
              <a:rPr sz="730" b="0" i="0">
                <a:solidFill>
                  <a:srgbClr val="355C9A"/>
                </a:solidFill>
                <a:latin typeface="Montserrat"/>
                <a:ea typeface="Montserrat"/>
                <a:cs typeface="Montserrat"/>
                <a:hlinkClick r:id="rId4"/>
              </a:rPr>
              <a:t>doi:10.1038/s41586-021-03318-4</a:t>
            </a:r>
            <a:r>
              <a:rPr sz="730" b="0" i="0">
                <a:solidFill>
                  <a:srgbClr val="6A6370"/>
                </a:solidFill>
                <a:latin typeface="Montserrat"/>
                <a:ea typeface="Montserrat"/>
                <a:cs typeface="Montserrat"/>
              </a:rPr>
              <a:t>. </a:t>
            </a:r>
          </a:p>
        </p:txBody>
      </p:sp>
      <p:sp>
        <p:nvSpPr>
          <p:cNvPr id="13" name="Rectangle 12"/>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5" name="TextBox 14"/>
          <p:cNvSpPr txBox="1"/>
          <p:nvPr/>
        </p:nvSpPr>
        <p:spPr>
          <a:xfrm>
            <a:off x="11252994" y="6565900"/>
            <a:ext cx="447940"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10 / 100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8053255" y="324115"/>
            <a:ext cx="3647678"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What Must a Quantum Hardware Platform Actually Do?</a:t>
            </a:r>
          </a:p>
        </p:txBody>
      </p:sp>
      <p:sp>
        <p:nvSpPr>
          <p:cNvPr id="5" name="TextBox 4"/>
          <p:cNvSpPr txBox="1"/>
          <p:nvPr/>
        </p:nvSpPr>
        <p:spPr>
          <a:xfrm>
            <a:off x="575733" y="863600"/>
            <a:ext cx="11040533" cy="873654"/>
          </a:xfrm>
          <a:prstGeom prst="rect">
            <a:avLst/>
          </a:prstGeom>
          <a:noFill/>
        </p:spPr>
        <p:txBody>
          <a:bodyPr wrap="square" lIns="0" rIns="0" tIns="0" bIns="0" anchor="t">
            <a:noAutofit/>
          </a:bodyPr>
          <a:lstStyle/>
          <a:p>
            <a:pPr algn="l">
              <a:lnSpc>
                <a:spcPts val="3440"/>
              </a:lnSpc>
            </a:pPr>
            <a:r>
              <a:rPr sz="2870" b="1" i="0">
                <a:solidFill>
                  <a:srgbClr val="22232A"/>
                </a:solidFill>
                <a:latin typeface="Montserrat"/>
                <a:ea typeface="Montserrat"/>
                <a:cs typeface="Montserrat"/>
              </a:rPr>
              <a:t>Planar Layout and 3D Cavity Solve Different Electromagnetic Problems</a:t>
            </a:r>
          </a:p>
        </p:txBody>
      </p:sp>
      <p:pic>
        <p:nvPicPr>
          <p:cNvPr id="6" name="Cropped paper Figure 1A showing a five-qubit superconducting chip layout" descr="linke-2017-superconducting-layout.jpg"/>
          <p:cNvPicPr>
            <a:picLocks noChangeAspect="1"/>
          </p:cNvPicPr>
          <p:nvPr/>
        </p:nvPicPr>
        <p:blipFill>
          <a:blip r:embed="rId2"/>
          <a:stretch>
            <a:fillRect/>
          </a:stretch>
        </p:blipFill>
        <p:spPr>
          <a:xfrm>
            <a:off x="2105422" y="1889734"/>
            <a:ext cx="2397390" cy="3005508"/>
          </a:xfrm>
          <a:prstGeom prst="rect">
            <a:avLst/>
          </a:prstGeom>
        </p:spPr>
      </p:pic>
      <p:sp>
        <p:nvSpPr>
          <p:cNvPr id="7" name="TextBox 6"/>
          <p:cNvSpPr txBox="1"/>
          <p:nvPr/>
        </p:nvSpPr>
        <p:spPr>
          <a:xfrm>
            <a:off x="575733" y="4954588"/>
            <a:ext cx="5456767" cy="525462"/>
          </a:xfrm>
          <a:prstGeom prst="rect">
            <a:avLst/>
          </a:prstGeom>
          <a:noFill/>
        </p:spPr>
        <p:txBody>
          <a:bodyPr wrap="square" lIns="0" rIns="0" tIns="0" bIns="0" anchor="t">
            <a:noAutofit/>
          </a:bodyPr>
          <a:lstStyle/>
          <a:p>
            <a:pPr algn="l">
              <a:lnSpc>
                <a:spcPts val="1380"/>
              </a:lnSpc>
            </a:pPr>
            <a:r>
              <a:rPr sz="1080" b="1" i="0">
                <a:solidFill>
                  <a:srgbClr val="302840"/>
                </a:solidFill>
                <a:latin typeface="Montserrat"/>
                <a:ea typeface="Montserrat"/>
                <a:cs typeface="Montserrat"/>
              </a:rPr>
              <a:t>Planar chip layout.</a:t>
            </a:r>
            <a:r>
              <a:rPr sz="1080" b="0" i="0">
                <a:solidFill>
                  <a:srgbClr val="5F5865"/>
                </a:solidFill>
                <a:latin typeface="Montserrat"/>
                <a:ea typeface="Montserrat"/>
                <a:cs typeface="Montserrat"/>
              </a:rPr>
              <a:t> Readout resonators, control wiring, coupling graph, and chip edges are all part of the mode structure. Cropped from Figure 1A, Linke et al., </a:t>
            </a:r>
            <a:r>
              <a:rPr sz="1080" b="0" i="1">
                <a:solidFill>
                  <a:srgbClr val="5F5865"/>
                </a:solidFill>
                <a:latin typeface="Montserrat"/>
                <a:ea typeface="Montserrat"/>
                <a:cs typeface="Montserrat"/>
              </a:rPr>
              <a:t>PNAS</a:t>
            </a:r>
            <a:r>
              <a:rPr sz="1080" b="0" i="0">
                <a:solidFill>
                  <a:srgbClr val="5F5865"/>
                </a:solidFill>
                <a:latin typeface="Montserrat"/>
                <a:ea typeface="Montserrat"/>
                <a:cs typeface="Montserrat"/>
              </a:rPr>
              <a:t> (2017), </a:t>
            </a:r>
            <a:r>
              <a:rPr sz="1080" b="0" i="0">
                <a:solidFill>
                  <a:srgbClr val="355C9A"/>
                </a:solidFill>
                <a:latin typeface="Montserrat"/>
                <a:ea typeface="Montserrat"/>
                <a:cs typeface="Montserrat"/>
                <a:hlinkClick r:id="rId3"/>
              </a:rPr>
              <a:t>DOI</a:t>
            </a:r>
            <a:r>
              <a:rPr sz="1080" b="0" i="0">
                <a:solidFill>
                  <a:srgbClr val="5F5865"/>
                </a:solidFill>
                <a:latin typeface="Montserrat"/>
                <a:ea typeface="Montserrat"/>
                <a:cs typeface="Montserrat"/>
              </a:rPr>
              <a:t>. </a:t>
            </a:r>
          </a:p>
        </p:txBody>
      </p:sp>
      <p:pic>
        <p:nvPicPr>
          <p:cNvPr id="8" name="Paik et al. Figure 1 showing a transmon inside a machined three-dimensional micr" descr="paik-2011-fig1-3d-cqed.png"/>
          <p:cNvPicPr>
            <a:picLocks noChangeAspect="1"/>
          </p:cNvPicPr>
          <p:nvPr/>
        </p:nvPicPr>
        <p:blipFill>
          <a:blip r:embed="rId4"/>
          <a:stretch>
            <a:fillRect/>
          </a:stretch>
        </p:blipFill>
        <p:spPr>
          <a:xfrm>
            <a:off x="7090966" y="1889684"/>
            <a:ext cx="3593835" cy="3005607"/>
          </a:xfrm>
          <a:prstGeom prst="rect">
            <a:avLst/>
          </a:prstGeom>
        </p:spPr>
      </p:pic>
      <p:sp>
        <p:nvSpPr>
          <p:cNvPr id="9" name="TextBox 8"/>
          <p:cNvSpPr txBox="1"/>
          <p:nvPr/>
        </p:nvSpPr>
        <p:spPr>
          <a:xfrm>
            <a:off x="6159500" y="4954588"/>
            <a:ext cx="5456767" cy="700617"/>
          </a:xfrm>
          <a:prstGeom prst="rect">
            <a:avLst/>
          </a:prstGeom>
          <a:noFill/>
        </p:spPr>
        <p:txBody>
          <a:bodyPr wrap="square" lIns="0" rIns="0" tIns="0" bIns="0" anchor="t">
            <a:noAutofit/>
          </a:bodyPr>
          <a:lstStyle/>
          <a:p>
            <a:pPr algn="l">
              <a:lnSpc>
                <a:spcPts val="1380"/>
              </a:lnSpc>
            </a:pPr>
            <a:r>
              <a:rPr sz="1080" b="1" i="0">
                <a:solidFill>
                  <a:srgbClr val="302840"/>
                </a:solidFill>
                <a:latin typeface="Montserrat"/>
                <a:ea typeface="Montserrat"/>
                <a:cs typeface="Montserrat"/>
              </a:rPr>
              <a:t>3D circuit QED.</a:t>
            </a:r>
            <a:r>
              <a:rPr sz="1080" b="0" i="0">
                <a:solidFill>
                  <a:srgbClr val="5F5865"/>
                </a:solidFill>
                <a:latin typeface="Montserrat"/>
                <a:ea typeface="Montserrat"/>
                <a:cs typeface="Montserrat"/>
              </a:rPr>
              <a:t> The enclosure itself becomes the resonator. The photograph and micrograph show the centimetre cavity and transmon antenna; panel c shows the nonlinear cavity response.</a:t>
            </a:r>
          </a:p>
          <a:p>
            <a:pPr algn="l">
              <a:lnSpc>
                <a:spcPts val="1380"/>
              </a:lnSpc>
            </a:pPr>
            <a:r>
              <a:rPr sz="1080" b="0" i="0">
                <a:solidFill>
                  <a:srgbClr val="5F5865"/>
                </a:solidFill>
                <a:latin typeface="Montserrat"/>
                <a:ea typeface="Montserrat"/>
                <a:cs typeface="Montserrat"/>
              </a:rPr>
              <a:t> Figure 1, Paik et al., </a:t>
            </a:r>
            <a:r>
              <a:rPr sz="1080" b="0" i="1">
                <a:solidFill>
                  <a:srgbClr val="5F5865"/>
                </a:solidFill>
                <a:latin typeface="Montserrat"/>
                <a:ea typeface="Montserrat"/>
                <a:cs typeface="Montserrat"/>
              </a:rPr>
              <a:t>Phys. Rev. Lett.</a:t>
            </a:r>
            <a:r>
              <a:rPr sz="1080" b="0" i="0">
                <a:solidFill>
                  <a:srgbClr val="5F5865"/>
                </a:solidFill>
                <a:latin typeface="Montserrat"/>
                <a:ea typeface="Montserrat"/>
                <a:cs typeface="Montserrat"/>
              </a:rPr>
              <a:t> 107, 240501 (2011), </a:t>
            </a:r>
            <a:r>
              <a:rPr sz="1080" b="0" i="0">
                <a:solidFill>
                  <a:srgbClr val="355C9A"/>
                </a:solidFill>
                <a:latin typeface="Montserrat"/>
                <a:ea typeface="Montserrat"/>
                <a:cs typeface="Montserrat"/>
                <a:hlinkClick r:id="rId5"/>
              </a:rPr>
              <a:t>DOI</a:t>
            </a:r>
            <a:r>
              <a:rPr sz="1080" b="0" i="0">
                <a:solidFill>
                  <a:srgbClr val="5F5865"/>
                </a:solidFill>
                <a:latin typeface="Montserrat"/>
                <a:ea typeface="Montserrat"/>
                <a:cs typeface="Montserrat"/>
              </a:rPr>
              <a:t>. </a:t>
            </a:r>
          </a:p>
        </p:txBody>
      </p:sp>
      <p:sp>
        <p:nvSpPr>
          <p:cNvPr id="10" name="Rectangle 9"/>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2" name="TextBox 11"/>
          <p:cNvSpPr txBox="1"/>
          <p:nvPr/>
        </p:nvSpPr>
        <p:spPr>
          <a:xfrm>
            <a:off x="11286993" y="6565900"/>
            <a:ext cx="413941"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11 / 100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152400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652455" y="0"/>
            <a:ext cx="5579930" cy="4042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Annotated IBM five-qubit processor" descr="club2-p82-ibm-5qubit-processor.png"/>
          <p:cNvPicPr>
            <a:picLocks noChangeAspect="1"/>
          </p:cNvPicPr>
          <p:nvPr/>
        </p:nvPicPr>
        <p:blipFill>
          <a:blip r:embed="rId2"/>
          <a:srcRect l="339" r="339" t="0" b="0"/>
          <a:stretch>
            <a:fillRect/>
          </a:stretch>
        </p:blipFill>
        <p:spPr>
          <a:xfrm>
            <a:off x="1652455" y="0"/>
            <a:ext cx="5579930" cy="4042040"/>
          </a:xfrm>
          <a:prstGeom prst="rect">
            <a:avLst/>
          </a:prstGeom>
        </p:spPr>
      </p:pic>
      <p:sp>
        <p:nvSpPr>
          <p:cNvPr id="6" name="Rectangle 5"/>
          <p:cNvSpPr/>
          <p:nvPr/>
        </p:nvSpPr>
        <p:spPr>
          <a:xfrm>
            <a:off x="1652455" y="4093236"/>
            <a:ext cx="5579930" cy="2713302"/>
          </a:xfrm>
          <a:prstGeom prst="rect">
            <a:avLst/>
          </a:prstGeom>
          <a:solidFill>
            <a:srgbClr val="FFFFFF"/>
          </a:solidFill>
          <a:ln w="25400">
            <a:solidFill>
              <a:srgbClr val="F014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Enlarged annotated qubit cell" descr="club2-p82-qubit-cell.png"/>
          <p:cNvPicPr>
            <a:picLocks noChangeAspect="1"/>
          </p:cNvPicPr>
          <p:nvPr/>
        </p:nvPicPr>
        <p:blipFill>
          <a:blip r:embed="rId3"/>
          <a:srcRect t="17882" b="17882"/>
          <a:stretch>
            <a:fillRect/>
          </a:stretch>
        </p:blipFill>
        <p:spPr>
          <a:xfrm>
            <a:off x="1677855" y="4118636"/>
            <a:ext cx="5529130" cy="2662502"/>
          </a:xfrm>
          <a:prstGeom prst="rect">
            <a:avLst/>
          </a:prstGeom>
        </p:spPr>
      </p:pic>
      <p:sp>
        <p:nvSpPr>
          <p:cNvPr id="8" name="Rectangle 7"/>
          <p:cNvSpPr/>
          <p:nvPr/>
        </p:nvSpPr>
        <p:spPr>
          <a:xfrm>
            <a:off x="7543800" y="0"/>
            <a:ext cx="2375958" cy="35522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Transmon circuit and anharmonic energy spectrum" descr="club2-p82-transmon-spectrum.jpeg"/>
          <p:cNvPicPr>
            <a:picLocks noChangeAspect="1"/>
          </p:cNvPicPr>
          <p:nvPr/>
        </p:nvPicPr>
        <p:blipFill>
          <a:blip r:embed="rId4"/>
          <a:srcRect l="25000" r="25000" t="0" b="0"/>
          <a:stretch>
            <a:fillRect/>
          </a:stretch>
        </p:blipFill>
        <p:spPr>
          <a:xfrm>
            <a:off x="7543800" y="0"/>
            <a:ext cx="2375958" cy="3552296"/>
          </a:xfrm>
          <a:prstGeom prst="rect">
            <a:avLst/>
          </a:prstGeom>
        </p:spPr>
      </p:pic>
      <p:sp>
        <p:nvSpPr>
          <p:cNvPr id="10" name="Rectangle 9"/>
          <p:cNvSpPr/>
          <p:nvPr/>
        </p:nvSpPr>
        <p:spPr>
          <a:xfrm>
            <a:off x="7543800" y="3576637"/>
            <a:ext cx="2375958" cy="19081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Josephson junction structure with a nanometre insulating barrier" descr="club2-p82-jj-structures.jpeg"/>
          <p:cNvPicPr>
            <a:picLocks noChangeAspect="1"/>
          </p:cNvPicPr>
          <p:nvPr/>
        </p:nvPicPr>
        <p:blipFill>
          <a:blip r:embed="rId5"/>
          <a:srcRect l="34704" r="34704"/>
          <a:stretch>
            <a:fillRect/>
          </a:stretch>
        </p:blipFill>
        <p:spPr>
          <a:xfrm>
            <a:off x="7543800" y="3576637"/>
            <a:ext cx="2375958" cy="1908175"/>
          </a:xfrm>
          <a:prstGeom prst="rect">
            <a:avLst/>
          </a:prstGeom>
        </p:spPr>
      </p:pic>
      <p:sp>
        <p:nvSpPr>
          <p:cNvPr id="12" name="Rectangle 11"/>
          <p:cNvSpPr/>
          <p:nvPr/>
        </p:nvSpPr>
        <p:spPr>
          <a:xfrm>
            <a:off x="7543800" y="5509154"/>
            <a:ext cx="2375958" cy="133482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False-color junction micrograph" descr="club2-p82-niobium-junction.png"/>
          <p:cNvPicPr>
            <a:picLocks noChangeAspect="1"/>
          </p:cNvPicPr>
          <p:nvPr/>
        </p:nvPicPr>
        <p:blipFill>
          <a:blip r:embed="rId6"/>
          <a:srcRect l="1" r="1"/>
          <a:stretch>
            <a:fillRect/>
          </a:stretch>
        </p:blipFill>
        <p:spPr>
          <a:xfrm>
            <a:off x="7543800" y="5509154"/>
            <a:ext cx="2375958" cy="1334823"/>
          </a:xfrm>
          <a:prstGeom prst="rect">
            <a:avLst/>
          </a:prstGeom>
        </p:spPr>
      </p:pic>
      <p:sp>
        <p:nvSpPr>
          <p:cNvPr id="14" name="Rounded Rectangle 13"/>
          <p:cNvSpPr/>
          <p:nvPr/>
        </p:nvSpPr>
        <p:spPr>
          <a:xfrm>
            <a:off x="2605881" y="2149872"/>
            <a:ext cx="635132" cy="635132"/>
          </a:xfrm>
          <a:prstGeom prst="roundRect">
            <a:avLst>
              <a:gd name="adj" fmla="val 50000"/>
            </a:avLst>
          </a:prstGeom>
          <a:noFill/>
          <a:ln w="25400">
            <a:solidFill>
              <a:srgbClr val="F014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rot="7242001">
            <a:off x="1195665" y="3270247"/>
            <a:ext cx="1867165" cy="25400"/>
          </a:xfrm>
          <a:prstGeom prst="rect">
            <a:avLst/>
          </a:prstGeom>
          <a:solidFill>
            <a:srgbClr val="F0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rot="1314001">
            <a:off x="3085917" y="3269825"/>
            <a:ext cx="4302125" cy="25400"/>
          </a:xfrm>
          <a:prstGeom prst="rect">
            <a:avLst/>
          </a:prstGeom>
          <a:solidFill>
            <a:srgbClr val="F0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982200" y="68527"/>
            <a:ext cx="621771" cy="6720814"/>
          </a:xfrm>
          <a:prstGeom prst="rect">
            <a:avLst/>
          </a:prstGeom>
          <a:noFill/>
        </p:spPr>
        <p:txBody>
          <a:bodyPr wrap="square" lIns="0" rIns="0" tIns="0" bIns="0" anchor="t" vert="vert">
            <a:noAutofit/>
          </a:bodyPr>
          <a:lstStyle/>
          <a:p>
            <a:pPr algn="l">
              <a:lnSpc>
                <a:spcPts val="560"/>
              </a:lnSpc>
            </a:pPr>
            <a:r>
              <a:rPr sz="500" b="0" i="0">
                <a:solidFill>
                  <a:srgbClr val="4F4855"/>
                </a:solidFill>
                <a:latin typeface="Montserrat"/>
                <a:ea typeface="Montserrat"/>
                <a:cs typeface="Montserrat"/>
                <a:hlinkClick r:id="rId7"/>
              </a:rPr>
              <a:t>https://www.researchgate.net/figure/An-image-of-IBMs-five-qubit-processor-with-its-main-elements-highlighted-including-the_fig4_358153899</a:t>
            </a:r>
            <a:r>
              <a:rPr sz="500" b="0" i="0">
                <a:solidFill>
                  <a:srgbClr val="4F4855"/>
                </a:solidFill>
                <a:latin typeface="Montserrat"/>
                <a:ea typeface="Montserrat"/>
                <a:cs typeface="Montserrat"/>
              </a:rPr>
              <a:t> · </a:t>
            </a:r>
            <a:r>
              <a:rPr sz="500" b="0" i="0">
                <a:solidFill>
                  <a:srgbClr val="4F4855"/>
                </a:solidFill>
                <a:latin typeface="Montserrat"/>
                <a:ea typeface="Montserrat"/>
                <a:cs typeface="Montserrat"/>
                <a:hlinkClick r:id="rId8"/>
              </a:rPr>
              <a:t>https://www.youtube.com/watch?v=2pB87H3_F_c</a:t>
            </a:r>
            <a:r>
              <a:rPr sz="500" b="0" i="0">
                <a:solidFill>
                  <a:srgbClr val="4F4855"/>
                </a:solidFill>
                <a:latin typeface="Montserrat"/>
                <a:ea typeface="Montserrat"/>
                <a:cs typeface="Montserrat"/>
              </a:rPr>
              <a:t> · </a:t>
            </a:r>
            <a:r>
              <a:rPr sz="500" b="0" i="0">
                <a:solidFill>
                  <a:srgbClr val="4F4855"/>
                </a:solidFill>
                <a:latin typeface="Montserrat"/>
                <a:ea typeface="Montserrat"/>
                <a:cs typeface="Montserrat"/>
                <a:hlinkClick r:id="rId9"/>
              </a:rPr>
              <a:t>https://www.anl.gov/article/resurrecting-niobium-for-quantum-science</a:t>
            </a:r>
            <a:r>
              <a:rPr sz="500" b="0" i="0">
                <a:solidFill>
                  <a:srgbClr val="4F4855"/>
                </a:solidFill>
                <a:latin typeface="Montserrat"/>
                <a:ea typeface="Montserrat"/>
                <a:cs typeface="Montserrat"/>
              </a:rPr>
              <a:t> · Ref: </a:t>
            </a:r>
            <a:r>
              <a:rPr sz="500" b="0" i="0">
                <a:solidFill>
                  <a:srgbClr val="4F4855"/>
                </a:solidFill>
                <a:latin typeface="Montserrat"/>
                <a:ea typeface="Montserrat"/>
                <a:cs typeface="Montserrat"/>
                <a:hlinkClick r:id="rId10"/>
              </a:rPr>
              <a:t>10.1557/mrs.2013.229</a:t>
            </a:r>
            <a:r>
              <a:rPr sz="500" b="0" i="0">
                <a:solidFill>
                  <a:srgbClr val="4F4855"/>
                </a:solidFill>
                <a:latin typeface="Montserrat"/>
                <a:ea typeface="Montserrat"/>
                <a:cs typeface="Montserrat"/>
              </a:rPr>
              <a:t> · </a:t>
            </a:r>
            <a:r>
              <a:rPr sz="500" b="0" i="0">
                <a:solidFill>
                  <a:srgbClr val="4F4855"/>
                </a:solidFill>
                <a:latin typeface="Montserrat"/>
                <a:ea typeface="Montserrat"/>
                <a:cs typeface="Montserrat"/>
                <a:hlinkClick r:id="rId11"/>
              </a:rPr>
              <a:t>https://electronics360.globalspec.com/article/13553/how-quantum-computers-work</a:t>
            </a:r>
            <a:r>
              <a:rPr sz="500" b="0" i="0">
                <a:solidFill>
                  <a:srgbClr val="4F4855"/>
                </a:solidFill>
                <a:latin typeface="Montserrat"/>
                <a:ea typeface="Montserrat"/>
                <a:cs typeface="Montserrat"/>
              </a:rPr>
              <a:t>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6604000" cy="4529667"/>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Annotated IBM five-qubit processor" descr="club2-p82-ibm-5qubit-processor.png"/>
          <p:cNvPicPr>
            <a:picLocks noChangeAspect="1"/>
          </p:cNvPicPr>
          <p:nvPr/>
        </p:nvPicPr>
        <p:blipFill>
          <a:blip r:embed="rId2"/>
          <a:stretch>
            <a:fillRect/>
          </a:stretch>
        </p:blipFill>
        <p:spPr>
          <a:xfrm>
            <a:off x="154136" y="0"/>
            <a:ext cx="6295728" cy="4529667"/>
          </a:xfrm>
          <a:prstGeom prst="rect">
            <a:avLst/>
          </a:prstGeom>
        </p:spPr>
      </p:pic>
      <p:sp>
        <p:nvSpPr>
          <p:cNvPr id="5" name="Rectangle 4"/>
          <p:cNvSpPr/>
          <p:nvPr/>
        </p:nvSpPr>
        <p:spPr>
          <a:xfrm>
            <a:off x="0" y="4529667"/>
            <a:ext cx="6604000" cy="2328333"/>
          </a:xfrm>
          <a:prstGeom prst="rect">
            <a:avLst/>
          </a:prstGeom>
          <a:solidFill>
            <a:srgbClr val="000000"/>
          </a:solidFill>
          <a:ln w="25400">
            <a:solidFill>
              <a:srgbClr val="F014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Enlarged annotated qubit cell" descr="club2-p82-qubit-cell.png"/>
          <p:cNvPicPr>
            <a:picLocks noChangeAspect="1"/>
          </p:cNvPicPr>
          <p:nvPr/>
        </p:nvPicPr>
        <p:blipFill>
          <a:blip r:embed="rId3"/>
          <a:stretch>
            <a:fillRect/>
          </a:stretch>
        </p:blipFill>
        <p:spPr>
          <a:xfrm>
            <a:off x="1782903" y="4555067"/>
            <a:ext cx="3038194" cy="2277533"/>
          </a:xfrm>
          <a:prstGeom prst="rect">
            <a:avLst/>
          </a:prstGeom>
        </p:spPr>
      </p:pic>
      <p:pic>
        <p:nvPicPr>
          <p:cNvPr id="7" name="Four-panel micrograph of an Al/AlOx/Al Josephson junction: chip-level overview, " descr="Al-JJ-TEM.png"/>
          <p:cNvPicPr>
            <a:picLocks noChangeAspect="1"/>
          </p:cNvPicPr>
          <p:nvPr/>
        </p:nvPicPr>
        <p:blipFill>
          <a:blip r:embed="rId4"/>
          <a:stretch>
            <a:fillRect/>
          </a:stretch>
        </p:blipFill>
        <p:spPr>
          <a:xfrm>
            <a:off x="6604000" y="958"/>
            <a:ext cx="5588000" cy="3604884"/>
          </a:xfrm>
          <a:prstGeom prst="rect">
            <a:avLst/>
          </a:prstGeom>
        </p:spPr>
      </p:pic>
      <p:sp>
        <p:nvSpPr>
          <p:cNvPr id="8" name="TextBox 7"/>
          <p:cNvSpPr txBox="1"/>
          <p:nvPr/>
        </p:nvSpPr>
        <p:spPr>
          <a:xfrm>
            <a:off x="6604000" y="3691467"/>
            <a:ext cx="5588000" cy="519906"/>
          </a:xfrm>
          <a:prstGeom prst="rect">
            <a:avLst/>
          </a:prstGeom>
          <a:noFill/>
        </p:spPr>
        <p:txBody>
          <a:bodyPr wrap="square" lIns="0" rIns="33867" tIns="0" bIns="0" anchor="t">
            <a:noAutofit/>
          </a:bodyPr>
          <a:lstStyle/>
          <a:p>
            <a:pPr algn="l">
              <a:lnSpc>
                <a:spcPts val="1370"/>
              </a:lnSpc>
            </a:pPr>
            <a:r>
              <a:rPr sz="1070" b="0" i="0">
                <a:solidFill>
                  <a:srgbClr val="4F4855"/>
                </a:solidFill>
                <a:latin typeface="Montserrat"/>
                <a:ea typeface="Montserrat"/>
                <a:cs typeface="Montserrat"/>
              </a:rPr>
              <a:t>Zooming into the junction: the cross-sectional TEM (d) shows the Pt cap, C cap, Top-Al, the ~1 nm AlO</a:t>
            </a:r>
            <a:r>
              <a:rPr sz="800" b="0" i="0" baseline="-25000">
                <a:solidFill>
                  <a:srgbClr val="4F4855"/>
                </a:solidFill>
                <a:latin typeface="Montserrat"/>
                <a:ea typeface="Montserrat"/>
                <a:cs typeface="Montserrat"/>
              </a:rPr>
              <a:t>x</a:t>
            </a:r>
            <a:r>
              <a:rPr sz="1070" b="0" i="0">
                <a:solidFill>
                  <a:srgbClr val="4F4855"/>
                </a:solidFill>
                <a:latin typeface="Montserrat"/>
                <a:ea typeface="Montserrat"/>
                <a:cs typeface="Montserrat"/>
              </a:rPr>
              <a:t> tunnel barrier, Bottom Al on Si, with interfacial defects (blue arrows).</a:t>
            </a:r>
          </a:p>
        </p:txBody>
      </p:sp>
      <p:sp>
        <p:nvSpPr>
          <p:cNvPr id="9" name="Rounded Rectangle 8"/>
          <p:cNvSpPr/>
          <p:nvPr/>
        </p:nvSpPr>
        <p:spPr>
          <a:xfrm>
            <a:off x="1083733" y="2616200"/>
            <a:ext cx="609600" cy="609600"/>
          </a:xfrm>
          <a:prstGeom prst="roundRect">
            <a:avLst>
              <a:gd name="adj" fmla="val 50000"/>
            </a:avLst>
          </a:prstGeom>
          <a:noFill/>
          <a:ln w="25400">
            <a:solidFill>
              <a:srgbClr val="F014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rot="7848001">
            <a:off x="-315322" y="3841105"/>
            <a:ext cx="1820333" cy="25400"/>
          </a:xfrm>
          <a:prstGeom prst="rect">
            <a:avLst/>
          </a:prstGeom>
          <a:solidFill>
            <a:srgbClr val="F0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rot="1032000">
            <a:off x="1564487" y="3772550"/>
            <a:ext cx="5152760" cy="25400"/>
          </a:xfrm>
          <a:prstGeom prst="rect">
            <a:avLst/>
          </a:prstGeom>
          <a:solidFill>
            <a:srgbClr val="F0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773333" y="6417733"/>
            <a:ext cx="5249333" cy="372533"/>
          </a:xfrm>
          <a:prstGeom prst="rect">
            <a:avLst/>
          </a:prstGeom>
          <a:noFill/>
        </p:spPr>
        <p:txBody>
          <a:bodyPr wrap="square" lIns="0" rIns="0" tIns="0" bIns="0" anchor="t">
            <a:noAutofit/>
          </a:bodyPr>
          <a:lstStyle/>
          <a:p>
            <a:pPr algn="r">
              <a:lnSpc>
                <a:spcPts val="710"/>
              </a:lnSpc>
            </a:pPr>
            <a:r>
              <a:rPr sz="600" b="0" i="0">
                <a:solidFill>
                  <a:srgbClr val="4F4855"/>
                </a:solidFill>
                <a:latin typeface="Montserrat"/>
                <a:ea typeface="Montserrat"/>
                <a:cs typeface="Montserrat"/>
              </a:rPr>
              <a:t> Sources: </a:t>
            </a:r>
            <a:r>
              <a:rPr sz="600" b="0" i="0">
                <a:solidFill>
                  <a:srgbClr val="4F4855"/>
                </a:solidFill>
                <a:latin typeface="Montserrat"/>
                <a:ea typeface="Montserrat"/>
                <a:cs typeface="Montserrat"/>
                <a:hlinkClick r:id="rId5"/>
              </a:rPr>
              <a:t>IBM processor image</a:t>
            </a:r>
            <a:r>
              <a:rPr sz="600" b="0" i="0">
                <a:solidFill>
                  <a:srgbClr val="4F4855"/>
                </a:solidFill>
                <a:latin typeface="Montserrat"/>
                <a:ea typeface="Montserrat"/>
                <a:cs typeface="Montserrat"/>
              </a:rPr>
              <a:t> · </a:t>
            </a:r>
            <a:r>
              <a:rPr sz="600" b="0" i="0">
                <a:solidFill>
                  <a:srgbClr val="4F4855"/>
                </a:solidFill>
                <a:latin typeface="Montserrat"/>
                <a:ea typeface="Montserrat"/>
                <a:cs typeface="Montserrat"/>
                <a:hlinkClick r:id="rId6"/>
              </a:rPr>
              <a:t>IBM qubit-cell schematic</a:t>
            </a:r>
            <a:r>
              <a:rPr sz="600" b="0" i="0">
                <a:solidFill>
                  <a:srgbClr val="4F4855"/>
                </a:solidFill>
                <a:latin typeface="Montserrat"/>
                <a:ea typeface="Montserrat"/>
                <a:cs typeface="Montserrat"/>
              </a:rPr>
              <a:t> · </a:t>
            </a:r>
            <a:r>
              <a:rPr sz="600" b="0" i="0">
                <a:solidFill>
                  <a:srgbClr val="4F4855"/>
                </a:solidFill>
                <a:latin typeface="Montserrat"/>
                <a:ea typeface="Montserrat"/>
                <a:cs typeface="Montserrat"/>
                <a:hlinkClick r:id="rId7"/>
              </a:rPr>
              <a:t>Argonne niobium-junction article</a:t>
            </a:r>
            <a:r>
              <a:rPr sz="600" b="0" i="0">
                <a:solidFill>
                  <a:srgbClr val="4F4855"/>
                </a:solidFill>
                <a:latin typeface="Montserrat"/>
                <a:ea typeface="Montserrat"/>
                <a:cs typeface="Montserrat"/>
              </a:rPr>
              <a:t> · </a:t>
            </a:r>
            <a:r>
              <a:rPr sz="600" b="0" i="0">
                <a:solidFill>
                  <a:srgbClr val="4F4855"/>
                </a:solidFill>
                <a:latin typeface="Montserrat"/>
                <a:ea typeface="Montserrat"/>
                <a:cs typeface="Montserrat"/>
                <a:hlinkClick r:id="rId8"/>
              </a:rPr>
              <a:t>Al/AlO</a:t>
            </a:r>
            <a:r>
              <a:rPr sz="450" b="0" i="0" baseline="-25000">
                <a:solidFill>
                  <a:srgbClr val="4F4855"/>
                </a:solidFill>
                <a:latin typeface="Montserrat"/>
                <a:ea typeface="Montserrat"/>
                <a:cs typeface="Montserrat"/>
                <a:hlinkClick r:id="rId8"/>
              </a:rPr>
              <a:t>x</a:t>
            </a:r>
            <a:r>
              <a:rPr sz="600" b="0" i="0">
                <a:solidFill>
                  <a:srgbClr val="4F4855"/>
                </a:solidFill>
                <a:latin typeface="Montserrat"/>
                <a:ea typeface="Montserrat"/>
                <a:cs typeface="Montserrat"/>
                <a:hlinkClick r:id="rId8"/>
              </a:rPr>
              <a:t>/Al TEM, DOI: 10.1557/mrs.2013.229</a:t>
            </a:r>
            <a:r>
              <a:rPr sz="600" b="0" i="0">
                <a:solidFill>
                  <a:srgbClr val="4F4855"/>
                </a:solidFill>
                <a:latin typeface="Montserrat"/>
                <a:ea typeface="Montserrat"/>
                <a:cs typeface="Montserrat"/>
              </a:rPr>
              <a:t> · </a:t>
            </a:r>
            <a:r>
              <a:rPr sz="600" b="0" i="0">
                <a:solidFill>
                  <a:srgbClr val="4F4855"/>
                </a:solidFill>
                <a:latin typeface="Montserrat"/>
                <a:ea typeface="Montserrat"/>
                <a:cs typeface="Montserrat"/>
                <a:hlinkClick r:id="rId9"/>
              </a:rPr>
              <a:t>Electronics360 overview</a:t>
            </a:r>
            <a:r>
              <a:rPr sz="600" b="0" i="0">
                <a:solidFill>
                  <a:srgbClr val="4F4855"/>
                </a:solidFill>
                <a:latin typeface="Montserrat"/>
                <a:ea typeface="Montserrat"/>
                <a:cs typeface="Montserrat"/>
              </a:rPr>
              <a:t>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040011" y="324115"/>
            <a:ext cx="1660922"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IBM Five-Qubit Processor</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Five Qubits Share Readout and Bus Resonators</a:t>
            </a:r>
          </a:p>
        </p:txBody>
      </p:sp>
      <p:pic>
        <p:nvPicPr>
          <p:cNvPr id="6" name="Annotated image of IBM's five-qubit processor showing qubits, bus resonators, an" descr="club2-p82-ibm-5qubit-processor.png"/>
          <p:cNvPicPr>
            <a:picLocks noChangeAspect="1"/>
          </p:cNvPicPr>
          <p:nvPr/>
        </p:nvPicPr>
        <p:blipFill>
          <a:blip r:embed="rId2"/>
          <a:stretch>
            <a:fillRect/>
          </a:stretch>
        </p:blipFill>
        <p:spPr>
          <a:xfrm>
            <a:off x="1754320" y="1452855"/>
            <a:ext cx="4589330" cy="3301943"/>
          </a:xfrm>
          <a:prstGeom prst="rect">
            <a:avLst/>
          </a:prstGeom>
        </p:spPr>
      </p:pic>
      <p:sp>
        <p:nvSpPr>
          <p:cNvPr id="7" name="TextBox 6"/>
          <p:cNvSpPr txBox="1"/>
          <p:nvPr/>
        </p:nvSpPr>
        <p:spPr>
          <a:xfrm>
            <a:off x="575733" y="4805627"/>
            <a:ext cx="6946635" cy="334962"/>
          </a:xfrm>
          <a:prstGeom prst="rect">
            <a:avLst/>
          </a:prstGeom>
          <a:noFill/>
        </p:spPr>
        <p:txBody>
          <a:bodyPr wrap="square" lIns="0" rIns="0" tIns="0" bIns="0" anchor="t">
            <a:noAutofit/>
          </a:bodyPr>
          <a:lstStyle/>
          <a:p>
            <a:pPr algn="ctr">
              <a:lnSpc>
                <a:spcPts val="1320"/>
              </a:lnSpc>
            </a:pPr>
            <a:r>
              <a:rPr sz="1060" b="0" i="0">
                <a:solidFill>
                  <a:srgbClr val="5F5865"/>
                </a:solidFill>
                <a:latin typeface="Montserrat"/>
                <a:ea typeface="Montserrat"/>
                <a:cs typeface="Montserrat"/>
              </a:rPr>
              <a:t>IBM's five-qubit processor. Red regions mark qubits, yellow identifies the shared bus, and blue identifies control and readout resonators.</a:t>
            </a:r>
          </a:p>
        </p:txBody>
      </p:sp>
      <p:sp>
        <p:nvSpPr>
          <p:cNvPr id="8" name="Rectangle 7"/>
          <p:cNvSpPr/>
          <p:nvPr/>
        </p:nvSpPr>
        <p:spPr>
          <a:xfrm>
            <a:off x="7708635" y="1693598"/>
            <a:ext cx="33867" cy="696912"/>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52569" y="1693598"/>
            <a:ext cx="3763698" cy="223837"/>
          </a:xfrm>
          <a:prstGeom prst="rect">
            <a:avLst/>
          </a:prstGeom>
          <a:noFill/>
        </p:spPr>
        <p:txBody>
          <a:bodyPr wrap="none" lIns="0" rIns="0" tIns="0" bIns="0" anchor="t">
            <a:noAutofit/>
          </a:bodyPr>
          <a:lstStyle/>
          <a:p>
            <a:pPr algn="l">
              <a:lnSpc>
                <a:spcPts val="1760"/>
              </a:lnSpc>
            </a:pPr>
            <a:r>
              <a:rPr sz="1320" b="1" i="0">
                <a:solidFill>
                  <a:srgbClr val="302840"/>
                </a:solidFill>
                <a:latin typeface="Montserrat"/>
                <a:ea typeface="Montserrat"/>
                <a:cs typeface="Montserrat"/>
              </a:rPr>
              <a:t>Each qubit occupies a local circuit cell.</a:t>
            </a:r>
          </a:p>
        </p:txBody>
      </p:sp>
      <p:sp>
        <p:nvSpPr>
          <p:cNvPr id="10" name="Rectangle 9"/>
          <p:cNvSpPr/>
          <p:nvPr/>
        </p:nvSpPr>
        <p:spPr>
          <a:xfrm>
            <a:off x="7708635" y="2500577"/>
            <a:ext cx="33867" cy="1144588"/>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852569" y="2500577"/>
            <a:ext cx="3763698" cy="447675"/>
          </a:xfrm>
          <a:prstGeom prst="rect">
            <a:avLst/>
          </a:prstGeom>
          <a:noFill/>
        </p:spPr>
        <p:txBody>
          <a:bodyPr wrap="square" lIns="0" rIns="0" tIns="0" bIns="0" anchor="t">
            <a:noAutofit/>
          </a:bodyPr>
          <a:lstStyle/>
          <a:p>
            <a:pPr algn="l">
              <a:lnSpc>
                <a:spcPts val="1760"/>
              </a:lnSpc>
            </a:pPr>
            <a:r>
              <a:rPr sz="1320" b="1" i="0">
                <a:solidFill>
                  <a:srgbClr val="302840"/>
                </a:solidFill>
                <a:latin typeface="Montserrat"/>
                <a:ea typeface="Montserrat"/>
                <a:cs typeface="Montserrat"/>
              </a:rPr>
              <a:t>The bus resonator provides shared coupling.</a:t>
            </a:r>
          </a:p>
        </p:txBody>
      </p:sp>
      <p:sp>
        <p:nvSpPr>
          <p:cNvPr id="12" name="Rectangle 11"/>
          <p:cNvSpPr/>
          <p:nvPr/>
        </p:nvSpPr>
        <p:spPr>
          <a:xfrm>
            <a:off x="7708635" y="3755231"/>
            <a:ext cx="33867" cy="1144588"/>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852569" y="3755231"/>
            <a:ext cx="3763698" cy="447675"/>
          </a:xfrm>
          <a:prstGeom prst="rect">
            <a:avLst/>
          </a:prstGeom>
          <a:noFill/>
        </p:spPr>
        <p:txBody>
          <a:bodyPr wrap="square" lIns="0" rIns="0" tIns="0" bIns="0" anchor="t">
            <a:noAutofit/>
          </a:bodyPr>
          <a:lstStyle/>
          <a:p>
            <a:pPr algn="l">
              <a:lnSpc>
                <a:spcPts val="1760"/>
              </a:lnSpc>
            </a:pPr>
            <a:r>
              <a:rPr sz="1320" b="1" i="0">
                <a:solidFill>
                  <a:srgbClr val="302840"/>
                </a:solidFill>
                <a:latin typeface="Montserrat"/>
                <a:ea typeface="Montserrat"/>
                <a:cs typeface="Montserrat"/>
              </a:rPr>
              <a:t>The physical layout belongs to the Hamiltonian.</a:t>
            </a:r>
          </a:p>
        </p:txBody>
      </p:sp>
      <p:sp>
        <p:nvSpPr>
          <p:cNvPr id="14" name="TextBox 13"/>
          <p:cNvSpPr txBox="1"/>
          <p:nvPr/>
        </p:nvSpPr>
        <p:spPr>
          <a:xfrm>
            <a:off x="575733" y="5174456"/>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Reference retained from PPT P82: </a:t>
            </a:r>
            <a:r>
              <a:rPr sz="1400" b="0" i="0">
                <a:solidFill>
                  <a:srgbClr val="355C9A"/>
                </a:solidFill>
                <a:latin typeface="Montserrat"/>
                <a:ea typeface="Montserrat"/>
                <a:cs typeface="Montserrat"/>
                <a:hlinkClick r:id="rId3"/>
              </a:rPr>
              <a:t>[1] ResearchGate figure, IBM five-qubit processor</a:t>
            </a:r>
            <a:r>
              <a:rPr sz="1400" b="0" i="0">
                <a:solidFill>
                  <a:srgbClr val="4F4C56"/>
                </a:solidFill>
                <a:latin typeface="Montserrat"/>
                <a:ea typeface="Montserrat"/>
                <a:cs typeface="Montserrat"/>
              </a:rPr>
              <a:t>.</a:t>
            </a:r>
          </a:p>
        </p:txBody>
      </p:sp>
      <p:sp>
        <p:nvSpPr>
          <p:cNvPr id="15" name="Rectangle 14"/>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7" name="TextBox 16"/>
          <p:cNvSpPr txBox="1"/>
          <p:nvPr/>
        </p:nvSpPr>
        <p:spPr>
          <a:xfrm>
            <a:off x="11251671" y="6565900"/>
            <a:ext cx="449262"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14 / 100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040011" y="324115"/>
            <a:ext cx="1660922"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IBM Five-Qubit Processor</a:t>
            </a:r>
          </a:p>
        </p:txBody>
      </p:sp>
      <p:sp>
        <p:nvSpPr>
          <p:cNvPr id="5" name="TextBox 4"/>
          <p:cNvSpPr txBox="1"/>
          <p:nvPr/>
        </p:nvSpPr>
        <p:spPr>
          <a:xfrm>
            <a:off x="575733" y="863600"/>
            <a:ext cx="11040533" cy="873654"/>
          </a:xfrm>
          <a:prstGeom prst="rect">
            <a:avLst/>
          </a:prstGeom>
          <a:noFill/>
        </p:spPr>
        <p:txBody>
          <a:bodyPr wrap="square" lIns="0" rIns="0" tIns="0" bIns="0" anchor="t">
            <a:noAutofit/>
          </a:bodyPr>
          <a:lstStyle/>
          <a:p>
            <a:pPr algn="l">
              <a:lnSpc>
                <a:spcPts val="3440"/>
              </a:lnSpc>
            </a:pPr>
            <a:r>
              <a:rPr sz="2870" b="1" i="0">
                <a:solidFill>
                  <a:srgbClr val="22232A"/>
                </a:solidFill>
                <a:latin typeface="Montserrat"/>
                <a:ea typeface="Montserrat"/>
                <a:cs typeface="Montserrat"/>
              </a:rPr>
              <a:t>One Qubit Connects a Capacitor, Junction, Readout Port, and Bus</a:t>
            </a:r>
          </a:p>
        </p:txBody>
      </p:sp>
      <p:pic>
        <p:nvPicPr>
          <p:cNvPr id="6" name="Annotated transmon qubit cell showing niobium capacitor pads, aluminum Josephson" descr="club2-p82-qubit-cell.png"/>
          <p:cNvPicPr>
            <a:picLocks noChangeAspect="1"/>
          </p:cNvPicPr>
          <p:nvPr/>
        </p:nvPicPr>
        <p:blipFill>
          <a:blip r:embed="rId2"/>
          <a:stretch>
            <a:fillRect/>
          </a:stretch>
        </p:blipFill>
        <p:spPr>
          <a:xfrm>
            <a:off x="3893608" y="1889667"/>
            <a:ext cx="4404783" cy="3301975"/>
          </a:xfrm>
          <a:prstGeom prst="rect">
            <a:avLst/>
          </a:prstGeom>
        </p:spPr>
      </p:pic>
      <p:sp>
        <p:nvSpPr>
          <p:cNvPr id="7" name="TextBox 6"/>
          <p:cNvSpPr txBox="1"/>
          <p:nvPr/>
        </p:nvSpPr>
        <p:spPr>
          <a:xfrm>
            <a:off x="575733" y="5242454"/>
            <a:ext cx="11040533" cy="334962"/>
          </a:xfrm>
          <a:prstGeom prst="rect">
            <a:avLst/>
          </a:prstGeom>
          <a:noFill/>
        </p:spPr>
        <p:txBody>
          <a:bodyPr wrap="square" lIns="0" rIns="0" tIns="0" bIns="0" anchor="t">
            <a:noAutofit/>
          </a:bodyPr>
          <a:lstStyle/>
          <a:p>
            <a:pPr algn="ctr">
              <a:lnSpc>
                <a:spcPts val="1320"/>
              </a:lnSpc>
            </a:pPr>
            <a:r>
              <a:rPr sz="1060" b="0" i="0">
                <a:solidFill>
                  <a:srgbClr val="5F5865"/>
                </a:solidFill>
                <a:latin typeface="Montserrat"/>
                <a:ea typeface="Montserrat"/>
                <a:cs typeface="Montserrat"/>
              </a:rPr>
              <a:t>The niobium pads provide the large shunt capacitance. The aluminum Josephson junction adds nonlinear inductance. Separate couplers connect the cell to its readout resonator and the quantum bus.</a:t>
            </a:r>
          </a:p>
        </p:txBody>
      </p:sp>
      <p:sp>
        <p:nvSpPr>
          <p:cNvPr id="8" name="TextBox 7"/>
          <p:cNvSpPr txBox="1"/>
          <p:nvPr/>
        </p:nvSpPr>
        <p:spPr>
          <a:xfrm>
            <a:off x="575733" y="5577417"/>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Reference retained from PPT P82: </a:t>
            </a:r>
            <a:r>
              <a:rPr sz="1400" b="0" i="0">
                <a:solidFill>
                  <a:srgbClr val="355C9A"/>
                </a:solidFill>
                <a:latin typeface="Montserrat"/>
                <a:ea typeface="Montserrat"/>
                <a:cs typeface="Montserrat"/>
                <a:hlinkClick r:id="rId3"/>
              </a:rPr>
              <a:t>[2] https://www.youtube.com/watch?v=2pB87H3_F_c</a:t>
            </a:r>
            <a:r>
              <a:rPr sz="1400" b="0" i="0">
                <a:solidFill>
                  <a:srgbClr val="4F4C56"/>
                </a:solidFill>
                <a:latin typeface="Montserrat"/>
                <a:ea typeface="Montserrat"/>
                <a:cs typeface="Montserrat"/>
              </a:rPr>
              <a:t>.</a:t>
            </a:r>
          </a:p>
        </p:txBody>
      </p:sp>
      <p:sp>
        <p:nvSpPr>
          <p:cNvPr id="9" name="Rectangle 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1" name="TextBox 10"/>
          <p:cNvSpPr txBox="1"/>
          <p:nvPr/>
        </p:nvSpPr>
        <p:spPr>
          <a:xfrm>
            <a:off x="11262916" y="6565900"/>
            <a:ext cx="438018"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15 / 100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759553" y="324115"/>
            <a:ext cx="1941380"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Qubit Cell and Junction Stack</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From the Qubit Cell to the Nanometre Junction Stack</a:t>
            </a:r>
          </a:p>
        </p:txBody>
      </p:sp>
      <p:pic>
        <p:nvPicPr>
          <p:cNvPr id="6" name="Annotated transmon qubit cell showing niobium capacitor pads, aluminum Josephson" descr="club2-p82-qubit-cell.png"/>
          <p:cNvPicPr>
            <a:picLocks noChangeAspect="1"/>
          </p:cNvPicPr>
          <p:nvPr/>
        </p:nvPicPr>
        <p:blipFill>
          <a:blip r:embed="rId2"/>
          <a:stretch>
            <a:fillRect/>
          </a:stretch>
        </p:blipFill>
        <p:spPr>
          <a:xfrm>
            <a:off x="575733" y="1452839"/>
            <a:ext cx="4404783" cy="3301975"/>
          </a:xfrm>
          <a:prstGeom prst="rect">
            <a:avLst/>
          </a:prstGeom>
        </p:spPr>
      </p:pic>
      <p:sp>
        <p:nvSpPr>
          <p:cNvPr id="7" name="TextBox 6"/>
          <p:cNvSpPr txBox="1"/>
          <p:nvPr/>
        </p:nvSpPr>
        <p:spPr>
          <a:xfrm>
            <a:off x="575733" y="4805627"/>
            <a:ext cx="4053814" cy="669925"/>
          </a:xfrm>
          <a:prstGeom prst="rect">
            <a:avLst/>
          </a:prstGeom>
          <a:noFill/>
        </p:spPr>
        <p:txBody>
          <a:bodyPr wrap="square" lIns="0" rIns="0" tIns="0" bIns="0" anchor="t">
            <a:noAutofit/>
          </a:bodyPr>
          <a:lstStyle/>
          <a:p>
            <a:pPr algn="l">
              <a:lnSpc>
                <a:spcPts val="1320"/>
              </a:lnSpc>
            </a:pPr>
            <a:r>
              <a:rPr sz="1060" b="0" i="0">
                <a:solidFill>
                  <a:srgbClr val="5F5865"/>
                </a:solidFill>
                <a:latin typeface="Montserrat"/>
                <a:ea typeface="Montserrat"/>
                <a:cs typeface="Montserrat"/>
              </a:rPr>
              <a:t>The niobium pads provide the large shunt capacitance. The aluminum Josephson junction adds nonlinear inductance. Separate couplers connect the cell to its readout resonator and the quantum bus.</a:t>
            </a:r>
          </a:p>
        </p:txBody>
      </p:sp>
      <p:pic>
        <p:nvPicPr>
          <p:cNvPr id="8" name="Four-panel micrograph of an Al/AlOx/Al Josephson junction: chip-level overview, " descr="Al-JJ-TEM.png"/>
          <p:cNvPicPr>
            <a:picLocks noChangeAspect="1"/>
          </p:cNvPicPr>
          <p:nvPr/>
        </p:nvPicPr>
        <p:blipFill>
          <a:blip r:embed="rId3"/>
          <a:stretch>
            <a:fillRect/>
          </a:stretch>
        </p:blipFill>
        <p:spPr>
          <a:xfrm>
            <a:off x="5200650" y="1452869"/>
            <a:ext cx="5118365" cy="3301916"/>
          </a:xfrm>
          <a:prstGeom prst="rect">
            <a:avLst/>
          </a:prstGeom>
        </p:spPr>
      </p:pic>
      <p:sp>
        <p:nvSpPr>
          <p:cNvPr id="9" name="TextBox 8"/>
          <p:cNvSpPr txBox="1"/>
          <p:nvPr/>
        </p:nvSpPr>
        <p:spPr>
          <a:xfrm>
            <a:off x="5200650" y="4805627"/>
            <a:ext cx="4053814" cy="669925"/>
          </a:xfrm>
          <a:prstGeom prst="rect">
            <a:avLst/>
          </a:prstGeom>
          <a:noFill/>
        </p:spPr>
        <p:txBody>
          <a:bodyPr wrap="square" lIns="0" rIns="0" tIns="0" bIns="0" anchor="t">
            <a:noAutofit/>
          </a:bodyPr>
          <a:lstStyle/>
          <a:p>
            <a:pPr algn="l">
              <a:lnSpc>
                <a:spcPts val="1320"/>
              </a:lnSpc>
            </a:pPr>
            <a:r>
              <a:rPr sz="1060" b="0" i="0">
                <a:solidFill>
                  <a:srgbClr val="5F5865"/>
                </a:solidFill>
                <a:latin typeface="Montserrat"/>
                <a:ea typeface="Montserrat"/>
                <a:cs typeface="Montserrat"/>
              </a:rPr>
              <a:t>Zooming into the junction: the cross-sectional TEM (d) shows the Pt cap, C cap, Top-Al, the ~1 nm AlO</a:t>
            </a:r>
            <a:r>
              <a:rPr sz="800" b="0" i="0" baseline="-25000">
                <a:solidFill>
                  <a:srgbClr val="5F5865"/>
                </a:solidFill>
                <a:latin typeface="Montserrat"/>
                <a:ea typeface="Montserrat"/>
                <a:cs typeface="Montserrat"/>
              </a:rPr>
              <a:t>x</a:t>
            </a:r>
            <a:r>
              <a:rPr sz="1060" b="0" i="0">
                <a:solidFill>
                  <a:srgbClr val="5F5865"/>
                </a:solidFill>
                <a:latin typeface="Montserrat"/>
                <a:ea typeface="Montserrat"/>
                <a:cs typeface="Montserrat"/>
              </a:rPr>
              <a:t> tunnel barrier, Bottom Al on Si, with interfacial defects (blue arrows).</a:t>
            </a:r>
          </a:p>
        </p:txBody>
      </p:sp>
      <p:sp>
        <p:nvSpPr>
          <p:cNvPr id="10" name="TextBox 9"/>
          <p:cNvSpPr txBox="1"/>
          <p:nvPr/>
        </p:nvSpPr>
        <p:spPr>
          <a:xfrm>
            <a:off x="575733" y="5509419"/>
            <a:ext cx="11040533"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Qubit cell: </a:t>
            </a:r>
            <a:r>
              <a:rPr sz="1400" b="0" i="0">
                <a:solidFill>
                  <a:srgbClr val="355C9A"/>
                </a:solidFill>
                <a:latin typeface="Montserrat"/>
                <a:ea typeface="Montserrat"/>
                <a:cs typeface="Montserrat"/>
                <a:hlinkClick r:id="rId4"/>
              </a:rPr>
              <a:t>https://www.youtube.com/watch?v=2pB87H3_F_c</a:t>
            </a:r>
            <a:r>
              <a:rPr sz="1400" b="0" i="0">
                <a:solidFill>
                  <a:srgbClr val="4F4C56"/>
                </a:solidFill>
                <a:latin typeface="Montserrat"/>
                <a:ea typeface="Montserrat"/>
                <a:cs typeface="Montserrat"/>
              </a:rPr>
              <a:t> · </a:t>
            </a:r>
            <a:r>
              <a:rPr sz="1400" b="0" i="0">
                <a:solidFill>
                  <a:srgbClr val="355C9A"/>
                </a:solidFill>
                <a:latin typeface="Montserrat"/>
                <a:ea typeface="Montserrat"/>
                <a:cs typeface="Montserrat"/>
                <a:hlinkClick r:id="rId5"/>
              </a:rPr>
              <a:t>ResearchGate, IBM five-qubit processor</a:t>
            </a:r>
            <a:r>
              <a:rPr sz="1400" b="0" i="0">
                <a:solidFill>
                  <a:srgbClr val="4F4C56"/>
                </a:solidFill>
                <a:latin typeface="Montserrat"/>
                <a:ea typeface="Montserrat"/>
                <a:cs typeface="Montserrat"/>
              </a:rPr>
              <a:t>. Al/AlO</a:t>
            </a:r>
            <a:r>
              <a:rPr sz="1050" b="0" i="0" baseline="-25000">
                <a:solidFill>
                  <a:srgbClr val="4F4C56"/>
                </a:solidFill>
                <a:latin typeface="Montserrat"/>
                <a:ea typeface="Montserrat"/>
                <a:cs typeface="Montserrat"/>
              </a:rPr>
              <a:t>x</a:t>
            </a:r>
            <a:r>
              <a:rPr sz="1400" b="0" i="0">
                <a:solidFill>
                  <a:srgbClr val="4F4C56"/>
                </a:solidFill>
                <a:latin typeface="Montserrat"/>
                <a:ea typeface="Montserrat"/>
                <a:cs typeface="Montserrat"/>
              </a:rPr>
              <a:t>/Al junction TEM: </a:t>
            </a:r>
            <a:r>
              <a:rPr sz="1400" b="0" i="0">
                <a:solidFill>
                  <a:srgbClr val="355C9A"/>
                </a:solidFill>
                <a:latin typeface="Montserrat"/>
                <a:ea typeface="Montserrat"/>
                <a:cs typeface="Montserrat"/>
                <a:hlinkClick r:id="rId6"/>
              </a:rPr>
              <a:t>10.1016/j.apsusc.2023.158337</a:t>
            </a:r>
            <a:r>
              <a:rPr sz="1400" b="0" i="0">
                <a:solidFill>
                  <a:srgbClr val="4F4C56"/>
                </a:solidFill>
                <a:latin typeface="Montserrat"/>
                <a:ea typeface="Montserrat"/>
                <a:cs typeface="Montserrat"/>
              </a:rPr>
              <a:t>.</a:t>
            </a:r>
          </a:p>
        </p:txBody>
      </p:sp>
      <p:sp>
        <p:nvSpPr>
          <p:cNvPr id="11" name="Rectangle 10"/>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3" name="TextBox 12"/>
          <p:cNvSpPr txBox="1"/>
          <p:nvPr/>
        </p:nvSpPr>
        <p:spPr>
          <a:xfrm>
            <a:off x="11257889" y="6565900"/>
            <a:ext cx="443045"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16 / 100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712722" y="324115"/>
            <a:ext cx="198821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Josephson Junction Hardware</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A Nanometre-Scale Barrier Sets the Junction Properties</a:t>
            </a:r>
          </a:p>
        </p:txBody>
      </p:sp>
      <p:pic>
        <p:nvPicPr>
          <p:cNvPr id="6" name="Comparison of Josephson junction structure, shadow-evaporated aluminum junction," descr="club2-p82-jj-structures.jpeg"/>
          <p:cNvPicPr>
            <a:picLocks noChangeAspect="1"/>
          </p:cNvPicPr>
          <p:nvPr/>
        </p:nvPicPr>
        <p:blipFill>
          <a:blip r:embed="rId2"/>
          <a:stretch>
            <a:fillRect/>
          </a:stretch>
        </p:blipFill>
        <p:spPr>
          <a:xfrm>
            <a:off x="575733" y="1876825"/>
            <a:ext cx="7403835" cy="1819003"/>
          </a:xfrm>
          <a:prstGeom prst="rect">
            <a:avLst/>
          </a:prstGeom>
        </p:spPr>
      </p:pic>
      <p:sp>
        <p:nvSpPr>
          <p:cNvPr id="7" name="TextBox 6"/>
          <p:cNvSpPr txBox="1"/>
          <p:nvPr/>
        </p:nvSpPr>
        <p:spPr>
          <a:xfrm>
            <a:off x="575733" y="4170627"/>
            <a:ext cx="7403835" cy="334962"/>
          </a:xfrm>
          <a:prstGeom prst="rect">
            <a:avLst/>
          </a:prstGeom>
          <a:noFill/>
        </p:spPr>
        <p:txBody>
          <a:bodyPr wrap="square" lIns="0" rIns="0" tIns="0" bIns="0" anchor="t">
            <a:noAutofit/>
          </a:bodyPr>
          <a:lstStyle/>
          <a:p>
            <a:pPr algn="ctr">
              <a:lnSpc>
                <a:spcPts val="1320"/>
              </a:lnSpc>
            </a:pPr>
            <a:r>
              <a:rPr sz="1060" b="0" i="0">
                <a:solidFill>
                  <a:srgbClr val="5F5865"/>
                </a:solidFill>
                <a:latin typeface="Montserrat"/>
                <a:ea typeface="Montserrat"/>
                <a:cs typeface="Montserrat"/>
              </a:rPr>
              <a:t>The insulating barrier is roughly one nanometre thick. Shadow-evaporated Al/AlOx/Al junctions and multilayer processes realize the same superconducting tunnel element with different fabrication stacks.</a:t>
            </a:r>
          </a:p>
        </p:txBody>
      </p:sp>
      <p:pic>
        <p:nvPicPr>
          <p:cNvPr id="8" name="False-color electron micrograph of a superconducting junction with a 500 nanomet" descr="club2-p82-niobium-junction.png"/>
          <p:cNvPicPr>
            <a:picLocks noChangeAspect="1"/>
          </p:cNvPicPr>
          <p:nvPr/>
        </p:nvPicPr>
        <p:blipFill>
          <a:blip r:embed="rId3"/>
          <a:stretch>
            <a:fillRect/>
          </a:stretch>
        </p:blipFill>
        <p:spPr>
          <a:xfrm>
            <a:off x="8131969" y="1807629"/>
            <a:ext cx="3484166" cy="1957396"/>
          </a:xfrm>
          <a:prstGeom prst="rect">
            <a:avLst/>
          </a:prstGeom>
        </p:spPr>
      </p:pic>
      <p:sp>
        <p:nvSpPr>
          <p:cNvPr id="9" name="TextBox 8"/>
          <p:cNvSpPr txBox="1"/>
          <p:nvPr/>
        </p:nvSpPr>
        <p:spPr>
          <a:xfrm>
            <a:off x="8131969" y="4170627"/>
            <a:ext cx="3484166" cy="334962"/>
          </a:xfrm>
          <a:prstGeom prst="rect">
            <a:avLst/>
          </a:prstGeom>
          <a:noFill/>
        </p:spPr>
        <p:txBody>
          <a:bodyPr wrap="square" lIns="0" rIns="0" tIns="0" bIns="0" anchor="t">
            <a:noAutofit/>
          </a:bodyPr>
          <a:lstStyle/>
          <a:p>
            <a:pPr algn="ctr">
              <a:lnSpc>
                <a:spcPts val="1320"/>
              </a:lnSpc>
            </a:pPr>
            <a:r>
              <a:rPr sz="1060" b="0" i="0">
                <a:solidFill>
                  <a:srgbClr val="5F5865"/>
                </a:solidFill>
                <a:latin typeface="Montserrat"/>
                <a:ea typeface="Montserrat"/>
                <a:cs typeface="Montserrat"/>
              </a:rPr>
              <a:t>A fabricated junction viewed at submicrometre scale.</a:t>
            </a:r>
          </a:p>
        </p:txBody>
      </p:sp>
      <p:sp>
        <p:nvSpPr>
          <p:cNvPr id="10" name="TextBox 9"/>
          <p:cNvSpPr txBox="1"/>
          <p:nvPr/>
        </p:nvSpPr>
        <p:spPr>
          <a:xfrm>
            <a:off x="575733" y="4539456"/>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References retained from PPT P82: </a:t>
            </a:r>
            <a:r>
              <a:rPr sz="1400" b="0" i="0">
                <a:solidFill>
                  <a:srgbClr val="355C9A"/>
                </a:solidFill>
                <a:latin typeface="Montserrat"/>
                <a:ea typeface="Montserrat"/>
                <a:cs typeface="Montserrat"/>
                <a:hlinkClick r:id="rId4"/>
              </a:rPr>
              <a:t>[3] Argonne, “Resurrecting niobium for quantum science”</a:t>
            </a:r>
            <a:r>
              <a:rPr sz="1400" b="0" i="0">
                <a:solidFill>
                  <a:srgbClr val="4F4C56"/>
                </a:solidFill>
                <a:latin typeface="Montserrat"/>
                <a:ea typeface="Montserrat"/>
                <a:cs typeface="Montserrat"/>
              </a:rPr>
              <a:t>. [4] Ref: </a:t>
            </a:r>
            <a:r>
              <a:rPr sz="1400" b="0" i="0">
                <a:solidFill>
                  <a:srgbClr val="355C9A"/>
                </a:solidFill>
                <a:latin typeface="Montserrat"/>
                <a:ea typeface="Montserrat"/>
                <a:cs typeface="Montserrat"/>
                <a:hlinkClick r:id="rId5"/>
              </a:rPr>
              <a:t>10.1557/mrs.2013.229</a:t>
            </a:r>
            <a:r>
              <a:rPr sz="1400" b="0" i="0">
                <a:solidFill>
                  <a:srgbClr val="4F4C56"/>
                </a:solidFill>
                <a:latin typeface="Montserrat"/>
                <a:ea typeface="Montserrat"/>
                <a:cs typeface="Montserrat"/>
              </a:rPr>
              <a:t>. </a:t>
            </a:r>
          </a:p>
        </p:txBody>
      </p:sp>
      <p:sp>
        <p:nvSpPr>
          <p:cNvPr id="11" name="Rectangle 10"/>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3" name="TextBox 12"/>
          <p:cNvSpPr txBox="1"/>
          <p:nvPr/>
        </p:nvSpPr>
        <p:spPr>
          <a:xfrm>
            <a:off x="11260005" y="6565900"/>
            <a:ext cx="440928"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17 / 100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362406" y="324115"/>
            <a:ext cx="1338527"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Transmon Spectrum</a:t>
            </a:r>
          </a:p>
        </p:txBody>
      </p:sp>
      <p:sp>
        <p:nvSpPr>
          <p:cNvPr id="5" name="TextBox 4"/>
          <p:cNvSpPr txBox="1"/>
          <p:nvPr/>
        </p:nvSpPr>
        <p:spPr>
          <a:xfrm>
            <a:off x="575733" y="863600"/>
            <a:ext cx="11040533" cy="873654"/>
          </a:xfrm>
          <a:prstGeom prst="rect">
            <a:avLst/>
          </a:prstGeom>
          <a:noFill/>
        </p:spPr>
        <p:txBody>
          <a:bodyPr wrap="square" lIns="0" rIns="0" tIns="0" bIns="0" anchor="t">
            <a:noAutofit/>
          </a:bodyPr>
          <a:lstStyle/>
          <a:p>
            <a:pPr algn="l">
              <a:lnSpc>
                <a:spcPts val="3440"/>
              </a:lnSpc>
            </a:pPr>
            <a:r>
              <a:rPr sz="2870" b="1" i="0">
                <a:solidFill>
                  <a:srgbClr val="22232A"/>
                </a:solidFill>
                <a:latin typeface="Montserrat"/>
                <a:ea typeface="Montserrat"/>
                <a:cs typeface="Montserrat"/>
              </a:rPr>
              <a:t>Josephson Nonlinearity Separates the Transmon Transitions</a:t>
            </a:r>
          </a:p>
        </p:txBody>
      </p:sp>
      <p:pic>
        <p:nvPicPr>
          <p:cNvPr id="6" name="Comparison of a linear LC resonator and a transmon circuit with their correspond" descr="club2-p82-transmon-spectrum.jpeg"/>
          <p:cNvPicPr>
            <a:picLocks noChangeAspect="1"/>
          </p:cNvPicPr>
          <p:nvPr/>
        </p:nvPicPr>
        <p:blipFill>
          <a:blip r:embed="rId2"/>
          <a:stretch>
            <a:fillRect/>
          </a:stretch>
        </p:blipFill>
        <p:spPr>
          <a:xfrm>
            <a:off x="1840442" y="1889666"/>
            <a:ext cx="4417086" cy="3301977"/>
          </a:xfrm>
          <a:prstGeom prst="rect">
            <a:avLst/>
          </a:prstGeom>
        </p:spPr>
      </p:pic>
      <p:sp>
        <p:nvSpPr>
          <p:cNvPr id="7" name="TextBox 6"/>
          <p:cNvSpPr txBox="1"/>
          <p:nvPr/>
        </p:nvSpPr>
        <p:spPr>
          <a:xfrm>
            <a:off x="575733" y="5242454"/>
            <a:ext cx="6946635" cy="334962"/>
          </a:xfrm>
          <a:prstGeom prst="rect">
            <a:avLst/>
          </a:prstGeom>
          <a:noFill/>
        </p:spPr>
        <p:txBody>
          <a:bodyPr wrap="square" lIns="0" rIns="0" tIns="0" bIns="0" anchor="t">
            <a:noAutofit/>
          </a:bodyPr>
          <a:lstStyle/>
          <a:p>
            <a:pPr algn="ctr">
              <a:lnSpc>
                <a:spcPts val="1320"/>
              </a:lnSpc>
            </a:pPr>
            <a:r>
              <a:rPr sz="1060" b="0" i="0">
                <a:solidFill>
                  <a:srgbClr val="5F5865"/>
                </a:solidFill>
                <a:latin typeface="Montserrat"/>
                <a:ea typeface="Montserrat"/>
                <a:cs typeface="Montserrat"/>
              </a:rPr>
              <a:t>The LC resonator has equally spaced levels. Replacing the linear inductor with a Josephson element produces a cosine potential and unequal transition frequencies.</a:t>
            </a:r>
          </a:p>
        </p:txBody>
      </p:sp>
      <p:sp>
        <p:nvSpPr>
          <p:cNvPr id="8" name="Rectangle 7"/>
          <p:cNvSpPr/>
          <p:nvPr/>
        </p:nvSpPr>
        <p:spPr>
          <a:xfrm>
            <a:off x="7708635" y="2350691"/>
            <a:ext cx="33867" cy="920750"/>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52569" y="2350691"/>
            <a:ext cx="3763698" cy="223837"/>
          </a:xfrm>
          <a:prstGeom prst="rect">
            <a:avLst/>
          </a:prstGeom>
          <a:noFill/>
        </p:spPr>
        <p:txBody>
          <a:bodyPr wrap="none" lIns="0" rIns="0" tIns="0" bIns="0" anchor="t">
            <a:noAutofit/>
          </a:bodyPr>
          <a:lstStyle/>
          <a:p>
            <a:pPr algn="l">
              <a:lnSpc>
                <a:spcPts val="1760"/>
              </a:lnSpc>
            </a:pPr>
            <a:r>
              <a:rPr sz="1320" b="1" i="0">
                <a:solidFill>
                  <a:srgbClr val="302840"/>
                </a:solidFill>
                <a:latin typeface="Montserrat"/>
                <a:ea typeface="Montserrat"/>
                <a:cs typeface="Montserrat"/>
              </a:rPr>
              <a:t>Linear LC oscillator.</a:t>
            </a:r>
          </a:p>
        </p:txBody>
      </p:sp>
      <p:sp>
        <p:nvSpPr>
          <p:cNvPr id="10" name="equation"/>
          <p:cNvSpPr txBox="1"/>
          <p:nvPr/>
        </p:nvSpPr>
        <p:spPr>
          <a:xfrm>
            <a:off x="8896482" y="2574528"/>
            <a:ext cx="314590" cy="245533"/>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563">
                          <a:latin typeface="Cambria Math"/>
                        </a:rPr>
                        <m:t>ℏ</m:t>
                      </m:r>
                      <m:sSub>
                        <m:e>
                          <m:r>
                            <m:rPr>
                              <m:sty m:val="i"/>
                            </m:rPr>
                            <a:rPr lang="en-US" i="1" sz="1563">
                              <a:latin typeface="Cambria Math"/>
                            </a:rPr>
                            <m:t>ω</m:t>
                          </m:r>
                        </m:e>
                        <m:sub>
                          <m:r>
                            <m:rPr>
                              <m:sty m:val="i"/>
                            </m:rPr>
                            <a:rPr lang="en-US" i="1" sz="1563">
                              <a:latin typeface="Cambria Math"/>
                            </a:rPr>
                            <m:t>r</m:t>
                          </m:r>
                        </m:sub>
                      </m:sSub>
                    </m:oMath>
                  </m:oMathPara>
                </a14:m>
              </mc:Choice>
              <mc:Fallback>
                <a:r>
                  <a:rPr lang="en-US" sz="1563" i="1"/>
                  <a:t>\hbar\omega_r</a:t>
                </a:r>
              </mc:Fallback>
            </mc:AlternateContent>
          </a:p>
        </p:txBody>
      </p:sp>
      <p:sp>
        <p:nvSpPr>
          <p:cNvPr id="11" name="Rectangle 10"/>
          <p:cNvSpPr/>
          <p:nvPr/>
        </p:nvSpPr>
        <p:spPr>
          <a:xfrm>
            <a:off x="7708635" y="3381507"/>
            <a:ext cx="33867" cy="696912"/>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52569" y="3381507"/>
            <a:ext cx="3763698" cy="223837"/>
          </a:xfrm>
          <a:prstGeom prst="rect">
            <a:avLst/>
          </a:prstGeom>
          <a:noFill/>
        </p:spPr>
        <p:txBody>
          <a:bodyPr wrap="none" lIns="0" rIns="0" tIns="0" bIns="0" anchor="t">
            <a:noAutofit/>
          </a:bodyPr>
          <a:lstStyle/>
          <a:p>
            <a:pPr algn="l">
              <a:lnSpc>
                <a:spcPts val="1760"/>
              </a:lnSpc>
            </a:pPr>
            <a:r>
              <a:rPr sz="1320" b="1" i="0">
                <a:solidFill>
                  <a:srgbClr val="302840"/>
                </a:solidFill>
                <a:latin typeface="Montserrat"/>
                <a:ea typeface="Montserrat"/>
                <a:cs typeface="Montserrat"/>
              </a:rPr>
              <a:t>Transmon circuit.</a:t>
            </a:r>
          </a:p>
        </p:txBody>
      </p:sp>
      <p:sp>
        <p:nvSpPr>
          <p:cNvPr id="13" name="equation"/>
          <p:cNvSpPr txBox="1"/>
          <p:nvPr/>
        </p:nvSpPr>
        <p:spPr>
          <a:xfrm>
            <a:off x="9926638" y="3605345"/>
            <a:ext cx="855927" cy="245533"/>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563">
                          <a:latin typeface="Cambria Math"/>
                        </a:rPr>
                        <m:t>−</m:t>
                      </m:r>
                      <m:sSub>
                        <m:e>
                          <m:r>
                            <m:rPr>
                              <m:sty m:val="i"/>
                            </m:rPr>
                            <a:rPr lang="en-US" i="1" sz="1563">
                              <a:latin typeface="Cambria Math"/>
                            </a:rPr>
                            <m:t>E</m:t>
                          </m:r>
                        </m:e>
                        <m:sub>
                          <m:r>
                            <m:rPr>
                              <m:sty m:val="i"/>
                            </m:rPr>
                            <a:rPr lang="en-US" i="1" sz="1563">
                              <a:latin typeface="Cambria Math"/>
                            </a:rPr>
                            <m:t>J</m:t>
                          </m:r>
                        </m:sub>
                      </m:sSub>
                      <m:r>
                        <m:rPr>
                          <m:sty m:val="p"/>
                        </m:rPr>
                        <a:rPr lang="en-US" i="0" sz="1563">
                          <a:latin typeface="Cambria Math"/>
                        </a:rPr>
                        <m:t>cos</m:t>
                      </m:r>
                      <m:r>
                        <m:rPr>
                          <m:sty m:val="p"/>
                        </m:rPr>
                        <a:rPr lang="en-US" i="0" sz="1563">
                          <a:latin typeface="Cambria Math"/>
                        </a:rPr>
                        <m:t/>
                      </m:r>
                      <m:r>
                        <m:rPr>
                          <m:sty m:val="i"/>
                        </m:rPr>
                        <a:rPr lang="en-US" i="1" sz="1563">
                          <a:latin typeface="Cambria Math"/>
                        </a:rPr>
                        <m:t>ϕ</m:t>
                      </m:r>
                    </m:oMath>
                  </m:oMathPara>
                </a14:m>
              </mc:Choice>
              <mc:Fallback>
                <a:r>
                  <a:rPr lang="en-US" sz="1563" i="1"/>
                  <a:t>-E_J\cos\phi</a:t>
                </a:r>
              </mc:Fallback>
            </mc:AlternateContent>
          </a:p>
        </p:txBody>
      </p:sp>
      <p:sp>
        <p:nvSpPr>
          <p:cNvPr id="14" name="equation"/>
          <p:cNvSpPr txBox="1"/>
          <p:nvPr/>
        </p:nvSpPr>
        <p:spPr>
          <a:xfrm>
            <a:off x="8444574" y="3829182"/>
            <a:ext cx="280061" cy="245533"/>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563">
                              <a:latin typeface="Cambria Math"/>
                            </a:rPr>
                            <m:t>ω</m:t>
                          </m:r>
                        </m:e>
                        <m:sub>
                          <m:box>
                            <m:e>
                              <m:r>
                                <m:rPr>
                                  <m:sty m:val="p"/>
                                </m:rPr>
                                <a:rPr lang="en-US" i="0" sz="1563">
                                  <a:latin typeface="Cambria Math"/>
                                </a:rPr>
                                <m:t>12</m:t>
                              </m:r>
                            </m:e>
                          </m:box>
                        </m:sub>
                      </m:sSub>
                    </m:oMath>
                  </m:oMathPara>
                </a14:m>
              </mc:Choice>
              <mc:Fallback>
                <a:r>
                  <a:rPr lang="en-US" sz="1563" i="1"/>
                  <a:t>\omega_{12}</a:t>
                </a:r>
              </mc:Fallback>
            </mc:AlternateContent>
          </a:p>
        </p:txBody>
      </p:sp>
      <p:sp>
        <p:nvSpPr>
          <p:cNvPr id="15" name="equation"/>
          <p:cNvSpPr txBox="1"/>
          <p:nvPr/>
        </p:nvSpPr>
        <p:spPr>
          <a:xfrm>
            <a:off x="9684015" y="3829182"/>
            <a:ext cx="280061" cy="245533"/>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563">
                              <a:latin typeface="Cambria Math"/>
                            </a:rPr>
                            <m:t>ω</m:t>
                          </m:r>
                        </m:e>
                        <m:sub>
                          <m:box>
                            <m:e>
                              <m:r>
                                <m:rPr>
                                  <m:sty m:val="p"/>
                                </m:rPr>
                                <a:rPr lang="en-US" i="0" sz="1563">
                                  <a:latin typeface="Cambria Math"/>
                                </a:rPr>
                                <m:t>01</m:t>
                              </m:r>
                            </m:e>
                          </m:box>
                        </m:sub>
                      </m:sSub>
                    </m:oMath>
                  </m:oMathPara>
                </a14:m>
              </mc:Choice>
              <mc:Fallback>
                <a:r>
                  <a:rPr lang="en-US" sz="1563" i="1"/>
                  <a:t>\omega_{01}</a:t>
                </a:r>
              </mc:Fallback>
            </mc:AlternateContent>
          </a:p>
        </p:txBody>
      </p:sp>
      <p:sp>
        <p:nvSpPr>
          <p:cNvPr id="16" name="Rectangle 15"/>
          <p:cNvSpPr/>
          <p:nvPr/>
        </p:nvSpPr>
        <p:spPr>
          <a:xfrm>
            <a:off x="7708635" y="4188486"/>
            <a:ext cx="33867" cy="927894"/>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852569" y="4188486"/>
            <a:ext cx="3763698" cy="223837"/>
          </a:xfrm>
          <a:prstGeom prst="rect">
            <a:avLst/>
          </a:prstGeom>
          <a:noFill/>
        </p:spPr>
        <p:txBody>
          <a:bodyPr wrap="none" lIns="0" rIns="0" tIns="0" bIns="0" anchor="t">
            <a:noAutofit/>
          </a:bodyPr>
          <a:lstStyle/>
          <a:p>
            <a:pPr algn="l">
              <a:lnSpc>
                <a:spcPts val="1760"/>
              </a:lnSpc>
            </a:pPr>
            <a:r>
              <a:rPr sz="1320" b="1" i="0">
                <a:solidFill>
                  <a:srgbClr val="302840"/>
                </a:solidFill>
                <a:latin typeface="Montserrat"/>
                <a:ea typeface="Montserrat"/>
                <a:cs typeface="Montserrat"/>
              </a:rPr>
              <a:t>Computational subspace.</a:t>
            </a:r>
          </a:p>
        </p:txBody>
      </p:sp>
      <p:sp>
        <p:nvSpPr>
          <p:cNvPr id="18" name="equation"/>
          <p:cNvSpPr txBox="1"/>
          <p:nvPr/>
        </p:nvSpPr>
        <p:spPr>
          <a:xfrm>
            <a:off x="9216760" y="4636161"/>
            <a:ext cx="771790" cy="245533"/>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563">
                          <a:latin typeface="Cambria Math"/>
                        </a:rPr>
                        <m:t>|</m:t>
                      </m:r>
                      <m:r>
                        <m:rPr>
                          <m:sty m:val="p"/>
                        </m:rPr>
                        <a:rPr lang="en-US" i="0" sz="1563">
                          <a:latin typeface="Cambria Math"/>
                        </a:rPr>
                        <m:t>0</m:t>
                      </m:r>
                      <m:r>
                        <m:rPr>
                          <m:sty m:val="p"/>
                        </m:rPr>
                        <a:rPr lang="en-US" i="0" sz="1563">
                          <a:latin typeface="Cambria Math"/>
                        </a:rPr>
                        <m:t>⟩</m:t>
                      </m:r>
                      <m:r>
                        <m:rPr>
                          <m:sty m:val="p"/>
                        </m:rPr>
                        <a:rPr lang="en-US" i="0" sz="1563">
                          <a:latin typeface="Cambria Math"/>
                        </a:rPr>
                        <m:t>↔</m:t>
                      </m:r>
                      <m:r>
                        <m:rPr>
                          <m:sty m:val="p"/>
                        </m:rPr>
                        <a:rPr lang="en-US" i="0" sz="1563">
                          <a:latin typeface="Cambria Math"/>
                        </a:rPr>
                        <m:t>|</m:t>
                      </m:r>
                      <m:r>
                        <m:rPr>
                          <m:sty m:val="p"/>
                        </m:rPr>
                        <a:rPr lang="en-US" i="0" sz="1563">
                          <a:latin typeface="Cambria Math"/>
                        </a:rPr>
                        <m:t>1</m:t>
                      </m:r>
                      <m:r>
                        <m:rPr>
                          <m:sty m:val="p"/>
                        </m:rPr>
                        <a:rPr lang="en-US" i="0" sz="1563">
                          <a:latin typeface="Cambria Math"/>
                        </a:rPr>
                        <m:t>⟩</m:t>
                      </m:r>
                    </m:oMath>
                  </m:oMathPara>
                </a14:m>
              </mc:Choice>
              <mc:Fallback>
                <a:r>
                  <a:rPr lang="en-US" sz="1563" i="1"/>
                  <a:t>\lvert0\rangle\leftrightarrow\lvert1\rangle</a:t>
                </a:r>
              </mc:Fallback>
            </mc:AlternateContent>
          </a:p>
        </p:txBody>
      </p:sp>
      <p:sp>
        <p:nvSpPr>
          <p:cNvPr id="19" name="equation"/>
          <p:cNvSpPr txBox="1"/>
          <p:nvPr/>
        </p:nvSpPr>
        <p:spPr>
          <a:xfrm>
            <a:off x="8907198" y="4863571"/>
            <a:ext cx="231510" cy="245533"/>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563">
                          <a:latin typeface="Cambria Math"/>
                        </a:rPr>
                        <m:t>|</m:t>
                      </m:r>
                      <m:r>
                        <m:rPr>
                          <m:sty m:val="p"/>
                        </m:rPr>
                        <a:rPr lang="en-US" i="0" sz="1563">
                          <a:latin typeface="Cambria Math"/>
                        </a:rPr>
                        <m:t>2</m:t>
                      </m:r>
                      <m:r>
                        <m:rPr>
                          <m:sty m:val="p"/>
                        </m:rPr>
                        <a:rPr lang="en-US" i="0" sz="1563">
                          <a:latin typeface="Cambria Math"/>
                        </a:rPr>
                        <m:t>⟩</m:t>
                      </m:r>
                    </m:oMath>
                  </m:oMathPara>
                </a14:m>
              </mc:Choice>
              <mc:Fallback>
                <a:r>
                  <a:rPr lang="en-US" sz="1563" i="1"/>
                  <a:t>\lvert2\rangle</a:t>
                </a:r>
              </mc:Fallback>
            </mc:AlternateContent>
          </a:p>
        </p:txBody>
      </p:sp>
      <p:sp>
        <p:nvSpPr>
          <p:cNvPr id="20" name="TextBox 19"/>
          <p:cNvSpPr txBox="1"/>
          <p:nvPr/>
        </p:nvSpPr>
        <p:spPr>
          <a:xfrm>
            <a:off x="575733" y="5611283"/>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Reference retained from PPT P82: </a:t>
            </a:r>
            <a:r>
              <a:rPr sz="1400" b="0" i="0">
                <a:solidFill>
                  <a:srgbClr val="355C9A"/>
                </a:solidFill>
                <a:latin typeface="Montserrat"/>
                <a:ea typeface="Montserrat"/>
                <a:cs typeface="Montserrat"/>
                <a:hlinkClick r:id="rId3"/>
              </a:rPr>
              <a:t>[5] Electronics360, “How quantum computers work”</a:t>
            </a:r>
            <a:r>
              <a:rPr sz="1400" b="0" i="0">
                <a:solidFill>
                  <a:srgbClr val="4F4C56"/>
                </a:solidFill>
                <a:latin typeface="Montserrat"/>
                <a:ea typeface="Montserrat"/>
                <a:cs typeface="Montserrat"/>
              </a:rPr>
              <a:t>.</a:t>
            </a:r>
          </a:p>
        </p:txBody>
      </p:sp>
      <p:sp>
        <p:nvSpPr>
          <p:cNvPr id="21" name="Rectangle 20"/>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23" name="TextBox 22"/>
          <p:cNvSpPr txBox="1"/>
          <p:nvPr/>
        </p:nvSpPr>
        <p:spPr>
          <a:xfrm>
            <a:off x="11255243" y="6565900"/>
            <a:ext cx="445691"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18 / 100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s-000.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FFFFFF"/>
                </a:solidFill>
                <a:latin typeface="Montserrat"/>
                <a:ea typeface="Montserrat"/>
                <a:cs typeface="Montserrat"/>
              </a:rPr>
              <a:t>PHYS598500 · WEEK 2</a:t>
            </a:r>
          </a:p>
        </p:txBody>
      </p:sp>
      <p:sp>
        <p:nvSpPr>
          <p:cNvPr id="4" name="TextBox 3"/>
          <p:cNvSpPr txBox="1"/>
          <p:nvPr/>
        </p:nvSpPr>
        <p:spPr>
          <a:xfrm>
            <a:off x="9913805" y="324115"/>
            <a:ext cx="1787128" cy="181372"/>
          </a:xfrm>
          <a:prstGeom prst="rect">
            <a:avLst/>
          </a:prstGeom>
          <a:noFill/>
        </p:spPr>
        <p:txBody>
          <a:bodyPr wrap="none" lIns="0" rIns="0" tIns="0" bIns="0" anchor="t">
            <a:noAutofit/>
          </a:bodyPr>
          <a:lstStyle/>
          <a:p>
            <a:pPr algn="l">
              <a:lnSpc>
                <a:spcPts val="1430"/>
              </a:lnSpc>
            </a:pPr>
            <a:r>
              <a:rPr sz="1000" b="1" i="0">
                <a:solidFill>
                  <a:srgbClr val="FFFFFF"/>
                </a:solidFill>
                <a:latin typeface="Montserrat"/>
                <a:ea typeface="Montserrat"/>
                <a:cs typeface="Montserrat"/>
              </a:rPr>
              <a:t>What Is a Superconductor?</a:t>
            </a:r>
          </a:p>
        </p:txBody>
      </p:sp>
      <p:sp>
        <p:nvSpPr>
          <p:cNvPr id="5" name="TextBox 4"/>
          <p:cNvSpPr txBox="1"/>
          <p:nvPr/>
        </p:nvSpPr>
        <p:spPr>
          <a:xfrm>
            <a:off x="1016000" y="2782491"/>
            <a:ext cx="10160000" cy="231643"/>
          </a:xfrm>
          <a:prstGeom prst="rect">
            <a:avLst/>
          </a:prstGeom>
          <a:noFill/>
        </p:spPr>
        <p:txBody>
          <a:bodyPr wrap="none" lIns="0" rIns="0" tIns="0" bIns="0" anchor="t">
            <a:noAutofit/>
          </a:bodyPr>
          <a:lstStyle/>
          <a:p>
            <a:pPr algn="ctr">
              <a:lnSpc>
                <a:spcPts val="1820"/>
              </a:lnSpc>
            </a:pPr>
            <a:r>
              <a:rPr sz="1200" b="1" i="0" spc="144">
                <a:solidFill>
                  <a:srgbClr val="FFFFFF"/>
                </a:solidFill>
                <a:latin typeface="Montserrat"/>
                <a:ea typeface="Montserrat"/>
                <a:cs typeface="Montserrat"/>
              </a:rPr>
              <a:t>Microscopic ingredients → circuit variables</a:t>
            </a:r>
          </a:p>
        </p:txBody>
      </p:sp>
      <p:sp>
        <p:nvSpPr>
          <p:cNvPr id="6" name="TextBox 5"/>
          <p:cNvSpPr txBox="1"/>
          <p:nvPr/>
        </p:nvSpPr>
        <p:spPr>
          <a:xfrm>
            <a:off x="1016000" y="3149600"/>
            <a:ext cx="10160000" cy="549936"/>
          </a:xfrm>
          <a:prstGeom prst="rect">
            <a:avLst/>
          </a:prstGeom>
          <a:noFill/>
        </p:spPr>
        <p:txBody>
          <a:bodyPr wrap="none" lIns="0" rIns="0" tIns="0" bIns="0" anchor="t">
            <a:noAutofit/>
          </a:bodyPr>
          <a:lstStyle/>
          <a:p>
            <a:pPr algn="ctr">
              <a:lnSpc>
                <a:spcPts val="4330"/>
              </a:lnSpc>
            </a:pPr>
            <a:r>
              <a:rPr sz="3870" b="1" i="0" spc="-97">
                <a:solidFill>
                  <a:srgbClr val="FFFFFF"/>
                </a:solidFill>
                <a:latin typeface="Montserrat"/>
                <a:ea typeface="Montserrat"/>
                <a:cs typeface="Montserrat"/>
              </a:rPr>
              <a:t>What Is a Superconductor?</a:t>
            </a:r>
          </a:p>
        </p:txBody>
      </p:sp>
      <p:sp>
        <p:nvSpPr>
          <p:cNvPr id="7" name="TextBox 6"/>
          <p:cNvSpPr txBox="1"/>
          <p:nvPr/>
        </p:nvSpPr>
        <p:spPr>
          <a:xfrm>
            <a:off x="1016000" y="3919670"/>
            <a:ext cx="10160000" cy="308107"/>
          </a:xfrm>
          <a:prstGeom prst="rect">
            <a:avLst/>
          </a:prstGeom>
          <a:noFill/>
        </p:spPr>
        <p:txBody>
          <a:bodyPr wrap="none" lIns="0" rIns="0" tIns="0" bIns="0" anchor="t">
            <a:noAutofit/>
          </a:bodyPr>
          <a:lstStyle/>
          <a:p>
            <a:pPr algn="ctr">
              <a:lnSpc>
                <a:spcPts val="2430"/>
              </a:lnSpc>
            </a:pPr>
            <a:r>
              <a:rPr sz="1870" b="0" i="0">
                <a:solidFill>
                  <a:srgbClr val="FFFFFF"/>
                </a:solidFill>
                <a:latin typeface="Montserrat"/>
                <a:ea typeface="Montserrat"/>
                <a:cs typeface="Montserrat"/>
              </a:rPr>
              <a:t>Gap, phase stiffness, and the length scales that hardware designers inherit</a:t>
            </a:r>
          </a:p>
        </p:txBody>
      </p:sp>
      <p:sp>
        <p:nvSpPr>
          <p:cNvPr id="8" name="Rectangle 7"/>
          <p:cNvSpPr/>
          <p:nvPr/>
        </p:nvSpPr>
        <p:spPr>
          <a:xfrm>
            <a:off x="491067" y="6434667"/>
            <a:ext cx="11209867" cy="8467"/>
          </a:xfrm>
          <a:prstGeom prst="rect">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FFFFFF"/>
                </a:solidFill>
                <a:latin typeface="Montserrat"/>
                <a:ea typeface="Montserrat"/>
                <a:cs typeface="Montserrat"/>
              </a:rPr>
              <a:t>Manual slide source</a:t>
            </a:r>
          </a:p>
        </p:txBody>
      </p:sp>
      <p:sp>
        <p:nvSpPr>
          <p:cNvPr id="10" name="TextBox 9"/>
          <p:cNvSpPr txBox="1"/>
          <p:nvPr/>
        </p:nvSpPr>
        <p:spPr>
          <a:xfrm>
            <a:off x="11257889" y="6565900"/>
            <a:ext cx="443045" cy="169333"/>
          </a:xfrm>
          <a:prstGeom prst="rect">
            <a:avLst/>
          </a:prstGeom>
          <a:noFill/>
        </p:spPr>
        <p:txBody>
          <a:bodyPr wrap="none" lIns="0" rIns="0" tIns="0" bIns="0" anchor="t">
            <a:noAutofit/>
          </a:bodyPr>
          <a:lstStyle/>
          <a:p>
            <a:pPr algn="l">
              <a:lnSpc>
                <a:spcPts val="1330"/>
              </a:lnSpc>
            </a:pPr>
            <a:r>
              <a:rPr sz="930" b="1" i="0">
                <a:solidFill>
                  <a:srgbClr val="FFFFFF"/>
                </a:solidFill>
                <a:latin typeface="Montserrat"/>
                <a:ea typeface="Montserrat"/>
                <a:cs typeface="Montserrat"/>
              </a:rPr>
              <a:t>19 / 100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021094" y="324115"/>
            <a:ext cx="1679840"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Superconductivity Primer</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Below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3408">
                            <a:latin typeface="Cambria Math"/>
                          </a:rPr>
                          <m:t>T</m:t>
                        </m:r>
                      </m:e>
                      <m:sub>
                        <m:r>
                          <m:rPr>
                            <m:sty m:val="i"/>
                          </m:rPr>
                          <a:rPr lang="en-US" i="1" sz="3408">
                            <a:latin typeface="Cambria Math"/>
                          </a:rPr>
                          <m:t>c</m:t>
                        </m:r>
                      </m:sub>
                    </m:sSub>
                  </m:oMath>
                </a14:m>
              </mc:Choice>
              <mc:Fallback>
                <a:r>
                  <a:rPr lang="en-US" sz="3408" i="1"/>
                  <a:t>T_c</a:t>
                </a:r>
              </mc:Fallback>
            </mc:AlternateContent>
            <a:r>
              <a:rPr sz="2870" b="1" i="0">
                <a:solidFill>
                  <a:srgbClr val="22232A"/>
                </a:solidFill>
                <a:latin typeface="Montserrat"/>
                <a:ea typeface="Montserrat"/>
                <a:cs typeface="Montserrat"/>
              </a:rPr>
              <a:t>, Electrons Form a Collective State</a:t>
            </a:r>
          </a:p>
        </p:txBody>
      </p:sp>
      <p:sp>
        <p:nvSpPr>
          <p:cNvPr id="6" name="Rounded Rectangle 5"/>
          <p:cNvSpPr/>
          <p:nvPr/>
        </p:nvSpPr>
        <p:spPr>
          <a:xfrm>
            <a:off x="575733" y="1762522"/>
            <a:ext cx="4992952" cy="834099"/>
          </a:xfrm>
          <a:prstGeom prst="roundRect">
            <a:avLst>
              <a:gd name="adj" fmla="val 8120"/>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75733" y="1762522"/>
            <a:ext cx="33867" cy="834099"/>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5733" y="1762522"/>
            <a:ext cx="4992952" cy="834099"/>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Pairing.</a:t>
            </a:r>
            <a:r>
              <a:rPr sz="1300" b="0" i="0">
                <a:solidFill>
                  <a:srgbClr val="22232A"/>
                </a:solidFill>
                <a:latin typeface="Montserrat"/>
                <a:ea typeface="Montserrat"/>
                <a:cs typeface="Montserrat"/>
              </a:rPr>
              <a:t> Electrons near the Fermi level acquire a weak effective attraction through the crystal lattice and form Cooper pairs.</a:t>
            </a:r>
          </a:p>
        </p:txBody>
      </p:sp>
      <p:sp>
        <p:nvSpPr>
          <p:cNvPr id="9" name="Rounded Rectangle 8"/>
          <p:cNvSpPr/>
          <p:nvPr/>
        </p:nvSpPr>
        <p:spPr>
          <a:xfrm>
            <a:off x="575733" y="2681288"/>
            <a:ext cx="4992952" cy="612510"/>
          </a:xfrm>
          <a:prstGeom prst="roundRect">
            <a:avLst>
              <a:gd name="adj" fmla="val 11058"/>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75733" y="2681288"/>
            <a:ext cx="33867" cy="612510"/>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5733" y="2681288"/>
            <a:ext cx="4992952" cy="612510"/>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Condensation.</a:t>
            </a:r>
            <a:r>
              <a:rPr sz="1300" b="0" i="0">
                <a:solidFill>
                  <a:srgbClr val="22232A"/>
                </a:solidFill>
                <a:latin typeface="Montserrat"/>
                <a:ea typeface="Montserrat"/>
                <a:cs typeface="Montserrat"/>
              </a:rPr>
              <a:t> The pairs behave collectively and share a phase-coherent ground state.</a:t>
            </a:r>
          </a:p>
        </p:txBody>
      </p:sp>
      <p:sp>
        <p:nvSpPr>
          <p:cNvPr id="12" name="Rounded Rectangle 11"/>
          <p:cNvSpPr/>
          <p:nvPr/>
        </p:nvSpPr>
        <p:spPr>
          <a:xfrm>
            <a:off x="575733" y="3378465"/>
            <a:ext cx="4992952" cy="612510"/>
          </a:xfrm>
          <a:prstGeom prst="roundRect">
            <a:avLst>
              <a:gd name="adj" fmla="val 11058"/>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75733" y="3378465"/>
            <a:ext cx="33867" cy="612510"/>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5733" y="3378465"/>
            <a:ext cx="4992952" cy="612510"/>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Energy gap.</a:t>
            </a:r>
            <a:r>
              <a:rPr sz="1300" b="0" i="0">
                <a:solidFill>
                  <a:srgbClr val="22232A"/>
                </a:solidFill>
                <a:latin typeface="Montserrat"/>
                <a:ea typeface="Montserrat"/>
                <a:cs typeface="Montserrat"/>
              </a:rPr>
              <a:t> Creating quasiparticles or breaking a pair requires a finite energy </a:t>
            </a:r>
            <mc:AlternateContent xmlns:mc="http://schemas.openxmlformats.org/markup-compatibility/2006">
              <mc:Choice xmlns:a14="http://schemas.microsoft.com/office/drawing/2010/main" Requires="a14">
                <a14:m>
                  <m:oMath xmlns:m="http://schemas.openxmlformats.org/officeDocument/2006/math">
                    <m:r>
                      <m:rPr>
                        <m:sty m:val="p"/>
                      </m:rPr>
                      <a:rPr lang="en-US" i="0" sz="1548">
                        <a:latin typeface="Cambria Math"/>
                      </a:rPr>
                      <m:t>Δ</m:t>
                    </m:r>
                  </m:oMath>
                </a14:m>
              </mc:Choice>
              <mc:Fallback>
                <a:r>
                  <a:rPr lang="en-US" sz="1548" i="1"/>
                  <a:t>\Delta</a:t>
                </a:r>
              </mc:Fallback>
            </mc:AlternateContent>
            <a:r>
              <a:rPr sz="1300" b="0" i="0">
                <a:solidFill>
                  <a:srgbClr val="22232A"/>
                </a:solidFill>
                <a:latin typeface="Montserrat"/>
                <a:ea typeface="Montserrat"/>
                <a:cs typeface="Montserrat"/>
              </a:rPr>
              <a:t>.</a:t>
            </a:r>
          </a:p>
        </p:txBody>
      </p:sp>
      <p:sp>
        <p:nvSpPr>
          <p:cNvPr id="15" name="Rounded Rectangle 14"/>
          <p:cNvSpPr/>
          <p:nvPr/>
        </p:nvSpPr>
        <p:spPr>
          <a:xfrm>
            <a:off x="575733" y="4075642"/>
            <a:ext cx="4992952" cy="834099"/>
          </a:xfrm>
          <a:prstGeom prst="roundRect">
            <a:avLst>
              <a:gd name="adj" fmla="val 8120"/>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75733" y="4075642"/>
            <a:ext cx="33867" cy="834099"/>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5733" y="4075642"/>
            <a:ext cx="4992952" cy="834099"/>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Zero dc resistivity.</a:t>
            </a:r>
            <a:r>
              <a:rPr sz="1300" b="0" i="0">
                <a:solidFill>
                  <a:srgbClr val="22232A"/>
                </a:solidFill>
                <a:latin typeface="Montserrat"/>
                <a:ea typeface="Montserrat"/>
                <a:cs typeface="Montserrat"/>
              </a:rPr>
              <a:t> At low temperature, the gap suppresses the scattering processes responsible for ordinary resistance.</a:t>
            </a:r>
          </a:p>
        </p:txBody>
      </p:sp>
      <p:pic>
        <p:nvPicPr>
          <p:cNvPr id="18" name="Measured superconducting band gap compared with the BCS prediction" descr="bcs1.png"/>
          <p:cNvPicPr>
            <a:picLocks noChangeAspect="1"/>
          </p:cNvPicPr>
          <p:nvPr/>
        </p:nvPicPr>
        <p:blipFill>
          <a:blip r:embed="rId2"/>
          <a:stretch>
            <a:fillRect/>
          </a:stretch>
        </p:blipFill>
        <p:spPr>
          <a:xfrm>
            <a:off x="7455389" y="1452827"/>
            <a:ext cx="2460307" cy="2667000"/>
          </a:xfrm>
          <a:prstGeom prst="rect">
            <a:avLst/>
          </a:prstGeom>
        </p:spPr>
      </p:pic>
      <p:sp>
        <p:nvSpPr>
          <p:cNvPr id="19" name="TextBox 18"/>
          <p:cNvSpPr txBox="1"/>
          <p:nvPr/>
        </p:nvSpPr>
        <p:spPr>
          <a:xfrm>
            <a:off x="5754952" y="4170627"/>
            <a:ext cx="5861315" cy="168804"/>
          </a:xfrm>
          <a:prstGeom prst="rect">
            <a:avLst/>
          </a:prstGeom>
          <a:noFill/>
        </p:spPr>
        <p:txBody>
          <a:bodyPr wrap="none" lIns="0" rIns="0" tIns="0" bIns="0" anchor="t">
            <a:noAutofit/>
          </a:bodyPr>
          <a:lstStyle/>
          <a:p>
            <a:pPr algn="ctr">
              <a:lnSpc>
                <a:spcPts val="1330"/>
              </a:lnSpc>
            </a:pPr>
            <a:r>
              <a:rPr sz="1060" b="0" i="0">
                <a:solidFill>
                  <a:srgbClr val="5F5865"/>
                </a:solidFill>
                <a:latin typeface="Montserrat"/>
                <a:ea typeface="Montserrat"/>
                <a:cs typeface="Montserrat"/>
              </a:rPr>
              <a:t>Measured band-gap evidence for a Type-I superconductor.</a:t>
            </a:r>
          </a:p>
        </p:txBody>
      </p:sp>
      <p:pic>
        <p:nvPicPr>
          <p:cNvPr id="20" name="BCS relation between zero-temperature band gap and critical temperature" descr="bcs2.png"/>
          <p:cNvPicPr>
            <a:picLocks noChangeAspect="1"/>
          </p:cNvPicPr>
          <p:nvPr/>
        </p:nvPicPr>
        <p:blipFill>
          <a:blip r:embed="rId3"/>
          <a:stretch>
            <a:fillRect/>
          </a:stretch>
        </p:blipFill>
        <p:spPr>
          <a:xfrm>
            <a:off x="7979833" y="4339437"/>
            <a:ext cx="1411420" cy="660389"/>
          </a:xfrm>
          <a:prstGeom prst="rect">
            <a:avLst/>
          </a:prstGeom>
        </p:spPr>
      </p:pic>
      <p:sp>
        <p:nvSpPr>
          <p:cNvPr id="21" name="TextBox 20"/>
          <p:cNvSpPr txBox="1"/>
          <p:nvPr/>
        </p:nvSpPr>
        <p:spPr>
          <a:xfrm>
            <a:off x="5754952" y="5050631"/>
            <a:ext cx="5861315" cy="168804"/>
          </a:xfrm>
          <a:prstGeom prst="rect">
            <a:avLst/>
          </a:prstGeom>
          <a:noFill/>
        </p:spPr>
        <p:txBody>
          <a:bodyPr wrap="none" lIns="0" rIns="0" tIns="0" bIns="0" anchor="t">
            <a:noAutofit/>
          </a:bodyPr>
          <a:lstStyle/>
          <a:p>
            <a:pPr algn="ctr">
              <a:lnSpc>
                <a:spcPts val="1330"/>
              </a:lnSpc>
            </a:pPr>
            <a:r>
              <a:rPr sz="1060" b="0" i="0">
                <a:solidFill>
                  <a:srgbClr val="5F5865"/>
                </a:solidFill>
                <a:latin typeface="Montserrat"/>
                <a:ea typeface="Montserrat"/>
                <a:cs typeface="Montserrat"/>
              </a:rPr>
              <a:t>The weak-coupling BCS relation connects the zero-temperature gap to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264">
                            <a:latin typeface="Cambria Math"/>
                          </a:rPr>
                          <m:t>T</m:t>
                        </m:r>
                      </m:e>
                      <m:sub>
                        <m:r>
                          <m:rPr>
                            <m:sty m:val="i"/>
                          </m:rPr>
                          <a:rPr lang="en-US" i="1" sz="1264">
                            <a:latin typeface="Cambria Math"/>
                          </a:rPr>
                          <m:t>c</m:t>
                        </m:r>
                      </m:sub>
                    </m:sSub>
                  </m:oMath>
                </a14:m>
              </mc:Choice>
              <mc:Fallback>
                <a:r>
                  <a:rPr lang="en-US" sz="1264" i="1"/>
                  <a:t>T_c</a:t>
                </a:r>
              </mc:Fallback>
            </mc:AlternateContent>
            <a:r>
              <a:rPr sz="1060" b="0" i="0">
                <a:solidFill>
                  <a:srgbClr val="5F5865"/>
                </a:solidFill>
                <a:latin typeface="Montserrat"/>
                <a:ea typeface="Montserrat"/>
                <a:cs typeface="Montserrat"/>
              </a:rPr>
              <a:t>. </a:t>
            </a:r>
          </a:p>
        </p:txBody>
      </p:sp>
      <p:sp>
        <p:nvSpPr>
          <p:cNvPr id="22" name="TextBox 21"/>
          <p:cNvSpPr txBox="1"/>
          <p:nvPr/>
        </p:nvSpPr>
        <p:spPr>
          <a:xfrm>
            <a:off x="575733" y="5253302"/>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Source and images: </a:t>
            </a:r>
            <a:r>
              <a:rPr sz="1400" b="0" i="0">
                <a:solidFill>
                  <a:srgbClr val="355C9A"/>
                </a:solidFill>
                <a:latin typeface="Montserrat"/>
                <a:ea typeface="Montserrat"/>
                <a:cs typeface="Montserrat"/>
                <a:hlinkClick r:id="rId4"/>
              </a:rPr>
              <a:t>HyperPhysics, “BCS Theory of Superconductivity”</a:t>
            </a:r>
            <a:r>
              <a:rPr sz="1400" b="0" i="0">
                <a:solidFill>
                  <a:srgbClr val="4F4C56"/>
                </a:solidFill>
                <a:latin typeface="Montserrat"/>
                <a:ea typeface="Montserrat"/>
                <a:cs typeface="Montserrat"/>
              </a:rPr>
              <a:t>.</a:t>
            </a:r>
          </a:p>
        </p:txBody>
      </p:sp>
      <p:sp>
        <p:nvSpPr>
          <p:cNvPr id="23" name="Rectangle 22"/>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25" name="TextBox 24"/>
          <p:cNvSpPr txBox="1"/>
          <p:nvPr/>
        </p:nvSpPr>
        <p:spPr>
          <a:xfrm>
            <a:off x="11229446" y="6565900"/>
            <a:ext cx="471487"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20 / 100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021094" y="324115"/>
            <a:ext cx="1679840"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Superconductivity Primer</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The Gap Closes at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3408">
                            <a:latin typeface="Cambria Math"/>
                          </a:rPr>
                          <m:t>T</m:t>
                        </m:r>
                      </m:e>
                      <m:sub>
                        <m:r>
                          <m:rPr>
                            <m:sty m:val="i"/>
                          </m:rPr>
                          <a:rPr lang="en-US" i="1" sz="3408">
                            <a:latin typeface="Cambria Math"/>
                          </a:rPr>
                          <m:t>c</m:t>
                        </m:r>
                      </m:sub>
                    </m:sSub>
                  </m:oMath>
                </a14:m>
              </mc:Choice>
              <mc:Fallback>
                <a:r>
                  <a:rPr lang="en-US" sz="3408" i="1"/>
                  <a:t>T_c</a:t>
                </a:r>
              </mc:Fallback>
            </mc:AlternateContent>
            <a:r>
              <a:rPr sz="2870" b="1" i="0">
                <a:solidFill>
                  <a:srgbClr val="22232A"/>
                </a:solidFill>
                <a:latin typeface="Montserrat"/>
                <a:ea typeface="Montserrat"/>
                <a:cs typeface="Montserrat"/>
              </a:rPr>
              <a:t> and Changes the Heat Capacity</a:t>
            </a:r>
          </a:p>
        </p:txBody>
      </p:sp>
      <p:pic>
        <p:nvPicPr>
          <p:cNvPr id="6" name="Superconducting energy gap measured as a function of temperature" descr="bcs3.png"/>
          <p:cNvPicPr>
            <a:picLocks noChangeAspect="1"/>
          </p:cNvPicPr>
          <p:nvPr/>
        </p:nvPicPr>
        <p:blipFill>
          <a:blip r:embed="rId2"/>
          <a:stretch>
            <a:fillRect/>
          </a:stretch>
        </p:blipFill>
        <p:spPr>
          <a:xfrm>
            <a:off x="1410475" y="1452827"/>
            <a:ext cx="1931629" cy="1947333"/>
          </a:xfrm>
          <a:prstGeom prst="rect">
            <a:avLst/>
          </a:prstGeom>
        </p:spPr>
      </p:pic>
      <p:sp>
        <p:nvSpPr>
          <p:cNvPr id="7" name="TextBox 6"/>
          <p:cNvSpPr txBox="1"/>
          <p:nvPr/>
        </p:nvSpPr>
        <p:spPr>
          <a:xfrm>
            <a:off x="575733" y="3450960"/>
            <a:ext cx="3601111" cy="337608"/>
          </a:xfrm>
          <a:prstGeom prst="rect">
            <a:avLst/>
          </a:prstGeom>
          <a:noFill/>
        </p:spPr>
        <p:txBody>
          <a:bodyPr wrap="square" lIns="0" rIns="0" tIns="0" bIns="0" anchor="t">
            <a:noAutofit/>
          </a:bodyPr>
          <a:lstStyle/>
          <a:p>
            <a:pPr algn="ctr">
              <a:lnSpc>
                <a:spcPts val="1330"/>
              </a:lnSpc>
            </a:pPr>
            <a:r>
              <a:rPr sz="1060" b="1" i="0">
                <a:solidFill>
                  <a:srgbClr val="5F5865"/>
                </a:solidFill>
                <a:latin typeface="Montserrat"/>
                <a:ea typeface="Montserrat"/>
                <a:cs typeface="Montserrat"/>
              </a:rPr>
              <a:t>Microwave absorption.</a:t>
            </a:r>
            <a:r>
              <a:rPr sz="1060" b="0" i="0">
                <a:solidFill>
                  <a:srgbClr val="5F5865"/>
                </a:solidFill>
                <a:latin typeface="Montserrat"/>
                <a:ea typeface="Montserrat"/>
                <a:cs typeface="Montserrat"/>
              </a:rPr>
              <a:t> The measured gap decreases toward zero as the sample approaches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264">
                            <a:latin typeface="Cambria Math"/>
                          </a:rPr>
                          <m:t>T</m:t>
                        </m:r>
                      </m:e>
                      <m:sub>
                        <m:r>
                          <m:rPr>
                            <m:sty m:val="i"/>
                          </m:rPr>
                          <a:rPr lang="en-US" i="1" sz="1264">
                            <a:latin typeface="Cambria Math"/>
                          </a:rPr>
                          <m:t>c</m:t>
                        </m:r>
                      </m:sub>
                    </m:sSub>
                  </m:oMath>
                </a14:m>
              </mc:Choice>
              <mc:Fallback>
                <a:r>
                  <a:rPr lang="en-US" sz="1264" i="1"/>
                  <a:t>T_c</a:t>
                </a:r>
              </mc:Fallback>
            </mc:AlternateContent>
            <a:r>
              <a:rPr sz="1060" b="0" i="0">
                <a:solidFill>
                  <a:srgbClr val="5F5865"/>
                </a:solidFill>
                <a:latin typeface="Montserrat"/>
                <a:ea typeface="Montserrat"/>
                <a:cs typeface="Montserrat"/>
              </a:rPr>
              <a:t>.</a:t>
            </a:r>
          </a:p>
        </p:txBody>
      </p:sp>
      <p:pic>
        <p:nvPicPr>
          <p:cNvPr id="8" name="Heat capacity of superconducting and normal vanadium" descr="bcs4.png"/>
          <p:cNvPicPr>
            <a:picLocks noChangeAspect="1"/>
          </p:cNvPicPr>
          <p:nvPr/>
        </p:nvPicPr>
        <p:blipFill>
          <a:blip r:embed="rId3"/>
          <a:stretch>
            <a:fillRect/>
          </a:stretch>
        </p:blipFill>
        <p:spPr>
          <a:xfrm>
            <a:off x="5099976" y="1454062"/>
            <a:ext cx="1991916" cy="1944862"/>
          </a:xfrm>
          <a:prstGeom prst="rect">
            <a:avLst/>
          </a:prstGeom>
        </p:spPr>
      </p:pic>
      <p:sp>
        <p:nvSpPr>
          <p:cNvPr id="9" name="TextBox 8"/>
          <p:cNvSpPr txBox="1"/>
          <p:nvPr/>
        </p:nvSpPr>
        <p:spPr>
          <a:xfrm>
            <a:off x="4295378" y="3450960"/>
            <a:ext cx="3601111" cy="506412"/>
          </a:xfrm>
          <a:prstGeom prst="rect">
            <a:avLst/>
          </a:prstGeom>
          <a:noFill/>
        </p:spPr>
        <p:txBody>
          <a:bodyPr wrap="square" lIns="0" rIns="0" tIns="0" bIns="0" anchor="t">
            <a:noAutofit/>
          </a:bodyPr>
          <a:lstStyle/>
          <a:p>
            <a:pPr algn="ctr">
              <a:lnSpc>
                <a:spcPts val="1330"/>
              </a:lnSpc>
            </a:pPr>
            <a:r>
              <a:rPr sz="1060" b="1" i="0">
                <a:solidFill>
                  <a:srgbClr val="5F5865"/>
                </a:solidFill>
                <a:latin typeface="Montserrat"/>
                <a:ea typeface="Montserrat"/>
                <a:cs typeface="Montserrat"/>
              </a:rPr>
              <a:t>Vanadium heat capacity.</a:t>
            </a:r>
            <a:r>
              <a:rPr sz="1060" b="0" i="0">
                <a:solidFill>
                  <a:srgbClr val="5F5865"/>
                </a:solidFill>
                <a:latin typeface="Montserrat"/>
                <a:ea typeface="Montserrat"/>
                <a:cs typeface="Montserrat"/>
              </a:rPr>
              <a:t> The superconducting and field-driven normal states follow different temperature dependences.</a:t>
            </a:r>
          </a:p>
        </p:txBody>
      </p:sp>
      <p:pic>
        <p:nvPicPr>
          <p:cNvPr id="10" name="Exponential temperature dependence of superconducting vanadium heat capacity" descr="bcs5.png"/>
          <p:cNvPicPr>
            <a:picLocks noChangeAspect="1"/>
          </p:cNvPicPr>
          <p:nvPr/>
        </p:nvPicPr>
        <p:blipFill>
          <a:blip r:embed="rId4"/>
          <a:stretch>
            <a:fillRect/>
          </a:stretch>
        </p:blipFill>
        <p:spPr>
          <a:xfrm>
            <a:off x="8817107" y="1454165"/>
            <a:ext cx="1997075" cy="1944658"/>
          </a:xfrm>
          <a:prstGeom prst="rect">
            <a:avLst/>
          </a:prstGeom>
        </p:spPr>
      </p:pic>
      <p:sp>
        <p:nvSpPr>
          <p:cNvPr id="11" name="TextBox 10"/>
          <p:cNvSpPr txBox="1"/>
          <p:nvPr/>
        </p:nvSpPr>
        <p:spPr>
          <a:xfrm>
            <a:off x="8015023" y="3450960"/>
            <a:ext cx="3601244" cy="506412"/>
          </a:xfrm>
          <a:prstGeom prst="rect">
            <a:avLst/>
          </a:prstGeom>
          <a:noFill/>
        </p:spPr>
        <p:txBody>
          <a:bodyPr wrap="square" lIns="0" rIns="0" tIns="0" bIns="0" anchor="t">
            <a:noAutofit/>
          </a:bodyPr>
          <a:lstStyle/>
          <a:p>
            <a:pPr algn="ctr">
              <a:lnSpc>
                <a:spcPts val="1330"/>
              </a:lnSpc>
            </a:pPr>
            <a:r>
              <a:rPr sz="1060" b="1" i="0">
                <a:solidFill>
                  <a:srgbClr val="5F5865"/>
                </a:solidFill>
                <a:latin typeface="Montserrat"/>
                <a:ea typeface="Montserrat"/>
                <a:cs typeface="Montserrat"/>
              </a:rPr>
              <a:t>Activated behavior.</a:t>
            </a:r>
            <a:r>
              <a:rPr sz="1060" b="0" i="0">
                <a:solidFill>
                  <a:srgbClr val="5F5865"/>
                </a:solidFill>
                <a:latin typeface="Montserrat"/>
                <a:ea typeface="Montserrat"/>
                <a:cs typeface="Montserrat"/>
              </a:rPr>
              <a:t> The exponential low-temperature response provides evidence for a finite excitation gap.</a:t>
            </a:r>
          </a:p>
        </p:txBody>
      </p:sp>
      <p:sp>
        <p:nvSpPr>
          <p:cNvPr id="12" name="TextBox 11"/>
          <p:cNvSpPr txBox="1"/>
          <p:nvPr/>
        </p:nvSpPr>
        <p:spPr>
          <a:xfrm>
            <a:off x="575733" y="3991240"/>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The gap weakens as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T</m:t>
                    </m:r>
                  </m:oMath>
                </a14:m>
              </mc:Choice>
              <mc:Fallback>
                <a:r>
                  <a:rPr lang="en-US" sz="1664" i="1"/>
                  <a:t>T</a:t>
                </a:r>
              </mc:Fallback>
            </mc:AlternateContent>
            <a:r>
              <a:rPr sz="1400" b="0" i="0">
                <a:solidFill>
                  <a:srgbClr val="4F4C56"/>
                </a:solidFill>
                <a:latin typeface="Montserrat"/>
                <a:ea typeface="Montserrat"/>
                <a:cs typeface="Montserrat"/>
              </a:rPr>
              <a:t> approaches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T</m:t>
                        </m:r>
                      </m:e>
                      <m:sub>
                        <m:r>
                          <m:rPr>
                            <m:sty m:val="i"/>
                          </m:rPr>
                          <a:rPr lang="en-US" i="1" sz="1665">
                            <a:latin typeface="Cambria Math"/>
                          </a:rPr>
                          <m:t>c</m:t>
                        </m:r>
                      </m:sub>
                    </m:sSub>
                  </m:oMath>
                </a14:m>
              </mc:Choice>
              <mc:Fallback>
                <a:r>
                  <a:rPr lang="en-US" sz="1664" i="1"/>
                  <a:t>T_c</a:t>
                </a:r>
              </mc:Fallback>
            </mc:AlternateContent>
            <a:r>
              <a:rPr sz="1400" b="0" i="0">
                <a:solidFill>
                  <a:srgbClr val="4F4C56"/>
                </a:solidFill>
                <a:latin typeface="Montserrat"/>
                <a:ea typeface="Montserrat"/>
                <a:cs typeface="Montserrat"/>
              </a:rPr>
              <a:t>. Above the transition, the paired state disappears and normal resistivity returns.</a:t>
            </a:r>
          </a:p>
        </p:txBody>
      </p:sp>
      <p:sp>
        <p:nvSpPr>
          <p:cNvPr id="13" name="TextBox 12"/>
          <p:cNvSpPr txBox="1"/>
          <p:nvPr/>
        </p:nvSpPr>
        <p:spPr>
          <a:xfrm>
            <a:off x="575733" y="4396846"/>
            <a:ext cx="11040533"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Source and images: </a:t>
            </a:r>
            <a:r>
              <a:rPr sz="1400" b="0" i="0">
                <a:solidFill>
                  <a:srgbClr val="355C9A"/>
                </a:solidFill>
                <a:latin typeface="Montserrat"/>
                <a:ea typeface="Montserrat"/>
                <a:cs typeface="Montserrat"/>
                <a:hlinkClick r:id="rId5"/>
              </a:rPr>
              <a:t>HyperPhysics, “BCS Theory of Superconductivity”</a:t>
            </a:r>
            <a:r>
              <a:rPr sz="1400" b="0" i="0">
                <a:solidFill>
                  <a:srgbClr val="4F4C56"/>
                </a:solidFill>
                <a:latin typeface="Montserrat"/>
                <a:ea typeface="Montserrat"/>
                <a:cs typeface="Montserrat"/>
              </a:rPr>
              <a:t>. Vanadium data cited there to W. S. Korak et al., </a:t>
            </a:r>
            <a:r>
              <a:rPr sz="1400" b="0" i="1">
                <a:solidFill>
                  <a:srgbClr val="4F4C56"/>
                </a:solidFill>
                <a:latin typeface="Montserrat"/>
                <a:ea typeface="Montserrat"/>
                <a:cs typeface="Montserrat"/>
              </a:rPr>
              <a:t>Phys. Rev.</a:t>
            </a:r>
            <a:r>
              <a:rPr sz="1400" b="0" i="0">
                <a:solidFill>
                  <a:srgbClr val="4F4C56"/>
                </a:solidFill>
                <a:latin typeface="Montserrat"/>
                <a:ea typeface="Montserrat"/>
                <a:cs typeface="Montserrat"/>
              </a:rPr>
              <a:t> 102, 656 (1956).</a:t>
            </a:r>
          </a:p>
        </p:txBody>
      </p:sp>
      <p:sp>
        <p:nvSpPr>
          <p:cNvPr id="14" name="Rectangle 13"/>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6" name="TextBox 15"/>
          <p:cNvSpPr txBox="1"/>
          <p:nvPr/>
        </p:nvSpPr>
        <p:spPr>
          <a:xfrm>
            <a:off x="11263445" y="6565900"/>
            <a:ext cx="437489"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21 / 100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021094" y="324115"/>
            <a:ext cx="1679840"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Superconductivity Primer</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Pairing Extends Far Beyond One Lattice Spacing</a:t>
            </a:r>
          </a:p>
        </p:txBody>
      </p:sp>
      <p:pic>
        <p:nvPicPr>
          <p:cNvPr id="6" name="Illustration of two electrons coupled across a crystal lattice as a Cooper pair" descr="bcs6.png"/>
          <p:cNvPicPr>
            <a:picLocks noChangeAspect="1"/>
          </p:cNvPicPr>
          <p:nvPr/>
        </p:nvPicPr>
        <p:blipFill>
          <a:blip r:embed="rId2"/>
          <a:stretch>
            <a:fillRect/>
          </a:stretch>
        </p:blipFill>
        <p:spPr>
          <a:xfrm>
            <a:off x="651140" y="1476172"/>
            <a:ext cx="4842140" cy="2620310"/>
          </a:xfrm>
          <a:prstGeom prst="rect">
            <a:avLst/>
          </a:prstGeom>
        </p:spPr>
      </p:pic>
      <p:sp>
        <p:nvSpPr>
          <p:cNvPr id="7" name="TextBox 6"/>
          <p:cNvSpPr txBox="1"/>
          <p:nvPr/>
        </p:nvSpPr>
        <p:spPr>
          <a:xfrm>
            <a:off x="575733" y="4170627"/>
            <a:ext cx="4992952" cy="337608"/>
          </a:xfrm>
          <a:prstGeom prst="rect">
            <a:avLst/>
          </a:prstGeom>
          <a:noFill/>
        </p:spPr>
        <p:txBody>
          <a:bodyPr wrap="square" lIns="0" rIns="0" tIns="0" bIns="0" anchor="t">
            <a:noAutofit/>
          </a:bodyPr>
          <a:lstStyle/>
          <a:p>
            <a:pPr algn="ctr">
              <a:lnSpc>
                <a:spcPts val="1330"/>
              </a:lnSpc>
            </a:pPr>
            <a:r>
              <a:rPr sz="1060" b="0" i="0">
                <a:solidFill>
                  <a:srgbClr val="5F5865"/>
                </a:solidFill>
                <a:latin typeface="Montserrat"/>
                <a:ea typeface="Montserrat"/>
                <a:cs typeface="Montserrat"/>
              </a:rPr>
              <a:t>A Cooper pair can correlate electrons over hundreds of nanometres, much farther than the spacing between neighboring ions.</a:t>
            </a:r>
          </a:p>
        </p:txBody>
      </p:sp>
      <p:sp>
        <p:nvSpPr>
          <p:cNvPr id="8" name="Rounded Rectangle 7"/>
          <p:cNvSpPr/>
          <p:nvPr/>
        </p:nvSpPr>
        <p:spPr>
          <a:xfrm>
            <a:off x="5754952" y="1628510"/>
            <a:ext cx="5861315" cy="612510"/>
          </a:xfrm>
          <a:prstGeom prst="roundRect">
            <a:avLst>
              <a:gd name="adj" fmla="val 11058"/>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754952" y="1628510"/>
            <a:ext cx="33867" cy="612510"/>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54952" y="1628510"/>
            <a:ext cx="5861315" cy="612510"/>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Single electrons are fermions.</a:t>
            </a:r>
            <a:r>
              <a:rPr sz="1300" b="0" i="0">
                <a:solidFill>
                  <a:srgbClr val="22232A"/>
                </a:solidFill>
                <a:latin typeface="Montserrat"/>
                <a:ea typeface="Montserrat"/>
                <a:cs typeface="Montserrat"/>
              </a:rPr>
              <a:t> The Pauli exclusion principle prevents them from all occupying one state.</a:t>
            </a:r>
          </a:p>
        </p:txBody>
      </p:sp>
      <p:sp>
        <p:nvSpPr>
          <p:cNvPr id="11" name="Rounded Rectangle 10"/>
          <p:cNvSpPr/>
          <p:nvPr/>
        </p:nvSpPr>
        <p:spPr>
          <a:xfrm>
            <a:off x="5754952" y="2325688"/>
            <a:ext cx="5861315" cy="612510"/>
          </a:xfrm>
          <a:prstGeom prst="roundRect">
            <a:avLst>
              <a:gd name="adj" fmla="val 11058"/>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754952" y="2325688"/>
            <a:ext cx="33867" cy="612510"/>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54952" y="2325688"/>
            <a:ext cx="5861315" cy="612510"/>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A pair has integer total spin.</a:t>
            </a:r>
            <a:r>
              <a:rPr sz="1300" b="0" i="0">
                <a:solidFill>
                  <a:srgbClr val="22232A"/>
                </a:solidFill>
                <a:latin typeface="Montserrat"/>
                <a:ea typeface="Montserrat"/>
                <a:cs typeface="Montserrat"/>
              </a:rPr>
              <a:t> Cooper pairs can therefore show boson-like collective behavior.</a:t>
            </a:r>
          </a:p>
        </p:txBody>
      </p:sp>
      <p:sp>
        <p:nvSpPr>
          <p:cNvPr id="14" name="Rounded Rectangle 13"/>
          <p:cNvSpPr/>
          <p:nvPr/>
        </p:nvSpPr>
        <p:spPr>
          <a:xfrm>
            <a:off x="5754952" y="3022865"/>
            <a:ext cx="5861315" cy="612510"/>
          </a:xfrm>
          <a:prstGeom prst="roundRect">
            <a:avLst>
              <a:gd name="adj" fmla="val 11058"/>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754952" y="3022865"/>
            <a:ext cx="33867" cy="612510"/>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54952" y="3022865"/>
            <a:ext cx="5861315" cy="612510"/>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The binding energy is small.</a:t>
            </a:r>
            <a:r>
              <a:rPr sz="1300" b="0" i="0">
                <a:solidFill>
                  <a:srgbClr val="22232A"/>
                </a:solidFill>
                <a:latin typeface="Montserrat"/>
                <a:ea typeface="Montserrat"/>
                <a:cs typeface="Montserrat"/>
              </a:rPr>
              <a:t> It is typically measured in millielectron-volts, so superconductivity requires low temperature.</a:t>
            </a:r>
          </a:p>
        </p:txBody>
      </p:sp>
      <p:sp>
        <p:nvSpPr>
          <p:cNvPr id="17" name="Rounded Rectangle 16"/>
          <p:cNvSpPr/>
          <p:nvPr/>
        </p:nvSpPr>
        <p:spPr>
          <a:xfrm>
            <a:off x="5754952" y="3720042"/>
            <a:ext cx="5861315" cy="612510"/>
          </a:xfrm>
          <a:prstGeom prst="roundRect">
            <a:avLst>
              <a:gd name="adj" fmla="val 11058"/>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754952" y="3720042"/>
            <a:ext cx="33867" cy="612510"/>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54952" y="3720042"/>
            <a:ext cx="5861315" cy="612510"/>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The phase is macroscopic.</a:t>
            </a:r>
            <a:r>
              <a:rPr sz="1300" b="0" i="0">
                <a:solidFill>
                  <a:srgbClr val="22232A"/>
                </a:solidFill>
                <a:latin typeface="Montserrat"/>
                <a:ea typeface="Montserrat"/>
                <a:cs typeface="Montserrat"/>
              </a:rPr>
              <a:t> A common condensate phase later becomes the circuit variable across a Josephson junction.</a:t>
            </a:r>
          </a:p>
        </p:txBody>
      </p:sp>
      <p:sp>
        <p:nvSpPr>
          <p:cNvPr id="20" name="TextBox 19"/>
          <p:cNvSpPr txBox="1"/>
          <p:nvPr/>
        </p:nvSpPr>
        <p:spPr>
          <a:xfrm>
            <a:off x="575733" y="4542102"/>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Source and image: </a:t>
            </a:r>
            <a:r>
              <a:rPr sz="1400" b="0" i="0">
                <a:solidFill>
                  <a:srgbClr val="355C9A"/>
                </a:solidFill>
                <a:latin typeface="Montserrat"/>
                <a:ea typeface="Montserrat"/>
                <a:cs typeface="Montserrat"/>
                <a:hlinkClick r:id="rId3"/>
              </a:rPr>
              <a:t>HyperPhysics, “Cooper Pairs”</a:t>
            </a:r>
            <a:r>
              <a:rPr sz="1400" b="0" i="0">
                <a:solidFill>
                  <a:srgbClr val="4F4C56"/>
                </a:solidFill>
                <a:latin typeface="Montserrat"/>
                <a:ea typeface="Montserrat"/>
                <a:cs typeface="Montserrat"/>
              </a:rPr>
              <a:t>.</a:t>
            </a:r>
          </a:p>
        </p:txBody>
      </p:sp>
      <p:sp>
        <p:nvSpPr>
          <p:cNvPr id="21" name="Rectangle 20"/>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23" name="TextBox 22"/>
          <p:cNvSpPr txBox="1"/>
          <p:nvPr/>
        </p:nvSpPr>
        <p:spPr>
          <a:xfrm>
            <a:off x="11240029" y="6565900"/>
            <a:ext cx="460904"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22 / 100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021094" y="324115"/>
            <a:ext cx="1679840"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Superconductivity Primer</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A Lattice Distortion Couples Two Electrons</a:t>
            </a:r>
          </a:p>
        </p:txBody>
      </p:sp>
      <p:pic>
        <p:nvPicPr>
          <p:cNvPr id="6" name="A moving electron distorts the positively charged crystal lattice" descr="bcs7.png"/>
          <p:cNvPicPr>
            <a:picLocks noChangeAspect="1"/>
          </p:cNvPicPr>
          <p:nvPr/>
        </p:nvPicPr>
        <p:blipFill>
          <a:blip r:embed="rId2"/>
          <a:stretch>
            <a:fillRect/>
          </a:stretch>
        </p:blipFill>
        <p:spPr>
          <a:xfrm>
            <a:off x="1050264" y="1480396"/>
            <a:ext cx="4503341" cy="2061529"/>
          </a:xfrm>
          <a:prstGeom prst="rect">
            <a:avLst/>
          </a:prstGeom>
        </p:spPr>
      </p:pic>
      <p:sp>
        <p:nvSpPr>
          <p:cNvPr id="7" name="TextBox 6"/>
          <p:cNvSpPr txBox="1"/>
          <p:nvPr/>
        </p:nvSpPr>
        <p:spPr>
          <a:xfrm>
            <a:off x="689504" y="3620294"/>
            <a:ext cx="53049" cy="168804"/>
          </a:xfrm>
          <a:prstGeom prst="rect">
            <a:avLst/>
          </a:prstGeom>
          <a:noFill/>
        </p:spPr>
        <p:txBody>
          <a:bodyPr wrap="none" lIns="0" rIns="0" tIns="0" bIns="0" anchor="t">
            <a:noAutofit/>
          </a:bodyPr>
          <a:lstStyle/>
          <a:p>
            <a:pPr algn="ctr">
              <a:lnSpc>
                <a:spcPts val="1330"/>
              </a:lnSpc>
            </a:pPr>
            <a:r>
              <a:rPr sz="1060" b="1" i="0">
                <a:solidFill>
                  <a:srgbClr val="70549A"/>
                </a:solidFill>
                <a:latin typeface="Montserrat"/>
                <a:ea typeface="Montserrat"/>
                <a:cs typeface="Montserrat"/>
              </a:rPr>
              <a:t>1</a:t>
            </a:r>
          </a:p>
        </p:txBody>
      </p:sp>
      <p:pic>
        <p:nvPicPr>
          <p:cNvPr id="8" name="A second electron is attracted to the lattice distortion created by the first el" descr="bcs8.png"/>
          <p:cNvPicPr>
            <a:picLocks noChangeAspect="1"/>
          </p:cNvPicPr>
          <p:nvPr/>
        </p:nvPicPr>
        <p:blipFill>
          <a:blip r:embed="rId3"/>
          <a:stretch>
            <a:fillRect/>
          </a:stretch>
        </p:blipFill>
        <p:spPr>
          <a:xfrm>
            <a:off x="6616700" y="1480598"/>
            <a:ext cx="4546600" cy="2061125"/>
          </a:xfrm>
          <a:prstGeom prst="rect">
            <a:avLst/>
          </a:prstGeom>
        </p:spPr>
      </p:pic>
      <p:sp>
        <p:nvSpPr>
          <p:cNvPr id="9" name="TextBox 8"/>
          <p:cNvSpPr txBox="1"/>
          <p:nvPr/>
        </p:nvSpPr>
        <p:spPr>
          <a:xfrm>
            <a:off x="6410457" y="3620294"/>
            <a:ext cx="79772" cy="168804"/>
          </a:xfrm>
          <a:prstGeom prst="rect">
            <a:avLst/>
          </a:prstGeom>
          <a:noFill/>
        </p:spPr>
        <p:txBody>
          <a:bodyPr wrap="none" lIns="0" rIns="0" tIns="0" bIns="0" anchor="t">
            <a:noAutofit/>
          </a:bodyPr>
          <a:lstStyle/>
          <a:p>
            <a:pPr algn="ctr">
              <a:lnSpc>
                <a:spcPts val="1330"/>
              </a:lnSpc>
            </a:pPr>
            <a:r>
              <a:rPr sz="1060" b="1" i="0">
                <a:solidFill>
                  <a:srgbClr val="70549A"/>
                </a:solidFill>
                <a:latin typeface="Montserrat"/>
                <a:ea typeface="Montserrat"/>
                <a:cs typeface="Montserrat"/>
              </a:rPr>
              <a:t>2</a:t>
            </a:r>
          </a:p>
        </p:txBody>
      </p:sp>
      <p:sp>
        <p:nvSpPr>
          <p:cNvPr id="10" name="Rectangle 9"/>
          <p:cNvSpPr/>
          <p:nvPr/>
        </p:nvSpPr>
        <p:spPr>
          <a:xfrm>
            <a:off x="575733" y="4042569"/>
            <a:ext cx="11040533" cy="980546"/>
          </a:xfrm>
          <a:prstGeom prst="rect">
            <a:avLst/>
          </a:prstGeom>
          <a:solidFill>
            <a:srgbClr val="EF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75733" y="4042569"/>
            <a:ext cx="42333" cy="980546"/>
          </a:xfrm>
          <a:prstGeom prst="rect">
            <a:avLst/>
          </a:prstGeom>
          <a:solidFill>
            <a:srgbClr val="5F4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867" y="4194969"/>
            <a:ext cx="10642600"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The bare Coulomb interaction remains repulsive. The delayed response of the lattice adds an effective low-energy attraction that can bind time-reversed electron states.</a:t>
            </a:r>
          </a:p>
        </p:txBody>
      </p:sp>
      <p:sp>
        <p:nvSpPr>
          <p:cNvPr id="13" name="TextBox 12"/>
          <p:cNvSpPr txBox="1"/>
          <p:nvPr/>
        </p:nvSpPr>
        <p:spPr>
          <a:xfrm>
            <a:off x="575733" y="5158581"/>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Source and images: </a:t>
            </a:r>
            <a:r>
              <a:rPr sz="1400" b="0" i="0">
                <a:solidFill>
                  <a:srgbClr val="355C9A"/>
                </a:solidFill>
                <a:latin typeface="Montserrat"/>
                <a:ea typeface="Montserrat"/>
                <a:cs typeface="Montserrat"/>
                <a:hlinkClick r:id="rId4"/>
              </a:rPr>
              <a:t>HyperPhysics, “A model of Cooper pair attraction”</a:t>
            </a:r>
            <a:r>
              <a:rPr sz="1400" b="0" i="0">
                <a:solidFill>
                  <a:srgbClr val="4F4C56"/>
                </a:solidFill>
                <a:latin typeface="Montserrat"/>
                <a:ea typeface="Montserrat"/>
                <a:cs typeface="Montserrat"/>
              </a:rPr>
              <a:t>.</a:t>
            </a:r>
          </a:p>
        </p:txBody>
      </p:sp>
      <p:sp>
        <p:nvSpPr>
          <p:cNvPr id="14" name="Rectangle 13"/>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6" name="TextBox 15"/>
          <p:cNvSpPr txBox="1"/>
          <p:nvPr/>
        </p:nvSpPr>
        <p:spPr>
          <a:xfrm>
            <a:off x="11239765" y="6565900"/>
            <a:ext cx="461169"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23 / 100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021094" y="324115"/>
            <a:ext cx="1679840"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Superconductivity Primer</a:t>
            </a:r>
          </a:p>
        </p:txBody>
      </p:sp>
      <p:sp>
        <p:nvSpPr>
          <p:cNvPr id="5" name="TextBox 4"/>
          <p:cNvSpPr txBox="1"/>
          <p:nvPr/>
        </p:nvSpPr>
        <p:spPr>
          <a:xfrm>
            <a:off x="575733" y="863600"/>
            <a:ext cx="11040533" cy="873654"/>
          </a:xfrm>
          <a:prstGeom prst="rect">
            <a:avLst/>
          </a:prstGeom>
          <a:noFill/>
        </p:spPr>
        <p:txBody>
          <a:bodyPr wrap="square" lIns="0" rIns="0" tIns="0" bIns="0" anchor="t">
            <a:noAutofit/>
          </a:bodyPr>
          <a:lstStyle/>
          <a:p>
            <a:pPr algn="l">
              <a:lnSpc>
                <a:spcPts val="3440"/>
              </a:lnSpc>
            </a:pPr>
            <a:r>
              <a:rPr sz="2870" b="1" i="0">
                <a:solidFill>
                  <a:srgbClr val="22232A"/>
                </a:solidFill>
                <a:latin typeface="Montserrat"/>
                <a:ea typeface="Montserrat"/>
                <a:cs typeface="Montserrat"/>
              </a:rPr>
              <a:t>Real-Space Distortion and Phonon Exchange Describe the Same Coupling</a:t>
            </a:r>
          </a:p>
        </p:txBody>
      </p:sp>
      <p:pic>
        <p:nvPicPr>
          <p:cNvPr id="6" name="First stage of the lattice-distortion model for electron attraction" descr="bcs9.png"/>
          <p:cNvPicPr>
            <a:picLocks noChangeAspect="1"/>
          </p:cNvPicPr>
          <p:nvPr/>
        </p:nvPicPr>
        <p:blipFill>
          <a:blip r:embed="rId2"/>
          <a:stretch>
            <a:fillRect/>
          </a:stretch>
        </p:blipFill>
        <p:spPr>
          <a:xfrm>
            <a:off x="575733" y="1960032"/>
            <a:ext cx="3601111" cy="1806578"/>
          </a:xfrm>
          <a:prstGeom prst="rect">
            <a:avLst/>
          </a:prstGeom>
        </p:spPr>
      </p:pic>
      <p:sp>
        <p:nvSpPr>
          <p:cNvPr id="7" name="TextBox 6"/>
          <p:cNvSpPr txBox="1"/>
          <p:nvPr/>
        </p:nvSpPr>
        <p:spPr>
          <a:xfrm>
            <a:off x="575733" y="3887787"/>
            <a:ext cx="3601111" cy="168804"/>
          </a:xfrm>
          <a:prstGeom prst="rect">
            <a:avLst/>
          </a:prstGeom>
          <a:noFill/>
        </p:spPr>
        <p:txBody>
          <a:bodyPr wrap="none" lIns="0" rIns="0" tIns="0" bIns="0" anchor="t">
            <a:noAutofit/>
          </a:bodyPr>
          <a:lstStyle/>
          <a:p>
            <a:pPr algn="ctr">
              <a:lnSpc>
                <a:spcPts val="1330"/>
              </a:lnSpc>
            </a:pPr>
            <a:r>
              <a:rPr sz="1060" b="0" i="0">
                <a:solidFill>
                  <a:srgbClr val="5F5865"/>
                </a:solidFill>
                <a:latin typeface="Montserrat"/>
                <a:ea typeface="Montserrat"/>
                <a:cs typeface="Montserrat"/>
              </a:rPr>
              <a:t>The first electron polarizes the ionic lattice.</a:t>
            </a:r>
          </a:p>
        </p:txBody>
      </p:sp>
      <p:pic>
        <p:nvPicPr>
          <p:cNvPr id="8" name="Second stage of the lattice-distortion model for electron attraction" descr="bcs9b.png"/>
          <p:cNvPicPr>
            <a:picLocks noChangeAspect="1"/>
          </p:cNvPicPr>
          <p:nvPr/>
        </p:nvPicPr>
        <p:blipFill>
          <a:blip r:embed="rId3"/>
          <a:stretch>
            <a:fillRect/>
          </a:stretch>
        </p:blipFill>
        <p:spPr>
          <a:xfrm>
            <a:off x="4295378" y="2019871"/>
            <a:ext cx="3601111" cy="1686899"/>
          </a:xfrm>
          <a:prstGeom prst="rect">
            <a:avLst/>
          </a:prstGeom>
        </p:spPr>
      </p:pic>
      <p:sp>
        <p:nvSpPr>
          <p:cNvPr id="9" name="TextBox 8"/>
          <p:cNvSpPr txBox="1"/>
          <p:nvPr/>
        </p:nvSpPr>
        <p:spPr>
          <a:xfrm>
            <a:off x="4295378" y="3887787"/>
            <a:ext cx="3601111" cy="168804"/>
          </a:xfrm>
          <a:prstGeom prst="rect">
            <a:avLst/>
          </a:prstGeom>
          <a:noFill/>
        </p:spPr>
        <p:txBody>
          <a:bodyPr wrap="none" lIns="0" rIns="0" tIns="0" bIns="0" anchor="t">
            <a:noAutofit/>
          </a:bodyPr>
          <a:lstStyle/>
          <a:p>
            <a:pPr algn="ctr">
              <a:lnSpc>
                <a:spcPts val="1330"/>
              </a:lnSpc>
            </a:pPr>
            <a:r>
              <a:rPr sz="1060" b="0" i="0">
                <a:solidFill>
                  <a:srgbClr val="5F5865"/>
                </a:solidFill>
                <a:latin typeface="Montserrat"/>
                <a:ea typeface="Montserrat"/>
                <a:cs typeface="Montserrat"/>
              </a:rPr>
              <a:t>The displaced lattice attracts the second electron.</a:t>
            </a:r>
          </a:p>
        </p:txBody>
      </p:sp>
      <p:pic>
        <p:nvPicPr>
          <p:cNvPr id="10" name="Feynman diagram representing electron coupling through phonon exchange" descr="bcs10.png"/>
          <p:cNvPicPr>
            <a:picLocks noChangeAspect="1"/>
          </p:cNvPicPr>
          <p:nvPr/>
        </p:nvPicPr>
        <p:blipFill>
          <a:blip r:embed="rId4"/>
          <a:stretch>
            <a:fillRect/>
          </a:stretch>
        </p:blipFill>
        <p:spPr>
          <a:xfrm>
            <a:off x="8953478" y="1889654"/>
            <a:ext cx="1724201" cy="1947333"/>
          </a:xfrm>
          <a:prstGeom prst="rect">
            <a:avLst/>
          </a:prstGeom>
        </p:spPr>
      </p:pic>
      <p:sp>
        <p:nvSpPr>
          <p:cNvPr id="11" name="TextBox 10"/>
          <p:cNvSpPr txBox="1"/>
          <p:nvPr/>
        </p:nvSpPr>
        <p:spPr>
          <a:xfrm>
            <a:off x="8015023" y="3887787"/>
            <a:ext cx="3601244" cy="506412"/>
          </a:xfrm>
          <a:prstGeom prst="rect">
            <a:avLst/>
          </a:prstGeom>
          <a:noFill/>
        </p:spPr>
        <p:txBody>
          <a:bodyPr wrap="square" lIns="0" rIns="0" tIns="0" bIns="0" anchor="t">
            <a:noAutofit/>
          </a:bodyPr>
          <a:lstStyle/>
          <a:p>
            <a:pPr algn="ctr">
              <a:lnSpc>
                <a:spcPts val="1330"/>
              </a:lnSpc>
            </a:pPr>
            <a:r>
              <a:rPr sz="1060" b="0" i="0">
                <a:solidFill>
                  <a:srgbClr val="5F5865"/>
                </a:solidFill>
                <a:latin typeface="Montserrat"/>
                <a:ea typeface="Montserrat"/>
                <a:cs typeface="Montserrat"/>
              </a:rPr>
              <a:t>A phonon-exchange diagram represents the same effective interaction in momentum and energy language.</a:t>
            </a:r>
          </a:p>
        </p:txBody>
      </p:sp>
      <p:sp>
        <p:nvSpPr>
          <p:cNvPr id="12" name="TextBox 11"/>
          <p:cNvSpPr txBox="1"/>
          <p:nvPr/>
        </p:nvSpPr>
        <p:spPr>
          <a:xfrm>
            <a:off x="575733" y="4428067"/>
            <a:ext cx="11040533"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The microscopic interaction supports a collective condensate only when pairing wins over thermal agitation and other pair-breaking processes.</a:t>
            </a:r>
          </a:p>
        </p:txBody>
      </p:sp>
      <p:sp>
        <p:nvSpPr>
          <p:cNvPr id="13" name="TextBox 12"/>
          <p:cNvSpPr txBox="1"/>
          <p:nvPr/>
        </p:nvSpPr>
        <p:spPr>
          <a:xfrm>
            <a:off x="575733" y="5103812"/>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Source and images: </a:t>
            </a:r>
            <a:r>
              <a:rPr sz="1400" b="0" i="0">
                <a:solidFill>
                  <a:srgbClr val="355C9A"/>
                </a:solidFill>
                <a:latin typeface="Montserrat"/>
                <a:ea typeface="Montserrat"/>
                <a:cs typeface="Montserrat"/>
                <a:hlinkClick r:id="rId5"/>
              </a:rPr>
              <a:t>HyperPhysics, “Model of Pair Attraction”</a:t>
            </a:r>
            <a:r>
              <a:rPr sz="1400" b="0" i="0">
                <a:solidFill>
                  <a:srgbClr val="4F4C56"/>
                </a:solidFill>
                <a:latin typeface="Montserrat"/>
                <a:ea typeface="Montserrat"/>
                <a:cs typeface="Montserrat"/>
              </a:rPr>
              <a:t>.</a:t>
            </a:r>
          </a:p>
        </p:txBody>
      </p:sp>
      <p:sp>
        <p:nvSpPr>
          <p:cNvPr id="14" name="Rectangle 13"/>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6" name="TextBox 15"/>
          <p:cNvSpPr txBox="1"/>
          <p:nvPr/>
        </p:nvSpPr>
        <p:spPr>
          <a:xfrm>
            <a:off x="11229446" y="6565900"/>
            <a:ext cx="471487"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24 / 100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021094" y="324115"/>
            <a:ext cx="1679840"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Superconductivity Primer</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The Isotope Effect Connects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3408">
                            <a:latin typeface="Cambria Math"/>
                          </a:rPr>
                          <m:t>T</m:t>
                        </m:r>
                      </m:e>
                      <m:sub>
                        <m:r>
                          <m:rPr>
                            <m:sty m:val="i"/>
                          </m:rPr>
                          <a:rPr lang="en-US" i="1" sz="3408">
                            <a:latin typeface="Cambria Math"/>
                          </a:rPr>
                          <m:t>c</m:t>
                        </m:r>
                      </m:sub>
                    </m:sSub>
                  </m:oMath>
                </a14:m>
              </mc:Choice>
              <mc:Fallback>
                <a:r>
                  <a:rPr lang="en-US" sz="3408" i="1"/>
                  <a:t>T_c</a:t>
                </a:r>
              </mc:Fallback>
            </mc:AlternateContent>
            <a:r>
              <a:rPr sz="2870" b="1" i="0">
                <a:solidFill>
                  <a:srgbClr val="22232A"/>
                </a:solidFill>
                <a:latin typeface="Montserrat"/>
                <a:ea typeface="Montserrat"/>
                <a:cs typeface="Montserrat"/>
              </a:rPr>
              <a:t> to Atomic Mass</a:t>
            </a:r>
          </a:p>
        </p:txBody>
      </p:sp>
      <p:pic>
        <p:nvPicPr>
          <p:cNvPr id="6" name="Mercury isotope data showing critical temperature changing with isotopic mass" descr="bcs11.png"/>
          <p:cNvPicPr>
            <a:picLocks noChangeAspect="1"/>
          </p:cNvPicPr>
          <p:nvPr/>
        </p:nvPicPr>
        <p:blipFill>
          <a:blip r:embed="rId2"/>
          <a:stretch>
            <a:fillRect/>
          </a:stretch>
        </p:blipFill>
        <p:spPr>
          <a:xfrm>
            <a:off x="2025032" y="1452827"/>
            <a:ext cx="2094221" cy="2667000"/>
          </a:xfrm>
          <a:prstGeom prst="rect">
            <a:avLst/>
          </a:prstGeom>
        </p:spPr>
      </p:pic>
      <p:sp>
        <p:nvSpPr>
          <p:cNvPr id="7" name="TextBox 6"/>
          <p:cNvSpPr txBox="1"/>
          <p:nvPr/>
        </p:nvSpPr>
        <p:spPr>
          <a:xfrm>
            <a:off x="575733" y="4170627"/>
            <a:ext cx="4992952" cy="337608"/>
          </a:xfrm>
          <a:prstGeom prst="rect">
            <a:avLst/>
          </a:prstGeom>
          <a:noFill/>
        </p:spPr>
        <p:txBody>
          <a:bodyPr wrap="square" lIns="0" rIns="0" tIns="0" bIns="0" anchor="t">
            <a:noAutofit/>
          </a:bodyPr>
          <a:lstStyle/>
          <a:p>
            <a:pPr algn="ctr">
              <a:lnSpc>
                <a:spcPts val="1330"/>
              </a:lnSpc>
            </a:pPr>
            <a:r>
              <a:rPr sz="1060" b="0" i="0">
                <a:solidFill>
                  <a:srgbClr val="5F5865"/>
                </a:solidFill>
                <a:latin typeface="Montserrat"/>
                <a:ea typeface="Montserrat"/>
                <a:cs typeface="Montserrat"/>
              </a:rPr>
              <a:t>Mercury isotopes show that the superconducting transition temperature depends on nuclear mass.</a:t>
            </a:r>
          </a:p>
        </p:txBody>
      </p:sp>
      <p:sp>
        <p:nvSpPr>
          <p:cNvPr id="8" name="Rounded Rectangle 7"/>
          <p:cNvSpPr/>
          <p:nvPr/>
        </p:nvSpPr>
        <p:spPr>
          <a:xfrm>
            <a:off x="5754952" y="1866239"/>
            <a:ext cx="5861315" cy="834099"/>
          </a:xfrm>
          <a:prstGeom prst="roundRect">
            <a:avLst>
              <a:gd name="adj" fmla="val 8120"/>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754952" y="1866239"/>
            <a:ext cx="33867" cy="834099"/>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54952" y="1866239"/>
            <a:ext cx="5861315" cy="834099"/>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A purely electronic model would miss this dependence.</a:t>
            </a:r>
            <a:r>
              <a:rPr sz="1300" b="0" i="0">
                <a:solidFill>
                  <a:srgbClr val="22232A"/>
                </a:solidFill>
                <a:latin typeface="Montserrat"/>
                <a:ea typeface="Montserrat"/>
                <a:cs typeface="Montserrat"/>
              </a:rPr>
              <a:t> Changing the isotope changes nuclear mass without changing the electron count.</a:t>
            </a:r>
          </a:p>
        </p:txBody>
      </p:sp>
      <p:sp>
        <p:nvSpPr>
          <p:cNvPr id="11" name="Rounded Rectangle 10"/>
          <p:cNvSpPr/>
          <p:nvPr/>
        </p:nvSpPr>
        <p:spPr>
          <a:xfrm>
            <a:off x="5754952" y="2785004"/>
            <a:ext cx="5861315" cy="612510"/>
          </a:xfrm>
          <a:prstGeom prst="roundRect">
            <a:avLst>
              <a:gd name="adj" fmla="val 11058"/>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754952" y="2785004"/>
            <a:ext cx="33867" cy="612510"/>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54952" y="2785004"/>
            <a:ext cx="5861315" cy="612510"/>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Lattice vibration frequencies depend on mass.</a:t>
            </a:r>
            <a:r>
              <a:rPr sz="1300" b="0" i="0">
                <a:solidFill>
                  <a:srgbClr val="22232A"/>
                </a:solidFill>
                <a:latin typeface="Montserrat"/>
                <a:ea typeface="Montserrat"/>
                <a:cs typeface="Montserrat"/>
              </a:rPr>
              <a:t> The shift in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548">
                            <a:latin typeface="Cambria Math"/>
                          </a:rPr>
                          <m:t>T</m:t>
                        </m:r>
                      </m:e>
                      <m:sub>
                        <m:r>
                          <m:rPr>
                            <m:sty m:val="i"/>
                          </m:rPr>
                          <a:rPr lang="en-US" i="1" sz="1548">
                            <a:latin typeface="Cambria Math"/>
                          </a:rPr>
                          <m:t>c</m:t>
                        </m:r>
                      </m:sub>
                    </m:sSub>
                  </m:oMath>
                </a14:m>
              </mc:Choice>
              <mc:Fallback>
                <a:r>
                  <a:rPr lang="en-US" sz="1548" i="1"/>
                  <a:t>T_c</a:t>
                </a:r>
              </mc:Fallback>
            </mc:AlternateContent>
            <a:r>
              <a:rPr sz="1300" b="0" i="0">
                <a:solidFill>
                  <a:srgbClr val="22232A"/>
                </a:solidFill>
                <a:latin typeface="Montserrat"/>
                <a:ea typeface="Montserrat"/>
                <a:cs typeface="Montserrat"/>
              </a:rPr>
              <a:t> therefore links the pairing scale to lattice motion.</a:t>
            </a:r>
          </a:p>
        </p:txBody>
      </p:sp>
      <p:sp>
        <p:nvSpPr>
          <p:cNvPr id="14" name="Rounded Rectangle 13"/>
          <p:cNvSpPr/>
          <p:nvPr/>
        </p:nvSpPr>
        <p:spPr>
          <a:xfrm>
            <a:off x="5754952" y="3482181"/>
            <a:ext cx="5861315" cy="612510"/>
          </a:xfrm>
          <a:prstGeom prst="roundRect">
            <a:avLst>
              <a:gd name="adj" fmla="val 11058"/>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754952" y="3482181"/>
            <a:ext cx="33867" cy="612510"/>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54952" y="3482181"/>
            <a:ext cx="5861315" cy="612510"/>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The result supported phonon-mediated pairing.</a:t>
            </a:r>
            <a:r>
              <a:rPr sz="1300" b="0" i="0">
                <a:solidFill>
                  <a:srgbClr val="22232A"/>
                </a:solidFill>
                <a:latin typeface="Montserrat"/>
                <a:ea typeface="Montserrat"/>
                <a:cs typeface="Montserrat"/>
              </a:rPr>
              <a:t> It became an important experimental clue behind BCS theory.</a:t>
            </a:r>
          </a:p>
        </p:txBody>
      </p:sp>
      <p:sp>
        <p:nvSpPr>
          <p:cNvPr id="17" name="TextBox 16"/>
          <p:cNvSpPr txBox="1"/>
          <p:nvPr/>
        </p:nvSpPr>
        <p:spPr>
          <a:xfrm>
            <a:off x="575733" y="4542102"/>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Source and image: </a:t>
            </a:r>
            <a:r>
              <a:rPr sz="1400" b="0" i="0">
                <a:solidFill>
                  <a:srgbClr val="355C9A"/>
                </a:solidFill>
                <a:latin typeface="Montserrat"/>
                <a:ea typeface="Montserrat"/>
                <a:cs typeface="Montserrat"/>
                <a:hlinkClick r:id="rId3"/>
              </a:rPr>
              <a:t>HyperPhysics, “Isotope Effect, Mercury”</a:t>
            </a:r>
            <a:r>
              <a:rPr sz="1400" b="0" i="0">
                <a:solidFill>
                  <a:srgbClr val="4F4C56"/>
                </a:solidFill>
                <a:latin typeface="Montserrat"/>
                <a:ea typeface="Montserrat"/>
                <a:cs typeface="Montserrat"/>
              </a:rPr>
              <a:t>.</a:t>
            </a:r>
          </a:p>
        </p:txBody>
      </p:sp>
      <p:sp>
        <p:nvSpPr>
          <p:cNvPr id="18" name="Rectangle 17"/>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20" name="TextBox 19"/>
          <p:cNvSpPr txBox="1"/>
          <p:nvPr/>
        </p:nvSpPr>
        <p:spPr>
          <a:xfrm>
            <a:off x="11239500" y="6565900"/>
            <a:ext cx="461433"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25 / 100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021094" y="324115"/>
            <a:ext cx="1679840"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Superconductivity Primer</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A SQUID Converts Magnetic Flux into a Voltage Signal</a:t>
            </a:r>
          </a:p>
        </p:txBody>
      </p:sp>
      <p:pic>
        <p:nvPicPr>
          <p:cNvPr id="6" name="Magnetic flux quantum Phi zero equals h over two e" descr="fluxon.gif"/>
          <p:cNvPicPr>
            <a:picLocks noChangeAspect="1"/>
          </p:cNvPicPr>
          <p:nvPr/>
        </p:nvPicPr>
        <p:blipFill>
          <a:blip r:embed="rId2"/>
          <a:stretch>
            <a:fillRect/>
          </a:stretch>
        </p:blipFill>
        <p:spPr>
          <a:xfrm>
            <a:off x="1003035" y="1452828"/>
            <a:ext cx="3052895" cy="660398"/>
          </a:xfrm>
          <a:prstGeom prst="rect">
            <a:avLst/>
          </a:prstGeom>
        </p:spPr>
      </p:pic>
      <p:sp>
        <p:nvSpPr>
          <p:cNvPr id="7" name="TextBox 6"/>
          <p:cNvSpPr txBox="1"/>
          <p:nvPr/>
        </p:nvSpPr>
        <p:spPr>
          <a:xfrm>
            <a:off x="575733" y="2164027"/>
            <a:ext cx="3907499" cy="346207"/>
          </a:xfrm>
          <a:prstGeom prst="rect">
            <a:avLst/>
          </a:prstGeom>
          <a:noFill/>
        </p:spPr>
        <p:txBody>
          <a:bodyPr wrap="square" lIns="0" rIns="0" tIns="0" bIns="0" anchor="t">
            <a:noAutofit/>
          </a:bodyPr>
          <a:lstStyle/>
          <a:p>
            <a:pPr algn="ctr">
              <a:lnSpc>
                <a:spcPts val="1330"/>
              </a:lnSpc>
            </a:pPr>
            <a:r>
              <a:rPr sz="1060" b="0" i="0">
                <a:solidFill>
                  <a:srgbClr val="5F5865"/>
                </a:solidFill>
                <a:latin typeface="Montserrat"/>
                <a:ea typeface="Montserrat"/>
                <a:cs typeface="Montserrat"/>
              </a:rPr>
              <a:t>Flux enters the interference response in units of </a:t>
            </a:r>
            <mc:AlternateContent xmlns:mc="http://schemas.openxmlformats.org/markup-compatibility/2006">
              <mc:Choice xmlns:a14="http://schemas.microsoft.com/office/drawing/2010/main" Requires="a14">
                <a14:m>
                  <m:oMath xmlns:m="http://schemas.openxmlformats.org/officeDocument/2006/math">
                    <m:sSub>
                      <m:e>
                        <m:r>
                          <m:rPr>
                            <m:sty m:val="p"/>
                          </m:rPr>
                          <a:rPr lang="en-US" i="0" sz="1264">
                            <a:latin typeface="Cambria Math"/>
                          </a:rPr>
                          <m:t>Φ</m:t>
                        </m:r>
                      </m:e>
                      <m:sub>
                        <m:r>
                          <m:rPr>
                            <m:sty m:val="p"/>
                          </m:rPr>
                          <a:rPr lang="en-US" i="0" sz="1264">
                            <a:latin typeface="Cambria Math"/>
                          </a:rPr>
                          <m:t>0</m:t>
                        </m:r>
                      </m:sub>
                    </m:sSub>
                    <m:r>
                      <m:rPr>
                        <m:sty m:val="p"/>
                      </m:rPr>
                      <a:rPr lang="en-US" i="0" sz="1264">
                        <a:latin typeface="Cambria Math"/>
                      </a:rPr>
                      <m:t>=</m:t>
                    </m:r>
                    <m:r>
                      <m:rPr>
                        <m:sty m:val="i"/>
                      </m:rPr>
                      <a:rPr lang="en-US" i="1" sz="1264">
                        <a:latin typeface="Cambria Math"/>
                      </a:rPr>
                      <m:t>h</m:t>
                    </m:r>
                    <m:box>
                      <m:e>
                        <m:r>
                          <m:rPr>
                            <m:sty m:val="p"/>
                          </m:rPr>
                          <a:rPr lang="en-US" i="0" sz="1264">
                            <a:latin typeface="Cambria Math"/>
                          </a:rPr>
                          <m:t>/</m:t>
                        </m:r>
                      </m:e>
                    </m:box>
                    <m:r>
                      <m:rPr>
                        <m:sty m:val="p"/>
                      </m:rPr>
                      <a:rPr lang="en-US" i="0" sz="1264">
                        <a:latin typeface="Cambria Math"/>
                      </a:rPr>
                      <m:t>2</m:t>
                    </m:r>
                    <m:r>
                      <m:rPr>
                        <m:sty m:val="i"/>
                      </m:rPr>
                      <a:rPr lang="en-US" i="1" sz="1264">
                        <a:latin typeface="Cambria Math"/>
                      </a:rPr>
                      <m:t>e</m:t>
                    </m:r>
                  </m:oMath>
                </a14:m>
              </mc:Choice>
              <mc:Fallback>
                <a:r>
                  <a:rPr lang="en-US" sz="1264" i="1"/>
                  <a:t>\Phi_0=h/2e</a:t>
                </a:r>
              </mc:Fallback>
            </mc:AlternateContent>
            <a:r>
              <a:rPr sz="1060" b="0" i="0">
                <a:solidFill>
                  <a:srgbClr val="5F5865"/>
                </a:solidFill>
                <a:latin typeface="Montserrat"/>
                <a:ea typeface="Montserrat"/>
                <a:cs typeface="Montserrat"/>
              </a:rPr>
              <a:t>.</a:t>
            </a:r>
          </a:p>
        </p:txBody>
      </p:sp>
      <p:sp>
        <p:nvSpPr>
          <p:cNvPr id="8" name="Rounded Rectangle 7"/>
          <p:cNvSpPr/>
          <p:nvPr/>
        </p:nvSpPr>
        <p:spPr>
          <a:xfrm>
            <a:off x="575733" y="2628768"/>
            <a:ext cx="3907499" cy="834099"/>
          </a:xfrm>
          <a:prstGeom prst="roundRect">
            <a:avLst>
              <a:gd name="adj" fmla="val 8120"/>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75733" y="2628768"/>
            <a:ext cx="33867" cy="834099"/>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5733" y="2628768"/>
            <a:ext cx="3907499" cy="834099"/>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Two Josephson junctions form a loop.</a:t>
            </a:r>
            <a:r>
              <a:rPr sz="1300" b="0" i="0">
                <a:solidFill>
                  <a:srgbClr val="22232A"/>
                </a:solidFill>
                <a:latin typeface="Montserrat"/>
                <a:ea typeface="Montserrat"/>
                <a:cs typeface="Montserrat"/>
              </a:rPr>
              <a:t> Their phase differences depend on the enclosed magnetic flux.</a:t>
            </a:r>
          </a:p>
        </p:txBody>
      </p:sp>
      <p:sp>
        <p:nvSpPr>
          <p:cNvPr id="11" name="Rounded Rectangle 10"/>
          <p:cNvSpPr/>
          <p:nvPr/>
        </p:nvSpPr>
        <p:spPr>
          <a:xfrm>
            <a:off x="575733" y="3547533"/>
            <a:ext cx="3907499" cy="834099"/>
          </a:xfrm>
          <a:prstGeom prst="roundRect">
            <a:avLst>
              <a:gd name="adj" fmla="val 8120"/>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75733" y="3547533"/>
            <a:ext cx="33867" cy="834099"/>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5733" y="3547533"/>
            <a:ext cx="3907499" cy="834099"/>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A constant bias current produces a periodic voltage.</a:t>
            </a:r>
            <a:r>
              <a:rPr sz="1300" b="0" i="0">
                <a:solidFill>
                  <a:srgbClr val="22232A"/>
                </a:solidFill>
                <a:latin typeface="Montserrat"/>
                <a:ea typeface="Montserrat"/>
                <a:cs typeface="Montserrat"/>
              </a:rPr>
              <a:t> Counting the oscillations measures the change in flux.</a:t>
            </a:r>
          </a:p>
        </p:txBody>
      </p:sp>
      <p:sp>
        <p:nvSpPr>
          <p:cNvPr id="14" name="Rounded Rectangle 13"/>
          <p:cNvSpPr/>
          <p:nvPr/>
        </p:nvSpPr>
        <p:spPr>
          <a:xfrm>
            <a:off x="575733" y="4466299"/>
            <a:ext cx="3907499" cy="1066139"/>
          </a:xfrm>
          <a:prstGeom prst="roundRect">
            <a:avLst>
              <a:gd name="adj" fmla="val 6353"/>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75733" y="4466299"/>
            <a:ext cx="33867" cy="1066139"/>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5733" y="4466299"/>
            <a:ext cx="3907499" cy="1066139"/>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Magnetometer scale.</a:t>
            </a:r>
            <a:r>
              <a:rPr sz="1300" b="0" i="0">
                <a:solidFill>
                  <a:srgbClr val="22232A"/>
                </a:solidFill>
                <a:latin typeface="Montserrat"/>
                <a:ea typeface="Montserrat"/>
                <a:cs typeface="Montserrat"/>
              </a:rPr>
              <a:t> HyperPhysics quotes a threshold near </a:t>
            </a:r>
            <mc:AlternateContent xmlns:mc="http://schemas.openxmlformats.org/markup-compatibility/2006">
              <mc:Choice xmlns:a14="http://schemas.microsoft.com/office/drawing/2010/main" Requires="a14">
                <a14:m>
                  <m:oMath xmlns:m="http://schemas.openxmlformats.org/officeDocument/2006/math">
                    <m:sSup>
                      <m:e>
                        <m:r>
                          <m:rPr>
                            <m:sty m:val="p"/>
                          </m:rPr>
                          <a:rPr lang="en-US" i="0" sz="1548">
                            <a:latin typeface="Cambria Math"/>
                          </a:rPr>
                          <m:t>10</m:t>
                        </m:r>
                      </m:e>
                      <m:sup>
                        <m:box>
                          <m:e>
                            <m:r>
                              <m:rPr>
                                <m:sty m:val="p"/>
                              </m:rPr>
                              <a:rPr lang="en-US" i="0" sz="1548">
                                <a:latin typeface="Cambria Math"/>
                              </a:rPr>
                              <m:t>−</m:t>
                            </m:r>
                            <m:r>
                              <m:rPr>
                                <m:sty m:val="p"/>
                              </m:rPr>
                              <a:rPr lang="en-US" i="0" sz="1548">
                                <a:latin typeface="Cambria Math"/>
                              </a:rPr>
                              <m:t>14</m:t>
                            </m:r>
                          </m:e>
                        </m:box>
                      </m:sup>
                    </m:sSup>
                    <m:box>
                      <m:e>
                        <m:r>
                          <a:rPr lang="en-US" i="1" sz="1548">
                            <a:latin typeface="Cambria Math"/>
                          </a:rPr>
                          <m:t/>
                        </m:r>
                      </m:e>
                    </m:box>
                    <m:box>
                      <m:e>
                        <m:r>
                          <m:rPr>
                            <m:sty m:val="p"/>
                          </m:rPr>
                          <a:rPr lang="en-US" i="0" sz="1548">
                            <a:latin typeface="Cambria Math"/>
                          </a:rPr>
                          <m:t>T</m:t>
                        </m:r>
                      </m:e>
                    </m:box>
                  </m:oMath>
                </a14:m>
              </mc:Choice>
              <mc:Fallback>
                <a:r>
                  <a:rPr lang="en-US" sz="1548" i="1"/>
                  <a:t>10^{-14}\,\mathrm T</a:t>
                </a:r>
              </mc:Fallback>
            </mc:AlternateContent>
            <a:r>
              <a:rPr sz="1300" b="0" i="0">
                <a:solidFill>
                  <a:srgbClr val="22232A"/>
                </a:solidFill>
                <a:latin typeface="Montserrat"/>
                <a:ea typeface="Montserrat"/>
                <a:cs typeface="Montserrat"/>
              </a:rPr>
              <a:t>, below the magnetic field produced by the human brain.</a:t>
            </a:r>
          </a:p>
        </p:txBody>
      </p:sp>
      <p:pic>
        <p:nvPicPr>
          <p:cNvPr id="17" name="SQUID ring with two Josephson junctions and voltage response versus applied flux" descr="squide.png"/>
          <p:cNvPicPr>
            <a:picLocks noChangeAspect="1"/>
          </p:cNvPicPr>
          <p:nvPr/>
        </p:nvPicPr>
        <p:blipFill>
          <a:blip r:embed="rId3"/>
          <a:stretch>
            <a:fillRect/>
          </a:stretch>
        </p:blipFill>
        <p:spPr>
          <a:xfrm>
            <a:off x="6663133" y="1858830"/>
            <a:ext cx="2959367" cy="3048000"/>
          </a:xfrm>
          <a:prstGeom prst="rect">
            <a:avLst/>
          </a:prstGeom>
        </p:spPr>
      </p:pic>
      <p:sp>
        <p:nvSpPr>
          <p:cNvPr id="18" name="TextBox 17"/>
          <p:cNvSpPr txBox="1"/>
          <p:nvPr/>
        </p:nvSpPr>
        <p:spPr>
          <a:xfrm>
            <a:off x="4669499" y="4957630"/>
            <a:ext cx="6946768" cy="168804"/>
          </a:xfrm>
          <a:prstGeom prst="rect">
            <a:avLst/>
          </a:prstGeom>
          <a:noFill/>
        </p:spPr>
        <p:txBody>
          <a:bodyPr wrap="none" lIns="0" rIns="0" tIns="0" bIns="0" anchor="t">
            <a:noAutofit/>
          </a:bodyPr>
          <a:lstStyle/>
          <a:p>
            <a:pPr algn="ctr">
              <a:lnSpc>
                <a:spcPts val="1330"/>
              </a:lnSpc>
            </a:pPr>
            <a:r>
              <a:rPr sz="1060" b="0" i="0">
                <a:solidFill>
                  <a:srgbClr val="5F5865"/>
                </a:solidFill>
                <a:latin typeface="Montserrat"/>
                <a:ea typeface="Montserrat"/>
                <a:cs typeface="Montserrat"/>
              </a:rPr>
              <a:t>The loop converts phase interference into a measurable periodic voltage response. </a:t>
            </a:r>
          </a:p>
        </p:txBody>
      </p:sp>
      <p:sp>
        <p:nvSpPr>
          <p:cNvPr id="19" name="TextBox 18"/>
          <p:cNvSpPr txBox="1"/>
          <p:nvPr/>
        </p:nvSpPr>
        <p:spPr>
          <a:xfrm>
            <a:off x="575733" y="5583238"/>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Source and images: </a:t>
            </a:r>
            <a:r>
              <a:rPr sz="1400" b="0" i="0">
                <a:solidFill>
                  <a:srgbClr val="355C9A"/>
                </a:solidFill>
                <a:latin typeface="Montserrat"/>
                <a:ea typeface="Montserrat"/>
                <a:cs typeface="Montserrat"/>
                <a:hlinkClick r:id="rId4"/>
              </a:rPr>
              <a:t>HyperPhysics, “SQUID Magnetometer”</a:t>
            </a:r>
            <a:r>
              <a:rPr sz="1400" b="0" i="0">
                <a:solidFill>
                  <a:srgbClr val="4F4C56"/>
                </a:solidFill>
                <a:latin typeface="Montserrat"/>
                <a:ea typeface="Montserrat"/>
                <a:cs typeface="Montserrat"/>
              </a:rPr>
              <a:t>.</a:t>
            </a:r>
          </a:p>
        </p:txBody>
      </p:sp>
      <p:sp>
        <p:nvSpPr>
          <p:cNvPr id="20" name="Rectangle 19"/>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22" name="TextBox 21"/>
          <p:cNvSpPr txBox="1"/>
          <p:nvPr/>
        </p:nvSpPr>
        <p:spPr>
          <a:xfrm>
            <a:off x="11234341" y="6565900"/>
            <a:ext cx="466593"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26 / 100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021094" y="324115"/>
            <a:ext cx="1679840"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Superconductivity Primer</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Cooper Pairs Tunnel Through a Thin Insulator</a:t>
            </a:r>
          </a:p>
        </p:txBody>
      </p:sp>
      <p:pic>
        <p:nvPicPr>
          <p:cNvPr id="6" name="Wavefunctions from two superconductors overlap across a Josephson junction barri" descr="jjun.png"/>
          <p:cNvPicPr>
            <a:picLocks noChangeAspect="1"/>
          </p:cNvPicPr>
          <p:nvPr/>
        </p:nvPicPr>
        <p:blipFill>
          <a:blip r:embed="rId2"/>
          <a:stretch>
            <a:fillRect/>
          </a:stretch>
        </p:blipFill>
        <p:spPr>
          <a:xfrm>
            <a:off x="575733" y="1514801"/>
            <a:ext cx="4992952" cy="2543052"/>
          </a:xfrm>
          <a:prstGeom prst="rect">
            <a:avLst/>
          </a:prstGeom>
        </p:spPr>
      </p:pic>
      <p:sp>
        <p:nvSpPr>
          <p:cNvPr id="7" name="TextBox 6"/>
          <p:cNvSpPr txBox="1"/>
          <p:nvPr/>
        </p:nvSpPr>
        <p:spPr>
          <a:xfrm>
            <a:off x="575733" y="4170627"/>
            <a:ext cx="4992952" cy="337608"/>
          </a:xfrm>
          <a:prstGeom prst="rect">
            <a:avLst/>
          </a:prstGeom>
          <a:noFill/>
        </p:spPr>
        <p:txBody>
          <a:bodyPr wrap="square" lIns="0" rIns="0" tIns="0" bIns="0" anchor="t">
            <a:noAutofit/>
          </a:bodyPr>
          <a:lstStyle/>
          <a:p>
            <a:pPr algn="ctr">
              <a:lnSpc>
                <a:spcPts val="1330"/>
              </a:lnSpc>
            </a:pPr>
            <a:r>
              <a:rPr sz="1060" b="0" i="0">
                <a:solidFill>
                  <a:srgbClr val="5F5865"/>
                </a:solidFill>
                <a:latin typeface="Montserrat"/>
                <a:ea typeface="Montserrat"/>
                <a:cs typeface="Montserrat"/>
              </a:rPr>
              <a:t>The pair wavefunctions penetrate the insulating barrier and establish a phase-sensitive coupling.</a:t>
            </a:r>
          </a:p>
        </p:txBody>
      </p:sp>
      <p:sp>
        <p:nvSpPr>
          <p:cNvPr id="8" name="Rounded Rectangle 7"/>
          <p:cNvSpPr/>
          <p:nvPr/>
        </p:nvSpPr>
        <p:spPr>
          <a:xfrm>
            <a:off x="5754952" y="1866239"/>
            <a:ext cx="5861315" cy="612510"/>
          </a:xfrm>
          <a:prstGeom prst="roundRect">
            <a:avLst>
              <a:gd name="adj" fmla="val 11058"/>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754952" y="1866239"/>
            <a:ext cx="33867" cy="612510"/>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54952" y="1866239"/>
            <a:ext cx="5861315" cy="612510"/>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DC Josephson effect.</a:t>
            </a:r>
            <a:r>
              <a:rPr sz="1300" b="0" i="0">
                <a:solidFill>
                  <a:srgbClr val="22232A"/>
                </a:solidFill>
                <a:latin typeface="Montserrat"/>
                <a:ea typeface="Montserrat"/>
                <a:cs typeface="Montserrat"/>
              </a:rPr>
              <a:t> A supercurrent flows at zero voltage, with </a:t>
            </a:r>
            <mc:AlternateContent xmlns:mc="http://schemas.openxmlformats.org/markup-compatibility/2006">
              <mc:Choice xmlns:a14="http://schemas.microsoft.com/office/drawing/2010/main" Requires="a14">
                <a14:m>
                  <m:oMath xmlns:m="http://schemas.openxmlformats.org/officeDocument/2006/math">
                    <m:r>
                      <m:rPr>
                        <m:sty m:val="i"/>
                      </m:rPr>
                      <a:rPr lang="en-US" i="1" sz="1548">
                        <a:latin typeface="Cambria Math"/>
                      </a:rPr>
                      <m:t>I</m:t>
                    </m:r>
                    <m:r>
                      <m:rPr>
                        <m:sty m:val="p"/>
                      </m:rPr>
                      <a:rPr lang="en-US" i="0" sz="1548">
                        <a:latin typeface="Cambria Math"/>
                      </a:rPr>
                      <m:t>=</m:t>
                    </m:r>
                    <m:sSub>
                      <m:e>
                        <m:r>
                          <m:rPr>
                            <m:sty m:val="i"/>
                          </m:rPr>
                          <a:rPr lang="en-US" i="1" sz="1548">
                            <a:latin typeface="Cambria Math"/>
                          </a:rPr>
                          <m:t>I</m:t>
                        </m:r>
                      </m:e>
                      <m:sub>
                        <m:r>
                          <m:rPr>
                            <m:sty m:val="i"/>
                          </m:rPr>
                          <a:rPr lang="en-US" i="1" sz="1548">
                            <a:latin typeface="Cambria Math"/>
                          </a:rPr>
                          <m:t>c</m:t>
                        </m:r>
                      </m:sub>
                    </m:sSub>
                    <m:r>
                      <m:rPr>
                        <m:sty m:val="p"/>
                      </m:rPr>
                      <a:rPr lang="en-US" i="0" sz="1548">
                        <a:latin typeface="Cambria Math"/>
                      </a:rPr>
                      <m:t>sin</m:t>
                    </m:r>
                    <m:r>
                      <m:rPr>
                        <m:sty m:val="p"/>
                      </m:rPr>
                      <a:rPr lang="en-US" i="0" sz="1548">
                        <a:latin typeface="Cambria Math"/>
                      </a:rPr>
                      <m:t/>
                    </m:r>
                    <m:r>
                      <m:rPr>
                        <m:sty m:val="i"/>
                      </m:rPr>
                      <a:rPr lang="en-US" i="1" sz="1548">
                        <a:latin typeface="Cambria Math"/>
                      </a:rPr>
                      <m:t>φ</m:t>
                    </m:r>
                  </m:oMath>
                </a14:m>
              </mc:Choice>
              <mc:Fallback>
                <a:r>
                  <a:rPr lang="en-US" sz="1548" i="1"/>
                  <a:t>I=I_c\sin\varphi</a:t>
                </a:r>
              </mc:Fallback>
            </mc:AlternateContent>
            <a:r>
              <a:rPr sz="1300" b="0" i="0">
                <a:solidFill>
                  <a:srgbClr val="22232A"/>
                </a:solidFill>
                <a:latin typeface="Montserrat"/>
                <a:ea typeface="Montserrat"/>
                <a:cs typeface="Montserrat"/>
              </a:rPr>
              <a:t>.</a:t>
            </a:r>
          </a:p>
        </p:txBody>
      </p:sp>
      <p:sp>
        <p:nvSpPr>
          <p:cNvPr id="11" name="Rounded Rectangle 10"/>
          <p:cNvSpPr/>
          <p:nvPr/>
        </p:nvSpPr>
        <p:spPr>
          <a:xfrm>
            <a:off x="5754952" y="2563416"/>
            <a:ext cx="5861315" cy="612510"/>
          </a:xfrm>
          <a:prstGeom prst="roundRect">
            <a:avLst>
              <a:gd name="adj" fmla="val 11058"/>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754952" y="2563416"/>
            <a:ext cx="33867" cy="612510"/>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54952" y="2563416"/>
            <a:ext cx="5861315" cy="612510"/>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AC Josephson effect.</a:t>
            </a:r>
            <a:r>
              <a:rPr sz="1300" b="0" i="0">
                <a:solidFill>
                  <a:srgbClr val="22232A"/>
                </a:solidFill>
                <a:latin typeface="Montserrat"/>
                <a:ea typeface="Montserrat"/>
                <a:cs typeface="Montserrat"/>
              </a:rPr>
              <a:t> A constant voltage makes the phase evolve at a frequency proportional to that voltage.</a:t>
            </a:r>
          </a:p>
        </p:txBody>
      </p:sp>
      <p:sp>
        <p:nvSpPr>
          <p:cNvPr id="14" name="Rounded Rectangle 13"/>
          <p:cNvSpPr/>
          <p:nvPr/>
        </p:nvSpPr>
        <p:spPr>
          <a:xfrm>
            <a:off x="5754952" y="3260593"/>
            <a:ext cx="5861315" cy="834099"/>
          </a:xfrm>
          <a:prstGeom prst="roundRect">
            <a:avLst>
              <a:gd name="adj" fmla="val 8120"/>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754952" y="3260593"/>
            <a:ext cx="33867" cy="834099"/>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54952" y="3260593"/>
            <a:ext cx="5861315" cy="834099"/>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Circuit consequence.</a:t>
            </a:r>
            <a:r>
              <a:rPr sz="1300" b="0" i="0">
                <a:solidFill>
                  <a:srgbClr val="22232A"/>
                </a:solidFill>
                <a:latin typeface="Montserrat"/>
                <a:ea typeface="Montserrat"/>
                <a:cs typeface="Montserrat"/>
              </a:rPr>
              <a:t> The junction stores a nonlinear phase-dependent energy, which gives superconducting qubits their anharmonic spectrum.</a:t>
            </a:r>
          </a:p>
        </p:txBody>
      </p:sp>
      <p:sp>
        <p:nvSpPr>
          <p:cNvPr id="17" name="TextBox 16"/>
          <p:cNvSpPr txBox="1"/>
          <p:nvPr/>
        </p:nvSpPr>
        <p:spPr>
          <a:xfrm>
            <a:off x="575733" y="4542102"/>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Source and image: </a:t>
            </a:r>
            <a:r>
              <a:rPr sz="1400" b="0" i="0">
                <a:solidFill>
                  <a:srgbClr val="355C9A"/>
                </a:solidFill>
                <a:latin typeface="Montserrat"/>
                <a:ea typeface="Montserrat"/>
                <a:cs typeface="Montserrat"/>
                <a:hlinkClick r:id="rId3"/>
              </a:rPr>
              <a:t>HyperPhysics, “Josephson Junction”</a:t>
            </a:r>
            <a:r>
              <a:rPr sz="1400" b="0" i="0">
                <a:solidFill>
                  <a:srgbClr val="4F4C56"/>
                </a:solidFill>
                <a:latin typeface="Montserrat"/>
                <a:ea typeface="Montserrat"/>
                <a:cs typeface="Montserrat"/>
              </a:rPr>
              <a:t>.</a:t>
            </a:r>
          </a:p>
        </p:txBody>
      </p:sp>
      <p:sp>
        <p:nvSpPr>
          <p:cNvPr id="18" name="Rectangle 17"/>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20" name="TextBox 19"/>
          <p:cNvSpPr txBox="1"/>
          <p:nvPr/>
        </p:nvSpPr>
        <p:spPr>
          <a:xfrm>
            <a:off x="11236457" y="6565900"/>
            <a:ext cx="464476"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27 / 100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021094" y="324115"/>
            <a:ext cx="1679840"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Superconductivity Primer</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Frequency Provides a Precise Realization of Voltage</a:t>
            </a:r>
          </a:p>
        </p:txBody>
      </p:sp>
      <p:sp>
        <p:nvSpPr>
          <p:cNvPr id="6" name="Rounded Rectangle 5"/>
          <p:cNvSpPr/>
          <p:nvPr/>
        </p:nvSpPr>
        <p:spPr>
          <a:xfrm>
            <a:off x="575733" y="1452827"/>
            <a:ext cx="4992952" cy="617802"/>
          </a:xfrm>
          <a:prstGeom prst="roundRect">
            <a:avLst>
              <a:gd name="adj" fmla="val 10963"/>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75733" y="1452827"/>
            <a:ext cx="33867" cy="617802"/>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5733" y="1452827"/>
            <a:ext cx="4992952" cy="617802"/>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The conversion uses fundamental constants.</a:t>
            </a:r>
            <a:r>
              <a:rPr sz="1300" b="0" i="0">
                <a:solidFill>
                  <a:srgbClr val="22232A"/>
                </a:solidFill>
                <a:latin typeface="Montserrat"/>
                <a:ea typeface="Montserrat"/>
                <a:cs typeface="Montserrat"/>
              </a:rPr>
              <a:t> The Josephson frequency satisfies </a:t>
            </a:r>
            <mc:AlternateContent xmlns:mc="http://schemas.openxmlformats.org/markup-compatibility/2006">
              <mc:Choice xmlns:a14="http://schemas.microsoft.com/office/drawing/2010/main" Requires="a14">
                <a14:m>
                  <m:oMath xmlns:m="http://schemas.openxmlformats.org/officeDocument/2006/math">
                    <m:r>
                      <m:rPr>
                        <m:sty m:val="i"/>
                      </m:rPr>
                      <a:rPr lang="en-US" i="1" sz="1548">
                        <a:latin typeface="Cambria Math"/>
                      </a:rPr>
                      <m:t>f</m:t>
                    </m:r>
                    <m:r>
                      <m:rPr>
                        <m:sty m:val="p"/>
                      </m:rPr>
                      <a:rPr lang="en-US" i="0" sz="1548">
                        <a:latin typeface="Cambria Math"/>
                      </a:rPr>
                      <m:t>=</m:t>
                    </m:r>
                    <m:r>
                      <m:rPr>
                        <m:sty m:val="p"/>
                      </m:rPr>
                      <a:rPr lang="en-US" i="0" sz="1548">
                        <a:latin typeface="Cambria Math"/>
                      </a:rPr>
                      <m:t>(</m:t>
                    </m:r>
                    <m:r>
                      <m:rPr>
                        <m:sty m:val="p"/>
                      </m:rPr>
                      <a:rPr lang="en-US" i="0" sz="1548">
                        <a:latin typeface="Cambria Math"/>
                      </a:rPr>
                      <m:t>2</m:t>
                    </m:r>
                    <m:r>
                      <m:rPr>
                        <m:sty m:val="i"/>
                      </m:rPr>
                      <a:rPr lang="en-US" i="1" sz="1548">
                        <a:latin typeface="Cambria Math"/>
                      </a:rPr>
                      <m:t>e</m:t>
                    </m:r>
                    <m:box>
                      <m:e>
                        <m:r>
                          <m:rPr>
                            <m:sty m:val="p"/>
                          </m:rPr>
                          <a:rPr lang="en-US" i="0" sz="1548">
                            <a:latin typeface="Cambria Math"/>
                          </a:rPr>
                          <m:t>/</m:t>
                        </m:r>
                      </m:e>
                    </m:box>
                    <m:r>
                      <m:rPr>
                        <m:sty m:val="i"/>
                      </m:rPr>
                      <a:rPr lang="en-US" i="1" sz="1548">
                        <a:latin typeface="Cambria Math"/>
                      </a:rPr>
                      <m:t>h</m:t>
                    </m:r>
                    <m:r>
                      <m:rPr>
                        <m:sty m:val="p"/>
                      </m:rPr>
                      <a:rPr lang="en-US" i="0" sz="1548">
                        <a:latin typeface="Cambria Math"/>
                      </a:rPr>
                      <m:t>)</m:t>
                    </m:r>
                    <m:r>
                      <m:rPr>
                        <m:sty m:val="i"/>
                      </m:rPr>
                      <a:rPr lang="en-US" i="1" sz="1548">
                        <a:latin typeface="Cambria Math"/>
                      </a:rPr>
                      <m:t>V</m:t>
                    </m:r>
                  </m:oMath>
                </a14:m>
              </mc:Choice>
              <mc:Fallback>
                <a:r>
                  <a:rPr lang="en-US" sz="1548" i="1"/>
                  <a:t>f=(2e/h)V</a:t>
                </a:r>
              </mc:Fallback>
            </mc:AlternateContent>
            <a:r>
              <a:rPr sz="1300" b="0" i="0">
                <a:solidFill>
                  <a:srgbClr val="22232A"/>
                </a:solidFill>
                <a:latin typeface="Montserrat"/>
                <a:ea typeface="Montserrat"/>
                <a:cs typeface="Montserrat"/>
              </a:rPr>
              <a:t>.</a:t>
            </a:r>
          </a:p>
        </p:txBody>
      </p:sp>
      <p:sp>
        <p:nvSpPr>
          <p:cNvPr id="9" name="Rounded Rectangle 8"/>
          <p:cNvSpPr/>
          <p:nvPr/>
        </p:nvSpPr>
        <p:spPr>
          <a:xfrm>
            <a:off x="575733" y="2155296"/>
            <a:ext cx="4992952" cy="834099"/>
          </a:xfrm>
          <a:prstGeom prst="roundRect">
            <a:avLst>
              <a:gd name="adj" fmla="val 8120"/>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75733" y="2155296"/>
            <a:ext cx="33867" cy="834099"/>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5733" y="2155296"/>
            <a:ext cx="4992952" cy="834099"/>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One microvolt corresponds to about 483.6 MHz.</a:t>
            </a:r>
            <a:r>
              <a:rPr sz="1300" b="0" i="0">
                <a:solidFill>
                  <a:srgbClr val="22232A"/>
                </a:solidFill>
                <a:latin typeface="Montserrat"/>
                <a:ea typeface="Montserrat"/>
                <a:cs typeface="Montserrat"/>
              </a:rPr>
              <a:t> Frequency can be measured with exceptionally high precision.</a:t>
            </a:r>
          </a:p>
        </p:txBody>
      </p:sp>
      <p:sp>
        <p:nvSpPr>
          <p:cNvPr id="12" name="Rounded Rectangle 11"/>
          <p:cNvSpPr/>
          <p:nvPr/>
        </p:nvSpPr>
        <p:spPr>
          <a:xfrm>
            <a:off x="575733" y="3074061"/>
            <a:ext cx="4992952" cy="834099"/>
          </a:xfrm>
          <a:prstGeom prst="roundRect">
            <a:avLst>
              <a:gd name="adj" fmla="val 8120"/>
            </a:avLst>
          </a:prstGeom>
          <a:solidFill>
            <a:srgbClr val="F5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75733" y="3074061"/>
            <a:ext cx="33867" cy="834099"/>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5733" y="3074061"/>
            <a:ext cx="4992952" cy="834099"/>
          </a:xfrm>
          <a:prstGeom prst="rect">
            <a:avLst/>
          </a:prstGeom>
          <a:noFill/>
        </p:spPr>
        <p:txBody>
          <a:bodyPr wrap="square" lIns="101600" rIns="101600" tIns="84667" bIns="84667" anchor="t">
            <a:noAutofit/>
          </a:bodyPr>
          <a:lstStyle/>
          <a:p>
            <a:pPr algn="l">
              <a:lnSpc>
                <a:spcPts val="1739"/>
              </a:lnSpc>
            </a:pPr>
            <a:r>
              <a:rPr sz="1300" b="1" i="0">
                <a:solidFill>
                  <a:srgbClr val="302840"/>
                </a:solidFill>
                <a:latin typeface="Montserrat"/>
                <a:ea typeface="Montserrat"/>
                <a:cs typeface="Montserrat"/>
              </a:rPr>
              <a:t>Junction arrays scale the voltage.</a:t>
            </a:r>
            <a:r>
              <a:rPr sz="1300" b="0" i="0">
                <a:solidFill>
                  <a:srgbClr val="22232A"/>
                </a:solidFill>
                <a:latin typeface="Montserrat"/>
                <a:ea typeface="Montserrat"/>
                <a:cs typeface="Montserrat"/>
              </a:rPr>
              <a:t> HyperPhysics describes a 19,000-junction NIST chip producing a standard near 10 V.</a:t>
            </a:r>
          </a:p>
        </p:txBody>
      </p:sp>
      <p:sp>
        <p:nvSpPr>
          <p:cNvPr id="15" name="Rectangle 14"/>
          <p:cNvSpPr/>
          <p:nvPr/>
        </p:nvSpPr>
        <p:spPr>
          <a:xfrm>
            <a:off x="575733" y="3992827"/>
            <a:ext cx="4992952" cy="1250685"/>
          </a:xfrm>
          <a:prstGeom prst="rect">
            <a:avLst/>
          </a:prstGeom>
          <a:solidFill>
            <a:srgbClr val="EF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75733" y="3992827"/>
            <a:ext cx="42333" cy="1250685"/>
          </a:xfrm>
          <a:prstGeom prst="rect">
            <a:avLst/>
          </a:prstGeom>
          <a:solidFill>
            <a:srgbClr val="5F4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867" y="4145227"/>
            <a:ext cx="4595019"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The same phase-voltage relation that supports metrology also controls microwave-driven superconducting circuits.</a:t>
            </a:r>
          </a:p>
        </p:txBody>
      </p:sp>
      <p:pic>
        <p:nvPicPr>
          <p:cNvPr id="18" name="Josephson frequency voltage relation" descr="jjun2.png"/>
          <p:cNvPicPr>
            <a:picLocks noChangeAspect="1"/>
          </p:cNvPicPr>
          <p:nvPr/>
        </p:nvPicPr>
        <p:blipFill>
          <a:blip r:embed="rId2"/>
          <a:stretch>
            <a:fillRect/>
          </a:stretch>
        </p:blipFill>
        <p:spPr>
          <a:xfrm>
            <a:off x="7745809" y="2287285"/>
            <a:ext cx="1879600" cy="716038"/>
          </a:xfrm>
          <a:prstGeom prst="rect">
            <a:avLst/>
          </a:prstGeom>
        </p:spPr>
      </p:pic>
      <p:sp>
        <p:nvSpPr>
          <p:cNvPr id="19" name="TextBox 18"/>
          <p:cNvSpPr txBox="1"/>
          <p:nvPr/>
        </p:nvSpPr>
        <p:spPr>
          <a:xfrm>
            <a:off x="5754952" y="3085571"/>
            <a:ext cx="5861315" cy="168804"/>
          </a:xfrm>
          <a:prstGeom prst="rect">
            <a:avLst/>
          </a:prstGeom>
          <a:noFill/>
        </p:spPr>
        <p:txBody>
          <a:bodyPr wrap="none" lIns="0" rIns="0" tIns="0" bIns="0" anchor="t">
            <a:noAutofit/>
          </a:bodyPr>
          <a:lstStyle/>
          <a:p>
            <a:pPr algn="ctr">
              <a:lnSpc>
                <a:spcPts val="1330"/>
              </a:lnSpc>
            </a:pPr>
            <a:r>
              <a:rPr sz="1060" b="0" i="0">
                <a:solidFill>
                  <a:srgbClr val="5F5865"/>
                </a:solidFill>
                <a:latin typeface="Montserrat"/>
                <a:ea typeface="Montserrat"/>
                <a:cs typeface="Montserrat"/>
              </a:rPr>
              <a:t>Josephson oscillation frequency is proportional to voltage.</a:t>
            </a:r>
          </a:p>
        </p:txBody>
      </p:sp>
      <p:pic>
        <p:nvPicPr>
          <p:cNvPr id="20" name="Josephson frequency corresponding to one microvolt" descr="jjun3.png"/>
          <p:cNvPicPr>
            <a:picLocks noChangeAspect="1"/>
          </p:cNvPicPr>
          <p:nvPr/>
        </p:nvPicPr>
        <p:blipFill>
          <a:blip r:embed="rId3"/>
          <a:stretch>
            <a:fillRect/>
          </a:stretch>
        </p:blipFill>
        <p:spPr>
          <a:xfrm>
            <a:off x="7459927" y="3476817"/>
            <a:ext cx="2451232" cy="706583"/>
          </a:xfrm>
          <a:prstGeom prst="rect">
            <a:avLst/>
          </a:prstGeom>
        </p:spPr>
      </p:pic>
      <p:sp>
        <p:nvSpPr>
          <p:cNvPr id="21" name="TextBox 20"/>
          <p:cNvSpPr txBox="1"/>
          <p:nvPr/>
        </p:nvSpPr>
        <p:spPr>
          <a:xfrm>
            <a:off x="5754952" y="4270375"/>
            <a:ext cx="5861315" cy="170127"/>
          </a:xfrm>
          <a:prstGeom prst="rect">
            <a:avLst/>
          </a:prstGeom>
          <a:noFill/>
        </p:spPr>
        <p:txBody>
          <a:bodyPr wrap="none" lIns="0" rIns="0" tIns="0" bIns="0" anchor="t">
            <a:noAutofit/>
          </a:bodyPr>
          <a:lstStyle/>
          <a:p>
            <a:pPr algn="ctr">
              <a:lnSpc>
                <a:spcPts val="1330"/>
              </a:lnSpc>
            </a:pPr>
            <a:r>
              <a:rPr sz="1060" b="0" i="0">
                <a:solidFill>
                  <a:srgbClr val="5F5865"/>
                </a:solidFill>
                <a:latin typeface="Montserrat"/>
                <a:ea typeface="Montserrat"/>
                <a:cs typeface="Montserrat"/>
              </a:rPr>
              <a:t>The numerical conversion for an applied voltage of </a:t>
            </a:r>
            <mc:AlternateContent xmlns:mc="http://schemas.openxmlformats.org/markup-compatibility/2006">
              <mc:Choice xmlns:a14="http://schemas.microsoft.com/office/drawing/2010/main" Requires="a14">
                <a14:m>
                  <m:oMath xmlns:m="http://schemas.openxmlformats.org/officeDocument/2006/math">
                    <m:r>
                      <m:rPr>
                        <m:sty m:val="p"/>
                      </m:rPr>
                      <a:rPr lang="en-US" i="0" sz="1264">
                        <a:latin typeface="Cambria Math"/>
                      </a:rPr>
                      <m:t>1</m:t>
                    </m:r>
                    <m:box>
                      <m:e>
                        <m:r>
                          <a:rPr lang="en-US" i="1" sz="1264">
                            <a:latin typeface="Cambria Math"/>
                          </a:rPr>
                          <m:t/>
                        </m:r>
                      </m:e>
                    </m:box>
                    <m:r>
                      <m:rPr>
                        <m:sty m:val="i"/>
                      </m:rPr>
                      <a:rPr lang="en-US" i="1" sz="1264">
                        <a:latin typeface="Cambria Math"/>
                      </a:rPr>
                      <m:t>μ</m:t>
                    </m:r>
                    <m:box>
                      <m:e>
                        <m:r>
                          <m:rPr>
                            <m:sty m:val="p"/>
                          </m:rPr>
                          <a:rPr lang="en-US" i="0" sz="1264">
                            <a:latin typeface="Cambria Math"/>
                          </a:rPr>
                          <m:t>V</m:t>
                        </m:r>
                      </m:e>
                    </m:box>
                  </m:oMath>
                </a14:m>
              </mc:Choice>
              <mc:Fallback>
                <a:r>
                  <a:rPr lang="en-US" sz="1264" i="1"/>
                  <a:t>1\,\mu\mathrm V</a:t>
                </a:r>
              </mc:Fallback>
            </mc:AlternateContent>
            <a:r>
              <a:rPr sz="1060" b="0" i="0">
                <a:solidFill>
                  <a:srgbClr val="5F5865"/>
                </a:solidFill>
                <a:latin typeface="Montserrat"/>
                <a:ea typeface="Montserrat"/>
                <a:cs typeface="Montserrat"/>
              </a:rPr>
              <a:t>.</a:t>
            </a:r>
          </a:p>
        </p:txBody>
      </p:sp>
      <p:sp>
        <p:nvSpPr>
          <p:cNvPr id="22" name="TextBox 21"/>
          <p:cNvSpPr txBox="1"/>
          <p:nvPr/>
        </p:nvSpPr>
        <p:spPr>
          <a:xfrm>
            <a:off x="575733" y="5277379"/>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Source and images: </a:t>
            </a:r>
            <a:r>
              <a:rPr sz="1400" b="0" i="0">
                <a:solidFill>
                  <a:srgbClr val="355C9A"/>
                </a:solidFill>
                <a:latin typeface="Montserrat"/>
                <a:ea typeface="Montserrat"/>
                <a:cs typeface="Montserrat"/>
                <a:hlinkClick r:id="rId4"/>
              </a:rPr>
              <a:t>HyperPhysics, “Josephson Voltage Standard” and “The Standard Volt”</a:t>
            </a:r>
            <a:r>
              <a:rPr sz="1400" b="0" i="0">
                <a:solidFill>
                  <a:srgbClr val="4F4C56"/>
                </a:solidFill>
                <a:latin typeface="Montserrat"/>
                <a:ea typeface="Montserrat"/>
                <a:cs typeface="Montserrat"/>
              </a:rPr>
              <a:t>.</a:t>
            </a:r>
          </a:p>
        </p:txBody>
      </p:sp>
      <p:sp>
        <p:nvSpPr>
          <p:cNvPr id="23" name="Rectangle 22"/>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25" name="TextBox 24"/>
          <p:cNvSpPr txBox="1"/>
          <p:nvPr/>
        </p:nvSpPr>
        <p:spPr>
          <a:xfrm>
            <a:off x="11231695" y="6565900"/>
            <a:ext cx="469239"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28 / 100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913805" y="324115"/>
            <a:ext cx="1787128"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What Is a Superconductor?</a:t>
            </a:r>
          </a:p>
        </p:txBody>
      </p:sp>
      <p:sp>
        <p:nvSpPr>
          <p:cNvPr id="5" name="TextBox 4"/>
          <p:cNvSpPr txBox="1"/>
          <p:nvPr/>
        </p:nvSpPr>
        <p:spPr>
          <a:xfrm>
            <a:off x="575733" y="863600"/>
            <a:ext cx="11040334" cy="405026"/>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A Superconductor Is an Ordered Quantum Phase</a:t>
            </a:r>
          </a:p>
        </p:txBody>
      </p:sp>
      <p:pic>
        <p:nvPicPr>
          <p:cNvPr id="6" name="Official Nobel Prize 2025 Figure 5 explaining electrons, Cooper pairs, Josephson" descr="nobel-2025-fig5-cooper-pairs.jpg"/>
          <p:cNvPicPr>
            <a:picLocks noChangeAspect="1"/>
          </p:cNvPicPr>
          <p:nvPr/>
        </p:nvPicPr>
        <p:blipFill>
          <a:blip r:embed="rId2"/>
          <a:stretch>
            <a:fillRect/>
          </a:stretch>
        </p:blipFill>
        <p:spPr>
          <a:xfrm>
            <a:off x="1544263" y="1409935"/>
            <a:ext cx="4497973" cy="3061609"/>
          </a:xfrm>
          <a:prstGeom prst="rect">
            <a:avLst/>
          </a:prstGeom>
        </p:spPr>
      </p:pic>
      <p:sp>
        <p:nvSpPr>
          <p:cNvPr id="7" name="TextBox 6"/>
          <p:cNvSpPr txBox="1"/>
          <p:nvPr/>
        </p:nvSpPr>
        <p:spPr>
          <a:xfrm>
            <a:off x="575733" y="4526498"/>
            <a:ext cx="6435033" cy="487209"/>
          </a:xfrm>
          <a:prstGeom prst="rect">
            <a:avLst/>
          </a:prstGeom>
          <a:noFill/>
        </p:spPr>
        <p:txBody>
          <a:bodyPr wrap="square" lIns="0" rIns="0" tIns="0" bIns="0" anchor="t">
            <a:noAutofit/>
          </a:bodyPr>
          <a:lstStyle/>
          <a:p>
            <a:pPr algn="l">
              <a:lnSpc>
                <a:spcPts val="1380"/>
              </a:lnSpc>
            </a:pPr>
            <a:r>
              <a:rPr sz="1080" b="1" i="0">
                <a:solidFill>
                  <a:srgbClr val="302840"/>
                </a:solidFill>
                <a:latin typeface="Montserrat"/>
                <a:ea typeface="Montserrat"/>
                <a:cs typeface="Montserrat"/>
              </a:rPr>
              <a:t>Official Nobel 2025 Figure 5.</a:t>
            </a:r>
            <a:r>
              <a:rPr sz="1080" b="0" i="0">
                <a:solidFill>
                  <a:srgbClr val="5F5865"/>
                </a:solidFill>
                <a:latin typeface="Montserrat"/>
                <a:ea typeface="Montserrat"/>
                <a:cs typeface="Montserrat"/>
              </a:rPr>
              <a:t> Normal conduction, Cooper pairing, the junction gap, and the collective wavefunction are shown in one physical sequence. © Johan Jarnestad / The Royal Swedish Academy of Sciences, </a:t>
            </a:r>
            <a:r>
              <a:rPr sz="1080" b="0" i="0">
                <a:solidFill>
                  <a:srgbClr val="355C9A"/>
                </a:solidFill>
                <a:latin typeface="Montserrat"/>
                <a:ea typeface="Montserrat"/>
                <a:cs typeface="Montserrat"/>
                <a:hlinkClick r:id="rId3"/>
              </a:rPr>
              <a:t>official popular background</a:t>
            </a:r>
            <a:r>
              <a:rPr sz="1080" b="0" i="0">
                <a:solidFill>
                  <a:srgbClr val="5F5865"/>
                </a:solidFill>
                <a:latin typeface="Montserrat"/>
                <a:ea typeface="Montserrat"/>
                <a:cs typeface="Montserrat"/>
              </a:rPr>
              <a:t>. </a:t>
            </a:r>
          </a:p>
        </p:txBody>
      </p:sp>
      <p:sp>
        <p:nvSpPr>
          <p:cNvPr id="8" name="Rounded Rectangle 7"/>
          <p:cNvSpPr/>
          <p:nvPr/>
        </p:nvSpPr>
        <p:spPr>
          <a:xfrm>
            <a:off x="7144221" y="1450655"/>
            <a:ext cx="4471723" cy="473962"/>
          </a:xfrm>
          <a:prstGeom prst="roundRect">
            <a:avLst>
              <a:gd name="adj" fmla="val 12504"/>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144221" y="1450655"/>
            <a:ext cx="33867" cy="473962"/>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44221" y="1450655"/>
            <a:ext cx="4471723" cy="473962"/>
          </a:xfrm>
          <a:prstGeom prst="rect">
            <a:avLst/>
          </a:prstGeom>
          <a:noFill/>
        </p:spPr>
        <p:txBody>
          <a:bodyPr wrap="square" lIns="84667" rIns="84667" tIns="59267" bIns="59267" anchor="t">
            <a:noAutofit/>
          </a:bodyPr>
          <a:lstStyle/>
          <a:p>
            <a:pPr algn="l">
              <a:lnSpc>
                <a:spcPts val="1550"/>
              </a:lnSpc>
            </a:pPr>
            <a:r>
              <a:rPr sz="1190" b="1" i="0">
                <a:solidFill>
                  <a:srgbClr val="22232A"/>
                </a:solidFill>
                <a:latin typeface="Montserrat"/>
                <a:ea typeface="Montserrat"/>
                <a:cs typeface="Montserrat"/>
              </a:rPr>
              <a:t>Gap </a:t>
            </a:r>
            <mc:AlternateContent xmlns:mc="http://schemas.openxmlformats.org/markup-compatibility/2006">
              <mc:Choice xmlns:a14="http://schemas.microsoft.com/office/drawing/2010/main" Requires="a14">
                <a14:m>
                  <m:oMath xmlns:m="http://schemas.openxmlformats.org/officeDocument/2006/math">
                    <m:r>
                      <m:rPr>
                        <m:sty m:val="p"/>
                      </m:rPr>
                      <a:rPr lang="en-US" i="0" sz="1415">
                        <a:latin typeface="Cambria Math"/>
                      </a:rPr>
                      <m:t>Δ</m:t>
                    </m:r>
                  </m:oMath>
                </a14:m>
              </mc:Choice>
              <mc:Fallback>
                <a:r>
                  <a:rPr lang="en-US" sz="1414" i="1"/>
                  <a:t>\Delta</a:t>
                </a:r>
              </mc:Fallback>
            </mc:AlternateContent>
            <a:r>
              <a:rPr sz="1190" b="1" i="0">
                <a:solidFill>
                  <a:srgbClr val="22232A"/>
                </a:solidFill>
                <a:latin typeface="Montserrat"/>
                <a:ea typeface="Montserrat"/>
                <a:cs typeface="Montserrat"/>
              </a:rPr>
              <a:t>:</a:t>
            </a:r>
            <a:r>
              <a:rPr sz="1190" b="0" i="0">
                <a:solidFill>
                  <a:srgbClr val="22232A"/>
                </a:solidFill>
                <a:latin typeface="Montserrat"/>
                <a:ea typeface="Montserrat"/>
                <a:cs typeface="Montserrat"/>
              </a:rPr>
              <a:t> pairing removes low-energy single-particle states; quasiparticles cost energy and are thermally suppressed.</a:t>
            </a:r>
          </a:p>
        </p:txBody>
      </p:sp>
      <p:sp>
        <p:nvSpPr>
          <p:cNvPr id="11" name="Rounded Rectangle 10"/>
          <p:cNvSpPr/>
          <p:nvPr/>
        </p:nvSpPr>
        <p:spPr>
          <a:xfrm>
            <a:off x="7144221" y="1995269"/>
            <a:ext cx="4471723" cy="519101"/>
          </a:xfrm>
          <a:prstGeom prst="roundRect">
            <a:avLst>
              <a:gd name="adj" fmla="val 11417"/>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144221" y="1995269"/>
            <a:ext cx="33867" cy="519101"/>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44221" y="1995269"/>
            <a:ext cx="4471723" cy="519101"/>
          </a:xfrm>
          <a:prstGeom prst="rect">
            <a:avLst/>
          </a:prstGeom>
          <a:noFill/>
        </p:spPr>
        <p:txBody>
          <a:bodyPr wrap="square" lIns="84667" rIns="84667" tIns="59267" bIns="59267" anchor="t">
            <a:noAutofit/>
          </a:bodyPr>
          <a:lstStyle/>
          <a:p>
            <a:pPr algn="l">
              <a:lnSpc>
                <a:spcPts val="1550"/>
              </a:lnSpc>
            </a:pPr>
            <a:r>
              <a:rPr sz="1190" b="1" i="0">
                <a:solidFill>
                  <a:srgbClr val="22232A"/>
                </a:solidFill>
                <a:latin typeface="Montserrat"/>
                <a:ea typeface="Montserrat"/>
                <a:cs typeface="Montserrat"/>
              </a:rPr>
              <a:t>Phase stiffness:</a:t>
            </a:r>
            <a:r>
              <a:rPr sz="1190" b="0" i="0">
                <a:solidFill>
                  <a:srgbClr val="22232A"/>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r>
                      <m:rPr>
                        <m:sty m:val="p"/>
                      </m:rPr>
                      <a:rPr lang="en-US" i="0" sz="1415">
                        <a:latin typeface="Cambria Math"/>
                      </a:rPr>
                      <m:t>Ψ</m:t>
                    </m:r>
                    <m:r>
                      <m:rPr>
                        <m:sty m:val="p"/>
                      </m:rPr>
                      <a:rPr lang="en-US" i="0" sz="1415">
                        <a:latin typeface="Cambria Math"/>
                      </a:rPr>
                      <m:t>(</m:t>
                    </m:r>
                    <m:box>
                      <m:e>
                        <m:r>
                          <m:rPr>
                            <m:sty m:val="b"/>
                          </m:rPr>
                          <a:rPr lang="en-US" i="1" sz="1415">
                            <a:latin typeface="Cambria Math"/>
                          </a:rPr>
                          <m:t>r</m:t>
                        </m:r>
                      </m:e>
                    </m:box>
                    <m:r>
                      <m:rPr>
                        <m:sty m:val="p"/>
                      </m:rPr>
                      <a:rPr lang="en-US" i="0" sz="1415">
                        <a:latin typeface="Cambria Math"/>
                      </a:rPr>
                      <m:t>)</m:t>
                    </m:r>
                    <m:r>
                      <m:rPr>
                        <m:sty m:val="p"/>
                      </m:rPr>
                      <a:rPr lang="en-US" i="0" sz="1415">
                        <a:latin typeface="Cambria Math"/>
                      </a:rPr>
                      <m:t>=</m:t>
                    </m:r>
                    <m:rad>
                      <m:radPr>
                        <m:degHide m:val="1"/>
                      </m:radPr>
                      <m:deg/>
                      <m:e>
                        <m:box>
                          <m:e>
                            <m:sSub>
                              <m:e>
                                <m:r>
                                  <m:rPr>
                                    <m:sty m:val="i"/>
                                  </m:rPr>
                                  <a:rPr lang="en-US" i="1" sz="1415">
                                    <a:latin typeface="Cambria Math"/>
                                  </a:rPr>
                                  <m:t>n</m:t>
                                </m:r>
                              </m:e>
                              <m:sub>
                                <m:r>
                                  <m:rPr>
                                    <m:sty m:val="i"/>
                                  </m:rPr>
                                  <a:rPr lang="en-US" i="1" sz="1415">
                                    <a:latin typeface="Cambria Math"/>
                                  </a:rPr>
                                  <m:t>s</m:t>
                                </m:r>
                              </m:sub>
                            </m:sSub>
                            <m:r>
                              <m:rPr>
                                <m:sty m:val="p"/>
                              </m:rPr>
                              <a:rPr lang="en-US" i="0" sz="1415">
                                <a:latin typeface="Cambria Math"/>
                              </a:rPr>
                              <m:t>(</m:t>
                            </m:r>
                            <m:box>
                              <m:e>
                                <m:r>
                                  <m:rPr>
                                    <m:sty m:val="b"/>
                                  </m:rPr>
                                  <a:rPr lang="en-US" i="1" sz="1415">
                                    <a:latin typeface="Cambria Math"/>
                                  </a:rPr>
                                  <m:t>r</m:t>
                                </m:r>
                              </m:e>
                            </m:box>
                            <m:r>
                              <m:rPr>
                                <m:sty m:val="p"/>
                              </m:rPr>
                              <a:rPr lang="en-US" i="0" sz="1415">
                                <a:latin typeface="Cambria Math"/>
                              </a:rPr>
                              <m:t>)</m:t>
                            </m:r>
                          </m:e>
                        </m:box>
                      </m:e>
                    </m:rad>
                    <m:sSup>
                      <m:e>
                        <m:r>
                          <m:rPr>
                            <m:sty m:val="i"/>
                          </m:rPr>
                          <a:rPr lang="en-US" i="1" sz="1415">
                            <a:latin typeface="Cambria Math"/>
                          </a:rPr>
                          <m:t>e</m:t>
                        </m:r>
                      </m:e>
                      <m:sup>
                        <m:box>
                          <m:e>
                            <m:r>
                              <m:rPr>
                                <m:sty m:val="i"/>
                              </m:rPr>
                              <a:rPr lang="en-US" i="1" sz="1415">
                                <a:latin typeface="Cambria Math"/>
                              </a:rPr>
                              <m:t>i</m:t>
                            </m:r>
                            <m:r>
                              <m:rPr>
                                <m:sty m:val="i"/>
                              </m:rPr>
                              <a:rPr lang="en-US" i="1" sz="1415">
                                <a:latin typeface="Cambria Math"/>
                              </a:rPr>
                              <m:t>θ</m:t>
                            </m:r>
                            <m:r>
                              <m:rPr>
                                <m:sty m:val="p"/>
                              </m:rPr>
                              <a:rPr lang="en-US" i="0" sz="1415">
                                <a:latin typeface="Cambria Math"/>
                              </a:rPr>
                              <m:t>(</m:t>
                            </m:r>
                            <m:box>
                              <m:e>
                                <m:r>
                                  <m:rPr>
                                    <m:sty m:val="b"/>
                                  </m:rPr>
                                  <a:rPr lang="en-US" i="1" sz="1415">
                                    <a:latin typeface="Cambria Math"/>
                                  </a:rPr>
                                  <m:t>r</m:t>
                                </m:r>
                              </m:e>
                            </m:box>
                            <m:r>
                              <m:rPr>
                                <m:sty m:val="p"/>
                              </m:rPr>
                              <a:rPr lang="en-US" i="0" sz="1415">
                                <a:latin typeface="Cambria Math"/>
                              </a:rPr>
                              <m:t>)</m:t>
                            </m:r>
                          </m:e>
                        </m:box>
                      </m:sup>
                    </m:sSup>
                  </m:oMath>
                </a14:m>
              </mc:Choice>
              <mc:Fallback>
                <a:r>
                  <a:rPr lang="en-US" sz="1414" i="1"/>
                  <a:t>\Psi(\mathbf r)=\sqrt{n_s(\mathbf r)}e^{i\theta(\mathbf r)}</a:t>
                </a:r>
              </mc:Fallback>
            </mc:AlternateContent>
            <a:r>
              <a:rPr sz="1190" b="0" i="0">
                <a:solidFill>
                  <a:srgbClr val="22232A"/>
                </a:solidFill>
                <a:latin typeface="Montserrat"/>
                <a:ea typeface="Montserrat"/>
                <a:cs typeface="Montserrat"/>
              </a:rPr>
              <a:t>. Many Cooper pairs share a collective phase that becomes a circuit coordinate.</a:t>
            </a:r>
          </a:p>
        </p:txBody>
      </p:sp>
      <p:sp>
        <p:nvSpPr>
          <p:cNvPr id="14" name="Rounded Rectangle 13"/>
          <p:cNvSpPr/>
          <p:nvPr/>
        </p:nvSpPr>
        <p:spPr>
          <a:xfrm>
            <a:off x="7144221" y="2585022"/>
            <a:ext cx="4471723" cy="655990"/>
          </a:xfrm>
          <a:prstGeom prst="roundRect">
            <a:avLst>
              <a:gd name="adj" fmla="val 9034"/>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144221" y="2585022"/>
            <a:ext cx="33867" cy="655990"/>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44221" y="2585022"/>
            <a:ext cx="4471723" cy="655990"/>
          </a:xfrm>
          <a:prstGeom prst="rect">
            <a:avLst/>
          </a:prstGeom>
          <a:noFill/>
        </p:spPr>
        <p:txBody>
          <a:bodyPr wrap="square" lIns="84667" rIns="84667" tIns="59267" bIns="59267" anchor="t">
            <a:noAutofit/>
          </a:bodyPr>
          <a:lstStyle/>
          <a:p>
            <a:pPr algn="l">
              <a:lnSpc>
                <a:spcPts val="1550"/>
              </a:lnSpc>
            </a:pPr>
            <a:r>
              <a:rPr sz="1190" b="1" i="0">
                <a:solidFill>
                  <a:srgbClr val="22232A"/>
                </a:solidFill>
                <a:latin typeface="Montserrat"/>
                <a:ea typeface="Montserrat"/>
                <a:cs typeface="Montserrat"/>
              </a:rPr>
              <a:t>Meissner screening:</a:t>
            </a:r>
            <a:r>
              <a:rPr sz="1190" b="0" i="0">
                <a:solidFill>
                  <a:srgbClr val="22232A"/>
                </a:solidFill>
                <a:latin typeface="Montserrat"/>
                <a:ea typeface="Montserrat"/>
                <a:cs typeface="Montserrat"/>
              </a:rPr>
              <a:t> magnetic response is part of the ordered phase; zero dc resistance by itself is not the full definition.</a:t>
            </a:r>
          </a:p>
        </p:txBody>
      </p:sp>
      <p:sp>
        <p:nvSpPr>
          <p:cNvPr id="17" name="Rectangle 16"/>
          <p:cNvSpPr/>
          <p:nvPr/>
        </p:nvSpPr>
        <p:spPr>
          <a:xfrm>
            <a:off x="7144221" y="3437270"/>
            <a:ext cx="4471723" cy="1410109"/>
          </a:xfrm>
          <a:prstGeom prst="rect">
            <a:avLst/>
          </a:prstGeom>
          <a:solidFill>
            <a:srgbClr val="EF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144221" y="3437270"/>
            <a:ext cx="42333" cy="1410109"/>
          </a:xfrm>
          <a:prstGeom prst="rect">
            <a:avLst/>
          </a:prstGeom>
          <a:solidFill>
            <a:srgbClr val="5F4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8329" y="3578575"/>
            <a:ext cx="4102759" cy="1001894"/>
          </a:xfrm>
          <a:prstGeom prst="rect">
            <a:avLst/>
          </a:prstGeom>
          <a:noFill/>
        </p:spPr>
        <p:txBody>
          <a:bodyPr wrap="square" lIns="0" rIns="0" tIns="0" bIns="0" anchor="t">
            <a:noAutofit/>
          </a:bodyPr>
          <a:lstStyle/>
          <a:p>
            <a:pPr algn="l">
              <a:lnSpc>
                <a:spcPts val="2130"/>
              </a:lnSpc>
            </a:pPr>
            <a:r>
              <a:rPr sz="1400" b="1" i="0">
                <a:solidFill>
                  <a:srgbClr val="4F4C56"/>
                </a:solidFill>
                <a:latin typeface="Montserrat"/>
                <a:ea typeface="Montserrat"/>
                <a:cs typeface="Montserrat"/>
              </a:rPr>
              <a:t>For qubits:</a:t>
            </a:r>
            <a:r>
              <a:rPr sz="1400" b="0" i="0">
                <a:solidFill>
                  <a:srgbClr val="4F4C56"/>
                </a:solidFill>
                <a:latin typeface="Montserrat"/>
                <a:ea typeface="Montserrat"/>
                <a:cs typeface="Montserrat"/>
              </a:rPr>
              <a:t> the gap reduces dissipation; the phase gives a coherent degree of freedom. Neither protects against all quasiparticles, vortices, lossy interfaces, or radiation.</a:t>
            </a:r>
          </a:p>
        </p:txBody>
      </p:sp>
      <p:sp>
        <p:nvSpPr>
          <p:cNvPr id="20" name="Rounded Rectangle 19"/>
          <p:cNvSpPr/>
          <p:nvPr/>
        </p:nvSpPr>
        <p:spPr>
          <a:xfrm>
            <a:off x="575733" y="5100060"/>
            <a:ext cx="11040334" cy="389203"/>
          </a:xfrm>
          <a:prstGeom prst="roundRect">
            <a:avLst>
              <a:gd name="adj" fmla="val 21753"/>
            </a:avLst>
          </a:prstGeom>
          <a:solidFill>
            <a:srgbClr val="F7F4FB"/>
          </a:solidFill>
          <a:ln w="8467">
            <a:solidFill>
              <a:srgbClr val="D8D0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078574" y="5186413"/>
            <a:ext cx="2336075" cy="216496"/>
          </a:xfrm>
          <a:prstGeom prst="rect">
            <a:avLst/>
          </a:prstGeom>
          <a:noFill/>
        </p:spPr>
        <p:txBody>
          <a:bodyPr wrap="none" lIns="0" rIns="0" tIns="0" bIns="0" anchor="t">
            <a:noAutofit/>
          </a:bodyPr>
          <a:lstStyle/>
          <a:p>
            <a:pPr algn="l">
              <a:lnSpc>
                <a:spcPts val="1839"/>
              </a:lnSpc>
            </a:pPr>
            <a:r>
              <a:rPr sz="1290" b="0" i="0">
                <a:solidFill>
                  <a:srgbClr val="22232A"/>
                </a:solidFill>
                <a:latin typeface="Montserrat"/>
                <a:ea typeface="Montserrat"/>
                <a:cs typeface="Montserrat"/>
              </a:rPr>
              <a:t>microscopic order parameter </a:t>
            </a:r>
            <mc:AlternateContent xmlns:mc="http://schemas.openxmlformats.org/markup-compatibility/2006">
              <mc:Choice xmlns:a14="http://schemas.microsoft.com/office/drawing/2010/main" Requires="a14">
                <a14:m>
                  <m:oMath xmlns:m="http://schemas.openxmlformats.org/officeDocument/2006/math">
                    <m:r>
                      <m:rPr>
                        <m:sty m:val="i"/>
                      </m:rPr>
                      <a:rPr lang="en-US" i="1" sz="1531">
                        <a:latin typeface="Cambria Math"/>
                      </a:rPr>
                      <m:t>θ</m:t>
                    </m:r>
                  </m:oMath>
                </a14:m>
              </mc:Choice>
              <mc:Fallback>
                <a:r>
                  <a:rPr lang="en-US" sz="1531" i="1"/>
                  <a:t>\theta</a:t>
                </a:r>
              </mc:Fallback>
            </mc:AlternateContent>
          </a:p>
        </p:txBody>
      </p:sp>
      <p:sp>
        <p:nvSpPr>
          <p:cNvPr id="22" name="TextBox 21"/>
          <p:cNvSpPr txBox="1"/>
          <p:nvPr/>
        </p:nvSpPr>
        <p:spPr>
          <a:xfrm>
            <a:off x="4508853" y="5186413"/>
            <a:ext cx="141551" cy="216496"/>
          </a:xfrm>
          <a:prstGeom prst="rect">
            <a:avLst/>
          </a:prstGeom>
          <a:noFill/>
        </p:spPr>
        <p:txBody>
          <a:bodyPr wrap="none" lIns="0" rIns="0" tIns="0" bIns="0" anchor="t">
            <a:noAutofit/>
          </a:bodyPr>
          <a:lstStyle/>
          <a:p>
            <a:pPr algn="l">
              <a:lnSpc>
                <a:spcPts val="1839"/>
              </a:lnSpc>
            </a:pPr>
            <a:r>
              <a:rPr sz="1290" b="1" i="0">
                <a:solidFill>
                  <a:srgbClr val="70549A"/>
                </a:solidFill>
                <a:latin typeface="Montserrat"/>
                <a:ea typeface="Montserrat"/>
                <a:cs typeface="Montserrat"/>
              </a:rPr>
              <a:t>→</a:t>
            </a:r>
          </a:p>
        </p:txBody>
      </p:sp>
      <p:sp>
        <p:nvSpPr>
          <p:cNvPr id="23" name="TextBox 22"/>
          <p:cNvSpPr txBox="1"/>
          <p:nvPr/>
        </p:nvSpPr>
        <p:spPr>
          <a:xfrm>
            <a:off x="4744607" y="5186413"/>
            <a:ext cx="2679158" cy="216496"/>
          </a:xfrm>
          <a:prstGeom prst="rect">
            <a:avLst/>
          </a:prstGeom>
          <a:noFill/>
        </p:spPr>
        <p:txBody>
          <a:bodyPr wrap="none" lIns="0" rIns="0" tIns="0" bIns="0" anchor="t">
            <a:noAutofit/>
          </a:bodyPr>
          <a:lstStyle/>
          <a:p>
            <a:pPr algn="l">
              <a:lnSpc>
                <a:spcPts val="1839"/>
              </a:lnSpc>
            </a:pPr>
            <a:r>
              <a:rPr sz="1290" b="0" i="0">
                <a:solidFill>
                  <a:srgbClr val="22232A"/>
                </a:solidFill>
                <a:latin typeface="Montserrat"/>
                <a:ea typeface="Montserrat"/>
                <a:cs typeface="Montserrat"/>
              </a:rPr>
              <a:t>gauge-invariant phase difference </a:t>
            </a:r>
            <mc:AlternateContent xmlns:mc="http://schemas.openxmlformats.org/markup-compatibility/2006">
              <mc:Choice xmlns:a14="http://schemas.microsoft.com/office/drawing/2010/main" Requires="a14">
                <a14:m>
                  <m:oMath xmlns:m="http://schemas.openxmlformats.org/officeDocument/2006/math">
                    <m:r>
                      <m:rPr>
                        <m:sty m:val="i"/>
                      </m:rPr>
                      <a:rPr lang="en-US" i="1" sz="1531">
                        <a:latin typeface="Cambria Math"/>
                      </a:rPr>
                      <m:t>φ</m:t>
                    </m:r>
                  </m:oMath>
                </a14:m>
              </mc:Choice>
              <mc:Fallback>
                <a:r>
                  <a:rPr lang="en-US" sz="1531" i="1"/>
                  <a:t>\varphi</a:t>
                </a:r>
              </mc:Fallback>
            </mc:AlternateContent>
          </a:p>
        </p:txBody>
      </p:sp>
      <p:sp>
        <p:nvSpPr>
          <p:cNvPr id="24" name="TextBox 23"/>
          <p:cNvSpPr txBox="1"/>
          <p:nvPr/>
        </p:nvSpPr>
        <p:spPr>
          <a:xfrm>
            <a:off x="7517969" y="5186413"/>
            <a:ext cx="141551" cy="216496"/>
          </a:xfrm>
          <a:prstGeom prst="rect">
            <a:avLst/>
          </a:prstGeom>
          <a:noFill/>
        </p:spPr>
        <p:txBody>
          <a:bodyPr wrap="none" lIns="0" rIns="0" tIns="0" bIns="0" anchor="t">
            <a:noAutofit/>
          </a:bodyPr>
          <a:lstStyle/>
          <a:p>
            <a:pPr algn="l">
              <a:lnSpc>
                <a:spcPts val="1839"/>
              </a:lnSpc>
            </a:pPr>
            <a:r>
              <a:rPr sz="1290" b="1" i="0">
                <a:solidFill>
                  <a:srgbClr val="70549A"/>
                </a:solidFill>
                <a:latin typeface="Montserrat"/>
                <a:ea typeface="Montserrat"/>
                <a:cs typeface="Montserrat"/>
              </a:rPr>
              <a:t>→</a:t>
            </a:r>
          </a:p>
        </p:txBody>
      </p:sp>
      <p:sp>
        <p:nvSpPr>
          <p:cNvPr id="25" name="TextBox 24"/>
          <p:cNvSpPr txBox="1"/>
          <p:nvPr/>
        </p:nvSpPr>
        <p:spPr>
          <a:xfrm>
            <a:off x="7753723" y="5186413"/>
            <a:ext cx="2359504" cy="216496"/>
          </a:xfrm>
          <a:prstGeom prst="rect">
            <a:avLst/>
          </a:prstGeom>
          <a:noFill/>
        </p:spPr>
        <p:txBody>
          <a:bodyPr wrap="none" lIns="0" rIns="0" tIns="0" bIns="0" anchor="t">
            <a:noAutofit/>
          </a:bodyPr>
          <a:lstStyle/>
          <a:p>
            <a:pPr algn="l">
              <a:lnSpc>
                <a:spcPts val="1839"/>
              </a:lnSpc>
            </a:pPr>
            <a:r>
              <a:rPr sz="1290" b="0" i="0">
                <a:solidFill>
                  <a:srgbClr val="22232A"/>
                </a:solidFill>
                <a:latin typeface="Montserrat"/>
                <a:ea typeface="Montserrat"/>
                <a:cs typeface="Montserrat"/>
              </a:rPr>
              <a:t>flux, current, and circuit energy</a:t>
            </a:r>
          </a:p>
        </p:txBody>
      </p:sp>
      <p:sp>
        <p:nvSpPr>
          <p:cNvPr id="26" name="Rectangle 25"/>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28" name="TextBox 27"/>
          <p:cNvSpPr txBox="1"/>
          <p:nvPr/>
        </p:nvSpPr>
        <p:spPr>
          <a:xfrm>
            <a:off x="11234341" y="6565900"/>
            <a:ext cx="466593"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29 / 100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913805" y="324115"/>
            <a:ext cx="1787128"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What Is a Superconductor?</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Gap Protection Is Exponential, Not Absolute</a:t>
            </a:r>
          </a:p>
        </p:txBody>
      </p:sp>
      <p:sp>
        <p:nvSpPr>
          <p:cNvPr id="6" name="Rounded Rectangle 5"/>
          <p:cNvSpPr/>
          <p:nvPr/>
        </p:nvSpPr>
        <p:spPr>
          <a:xfrm>
            <a:off x="575733" y="1452827"/>
            <a:ext cx="11040533" cy="552979"/>
          </a:xfrm>
          <a:prstGeom prst="roundRect">
            <a:avLst>
              <a:gd name="adj" fmla="val 15311"/>
            </a:avLst>
          </a:prstGeom>
          <a:solidFill>
            <a:srgbClr val="F7F4FB"/>
          </a:solidFill>
          <a:ln w="8467">
            <a:solidFill>
              <a:srgbClr val="D8D0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539728" y="1612503"/>
            <a:ext cx="1555353" cy="233495"/>
          </a:xfrm>
          <a:prstGeom prst="rect">
            <a:avLst/>
          </a:prstGeom>
          <a:noFill/>
        </p:spPr>
        <p:txBody>
          <a:bodyPr wrap="none" lIns="0" rIns="0" tIns="0" bIns="0" anchor="t">
            <a:noAutofit/>
          </a:bodyPr>
          <a:lstStyle/>
          <a:p>
            <a:pPr algn="l">
              <a:lnSpc>
                <a:spcPts val="1839"/>
              </a:lnSpc>
            </a:pPr>
            <mc:AlternateContent xmlns:mc="http://schemas.openxmlformats.org/markup-compatibility/2006">
              <mc:Choice xmlns:a14="http://schemas.microsoft.com/office/drawing/2010/main" Requires="a14">
                <a14:m>
                  <m:oMath xmlns:m="http://schemas.openxmlformats.org/officeDocument/2006/math">
                    <m:r>
                      <m:rPr>
                        <m:sty m:val="p"/>
                      </m:rPr>
                      <a:rPr lang="en-US" i="0" sz="1531">
                        <a:latin typeface="Cambria Math"/>
                      </a:rPr>
                      <m:t>Δ</m:t>
                    </m:r>
                    <m:r>
                      <m:rPr>
                        <m:sty m:val="p"/>
                      </m:rPr>
                      <a:rPr lang="en-US" i="0" sz="1531">
                        <a:latin typeface="Cambria Math"/>
                      </a:rPr>
                      <m:t>(</m:t>
                    </m:r>
                    <m:r>
                      <m:rPr>
                        <m:sty m:val="p"/>
                      </m:rPr>
                      <a:rPr lang="en-US" i="0" sz="1531">
                        <a:latin typeface="Cambria Math"/>
                      </a:rPr>
                      <m:t>0</m:t>
                    </m:r>
                    <m:r>
                      <m:rPr>
                        <m:sty m:val="p"/>
                      </m:rPr>
                      <a:rPr lang="en-US" i="0" sz="1531">
                        <a:latin typeface="Cambria Math"/>
                      </a:rPr>
                      <m:t>)</m:t>
                    </m:r>
                    <m:r>
                      <m:rPr>
                        <m:sty m:val="p"/>
                      </m:rPr>
                      <a:rPr lang="en-US" i="0" sz="1531">
                        <a:latin typeface="Cambria Math"/>
                      </a:rPr>
                      <m:t>≃</m:t>
                    </m:r>
                    <m:r>
                      <m:rPr>
                        <m:sty m:val="p"/>
                      </m:rPr>
                      <a:rPr lang="en-US" i="0" sz="1531">
                        <a:latin typeface="Cambria Math"/>
                      </a:rPr>
                      <m:t>1.764</m:t>
                    </m:r>
                    <m:box>
                      <m:e>
                        <m:r>
                          <a:rPr lang="en-US" i="1" sz="1531">
                            <a:latin typeface="Cambria Math"/>
                          </a:rPr>
                          <m:t/>
                        </m:r>
                      </m:e>
                    </m:box>
                    <m:sSub>
                      <m:e>
                        <m:r>
                          <m:rPr>
                            <m:sty m:val="i"/>
                          </m:rPr>
                          <a:rPr lang="en-US" i="1" sz="1531">
                            <a:latin typeface="Cambria Math"/>
                          </a:rPr>
                          <m:t>k</m:t>
                        </m:r>
                      </m:e>
                      <m:sub>
                        <m:r>
                          <m:rPr>
                            <m:sty m:val="i"/>
                          </m:rPr>
                          <a:rPr lang="en-US" i="1" sz="1531">
                            <a:latin typeface="Cambria Math"/>
                          </a:rPr>
                          <m:t>B</m:t>
                        </m:r>
                      </m:sub>
                    </m:sSub>
                    <m:sSub>
                      <m:e>
                        <m:r>
                          <m:rPr>
                            <m:sty m:val="i"/>
                          </m:rPr>
                          <a:rPr lang="en-US" i="1" sz="1531">
                            <a:latin typeface="Cambria Math"/>
                          </a:rPr>
                          <m:t>T</m:t>
                        </m:r>
                      </m:e>
                      <m:sub>
                        <m:r>
                          <m:rPr>
                            <m:sty m:val="i"/>
                          </m:rPr>
                          <a:rPr lang="en-US" i="1" sz="1531">
                            <a:latin typeface="Cambria Math"/>
                          </a:rPr>
                          <m:t>c</m:t>
                        </m:r>
                      </m:sub>
                    </m:sSub>
                  </m:oMath>
                </a14:m>
              </mc:Choice>
              <mc:Fallback>
                <a:r>
                  <a:rPr lang="en-US" sz="1531" i="1"/>
                  <a:t>\Delta(0)\simeq1.764\,k_BT_c</a:t>
                </a:r>
              </mc:Fallback>
            </mc:AlternateContent>
          </a:p>
        </p:txBody>
      </p:sp>
      <p:sp>
        <p:nvSpPr>
          <p:cNvPr id="8" name="TextBox 7"/>
          <p:cNvSpPr txBox="1"/>
          <p:nvPr/>
        </p:nvSpPr>
        <p:spPr>
          <a:xfrm>
            <a:off x="5196681" y="1612503"/>
            <a:ext cx="327819" cy="233495"/>
          </a:xfrm>
          <a:prstGeom prst="rect">
            <a:avLst/>
          </a:prstGeom>
          <a:noFill/>
        </p:spPr>
        <p:txBody>
          <a:bodyPr wrap="none" lIns="0" rIns="0" tIns="0" bIns="0" anchor="t">
            <a:noAutofit/>
          </a:bodyPr>
          <a:lstStyle/>
          <a:p>
            <a:pPr algn="l">
              <a:lnSpc>
                <a:spcPts val="1839"/>
              </a:lnSpc>
            </a:pPr>
            <a:r>
              <a:rPr sz="1290" b="1" i="0">
                <a:solidFill>
                  <a:srgbClr val="70549A"/>
                </a:solidFill>
                <a:latin typeface="Montserrat"/>
                <a:ea typeface="Montserrat"/>
                <a:cs typeface="Montserrat"/>
              </a:rPr>
              <a:t>and</a:t>
            </a:r>
          </a:p>
        </p:txBody>
      </p:sp>
      <p:sp>
        <p:nvSpPr>
          <p:cNvPr id="9" name="TextBox 8"/>
          <p:cNvSpPr txBox="1"/>
          <p:nvPr/>
        </p:nvSpPr>
        <p:spPr>
          <a:xfrm>
            <a:off x="5626100" y="1545960"/>
            <a:ext cx="3026040" cy="366712"/>
          </a:xfrm>
          <a:prstGeom prst="rect">
            <a:avLst/>
          </a:prstGeom>
          <a:noFill/>
        </p:spPr>
        <p:txBody>
          <a:bodyPr wrap="square" lIns="0" rIns="0" tIns="0" bIns="0" anchor="t">
            <a:noAutofit/>
          </a:bodyPr>
          <a:lstStyle/>
          <a:p>
            <a:pPr algn="l">
              <a:lnSpc>
                <a:spcPts val="1839"/>
              </a:lnSpc>
            </a:pPr>
            <mc:AlternateContent xmlns:mc="http://schemas.openxmlformats.org/markup-compatibility/2006">
              <mc:Choice xmlns:a14="http://schemas.microsoft.com/office/drawing/2010/main" Requires="a14">
                <a14:m>
                  <m:oMath xmlns:m="http://schemas.openxmlformats.org/officeDocument/2006/math">
                    <m:r>
                      <m:rPr>
                        <m:sty m:val="p"/>
                      </m:rPr>
                      <a:rPr lang="en-US" i="0" sz="1531">
                        <a:latin typeface="Cambria Math"/>
                      </a:rPr>
                      <m:t>Δ</m:t>
                    </m:r>
                    <m:r>
                      <m:rPr>
                        <m:sty m:val="p"/>
                      </m:rPr>
                      <a:rPr lang="en-US" i="0" sz="1531">
                        <a:latin typeface="Cambria Math"/>
                      </a:rPr>
                      <m:t>(</m:t>
                    </m:r>
                    <m:r>
                      <m:rPr>
                        <m:sty m:val="i"/>
                      </m:rPr>
                      <a:rPr lang="en-US" i="1" sz="1531">
                        <a:latin typeface="Cambria Math"/>
                      </a:rPr>
                      <m:t>T</m:t>
                    </m:r>
                    <m:r>
                      <m:rPr>
                        <m:sty m:val="p"/>
                      </m:rPr>
                      <a:rPr lang="en-US" i="0" sz="1531">
                        <a:latin typeface="Cambria Math"/>
                      </a:rPr>
                      <m:t>)</m:t>
                    </m:r>
                    <m:r>
                      <m:rPr>
                        <m:sty m:val="p"/>
                      </m:rPr>
                      <a:rPr lang="en-US" i="0" sz="1531">
                        <a:latin typeface="Cambria Math"/>
                      </a:rPr>
                      <m:t>≈</m:t>
                    </m:r>
                    <m:r>
                      <m:rPr>
                        <m:sty m:val="p"/>
                      </m:rPr>
                      <a:rPr lang="en-US" i="0" sz="1531">
                        <a:latin typeface="Cambria Math"/>
                      </a:rPr>
                      <m:t>Δ</m:t>
                    </m:r>
                    <m:r>
                      <m:rPr>
                        <m:sty m:val="p"/>
                      </m:rPr>
                      <a:rPr lang="en-US" i="0" sz="1531">
                        <a:latin typeface="Cambria Math"/>
                      </a:rPr>
                      <m:t>(</m:t>
                    </m:r>
                    <m:r>
                      <m:rPr>
                        <m:sty m:val="p"/>
                      </m:rPr>
                      <a:rPr lang="en-US" i="0" sz="1531">
                        <a:latin typeface="Cambria Math"/>
                      </a:rPr>
                      <m:t>0</m:t>
                    </m:r>
                    <m:r>
                      <m:rPr>
                        <m:sty m:val="p"/>
                      </m:rPr>
                      <a:rPr lang="en-US" i="0" sz="1531">
                        <a:latin typeface="Cambria Math"/>
                      </a:rPr>
                      <m:t>)</m:t>
                    </m:r>
                    <m:r>
                      <m:rPr>
                        <m:sty m:val="p"/>
                      </m:rPr>
                      <a:rPr lang="en-US" i="0" sz="1531">
                        <a:latin typeface="Cambria Math"/>
                      </a:rPr>
                      <m:t>tanh</m:t>
                    </m:r>
                    <m:box>
                      <m:e>
                        <m:r>
                          <a:rPr lang="en-US" i="1" sz="1531">
                            <a:latin typeface="Cambria Math"/>
                          </a:rPr>
                          <m:t/>
                        </m:r>
                      </m:e>
                    </m:box>
                    <m:box>
                      <m:e>
                        <m:d>
                          <m:dPr>
                            <m:begChr m:val="["/>
                            <m:endChr m:val="]"/>
                          </m:dPr>
                          <m:e>
                            <m:box>
                              <m:e>
                                <m:r>
                                  <m:rPr>
                                    <m:sty m:val="p"/>
                                  </m:rPr>
                                  <a:rPr lang="en-US" i="0" sz="1531">
                                    <a:latin typeface="Cambria Math"/>
                                  </a:rPr>
                                  <m:t>1.74</m:t>
                                </m:r>
                                <m:rad>
                                  <m:radPr>
                                    <m:degHide m:val="1"/>
                                  </m:radPr>
                                  <m:deg/>
                                  <m:e>
                                    <m:box>
                                      <m:e>
                                        <m:sSub>
                                          <m:e>
                                            <m:r>
                                              <m:rPr>
                                                <m:sty m:val="i"/>
                                              </m:rPr>
                                              <a:rPr lang="en-US" i="1" sz="1531">
                                                <a:latin typeface="Cambria Math"/>
                                              </a:rPr>
                                              <m:t>T</m:t>
                                            </m:r>
                                          </m:e>
                                          <m:sub>
                                            <m:r>
                                              <m:rPr>
                                                <m:sty m:val="i"/>
                                              </m:rPr>
                                              <a:rPr lang="en-US" i="1" sz="1531">
                                                <a:latin typeface="Cambria Math"/>
                                              </a:rPr>
                                              <m:t>c</m:t>
                                            </m:r>
                                          </m:sub>
                                        </m:sSub>
                                        <m:box>
                                          <m:e>
                                            <m:r>
                                              <m:rPr>
                                                <m:sty m:val="p"/>
                                              </m:rPr>
                                              <a:rPr lang="en-US" i="0" sz="1531">
                                                <a:latin typeface="Cambria Math"/>
                                              </a:rPr>
                                              <m:t>/</m:t>
                                            </m:r>
                                          </m:e>
                                        </m:box>
                                        <m:r>
                                          <m:rPr>
                                            <m:sty m:val="i"/>
                                          </m:rPr>
                                          <a:rPr lang="en-US" i="1" sz="1531">
                                            <a:latin typeface="Cambria Math"/>
                                          </a:rPr>
                                          <m:t>T</m:t>
                                        </m:r>
                                        <m:r>
                                          <m:rPr>
                                            <m:sty m:val="p"/>
                                          </m:rPr>
                                          <a:rPr lang="en-US" i="0" sz="1531">
                                            <a:latin typeface="Cambria Math"/>
                                          </a:rPr>
                                          <m:t>−</m:t>
                                        </m:r>
                                        <m:r>
                                          <m:rPr>
                                            <m:sty m:val="p"/>
                                          </m:rPr>
                                          <a:rPr lang="en-US" i="0" sz="1531">
                                            <a:latin typeface="Cambria Math"/>
                                          </a:rPr>
                                          <m:t>1</m:t>
                                        </m:r>
                                      </m:e>
                                    </m:box>
                                  </m:e>
                                </m:rad>
                              </m:e>
                            </m:box>
                          </m:e>
                        </m:d>
                      </m:e>
                    </m:box>
                  </m:oMath>
                </a14:m>
              </mc:Choice>
              <mc:Fallback>
                <a:r>
                  <a:rPr lang="en-US" sz="1531" i="1"/>
                  <a:t>\Delta(T)\approx\Delta(0)\tanh\!\left[1.74\sqrt{T_c/T-1}\right]</a:t>
                </a:r>
              </mc:Fallback>
            </mc:AlternateContent>
          </a:p>
        </p:txBody>
      </p:sp>
      <p:sp>
        <p:nvSpPr>
          <p:cNvPr id="10" name="Rounded Rectangle 9"/>
          <p:cNvSpPr/>
          <p:nvPr/>
        </p:nvSpPr>
        <p:spPr>
          <a:xfrm>
            <a:off x="575733" y="2107406"/>
            <a:ext cx="2696633" cy="1153583"/>
          </a:xfrm>
          <a:prstGeom prst="roundRect">
            <a:avLst>
              <a:gd name="adj" fmla="val 6605"/>
            </a:avLst>
          </a:prstGeom>
          <a:solidFill>
            <a:srgbClr val="FBFAFD"/>
          </a:solidFill>
          <a:ln w="8467">
            <a:solidFill>
              <a:srgbClr val="DCD6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5800" y="2259806"/>
            <a:ext cx="163248" cy="186267"/>
          </a:xfrm>
          <a:prstGeom prst="rect">
            <a:avLst/>
          </a:prstGeom>
          <a:noFill/>
        </p:spPr>
        <p:txBody>
          <a:bodyPr wrap="none" lIns="0" rIns="0" tIns="0" bIns="0" anchor="t">
            <a:noAutofit/>
          </a:bodyPr>
          <a:lstStyle/>
          <a:p>
            <a:pPr algn="l">
              <a:lnSpc>
                <a:spcPts val="1720"/>
              </a:lnSpc>
            </a:pPr>
            <a:r>
              <a:rPr sz="1200" b="1" i="0">
                <a:solidFill>
                  <a:srgbClr val="5F4B8B"/>
                </a:solidFill>
                <a:latin typeface="Montserrat"/>
                <a:ea typeface="Montserrat"/>
                <a:cs typeface="Montserrat"/>
              </a:rPr>
              <a:t>Al</a:t>
            </a:r>
          </a:p>
        </p:txBody>
      </p:sp>
      <p:sp>
        <p:nvSpPr>
          <p:cNvPr id="12" name="TextBox 11"/>
          <p:cNvSpPr txBox="1"/>
          <p:nvPr/>
        </p:nvSpPr>
        <p:spPr>
          <a:xfrm>
            <a:off x="685800" y="2513806"/>
            <a:ext cx="2476500" cy="477837"/>
          </a:xfrm>
          <a:prstGeom prst="rect">
            <a:avLst/>
          </a:prstGeom>
          <a:noFill/>
        </p:spPr>
        <p:txBody>
          <a:bodyPr wrap="square" lIns="0" rIns="0" tIns="0" bIns="0" anchor="t">
            <a:noAutofit/>
          </a:bodyPr>
          <a:lstStyle/>
          <a:p>
            <a:pPr algn="l">
              <a:lnSpc>
                <a:spcPts val="1250"/>
              </a:lnSpc>
            </a:pPr>
            <mc:AlternateContent xmlns:mc="http://schemas.openxmlformats.org/markup-compatibility/2006">
              <mc:Choice xmlns:a14="http://schemas.microsoft.com/office/drawing/2010/main" Requires="a14">
                <a14:m>
                  <m:oMath xmlns:m="http://schemas.openxmlformats.org/officeDocument/2006/math">
                    <m:sSub>
                      <m:e>
                        <m:r>
                          <m:rPr>
                            <m:sty m:val="i"/>
                          </m:rPr>
                          <a:rPr lang="en-US" i="1" sz="1164">
                            <a:latin typeface="Cambria Math"/>
                          </a:rPr>
                          <m:t>T</m:t>
                        </m:r>
                      </m:e>
                      <m:sub>
                        <m:r>
                          <m:rPr>
                            <m:sty m:val="i"/>
                          </m:rPr>
                          <a:rPr lang="en-US" i="1" sz="1164">
                            <a:latin typeface="Cambria Math"/>
                          </a:rPr>
                          <m:t>c</m:t>
                        </m:r>
                      </m:sub>
                    </m:sSub>
                    <m:r>
                      <m:rPr>
                        <m:sty m:val="p"/>
                      </m:rPr>
                      <a:rPr lang="en-US" i="0" sz="1164">
                        <a:latin typeface="Cambria Math"/>
                      </a:rPr>
                      <m:t>≈</m:t>
                    </m:r>
                    <m:r>
                      <m:rPr>
                        <m:sty m:val="p"/>
                      </m:rPr>
                      <a:rPr lang="en-US" i="0" sz="1164">
                        <a:latin typeface="Cambria Math"/>
                      </a:rPr>
                      <m:t>1.2</m:t>
                    </m:r>
                  </m:oMath>
                </a14:m>
              </mc:Choice>
              <mc:Fallback>
                <a:r>
                  <a:rPr lang="en-US" sz="1164" i="1"/>
                  <a:t>T_c\approx1.2</a:t>
                </a:r>
              </mc:Fallback>
            </mc:AlternateContent>
            <a:r>
              <a:rPr sz="980" b="0" i="0">
                <a:solidFill>
                  <a:srgbClr val="22232A"/>
                </a:solidFill>
                <a:latin typeface="Montserrat"/>
                <a:ea typeface="Montserrat"/>
                <a:cs typeface="Montserrat"/>
              </a:rPr>
              <a:t> K, </a:t>
            </a:r>
            <mc:AlternateContent xmlns:mc="http://schemas.openxmlformats.org/markup-compatibility/2006">
              <mc:Choice xmlns:a14="http://schemas.microsoft.com/office/drawing/2010/main" Requires="a14">
                <a14:m>
                  <m:oMath xmlns:m="http://schemas.openxmlformats.org/officeDocument/2006/math">
                    <m:sSub>
                      <m:e>
                        <m:r>
                          <m:rPr>
                            <m:sty m:val="p"/>
                          </m:rPr>
                          <a:rPr lang="en-US" i="0" sz="1164">
                            <a:latin typeface="Cambria Math"/>
                          </a:rPr>
                          <m:t>Δ</m:t>
                        </m:r>
                      </m:e>
                      <m:sub>
                        <m:r>
                          <m:rPr>
                            <m:sty m:val="p"/>
                          </m:rPr>
                          <a:rPr lang="en-US" i="0" sz="1164">
                            <a:latin typeface="Cambria Math"/>
                          </a:rPr>
                          <m:t>0</m:t>
                        </m:r>
                      </m:sub>
                    </m:sSub>
                    <m:r>
                      <m:rPr>
                        <m:sty m:val="p"/>
                      </m:rPr>
                      <a:rPr lang="en-US" i="0" sz="1164">
                        <a:latin typeface="Cambria Math"/>
                      </a:rPr>
                      <m:t>≈</m:t>
                    </m:r>
                    <m:r>
                      <m:rPr>
                        <m:sty m:val="p"/>
                      </m:rPr>
                      <a:rPr lang="en-US" i="0" sz="1164">
                        <a:latin typeface="Cambria Math"/>
                      </a:rPr>
                      <m:t>0.18</m:t>
                    </m:r>
                  </m:oMath>
                </a14:m>
              </mc:Choice>
              <mc:Fallback>
                <a:r>
                  <a:rPr lang="en-US" sz="1164" i="1"/>
                  <a:t>\Delta_0\approx0.18</a:t>
                </a:r>
              </mc:Fallback>
            </mc:AlternateContent>
            <a:r>
              <a:rPr sz="980" b="0" i="0">
                <a:solidFill>
                  <a:srgbClr val="22232A"/>
                </a:solidFill>
                <a:latin typeface="Montserrat"/>
                <a:ea typeface="Montserrat"/>
                <a:cs typeface="Montserrat"/>
              </a:rPr>
              <a:t> meV. Excellent Al/AlO</a:t>
            </a:r>
            <mc:AlternateContent xmlns:mc="http://schemas.openxmlformats.org/markup-compatibility/2006">
              <mc:Choice xmlns:a14="http://schemas.microsoft.com/office/drawing/2010/main" Requires="a14">
                <a14:m>
                  <m:oMath xmlns:m="http://schemas.openxmlformats.org/officeDocument/2006/math">
                    <m:sSub>
                      <m:e>
                        <m:r>
                          <m:rPr>
                            <m:sty m:val="p"/>
                          </m:rPr>
                          <a:rPr lang="en-US" i="0" sz="1164">
                            <a:latin typeface="Cambria Math"/>
                          </a:rPr>
                          <m:t/>
                        </m:r>
                      </m:e>
                      <m:sub>
                        <m:r>
                          <m:rPr>
                            <m:sty m:val="i"/>
                          </m:rPr>
                          <a:rPr lang="en-US" i="1" sz="1164">
                            <a:latin typeface="Cambria Math"/>
                          </a:rPr>
                          <m:t>x</m:t>
                        </m:r>
                      </m:sub>
                    </m:sSub>
                  </m:oMath>
                </a14:m>
              </mc:Choice>
              <mc:Fallback>
                <a:r>
                  <a:rPr lang="en-US" sz="1164" i="1"/>
                  <a:t>_x</a:t>
                </a:r>
              </mc:Fallback>
            </mc:AlternateContent>
            <a:r>
              <a:rPr sz="980" b="0" i="0">
                <a:solidFill>
                  <a:srgbClr val="22232A"/>
                </a:solidFill>
                <a:latin typeface="Montserrat"/>
                <a:ea typeface="Montserrat"/>
                <a:cs typeface="Montserrat"/>
              </a:rPr>
              <a:t>/Al tunnel junctions; native oxide can also host TLS loss.</a:t>
            </a:r>
          </a:p>
        </p:txBody>
      </p:sp>
      <p:sp>
        <p:nvSpPr>
          <p:cNvPr id="13" name="Rounded Rectangle 12"/>
          <p:cNvSpPr/>
          <p:nvPr/>
        </p:nvSpPr>
        <p:spPr>
          <a:xfrm>
            <a:off x="3357033" y="2107406"/>
            <a:ext cx="2696633" cy="1153583"/>
          </a:xfrm>
          <a:prstGeom prst="roundRect">
            <a:avLst>
              <a:gd name="adj" fmla="val 6605"/>
            </a:avLst>
          </a:prstGeom>
          <a:solidFill>
            <a:srgbClr val="FBFAFD"/>
          </a:solidFill>
          <a:ln w="8467">
            <a:solidFill>
              <a:srgbClr val="DCD6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467100" y="2259806"/>
            <a:ext cx="229261" cy="186267"/>
          </a:xfrm>
          <a:prstGeom prst="rect">
            <a:avLst/>
          </a:prstGeom>
          <a:noFill/>
        </p:spPr>
        <p:txBody>
          <a:bodyPr wrap="none" lIns="0" rIns="0" tIns="0" bIns="0" anchor="t">
            <a:noAutofit/>
          </a:bodyPr>
          <a:lstStyle/>
          <a:p>
            <a:pPr algn="l">
              <a:lnSpc>
                <a:spcPts val="1720"/>
              </a:lnSpc>
            </a:pPr>
            <a:r>
              <a:rPr sz="1200" b="1" i="0">
                <a:solidFill>
                  <a:srgbClr val="5F4B8B"/>
                </a:solidFill>
                <a:latin typeface="Montserrat"/>
                <a:ea typeface="Montserrat"/>
                <a:cs typeface="Montserrat"/>
              </a:rPr>
              <a:t>Nb</a:t>
            </a:r>
          </a:p>
        </p:txBody>
      </p:sp>
      <p:sp>
        <p:nvSpPr>
          <p:cNvPr id="15" name="TextBox 14"/>
          <p:cNvSpPr txBox="1"/>
          <p:nvPr/>
        </p:nvSpPr>
        <p:spPr>
          <a:xfrm>
            <a:off x="3467100" y="2513806"/>
            <a:ext cx="2476500" cy="477837"/>
          </a:xfrm>
          <a:prstGeom prst="rect">
            <a:avLst/>
          </a:prstGeom>
          <a:noFill/>
        </p:spPr>
        <p:txBody>
          <a:bodyPr wrap="square" lIns="0" rIns="0" tIns="0" bIns="0" anchor="t">
            <a:noAutofit/>
          </a:bodyPr>
          <a:lstStyle/>
          <a:p>
            <a:pPr algn="l">
              <a:lnSpc>
                <a:spcPts val="1250"/>
              </a:lnSpc>
            </a:pPr>
            <mc:AlternateContent xmlns:mc="http://schemas.openxmlformats.org/markup-compatibility/2006">
              <mc:Choice xmlns:a14="http://schemas.microsoft.com/office/drawing/2010/main" Requires="a14">
                <a14:m>
                  <m:oMath xmlns:m="http://schemas.openxmlformats.org/officeDocument/2006/math">
                    <m:sSub>
                      <m:e>
                        <m:r>
                          <m:rPr>
                            <m:sty m:val="i"/>
                          </m:rPr>
                          <a:rPr lang="en-US" i="1" sz="1164">
                            <a:latin typeface="Cambria Math"/>
                          </a:rPr>
                          <m:t>T</m:t>
                        </m:r>
                      </m:e>
                      <m:sub>
                        <m:r>
                          <m:rPr>
                            <m:sty m:val="i"/>
                          </m:rPr>
                          <a:rPr lang="en-US" i="1" sz="1164">
                            <a:latin typeface="Cambria Math"/>
                          </a:rPr>
                          <m:t>c</m:t>
                        </m:r>
                      </m:sub>
                    </m:sSub>
                    <m:r>
                      <m:rPr>
                        <m:sty m:val="p"/>
                      </m:rPr>
                      <a:rPr lang="en-US" i="0" sz="1164">
                        <a:latin typeface="Cambria Math"/>
                      </a:rPr>
                      <m:t>≈</m:t>
                    </m:r>
                    <m:r>
                      <m:rPr>
                        <m:sty m:val="p"/>
                      </m:rPr>
                      <a:rPr lang="en-US" i="0" sz="1164">
                        <a:latin typeface="Cambria Math"/>
                      </a:rPr>
                      <m:t>9.2</m:t>
                    </m:r>
                  </m:oMath>
                </a14:m>
              </mc:Choice>
              <mc:Fallback>
                <a:r>
                  <a:rPr lang="en-US" sz="1164" i="1"/>
                  <a:t>T_c\approx9.2</a:t>
                </a:r>
              </mc:Fallback>
            </mc:AlternateContent>
            <a:r>
              <a:rPr sz="980" b="0" i="0">
                <a:solidFill>
                  <a:srgbClr val="22232A"/>
                </a:solidFill>
                <a:latin typeface="Montserrat"/>
                <a:ea typeface="Montserrat"/>
                <a:cs typeface="Montserrat"/>
              </a:rPr>
              <a:t> K, </a:t>
            </a:r>
            <mc:AlternateContent xmlns:mc="http://schemas.openxmlformats.org/markup-compatibility/2006">
              <mc:Choice xmlns:a14="http://schemas.microsoft.com/office/drawing/2010/main" Requires="a14">
                <a14:m>
                  <m:oMath xmlns:m="http://schemas.openxmlformats.org/officeDocument/2006/math">
                    <m:sSub>
                      <m:e>
                        <m:r>
                          <m:rPr>
                            <m:sty m:val="p"/>
                          </m:rPr>
                          <a:rPr lang="en-US" i="0" sz="1164">
                            <a:latin typeface="Cambria Math"/>
                          </a:rPr>
                          <m:t>Δ</m:t>
                        </m:r>
                      </m:e>
                      <m:sub>
                        <m:r>
                          <m:rPr>
                            <m:sty m:val="p"/>
                          </m:rPr>
                          <a:rPr lang="en-US" i="0" sz="1164">
                            <a:latin typeface="Cambria Math"/>
                          </a:rPr>
                          <m:t>0</m:t>
                        </m:r>
                      </m:sub>
                    </m:sSub>
                    <m:r>
                      <m:rPr>
                        <m:sty m:val="p"/>
                      </m:rPr>
                      <a:rPr lang="en-US" i="0" sz="1164">
                        <a:latin typeface="Cambria Math"/>
                      </a:rPr>
                      <m:t>≈</m:t>
                    </m:r>
                    <m:r>
                      <m:rPr>
                        <m:sty m:val="p"/>
                      </m:rPr>
                      <a:rPr lang="en-US" i="0" sz="1164">
                        <a:latin typeface="Cambria Math"/>
                      </a:rPr>
                      <m:t>1.4</m:t>
                    </m:r>
                  </m:oMath>
                </a14:m>
              </mc:Choice>
              <mc:Fallback>
                <a:r>
                  <a:rPr lang="en-US" sz="1164" i="1"/>
                  <a:t>\Delta_0\approx1.4</a:t>
                </a:r>
              </mc:Fallback>
            </mc:AlternateContent>
            <a:r>
              <a:rPr sz="980" b="0" i="0">
                <a:solidFill>
                  <a:srgbClr val="22232A"/>
                </a:solidFill>
                <a:latin typeface="Montserrat"/>
                <a:ea typeface="Montserrat"/>
                <a:cs typeface="Montserrat"/>
              </a:rPr>
              <a:t> meV. Robust wiring and resonators; multiple oxides and interfaces require control.</a:t>
            </a:r>
          </a:p>
        </p:txBody>
      </p:sp>
      <p:sp>
        <p:nvSpPr>
          <p:cNvPr id="16" name="Rounded Rectangle 15"/>
          <p:cNvSpPr/>
          <p:nvPr/>
        </p:nvSpPr>
        <p:spPr>
          <a:xfrm>
            <a:off x="6138333" y="2107406"/>
            <a:ext cx="2696633" cy="1153583"/>
          </a:xfrm>
          <a:prstGeom prst="roundRect">
            <a:avLst>
              <a:gd name="adj" fmla="val 6605"/>
            </a:avLst>
          </a:prstGeom>
          <a:solidFill>
            <a:srgbClr val="FBFAFD"/>
          </a:solidFill>
          <a:ln w="8467">
            <a:solidFill>
              <a:srgbClr val="DCD6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48400" y="2259806"/>
            <a:ext cx="184679" cy="186267"/>
          </a:xfrm>
          <a:prstGeom prst="rect">
            <a:avLst/>
          </a:prstGeom>
          <a:noFill/>
        </p:spPr>
        <p:txBody>
          <a:bodyPr wrap="none" lIns="0" rIns="0" tIns="0" bIns="0" anchor="t">
            <a:noAutofit/>
          </a:bodyPr>
          <a:lstStyle/>
          <a:p>
            <a:pPr algn="l">
              <a:lnSpc>
                <a:spcPts val="1720"/>
              </a:lnSpc>
            </a:pPr>
            <a:r>
              <a:rPr sz="1200" b="1" i="0">
                <a:solidFill>
                  <a:srgbClr val="5F4B8B"/>
                </a:solidFill>
                <a:latin typeface="Montserrat"/>
                <a:ea typeface="Montserrat"/>
                <a:cs typeface="Montserrat"/>
              </a:rPr>
              <a:t>Ta</a:t>
            </a:r>
          </a:p>
        </p:txBody>
      </p:sp>
      <p:sp>
        <p:nvSpPr>
          <p:cNvPr id="18" name="TextBox 17"/>
          <p:cNvSpPr txBox="1"/>
          <p:nvPr/>
        </p:nvSpPr>
        <p:spPr>
          <a:xfrm>
            <a:off x="6248400" y="2513806"/>
            <a:ext cx="2476500" cy="637117"/>
          </a:xfrm>
          <a:prstGeom prst="rect">
            <a:avLst/>
          </a:prstGeom>
          <a:noFill/>
        </p:spPr>
        <p:txBody>
          <a:bodyPr wrap="square" lIns="0" rIns="0" tIns="0" bIns="0" anchor="t">
            <a:noAutofit/>
          </a:bodyPr>
          <a:lstStyle/>
          <a:p>
            <a:pPr algn="l">
              <a:lnSpc>
                <a:spcPts val="1250"/>
              </a:lnSpc>
            </a:pPr>
            <mc:AlternateContent xmlns:mc="http://schemas.openxmlformats.org/markup-compatibility/2006">
              <mc:Choice xmlns:a14="http://schemas.microsoft.com/office/drawing/2010/main" Requires="a14">
                <a14:m>
                  <m:oMath xmlns:m="http://schemas.openxmlformats.org/officeDocument/2006/math">
                    <m:sSub>
                      <m:e>
                        <m:r>
                          <m:rPr>
                            <m:sty m:val="i"/>
                          </m:rPr>
                          <a:rPr lang="en-US" i="1" sz="1164">
                            <a:latin typeface="Cambria Math"/>
                          </a:rPr>
                          <m:t>T</m:t>
                        </m:r>
                      </m:e>
                      <m:sub>
                        <m:r>
                          <m:rPr>
                            <m:sty m:val="i"/>
                          </m:rPr>
                          <a:rPr lang="en-US" i="1" sz="1164">
                            <a:latin typeface="Cambria Math"/>
                          </a:rPr>
                          <m:t>c</m:t>
                        </m:r>
                      </m:sub>
                    </m:sSub>
                    <m:r>
                      <m:rPr>
                        <m:sty m:val="p"/>
                      </m:rPr>
                      <a:rPr lang="en-US" i="0" sz="1164">
                        <a:latin typeface="Cambria Math"/>
                      </a:rPr>
                      <m:t>≈</m:t>
                    </m:r>
                    <m:r>
                      <m:rPr>
                        <m:sty m:val="p"/>
                      </m:rPr>
                      <a:rPr lang="en-US" i="0" sz="1164">
                        <a:latin typeface="Cambria Math"/>
                      </a:rPr>
                      <m:t>4.5</m:t>
                    </m:r>
                  </m:oMath>
                </a14:m>
              </mc:Choice>
              <mc:Fallback>
                <a:r>
                  <a:rPr lang="en-US" sz="1164" i="1"/>
                  <a:t>T_c\approx4.5</a:t>
                </a:r>
              </mc:Fallback>
            </mc:AlternateContent>
            <a:r>
              <a:rPr sz="980" b="0" i="0">
                <a:solidFill>
                  <a:srgbClr val="22232A"/>
                </a:solidFill>
                <a:latin typeface="Montserrat"/>
                <a:ea typeface="Montserrat"/>
                <a:cs typeface="Montserrat"/>
              </a:rPr>
              <a:t> K, </a:t>
            </a:r>
            <mc:AlternateContent xmlns:mc="http://schemas.openxmlformats.org/markup-compatibility/2006">
              <mc:Choice xmlns:a14="http://schemas.microsoft.com/office/drawing/2010/main" Requires="a14">
                <a14:m>
                  <m:oMath xmlns:m="http://schemas.openxmlformats.org/officeDocument/2006/math">
                    <m:sSub>
                      <m:e>
                        <m:r>
                          <m:rPr>
                            <m:sty m:val="p"/>
                          </m:rPr>
                          <a:rPr lang="en-US" i="0" sz="1164">
                            <a:latin typeface="Cambria Math"/>
                          </a:rPr>
                          <m:t>Δ</m:t>
                        </m:r>
                      </m:e>
                      <m:sub>
                        <m:r>
                          <m:rPr>
                            <m:sty m:val="p"/>
                          </m:rPr>
                          <a:rPr lang="en-US" i="0" sz="1164">
                            <a:latin typeface="Cambria Math"/>
                          </a:rPr>
                          <m:t>0</m:t>
                        </m:r>
                      </m:sub>
                    </m:sSub>
                    <m:r>
                      <m:rPr>
                        <m:sty m:val="p"/>
                      </m:rPr>
                      <a:rPr lang="en-US" i="0" sz="1164">
                        <a:latin typeface="Cambria Math"/>
                      </a:rPr>
                      <m:t>≈</m:t>
                    </m:r>
                    <m:r>
                      <m:rPr>
                        <m:sty m:val="p"/>
                      </m:rPr>
                      <a:rPr lang="en-US" i="0" sz="1164">
                        <a:latin typeface="Cambria Math"/>
                      </a:rPr>
                      <m:t>0.68</m:t>
                    </m:r>
                  </m:oMath>
                </a14:m>
              </mc:Choice>
              <mc:Fallback>
                <a:r>
                  <a:rPr lang="en-US" sz="1164" i="1"/>
                  <a:t>\Delta_0\approx0.68</a:t>
                </a:r>
              </mc:Fallback>
            </mc:AlternateContent>
            <a:r>
              <a:rPr sz="980" b="0" i="0">
                <a:solidFill>
                  <a:srgbClr val="22232A"/>
                </a:solidFill>
                <a:latin typeface="Montserrat"/>
                <a:ea typeface="Montserrat"/>
                <a:cs typeface="Montserrat"/>
              </a:rPr>
              <a:t> meV. High-coherence capacitor films in optimized processes; phase and surface chemistry matter.</a:t>
            </a:r>
          </a:p>
        </p:txBody>
      </p:sp>
      <p:sp>
        <p:nvSpPr>
          <p:cNvPr id="19" name="Rounded Rectangle 18"/>
          <p:cNvSpPr/>
          <p:nvPr/>
        </p:nvSpPr>
        <p:spPr>
          <a:xfrm>
            <a:off x="8919633" y="2107406"/>
            <a:ext cx="2696633" cy="1153583"/>
          </a:xfrm>
          <a:prstGeom prst="roundRect">
            <a:avLst>
              <a:gd name="adj" fmla="val 6605"/>
            </a:avLst>
          </a:prstGeom>
          <a:solidFill>
            <a:srgbClr val="FBFAFD"/>
          </a:solidFill>
          <a:ln w="8467">
            <a:solidFill>
              <a:srgbClr val="DCD6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029700" y="2259806"/>
            <a:ext cx="893762" cy="186267"/>
          </a:xfrm>
          <a:prstGeom prst="rect">
            <a:avLst/>
          </a:prstGeom>
          <a:noFill/>
        </p:spPr>
        <p:txBody>
          <a:bodyPr wrap="none" lIns="0" rIns="0" tIns="0" bIns="0" anchor="t">
            <a:noAutofit/>
          </a:bodyPr>
          <a:lstStyle/>
          <a:p>
            <a:pPr algn="l">
              <a:lnSpc>
                <a:spcPts val="1720"/>
              </a:lnSpc>
            </a:pPr>
            <a:r>
              <a:rPr sz="1200" b="1" i="0">
                <a:solidFill>
                  <a:srgbClr val="5F4B8B"/>
                </a:solidFill>
                <a:latin typeface="Montserrat"/>
                <a:ea typeface="Montserrat"/>
                <a:cs typeface="Montserrat"/>
              </a:rPr>
              <a:t>TiN / NbTiN</a:t>
            </a:r>
          </a:p>
        </p:txBody>
      </p:sp>
      <p:sp>
        <p:nvSpPr>
          <p:cNvPr id="21" name="TextBox 20"/>
          <p:cNvSpPr txBox="1"/>
          <p:nvPr/>
        </p:nvSpPr>
        <p:spPr>
          <a:xfrm>
            <a:off x="9029700" y="2513806"/>
            <a:ext cx="2476500" cy="637117"/>
          </a:xfrm>
          <a:prstGeom prst="rect">
            <a:avLst/>
          </a:prstGeom>
          <a:noFill/>
        </p:spPr>
        <p:txBody>
          <a:bodyPr wrap="square" lIns="0" rIns="0" tIns="0" bIns="0" anchor="t">
            <a:noAutofit/>
          </a:bodyPr>
          <a:lstStyle/>
          <a:p>
            <a:pPr algn="l">
              <a:lnSpc>
                <a:spcPts val="1250"/>
              </a:lnSpc>
            </a:pPr>
            <a:r>
              <a:rPr sz="980" b="0" i="0">
                <a:solidFill>
                  <a:srgbClr val="22232A"/>
                </a:solidFill>
                <a:latin typeface="Montserrat"/>
                <a:ea typeface="Montserrat"/>
                <a:cs typeface="Montserrat"/>
              </a:rPr>
              <a:t>Useful for low-loss or high-kinetic-inductance structures; stoichiometry, stress, and process compatibility are design variables.</a:t>
            </a:r>
          </a:p>
        </p:txBody>
      </p:sp>
      <p:sp>
        <p:nvSpPr>
          <p:cNvPr id="22" name="TextBox 21"/>
          <p:cNvSpPr txBox="1"/>
          <p:nvPr/>
        </p:nvSpPr>
        <p:spPr>
          <a:xfrm>
            <a:off x="575733" y="3362590"/>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For equilibrium quasiparticles at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T</m:t>
                    </m:r>
                    <m:r>
                      <m:rPr>
                        <m:sty m:val="p"/>
                      </m:rPr>
                      <a:rPr lang="en-US" i="0" sz="1665">
                        <a:latin typeface="Cambria Math"/>
                      </a:rPr>
                      <m:t>≪</m:t>
                    </m:r>
                    <m:sSub>
                      <m:e>
                        <m:r>
                          <m:rPr>
                            <m:sty m:val="i"/>
                          </m:rPr>
                          <a:rPr lang="en-US" i="1" sz="1665">
                            <a:latin typeface="Cambria Math"/>
                          </a:rPr>
                          <m:t>T</m:t>
                        </m:r>
                      </m:e>
                      <m:sub>
                        <m:r>
                          <m:rPr>
                            <m:sty m:val="i"/>
                          </m:rPr>
                          <a:rPr lang="en-US" i="1" sz="1665">
                            <a:latin typeface="Cambria Math"/>
                          </a:rPr>
                          <m:t>c</m:t>
                        </m:r>
                      </m:sub>
                    </m:sSub>
                  </m:oMath>
                </a14:m>
              </mc:Choice>
              <mc:Fallback>
                <a:r>
                  <a:rPr lang="en-US" sz="1664" i="1"/>
                  <a:t>T\ll T_c</a:t>
                </a:r>
              </mc:Fallback>
            </mc:AlternateContent>
            <a:r>
              <a:rPr sz="1400" b="0" i="0">
                <a:solidFill>
                  <a:srgbClr val="4F4C56"/>
                </a:solidFill>
                <a:latin typeface="Montserrat"/>
                <a:ea typeface="Montserrat"/>
                <a:cs typeface="Montserrat"/>
              </a:rPr>
              <a:t>,</a:t>
            </a:r>
          </a:p>
        </p:txBody>
      </p:sp>
      <p:sp>
        <p:nvSpPr>
          <p:cNvPr id="23" name="equation"/>
          <p:cNvSpPr txBox="1"/>
          <p:nvPr/>
        </p:nvSpPr>
        <p:spPr>
          <a:xfrm>
            <a:off x="575733" y="3785129"/>
            <a:ext cx="11040533" cy="266039"/>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568">
                              <a:latin typeface="Cambria Math"/>
                            </a:rPr>
                            <m:t>n</m:t>
                          </m:r>
                        </m:e>
                        <m:sub>
                          <m:box>
                            <m:e>
                              <m:r>
                                <m:rPr>
                                  <m:sty m:val="p"/>
                                </m:rPr>
                                <a:rPr lang="en-US" i="0" sz="1568">
                                  <a:latin typeface="Cambria Math"/>
                                </a:rPr>
                                <m:t>q</m:t>
                              </m:r>
                              <m:r>
                                <m:rPr>
                                  <m:sty m:val="p"/>
                                </m:rPr>
                                <a:rPr lang="en-US" i="0" sz="1568">
                                  <a:latin typeface="Cambria Math"/>
                                </a:rPr>
                                <m:t>p</m:t>
                              </m:r>
                            </m:e>
                          </m:box>
                        </m:sub>
                      </m:sSub>
                      <m:r>
                        <m:rPr>
                          <m:sty m:val="p"/>
                        </m:rPr>
                        <a:rPr lang="en-US" i="0" sz="1568">
                          <a:latin typeface="Cambria Math"/>
                        </a:rPr>
                        <m:t>(</m:t>
                      </m:r>
                      <m:r>
                        <m:rPr>
                          <m:sty m:val="i"/>
                        </m:rPr>
                        <a:rPr lang="en-US" i="1" sz="1568">
                          <a:latin typeface="Cambria Math"/>
                        </a:rPr>
                        <m:t>T</m:t>
                      </m:r>
                      <m:r>
                        <m:rPr>
                          <m:sty m:val="p"/>
                        </m:rPr>
                        <a:rPr lang="en-US" i="0" sz="1568">
                          <a:latin typeface="Cambria Math"/>
                        </a:rPr>
                        <m:t>)</m:t>
                      </m:r>
                      <m:r>
                        <m:rPr>
                          <m:sty m:val="p"/>
                        </m:rPr>
                        <a:rPr lang="en-US" i="0" sz="1568">
                          <a:latin typeface="Cambria Math"/>
                        </a:rPr>
                        <m:t>∝</m:t>
                      </m:r>
                      <m:rad>
                        <m:radPr>
                          <m:degHide m:val="1"/>
                        </m:radPr>
                        <m:deg/>
                        <m:e>
                          <m:box>
                            <m:e>
                              <m:r>
                                <m:rPr>
                                  <m:sty m:val="p"/>
                                </m:rPr>
                                <a:rPr lang="en-US" i="0" sz="1568">
                                  <a:latin typeface="Cambria Math"/>
                                </a:rPr>
                                <m:t>Δ</m:t>
                              </m:r>
                              <m:sSub>
                                <m:e>
                                  <m:r>
                                    <m:rPr>
                                      <m:sty m:val="i"/>
                                    </m:rPr>
                                    <a:rPr lang="en-US" i="1" sz="1568">
                                      <a:latin typeface="Cambria Math"/>
                                    </a:rPr>
                                    <m:t>k</m:t>
                                  </m:r>
                                </m:e>
                                <m:sub>
                                  <m:r>
                                    <m:rPr>
                                      <m:sty m:val="i"/>
                                    </m:rPr>
                                    <a:rPr lang="en-US" i="1" sz="1568">
                                      <a:latin typeface="Cambria Math"/>
                                    </a:rPr>
                                    <m:t>B</m:t>
                                  </m:r>
                                </m:sub>
                              </m:sSub>
                              <m:r>
                                <m:rPr>
                                  <m:sty m:val="i"/>
                                </m:rPr>
                                <a:rPr lang="en-US" i="1" sz="1568">
                                  <a:latin typeface="Cambria Math"/>
                                </a:rPr>
                                <m:t>T</m:t>
                              </m:r>
                            </m:e>
                          </m:box>
                        </m:e>
                      </m:rad>
                      <m:box>
                        <m:e>
                          <m:r>
                            <a:rPr lang="en-US" i="1" sz="1568">
                              <a:latin typeface="Cambria Math"/>
                            </a:rPr>
                            <m:t/>
                          </m:r>
                        </m:e>
                      </m:box>
                      <m:sSup>
                        <m:e>
                          <m:r>
                            <m:rPr>
                              <m:sty m:val="i"/>
                            </m:rPr>
                            <a:rPr lang="en-US" i="1" sz="1568">
                              <a:latin typeface="Cambria Math"/>
                            </a:rPr>
                            <m:t>e</m:t>
                          </m:r>
                        </m:e>
                        <m:sup>
                          <m:box>
                            <m:e>
                              <m:r>
                                <m:rPr>
                                  <m:sty m:val="p"/>
                                </m:rPr>
                                <a:rPr lang="en-US" i="0" sz="1568">
                                  <a:latin typeface="Cambria Math"/>
                                </a:rPr>
                                <m:t>−</m:t>
                              </m:r>
                              <m:r>
                                <m:rPr>
                                  <m:sty m:val="p"/>
                                </m:rPr>
                                <a:rPr lang="en-US" i="0" sz="1568">
                                  <a:latin typeface="Cambria Math"/>
                                </a:rPr>
                                <m:t>Δ</m:t>
                              </m:r>
                              <m:box>
                                <m:e>
                                  <m:r>
                                    <m:rPr>
                                      <m:sty m:val="p"/>
                                    </m:rPr>
                                    <a:rPr lang="en-US" i="0" sz="1568">
                                      <a:latin typeface="Cambria Math"/>
                                    </a:rPr>
                                    <m:t>/</m:t>
                                  </m:r>
                                </m:e>
                              </m:box>
                              <m:sSub>
                                <m:e>
                                  <m:r>
                                    <m:rPr>
                                      <m:sty m:val="i"/>
                                    </m:rPr>
                                    <a:rPr lang="en-US" i="1" sz="1568">
                                      <a:latin typeface="Cambria Math"/>
                                    </a:rPr>
                                    <m:t>k</m:t>
                                  </m:r>
                                </m:e>
                                <m:sub>
                                  <m:r>
                                    <m:rPr>
                                      <m:sty m:val="i"/>
                                    </m:rPr>
                                    <a:rPr lang="en-US" i="1" sz="1568">
                                      <a:latin typeface="Cambria Math"/>
                                    </a:rPr>
                                    <m:t>B</m:t>
                                  </m:r>
                                </m:sub>
                              </m:sSub>
                              <m:r>
                                <m:rPr>
                                  <m:sty m:val="i"/>
                                </m:rPr>
                                <a:rPr lang="en-US" i="1" sz="1568">
                                  <a:latin typeface="Cambria Math"/>
                                </a:rPr>
                                <m:t>T</m:t>
                              </m:r>
                            </m:e>
                          </m:box>
                        </m:sup>
                      </m:sSup>
                      <m:r>
                        <m:rPr>
                          <m:sty m:val="p"/>
                        </m:rPr>
                        <a:rPr lang="en-US" i="0" sz="1568">
                          <a:latin typeface="Cambria Math"/>
                        </a:rPr>
                        <m:t>.</m:t>
                      </m:r>
                    </m:oMath>
                  </m:oMathPara>
                </a14:m>
              </mc:Choice>
              <mc:Fallback>
                <a:r>
                  <a:rPr lang="en-US" sz="1567" i="1"/>
                  <a:t>
                n_{\rm qp}(T)\propto\sqrt{\Delta k_BT}\,e^{-\Delta/k_BT}.
                </a:t>
                </a:r>
              </mc:Fallback>
            </mc:AlternateContent>
          </a:p>
        </p:txBody>
      </p:sp>
      <p:sp>
        <p:nvSpPr>
          <p:cNvPr id="24" name="TextBox 23"/>
          <p:cNvSpPr txBox="1"/>
          <p:nvPr/>
        </p:nvSpPr>
        <p:spPr>
          <a:xfrm>
            <a:off x="575733" y="4203568"/>
            <a:ext cx="11040533"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Cooling from kelvin to millikelvin temperatures should therefore empty quasiparticles exponentially. </a:t>
            </a:r>
            <a:r>
              <a:rPr sz="1400" b="1" i="0">
                <a:solidFill>
                  <a:srgbClr val="4F4C56"/>
                </a:solidFill>
                <a:latin typeface="Montserrat"/>
                <a:ea typeface="Montserrat"/>
                <a:cs typeface="Montserrat"/>
              </a:rPr>
              <a:t>Observed devices still see nonequilibrium quasiparticles</a:t>
            </a:r>
            <a:r>
              <a:rPr sz="1400" b="0" i="0">
                <a:solidFill>
                  <a:srgbClr val="4F4C56"/>
                </a:solidFill>
                <a:latin typeface="Montserrat"/>
                <a:ea typeface="Montserrat"/>
                <a:cs typeface="Montserrat"/>
              </a:rPr>
              <a:t> from stray infrared radiation, cosmic rays, pair-breaking phonons, and imperfect thermalization. </a:t>
            </a:r>
          </a:p>
        </p:txBody>
      </p:sp>
      <p:sp>
        <p:nvSpPr>
          <p:cNvPr id="25" name="Rectangle 24"/>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27" name="TextBox 26"/>
          <p:cNvSpPr txBox="1"/>
          <p:nvPr/>
        </p:nvSpPr>
        <p:spPr>
          <a:xfrm>
            <a:off x="11229314" y="6565900"/>
            <a:ext cx="471620"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30 / 100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913805" y="324115"/>
            <a:ext cx="1787128"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What Is a Superconductor?</a:t>
            </a:r>
          </a:p>
        </p:txBody>
      </p:sp>
      <p:sp>
        <p:nvSpPr>
          <p:cNvPr id="5" name="TextBox 4"/>
          <p:cNvSpPr txBox="1"/>
          <p:nvPr/>
        </p:nvSpPr>
        <p:spPr>
          <a:xfrm>
            <a:off x="575733" y="863600"/>
            <a:ext cx="11040270" cy="373924"/>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Penetration Depth and Coherence Length Govern Different Physics</a:t>
            </a:r>
          </a:p>
        </p:txBody>
      </p:sp>
      <p:sp>
        <p:nvSpPr>
          <p:cNvPr id="6" name="TextBox 5"/>
          <p:cNvSpPr txBox="1"/>
          <p:nvPr/>
        </p:nvSpPr>
        <p:spPr>
          <a:xfrm>
            <a:off x="575733" y="1463781"/>
            <a:ext cx="1050883" cy="356485"/>
          </a:xfrm>
          <a:prstGeom prst="rect">
            <a:avLst/>
          </a:prstGeom>
          <a:noFill/>
        </p:spPr>
        <p:txBody>
          <a:bodyPr wrap="square" lIns="0" rIns="0" tIns="0" bIns="0" anchor="t">
            <a:noAutofit/>
          </a:bodyPr>
          <a:lstStyle/>
          <a:p>
            <a:pPr algn="l">
              <a:lnSpc>
                <a:spcPts val="1639"/>
              </a:lnSpc>
            </a:pPr>
            <mc:AlternateContent xmlns:mc="http://schemas.openxmlformats.org/markup-compatibility/2006">
              <mc:Choice xmlns:a14="http://schemas.microsoft.com/office/drawing/2010/main" Requires="a14">
                <a14:m>
                  <m:oMath xmlns:m="http://schemas.openxmlformats.org/officeDocument/2006/math">
                    <m:r>
                      <m:rPr>
                        <m:sty m:val="i"/>
                      </m:rPr>
                      <a:rPr lang="en-US" i="1" sz="1365">
                        <a:latin typeface="Cambria Math"/>
                      </a:rPr>
                      <m:t>λ</m:t>
                    </m:r>
                  </m:oMath>
                </a14:m>
              </mc:Choice>
              <mc:Fallback>
                <a:r>
                  <a:rPr lang="en-US" sz="1364" i="1"/>
                  <a:t>\lambda</a:t>
                </a:r>
              </mc:Fallback>
            </mc:AlternateContent>
            <a:r>
              <a:rPr sz="1150" b="1" i="0">
                <a:solidFill>
                  <a:srgbClr val="22232A"/>
                </a:solidFill>
                <a:latin typeface="Montserrat"/>
                <a:ea typeface="Montserrat"/>
                <a:cs typeface="Montserrat"/>
              </a:rPr>
              <a:t>: field screening</a:t>
            </a:r>
          </a:p>
        </p:txBody>
      </p:sp>
      <p:sp>
        <p:nvSpPr>
          <p:cNvPr id="7" name="Rounded Rectangle 6"/>
          <p:cNvSpPr/>
          <p:nvPr/>
        </p:nvSpPr>
        <p:spPr>
          <a:xfrm>
            <a:off x="1713586" y="1594915"/>
            <a:ext cx="8329718" cy="94217"/>
          </a:xfrm>
          <a:prstGeom prst="roundRect">
            <a:avLst>
              <a:gd name="adj" fmla="val 50000"/>
            </a:avLst>
          </a:prstGeom>
          <a:solidFill>
            <a:srgbClr val="7B6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130273" y="1367979"/>
            <a:ext cx="1485731" cy="548090"/>
          </a:xfrm>
          <a:prstGeom prst="rect">
            <a:avLst/>
          </a:prstGeom>
          <a:noFill/>
        </p:spPr>
        <p:txBody>
          <a:bodyPr wrap="square" lIns="0" rIns="0" tIns="0" bIns="0" anchor="t">
            <a:noAutofit/>
          </a:bodyPr>
          <a:lstStyle/>
          <a:p>
            <a:pPr algn="l">
              <a:lnSpc>
                <a:spcPts val="1260"/>
              </a:lnSpc>
            </a:pPr>
            <a:r>
              <a:rPr sz="1010" b="0" i="0">
                <a:solidFill>
                  <a:srgbClr val="5F5865"/>
                </a:solidFill>
                <a:latin typeface="Montserrat"/>
                <a:ea typeface="Montserrat"/>
                <a:cs typeface="Montserrat"/>
              </a:rPr>
              <a:t>Magnetic field and supercurrent decay over the London penetration depth.</a:t>
            </a:r>
          </a:p>
        </p:txBody>
      </p:sp>
      <p:sp>
        <p:nvSpPr>
          <p:cNvPr id="9" name="TextBox 8"/>
          <p:cNvSpPr txBox="1"/>
          <p:nvPr/>
        </p:nvSpPr>
        <p:spPr>
          <a:xfrm>
            <a:off x="575733" y="2009719"/>
            <a:ext cx="1050883" cy="534727"/>
          </a:xfrm>
          <a:prstGeom prst="rect">
            <a:avLst/>
          </a:prstGeom>
          <a:noFill/>
        </p:spPr>
        <p:txBody>
          <a:bodyPr wrap="square" lIns="0" rIns="0" tIns="0" bIns="0" anchor="t">
            <a:noAutofit/>
          </a:bodyPr>
          <a:lstStyle/>
          <a:p>
            <a:pPr algn="l">
              <a:lnSpc>
                <a:spcPts val="1639"/>
              </a:lnSpc>
            </a:pPr>
            <mc:AlternateContent xmlns:mc="http://schemas.openxmlformats.org/markup-compatibility/2006">
              <mc:Choice xmlns:a14="http://schemas.microsoft.com/office/drawing/2010/main" Requires="a14">
                <a14:m>
                  <m:oMath xmlns:m="http://schemas.openxmlformats.org/officeDocument/2006/math">
                    <m:r>
                      <m:rPr>
                        <m:sty m:val="i"/>
                      </m:rPr>
                      <a:rPr lang="en-US" i="1" sz="1365">
                        <a:latin typeface="Cambria Math"/>
                      </a:rPr>
                      <m:t>ξ</m:t>
                    </m:r>
                  </m:oMath>
                </a14:m>
              </mc:Choice>
              <mc:Fallback>
                <a:r>
                  <a:rPr lang="en-US" sz="1364" i="1"/>
                  <a:t>\xi</a:t>
                </a:r>
              </mc:Fallback>
            </mc:AlternateContent>
            <a:r>
              <a:rPr sz="1150" b="1" i="0">
                <a:solidFill>
                  <a:srgbClr val="22232A"/>
                </a:solidFill>
                <a:latin typeface="Montserrat"/>
                <a:ea typeface="Montserrat"/>
                <a:cs typeface="Montserrat"/>
              </a:rPr>
              <a:t>: order-parameter healing</a:t>
            </a:r>
          </a:p>
        </p:txBody>
      </p:sp>
      <p:sp>
        <p:nvSpPr>
          <p:cNvPr id="10" name="Rounded Rectangle 9"/>
          <p:cNvSpPr/>
          <p:nvPr/>
        </p:nvSpPr>
        <p:spPr>
          <a:xfrm>
            <a:off x="1713586" y="2229974"/>
            <a:ext cx="2332212" cy="94217"/>
          </a:xfrm>
          <a:prstGeom prst="roundRect">
            <a:avLst>
              <a:gd name="adj" fmla="val 50000"/>
            </a:avLst>
          </a:prstGeom>
          <a:solidFill>
            <a:srgbClr val="3F72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130273" y="2003038"/>
            <a:ext cx="1485731" cy="548090"/>
          </a:xfrm>
          <a:prstGeom prst="rect">
            <a:avLst/>
          </a:prstGeom>
          <a:noFill/>
        </p:spPr>
        <p:txBody>
          <a:bodyPr wrap="square" lIns="0" rIns="0" tIns="0" bIns="0" anchor="t">
            <a:noAutofit/>
          </a:bodyPr>
          <a:lstStyle/>
          <a:p>
            <a:pPr algn="l">
              <a:lnSpc>
                <a:spcPts val="1260"/>
              </a:lnSpc>
            </a:pPr>
            <a:r>
              <a:rPr sz="1010" b="0" i="0">
                <a:solidFill>
                  <a:srgbClr val="5F5865"/>
                </a:solidFill>
                <a:latin typeface="Montserrat"/>
                <a:ea typeface="Montserrat"/>
                <a:cs typeface="Montserrat"/>
              </a:rPr>
              <a:t>The condensate amplitude recovers over the coherence length near a defect or boundary.</a:t>
            </a:r>
          </a:p>
        </p:txBody>
      </p:sp>
      <p:sp>
        <p:nvSpPr>
          <p:cNvPr id="12" name="Rounded Rectangle 11"/>
          <p:cNvSpPr/>
          <p:nvPr/>
        </p:nvSpPr>
        <p:spPr>
          <a:xfrm>
            <a:off x="575733" y="2652592"/>
            <a:ext cx="11040270" cy="386154"/>
          </a:xfrm>
          <a:prstGeom prst="roundRect">
            <a:avLst>
              <a:gd name="adj" fmla="val 21925"/>
            </a:avLst>
          </a:prstGeom>
          <a:solidFill>
            <a:srgbClr val="F7F4FB"/>
          </a:solidFill>
          <a:ln w="8467">
            <a:solidFill>
              <a:srgbClr val="D8D0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831318" y="2732314"/>
            <a:ext cx="2790841" cy="226710"/>
          </a:xfrm>
          <a:prstGeom prst="rect">
            <a:avLst/>
          </a:prstGeom>
          <a:noFill/>
        </p:spPr>
        <p:txBody>
          <a:bodyPr wrap="none" lIns="0" rIns="0" tIns="0" bIns="0" anchor="t">
            <a:noAutofit/>
          </a:bodyPr>
          <a:lstStyle/>
          <a:p>
            <a:pPr algn="l">
              <a:lnSpc>
                <a:spcPts val="1839"/>
              </a:lnSpc>
            </a:pPr>
            <mc:AlternateContent xmlns:mc="http://schemas.openxmlformats.org/markup-compatibility/2006">
              <mc:Choice xmlns:a14="http://schemas.microsoft.com/office/drawing/2010/main" Requires="a14">
                <a14:m>
                  <m:oMath xmlns:m="http://schemas.openxmlformats.org/officeDocument/2006/math">
                    <m:sSup>
                      <m:e>
                        <m:r>
                          <m:rPr>
                            <m:sty m:val="p"/>
                          </m:rPr>
                          <a:rPr lang="en-US" i="0" sz="1531">
                            <a:latin typeface="Cambria Math"/>
                          </a:rPr>
                          <m:t>∇</m:t>
                        </m:r>
                      </m:e>
                      <m:sup>
                        <m:r>
                          <m:rPr>
                            <m:sty m:val="p"/>
                          </m:rPr>
                          <a:rPr lang="en-US" i="0" sz="1531">
                            <a:latin typeface="Cambria Math"/>
                          </a:rPr>
                          <m:t>2</m:t>
                        </m:r>
                      </m:sup>
                    </m:sSup>
                    <m:box>
                      <m:e>
                        <m:r>
                          <m:rPr>
                            <m:sty m:val="b"/>
                          </m:rPr>
                          <a:rPr lang="en-US" i="1" sz="1531">
                            <a:latin typeface="Cambria Math"/>
                          </a:rPr>
                          <m:t>B</m:t>
                        </m:r>
                      </m:e>
                    </m:box>
                    <m:r>
                      <m:rPr>
                        <m:sty m:val="p"/>
                      </m:rPr>
                      <a:rPr lang="en-US" i="0" sz="1531">
                        <a:latin typeface="Cambria Math"/>
                      </a:rPr>
                      <m:t>=</m:t>
                    </m:r>
                    <m:box>
                      <m:e>
                        <m:r>
                          <m:rPr>
                            <m:sty m:val="b"/>
                          </m:rPr>
                          <a:rPr lang="en-US" i="1" sz="1531">
                            <a:latin typeface="Cambria Math"/>
                          </a:rPr>
                          <m:t>B</m:t>
                        </m:r>
                      </m:e>
                    </m:box>
                    <m:box>
                      <m:e>
                        <m:r>
                          <m:rPr>
                            <m:sty m:val="p"/>
                          </m:rPr>
                          <a:rPr lang="en-US" i="0" sz="1531">
                            <a:latin typeface="Cambria Math"/>
                          </a:rPr>
                          <m:t>/</m:t>
                        </m:r>
                      </m:e>
                    </m:box>
                    <m:sSubSup>
                      <m:e>
                        <m:r>
                          <m:rPr>
                            <m:sty m:val="i"/>
                          </m:rPr>
                          <a:rPr lang="en-US" i="1" sz="1531">
                            <a:latin typeface="Cambria Math"/>
                          </a:rPr>
                          <m:t>λ</m:t>
                        </m:r>
                      </m:e>
                      <m:sub>
                        <m:r>
                          <m:rPr>
                            <m:sty m:val="i"/>
                          </m:rPr>
                          <a:rPr lang="en-US" i="1" sz="1531">
                            <a:latin typeface="Cambria Math"/>
                          </a:rPr>
                          <m:t>L</m:t>
                        </m:r>
                      </m:sub>
                      <m:sup>
                        <m:r>
                          <m:rPr>
                            <m:sty m:val="p"/>
                          </m:rPr>
                          <a:rPr lang="en-US" i="0" sz="1531">
                            <a:latin typeface="Cambria Math"/>
                          </a:rPr>
                          <m:t>2</m:t>
                        </m:r>
                      </m:sup>
                    </m:sSubSup>
                    <m:r>
                      <m:rPr>
                        <m:sty m:val="p"/>
                      </m:rPr>
                      <a:rPr lang="en-US" i="0" sz="1531">
                        <a:latin typeface="Cambria Math"/>
                      </a:rPr>
                      <m:t>,</m:t>
                    </m:r>
                    <m:box>
                      <m:e>
                        <m:r>
                          <a:rPr lang="en-US" i="1" sz="1531">
                            <a:latin typeface="Cambria Math"/>
                          </a:rPr>
                          <m:t/>
                        </m:r>
                      </m:e>
                    </m:box>
                    <m:sSub>
                      <m:e>
                        <m:r>
                          <m:rPr>
                            <m:sty m:val="i"/>
                          </m:rPr>
                          <a:rPr lang="en-US" i="1" sz="1531">
                            <a:latin typeface="Cambria Math"/>
                          </a:rPr>
                          <m:t>λ</m:t>
                        </m:r>
                      </m:e>
                      <m:sub>
                        <m:r>
                          <m:rPr>
                            <m:sty m:val="i"/>
                          </m:rPr>
                          <a:rPr lang="en-US" i="1" sz="1531">
                            <a:latin typeface="Cambria Math"/>
                          </a:rPr>
                          <m:t>L</m:t>
                        </m:r>
                      </m:sub>
                    </m:sSub>
                    <m:r>
                      <m:rPr>
                        <m:sty m:val="p"/>
                      </m:rPr>
                      <a:rPr lang="en-US" i="0" sz="1531">
                        <a:latin typeface="Cambria Math"/>
                      </a:rPr>
                      <m:t>=</m:t>
                    </m:r>
                    <m:rad>
                      <m:radPr>
                        <m:degHide m:val="1"/>
                      </m:radPr>
                      <m:deg/>
                      <m:e>
                        <m:box>
                          <m:e>
                            <m:sSup>
                              <m:e>
                                <m:r>
                                  <m:rPr>
                                    <m:sty m:val="i"/>
                                  </m:rPr>
                                  <a:rPr lang="en-US" i="1" sz="1531">
                                    <a:latin typeface="Cambria Math"/>
                                  </a:rPr>
                                  <m:t>m</m:t>
                                </m:r>
                              </m:e>
                              <m:sup>
                                <m:r>
                                  <m:rPr>
                                    <m:sty m:val="p"/>
                                  </m:rPr>
                                  <a:rPr lang="en-US" i="0" sz="1531">
                                    <a:latin typeface="Cambria Math"/>
                                  </a:rPr>
                                  <m:t>∗</m:t>
                                </m:r>
                              </m:sup>
                            </m:sSup>
                            <m:box>
                              <m:e>
                                <m:r>
                                  <m:rPr>
                                    <m:sty m:val="p"/>
                                  </m:rPr>
                                  <a:rPr lang="en-US" i="0" sz="1531">
                                    <a:latin typeface="Cambria Math"/>
                                  </a:rPr>
                                  <m:t>/</m:t>
                                </m:r>
                              </m:e>
                            </m:box>
                            <m:r>
                              <m:rPr>
                                <m:sty m:val="p"/>
                              </m:rPr>
                              <a:rPr lang="en-US" i="0" sz="1531">
                                <a:latin typeface="Cambria Math"/>
                              </a:rPr>
                              <m:t>(</m:t>
                            </m:r>
                            <m:sSub>
                              <m:e>
                                <m:r>
                                  <m:rPr>
                                    <m:sty m:val="i"/>
                                  </m:rPr>
                                  <a:rPr lang="en-US" i="1" sz="1531">
                                    <a:latin typeface="Cambria Math"/>
                                  </a:rPr>
                                  <m:t>μ</m:t>
                                </m:r>
                              </m:e>
                              <m:sub>
                                <m:r>
                                  <m:rPr>
                                    <m:sty m:val="p"/>
                                  </m:rPr>
                                  <a:rPr lang="en-US" i="0" sz="1531">
                                    <a:latin typeface="Cambria Math"/>
                                  </a:rPr>
                                  <m:t>0</m:t>
                                </m:r>
                              </m:sub>
                            </m:sSub>
                            <m:sSub>
                              <m:e>
                                <m:r>
                                  <m:rPr>
                                    <m:sty m:val="i"/>
                                  </m:rPr>
                                  <a:rPr lang="en-US" i="1" sz="1531">
                                    <a:latin typeface="Cambria Math"/>
                                  </a:rPr>
                                  <m:t>n</m:t>
                                </m:r>
                              </m:e>
                              <m:sub>
                                <m:r>
                                  <m:rPr>
                                    <m:sty m:val="i"/>
                                  </m:rPr>
                                  <a:rPr lang="en-US" i="1" sz="1531">
                                    <a:latin typeface="Cambria Math"/>
                                  </a:rPr>
                                  <m:t>s</m:t>
                                </m:r>
                              </m:sub>
                            </m:sSub>
                            <m:sSup>
                              <m:e>
                                <m:r>
                                  <m:rPr>
                                    <m:sty m:val="i"/>
                                  </m:rPr>
                                  <a:rPr lang="en-US" i="1" sz="1531">
                                    <a:latin typeface="Cambria Math"/>
                                  </a:rPr>
                                  <m:t>q</m:t>
                                </m:r>
                              </m:e>
                              <m:sup>
                                <m:box>
                                  <m:e>
                                    <m:r>
                                      <m:rPr>
                                        <m:sty m:val="p"/>
                                      </m:rPr>
                                      <a:rPr lang="en-US" i="0" sz="1531">
                                        <a:latin typeface="Cambria Math"/>
                                      </a:rPr>
                                      <m:t>∗</m:t>
                                    </m:r>
                                    <m:r>
                                      <m:rPr>
                                        <m:sty m:val="p"/>
                                      </m:rPr>
                                      <a:rPr lang="en-US" i="0" sz="1531">
                                        <a:latin typeface="Cambria Math"/>
                                      </a:rPr>
                                      <m:t>2</m:t>
                                    </m:r>
                                  </m:e>
                                </m:box>
                              </m:sup>
                            </m:sSup>
                            <m:r>
                              <m:rPr>
                                <m:sty m:val="p"/>
                              </m:rPr>
                              <a:rPr lang="en-US" i="0" sz="1531">
                                <a:latin typeface="Cambria Math"/>
                              </a:rPr>
                              <m:t>)</m:t>
                            </m:r>
                          </m:e>
                        </m:box>
                      </m:e>
                    </m:rad>
                  </m:oMath>
                </a14:m>
              </mc:Choice>
              <mc:Fallback>
                <a:r>
                  <a:rPr lang="en-US" sz="1531" i="1"/>
                  <a:t>\nabla^2\mathbf B=\mathbf B/\lambda_L^2,\quad \lambda_L=\sqrt{m^*/(\mu_0n_s q^{*2})}</a:t>
                </a:r>
              </mc:Fallback>
            </mc:AlternateContent>
          </a:p>
        </p:txBody>
      </p:sp>
      <p:sp>
        <p:nvSpPr>
          <p:cNvPr id="14" name="TextBox 13"/>
          <p:cNvSpPr txBox="1"/>
          <p:nvPr/>
        </p:nvSpPr>
        <p:spPr>
          <a:xfrm>
            <a:off x="6709128" y="2745676"/>
            <a:ext cx="475162" cy="199872"/>
          </a:xfrm>
          <a:prstGeom prst="rect">
            <a:avLst/>
          </a:prstGeom>
          <a:noFill/>
        </p:spPr>
        <p:txBody>
          <a:bodyPr wrap="none" lIns="0" rIns="0" tIns="0" bIns="0" anchor="t">
            <a:noAutofit/>
          </a:bodyPr>
          <a:lstStyle/>
          <a:p>
            <a:pPr algn="l">
              <a:lnSpc>
                <a:spcPts val="1839"/>
              </a:lnSpc>
            </a:pPr>
            <a:r>
              <a:rPr sz="1290" b="1" i="0">
                <a:solidFill>
                  <a:srgbClr val="70549A"/>
                </a:solidFill>
                <a:latin typeface="Montserrat"/>
                <a:ea typeface="Montserrat"/>
                <a:cs typeface="Montserrat"/>
              </a:rPr>
              <a:t>versus</a:t>
            </a:r>
          </a:p>
        </p:txBody>
      </p:sp>
      <p:sp>
        <p:nvSpPr>
          <p:cNvPr id="15" name="TextBox 14"/>
          <p:cNvSpPr txBox="1"/>
          <p:nvPr/>
        </p:nvSpPr>
        <p:spPr>
          <a:xfrm>
            <a:off x="7271260" y="2745676"/>
            <a:ext cx="1089158" cy="199872"/>
          </a:xfrm>
          <a:prstGeom prst="rect">
            <a:avLst/>
          </a:prstGeom>
          <a:noFill/>
        </p:spPr>
        <p:txBody>
          <a:bodyPr wrap="none" lIns="0" rIns="0" tIns="0" bIns="0" anchor="t">
            <a:noAutofit/>
          </a:bodyPr>
          <a:lstStyle/>
          <a:p>
            <a:pPr algn="l">
              <a:lnSpc>
                <a:spcPts val="1839"/>
              </a:lnSpc>
            </a:pPr>
            <mc:AlternateContent xmlns:mc="http://schemas.openxmlformats.org/markup-compatibility/2006">
              <mc:Choice xmlns:a14="http://schemas.microsoft.com/office/drawing/2010/main" Requires="a14">
                <a14:m>
                  <m:oMath xmlns:m="http://schemas.openxmlformats.org/officeDocument/2006/math">
                    <m:sSub>
                      <m:e>
                        <m:r>
                          <m:rPr>
                            <m:sty m:val="i"/>
                          </m:rPr>
                          <a:rPr lang="en-US" i="1" sz="1531">
                            <a:latin typeface="Cambria Math"/>
                          </a:rPr>
                          <m:t>ξ</m:t>
                        </m:r>
                      </m:e>
                      <m:sub>
                        <m:r>
                          <m:rPr>
                            <m:sty m:val="p"/>
                          </m:rPr>
                          <a:rPr lang="en-US" i="0" sz="1531">
                            <a:latin typeface="Cambria Math"/>
                          </a:rPr>
                          <m:t>0</m:t>
                        </m:r>
                      </m:sub>
                    </m:sSub>
                    <m:r>
                      <m:rPr>
                        <m:sty m:val="p"/>
                      </m:rPr>
                      <a:rPr lang="en-US" i="0" sz="1531">
                        <a:latin typeface="Cambria Math"/>
                      </a:rPr>
                      <m:t>≃</m:t>
                    </m:r>
                    <m:r>
                      <m:rPr>
                        <m:sty m:val="i"/>
                      </m:rPr>
                      <a:rPr lang="en-US" i="1" sz="1531">
                        <a:latin typeface="Cambria Math"/>
                      </a:rPr>
                      <m:t>ℏ</m:t>
                    </m:r>
                    <m:sSub>
                      <m:e>
                        <m:r>
                          <m:rPr>
                            <m:sty m:val="i"/>
                          </m:rPr>
                          <a:rPr lang="en-US" i="1" sz="1531">
                            <a:latin typeface="Cambria Math"/>
                          </a:rPr>
                          <m:t>v</m:t>
                        </m:r>
                      </m:e>
                      <m:sub>
                        <m:r>
                          <m:rPr>
                            <m:sty m:val="i"/>
                          </m:rPr>
                          <a:rPr lang="en-US" i="1" sz="1531">
                            <a:latin typeface="Cambria Math"/>
                          </a:rPr>
                          <m:t>F</m:t>
                        </m:r>
                      </m:sub>
                    </m:sSub>
                    <m:box>
                      <m:e>
                        <m:r>
                          <m:rPr>
                            <m:sty m:val="p"/>
                          </m:rPr>
                          <a:rPr lang="en-US" i="0" sz="1531">
                            <a:latin typeface="Cambria Math"/>
                          </a:rPr>
                          <m:t>/</m:t>
                        </m:r>
                      </m:e>
                    </m:box>
                    <m:r>
                      <m:rPr>
                        <m:sty m:val="p"/>
                      </m:rPr>
                      <a:rPr lang="en-US" i="0" sz="1531">
                        <a:latin typeface="Cambria Math"/>
                      </a:rPr>
                      <m:t>(</m:t>
                    </m:r>
                    <m:r>
                      <m:rPr>
                        <m:sty m:val="i"/>
                      </m:rPr>
                      <a:rPr lang="en-US" i="1" sz="1531">
                        <a:latin typeface="Cambria Math"/>
                      </a:rPr>
                      <m:t>π</m:t>
                    </m:r>
                    <m:r>
                      <m:rPr>
                        <m:sty m:val="p"/>
                      </m:rPr>
                      <a:rPr lang="en-US" i="0" sz="1531">
                        <a:latin typeface="Cambria Math"/>
                      </a:rPr>
                      <m:t>Δ</m:t>
                    </m:r>
                    <m:r>
                      <m:rPr>
                        <m:sty m:val="p"/>
                      </m:rPr>
                      <a:rPr lang="en-US" i="0" sz="1531">
                        <a:latin typeface="Cambria Math"/>
                      </a:rPr>
                      <m:t>)</m:t>
                    </m:r>
                  </m:oMath>
                </a14:m>
              </mc:Choice>
              <mc:Fallback>
                <a:r>
                  <a:rPr lang="en-US" sz="1531" i="1"/>
                  <a:t>\xi_0\simeq\hbar v_F/(\pi\Delta)</a:t>
                </a:r>
              </mc:Fallback>
            </mc:AlternateContent>
          </a:p>
        </p:txBody>
      </p:sp>
      <p:sp>
        <p:nvSpPr>
          <p:cNvPr id="16" name="Rounded Rectangle 15"/>
          <p:cNvSpPr/>
          <p:nvPr/>
        </p:nvSpPr>
        <p:spPr>
          <a:xfrm>
            <a:off x="575733" y="3125716"/>
            <a:ext cx="5469346" cy="1550844"/>
          </a:xfrm>
          <a:prstGeom prst="roundRect">
            <a:avLst>
              <a:gd name="adj" fmla="val 5459"/>
            </a:avLst>
          </a:prstGeom>
          <a:solidFill>
            <a:srgbClr val="FB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75733" y="3125716"/>
            <a:ext cx="5469346" cy="33867"/>
          </a:xfrm>
          <a:prstGeom prst="rect">
            <a:avLst/>
          </a:prstGeom>
          <a:solidFill>
            <a:srgbClr val="5F4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36613" y="3125716"/>
            <a:ext cx="8467" cy="1550844"/>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5733" y="4668093"/>
            <a:ext cx="5469346" cy="8467"/>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5733" y="3125716"/>
            <a:ext cx="8467" cy="1550844"/>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8940" y="3256170"/>
            <a:ext cx="5222932" cy="193870"/>
          </a:xfrm>
          <a:prstGeom prst="rect">
            <a:avLst/>
          </a:prstGeom>
          <a:noFill/>
        </p:spPr>
        <p:txBody>
          <a:bodyPr wrap="none" lIns="0" rIns="0" tIns="0" bIns="0" anchor="t">
            <a:noAutofit/>
          </a:bodyPr>
          <a:lstStyle/>
          <a:p>
            <a:pPr algn="l">
              <a:lnSpc>
                <a:spcPts val="1780"/>
              </a:lnSpc>
            </a:pPr>
            <a:r>
              <a:rPr sz="1370" b="0" i="0">
                <a:solidFill>
                  <a:srgbClr val="302840"/>
                </a:solidFill>
                <a:latin typeface="Montserrat"/>
                <a:ea typeface="Montserrat"/>
                <a:cs typeface="Montserrat"/>
              </a:rPr>
              <a:t>Bulk classification</a:t>
            </a:r>
          </a:p>
        </p:txBody>
      </p:sp>
      <p:sp>
        <p:nvSpPr>
          <p:cNvPr id="22" name="equation"/>
          <p:cNvSpPr txBox="1"/>
          <p:nvPr/>
        </p:nvSpPr>
        <p:spPr>
          <a:xfrm>
            <a:off x="698940" y="3580494"/>
            <a:ext cx="5222932" cy="335196"/>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286">
                              <a:latin typeface="Cambria Math"/>
                            </a:rPr>
                            <m:t>κ</m:t>
                          </m:r>
                        </m:e>
                        <m:sub>
                          <m:box>
                            <m:e>
                              <m:r>
                                <m:rPr>
                                  <m:sty m:val="p"/>
                                </m:rPr>
                                <a:rPr lang="en-US" i="0" sz="1286">
                                  <a:latin typeface="Cambria Math"/>
                                </a:rPr>
                                <m:t>G</m:t>
                              </m:r>
                              <m:r>
                                <m:rPr>
                                  <m:sty m:val="p"/>
                                </m:rPr>
                                <a:rPr lang="en-US" i="0" sz="1286">
                                  <a:latin typeface="Cambria Math"/>
                                </a:rPr>
                                <m:t>L</m:t>
                              </m:r>
                            </m:e>
                          </m:box>
                        </m:sub>
                      </m:sSub>
                      <m:r>
                        <m:rPr>
                          <m:sty m:val="p"/>
                        </m:rPr>
                        <a:rPr lang="en-US" i="0" sz="1286">
                          <a:latin typeface="Cambria Math"/>
                        </a:rPr>
                        <m:t>=</m:t>
                      </m:r>
                      <m:f>
                        <m:num>
                          <m:r>
                            <m:rPr>
                              <m:sty m:val="i"/>
                            </m:rPr>
                            <a:rPr lang="en-US" i="1" sz="1286">
                              <a:latin typeface="Cambria Math"/>
                            </a:rPr>
                            <m:t>λ</m:t>
                          </m:r>
                        </m:num>
                        <m:den>
                          <m:r>
                            <m:rPr>
                              <m:sty m:val="i"/>
                            </m:rPr>
                            <a:rPr lang="en-US" i="1" sz="1286">
                              <a:latin typeface="Cambria Math"/>
                            </a:rPr>
                            <m:t>ξ</m:t>
                          </m:r>
                        </m:den>
                      </m:f>
                      <m:r>
                        <m:rPr>
                          <m:sty m:val="p"/>
                        </m:rPr>
                        <a:rPr lang="en-US" i="0" sz="1286">
                          <a:latin typeface="Cambria Math"/>
                        </a:rPr>
                        <m:t>,</m:t>
                      </m:r>
                      <m:box>
                        <m:e>
                          <m:r>
                            <a:rPr lang="en-US" i="1" sz="1286">
                              <a:latin typeface="Cambria Math"/>
                            </a:rPr>
                            <m:t/>
                          </m:r>
                        </m:e>
                      </m:box>
                      <m:sSub>
                        <m:e>
                          <m:r>
                            <m:rPr>
                              <m:sty m:val="i"/>
                            </m:rPr>
                            <a:rPr lang="en-US" i="1" sz="1286">
                              <a:latin typeface="Cambria Math"/>
                            </a:rPr>
                            <m:t>κ</m:t>
                          </m:r>
                        </m:e>
                        <m:sub>
                          <m:box>
                            <m:e>
                              <m:r>
                                <m:rPr>
                                  <m:sty m:val="p"/>
                                </m:rPr>
                                <a:rPr lang="en-US" i="0" sz="1286">
                                  <a:latin typeface="Cambria Math"/>
                                </a:rPr>
                                <m:t>G</m:t>
                              </m:r>
                              <m:r>
                                <m:rPr>
                                  <m:sty m:val="p"/>
                                </m:rPr>
                                <a:rPr lang="en-US" i="0" sz="1286">
                                  <a:latin typeface="Cambria Math"/>
                                </a:rPr>
                                <m:t>L</m:t>
                              </m:r>
                            </m:e>
                          </m:box>
                        </m:sub>
                      </m:sSub>
                      <m:r>
                        <m:rPr>
                          <m:sty m:val="p"/>
                        </m:rPr>
                        <a:rPr lang="en-US" i="0" sz="1286">
                          <a:latin typeface="Cambria Math"/>
                        </a:rPr>
                        <m:t>≶</m:t>
                      </m:r>
                      <m:f>
                        <m:num>
                          <m:r>
                            <m:rPr>
                              <m:sty m:val="p"/>
                            </m:rPr>
                            <a:rPr lang="en-US" i="0" sz="1286">
                              <a:latin typeface="Cambria Math"/>
                            </a:rPr>
                            <m:t>1</m:t>
                          </m:r>
                        </m:num>
                        <m:den>
                          <m:rad>
                            <m:radPr>
                              <m:degHide m:val="1"/>
                            </m:radPr>
                            <m:deg/>
                            <m:e>
                              <m:box>
                                <m:e>
                                  <m:r>
                                    <m:rPr>
                                      <m:sty m:val="p"/>
                                    </m:rPr>
                                    <a:rPr lang="en-US" i="0" sz="1286">
                                      <a:latin typeface="Cambria Math"/>
                                    </a:rPr>
                                    <m:t>2</m:t>
                                  </m:r>
                                </m:e>
                              </m:box>
                            </m:e>
                          </m:rad>
                        </m:den>
                      </m:f>
                    </m:oMath>
                  </m:oMathPara>
                </a14:m>
              </mc:Choice>
              <mc:Fallback>
                <a:r>
                  <a:rPr lang="en-US" sz="1285" i="1"/>
                  <a:t>
                        \kappa_{\rm GL}=\frac{\lambda}{\xi},
                        \qquad
                        \kappa_{\rm GL}\lessgtr\frac{1}{\sqrt2}
                        </a:t>
                </a:r>
              </mc:Fallback>
            </mc:AlternateContent>
          </a:p>
        </p:txBody>
      </p:sp>
      <p:sp>
        <p:nvSpPr>
          <p:cNvPr id="23" name="TextBox 22"/>
          <p:cNvSpPr txBox="1"/>
          <p:nvPr/>
        </p:nvSpPr>
        <p:spPr>
          <a:xfrm>
            <a:off x="698940" y="4046144"/>
            <a:ext cx="5222932" cy="336780"/>
          </a:xfrm>
          <a:prstGeom prst="rect">
            <a:avLst/>
          </a:prstGeom>
          <a:noFill/>
        </p:spPr>
        <p:txBody>
          <a:bodyPr wrap="square" lIns="0" rIns="0" tIns="0" bIns="0" anchor="t">
            <a:noAutofit/>
          </a:bodyPr>
          <a:lstStyle/>
          <a:p>
            <a:pPr algn="l">
              <a:lnSpc>
                <a:spcPts val="1550"/>
              </a:lnSpc>
            </a:pPr>
            <a:r>
              <a:rPr sz="1150" b="0" i="0">
                <a:solidFill>
                  <a:srgbClr val="4F4C56"/>
                </a:solidFill>
                <a:latin typeface="Montserrat"/>
                <a:ea typeface="Montserrat"/>
                <a:cs typeface="Montserrat"/>
              </a:rPr>
              <a:t>separates ideal type-I and type-II behavior. Type-II films can admit quantized vortices that become mobile loss and dephasing sources.</a:t>
            </a:r>
          </a:p>
        </p:txBody>
      </p:sp>
      <p:sp>
        <p:nvSpPr>
          <p:cNvPr id="24" name="Rounded Rectangle 23"/>
          <p:cNvSpPr/>
          <p:nvPr/>
        </p:nvSpPr>
        <p:spPr>
          <a:xfrm>
            <a:off x="6146544" y="3125716"/>
            <a:ext cx="5469459" cy="1550844"/>
          </a:xfrm>
          <a:prstGeom prst="roundRect">
            <a:avLst>
              <a:gd name="adj" fmla="val 5459"/>
            </a:avLst>
          </a:prstGeom>
          <a:solidFill>
            <a:srgbClr val="FB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146544" y="3125716"/>
            <a:ext cx="5469459" cy="33867"/>
          </a:xfrm>
          <a:prstGeom prst="rect">
            <a:avLst/>
          </a:prstGeom>
          <a:solidFill>
            <a:srgbClr val="5F4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1607536" y="3125716"/>
            <a:ext cx="8467" cy="1550844"/>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6544" y="4668093"/>
            <a:ext cx="5469459" cy="8467"/>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46544" y="3125716"/>
            <a:ext cx="8467" cy="1550844"/>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9751" y="3256170"/>
            <a:ext cx="5223046" cy="193870"/>
          </a:xfrm>
          <a:prstGeom prst="rect">
            <a:avLst/>
          </a:prstGeom>
          <a:noFill/>
        </p:spPr>
        <p:txBody>
          <a:bodyPr wrap="none" lIns="0" rIns="0" tIns="0" bIns="0" anchor="t">
            <a:noAutofit/>
          </a:bodyPr>
          <a:lstStyle/>
          <a:p>
            <a:pPr algn="l">
              <a:lnSpc>
                <a:spcPts val="1780"/>
              </a:lnSpc>
            </a:pPr>
            <a:r>
              <a:rPr sz="1370" b="0" i="0">
                <a:solidFill>
                  <a:srgbClr val="302840"/>
                </a:solidFill>
                <a:latin typeface="Montserrat"/>
                <a:ea typeface="Montserrat"/>
                <a:cs typeface="Montserrat"/>
              </a:rPr>
              <a:t>Thin-film reality</a:t>
            </a:r>
          </a:p>
        </p:txBody>
      </p:sp>
      <p:sp>
        <p:nvSpPr>
          <p:cNvPr id="30" name="TextBox 29"/>
          <p:cNvSpPr txBox="1"/>
          <p:nvPr/>
        </p:nvSpPr>
        <p:spPr>
          <a:xfrm>
            <a:off x="6269751" y="3493524"/>
            <a:ext cx="5223046" cy="168391"/>
          </a:xfrm>
          <a:prstGeom prst="rect">
            <a:avLst/>
          </a:prstGeom>
          <a:noFill/>
        </p:spPr>
        <p:txBody>
          <a:bodyPr wrap="none" lIns="0" rIns="0" tIns="0" bIns="0" anchor="t">
            <a:noAutofit/>
          </a:bodyPr>
          <a:lstStyle/>
          <a:p>
            <a:pPr algn="l">
              <a:lnSpc>
                <a:spcPts val="1550"/>
              </a:lnSpc>
            </a:pPr>
            <a:r>
              <a:rPr sz="1150" b="0" i="0">
                <a:solidFill>
                  <a:srgbClr val="4F4C56"/>
                </a:solidFill>
                <a:latin typeface="Montserrat"/>
                <a:ea typeface="Montserrat"/>
                <a:cs typeface="Montserrat"/>
              </a:rPr>
              <a:t>When film thickness </a:t>
            </a:r>
            <mc:AlternateContent xmlns:mc="http://schemas.openxmlformats.org/markup-compatibility/2006">
              <mc:Choice xmlns:a14="http://schemas.microsoft.com/office/drawing/2010/main" Requires="a14">
                <a14:m>
                  <m:oMath xmlns:m="http://schemas.openxmlformats.org/officeDocument/2006/math">
                    <m:r>
                      <m:rPr>
                        <m:sty m:val="i"/>
                      </m:rPr>
                      <a:rPr lang="en-US" i="1" sz="1365">
                        <a:latin typeface="Cambria Math"/>
                      </a:rPr>
                      <m:t>d</m:t>
                    </m:r>
                    <m:r>
                      <m:rPr>
                        <m:sty m:val="p"/>
                      </m:rPr>
                      <a:rPr lang="en-US" i="0" sz="1365">
                        <a:latin typeface="Cambria Math"/>
                      </a:rPr>
                      <m:t>≪</m:t>
                    </m:r>
                    <m:r>
                      <m:rPr>
                        <m:sty m:val="i"/>
                      </m:rPr>
                      <a:rPr lang="en-US" i="1" sz="1365">
                        <a:latin typeface="Cambria Math"/>
                      </a:rPr>
                      <m:t>λ</m:t>
                    </m:r>
                  </m:oMath>
                </a14:m>
              </mc:Choice>
              <mc:Fallback>
                <a:r>
                  <a:rPr lang="en-US" sz="1364" i="1"/>
                  <a:t>d\ll\lambda</a:t>
                </a:r>
              </mc:Fallback>
            </mc:AlternateContent>
            <a:r>
              <a:rPr sz="1150" b="0" i="0">
                <a:solidFill>
                  <a:srgbClr val="4F4C56"/>
                </a:solidFill>
                <a:latin typeface="Montserrat"/>
                <a:ea typeface="Montserrat"/>
                <a:cs typeface="Montserrat"/>
              </a:rPr>
              <a:t>, screening becomes nonlocal over the Pearl scale</a:t>
            </a:r>
          </a:p>
        </p:txBody>
      </p:sp>
      <p:sp>
        <p:nvSpPr>
          <p:cNvPr id="31" name="equation"/>
          <p:cNvSpPr txBox="1"/>
          <p:nvPr/>
        </p:nvSpPr>
        <p:spPr>
          <a:xfrm>
            <a:off x="6269751" y="3792369"/>
            <a:ext cx="5223046" cy="308244"/>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286">
                          <a:latin typeface="Cambria Math"/>
                        </a:rPr>
                        <m:t>Λ</m:t>
                      </m:r>
                      <m:r>
                        <m:rPr>
                          <m:sty m:val="p"/>
                        </m:rPr>
                        <a:rPr lang="en-US" i="0" sz="1286">
                          <a:latin typeface="Cambria Math"/>
                        </a:rPr>
                        <m:t>=</m:t>
                      </m:r>
                      <m:f>
                        <m:num>
                          <m:box>
                            <m:e>
                              <m:r>
                                <m:rPr>
                                  <m:sty m:val="p"/>
                                </m:rPr>
                                <a:rPr lang="en-US" i="0" sz="1286">
                                  <a:latin typeface="Cambria Math"/>
                                </a:rPr>
                                <m:t>2</m:t>
                              </m:r>
                              <m:sSup>
                                <m:e>
                                  <m:r>
                                    <m:rPr>
                                      <m:sty m:val="i"/>
                                    </m:rPr>
                                    <a:rPr lang="en-US" i="1" sz="1286">
                                      <a:latin typeface="Cambria Math"/>
                                    </a:rPr>
                                    <m:t>λ</m:t>
                                  </m:r>
                                </m:e>
                                <m:sup>
                                  <m:r>
                                    <m:rPr>
                                      <m:sty m:val="p"/>
                                    </m:rPr>
                                    <a:rPr lang="en-US" i="0" sz="1286">
                                      <a:latin typeface="Cambria Math"/>
                                    </a:rPr>
                                    <m:t>2</m:t>
                                  </m:r>
                                </m:sup>
                              </m:sSup>
                            </m:e>
                          </m:box>
                        </m:num>
                        <m:den>
                          <m:r>
                            <m:rPr>
                              <m:sty m:val="i"/>
                            </m:rPr>
                            <a:rPr lang="en-US" i="1" sz="1286">
                              <a:latin typeface="Cambria Math"/>
                            </a:rPr>
                            <m:t>d</m:t>
                          </m:r>
                        </m:den>
                      </m:f>
                      <m:r>
                        <m:rPr>
                          <m:sty m:val="p"/>
                        </m:rPr>
                        <a:rPr lang="en-US" i="0" sz="1286">
                          <a:latin typeface="Cambria Math"/>
                        </a:rPr>
                        <m:t>.</m:t>
                      </m:r>
                    </m:oMath>
                  </m:oMathPara>
                </a14:m>
              </mc:Choice>
              <mc:Fallback>
                <a:r>
                  <a:rPr lang="en-US" sz="1285" i="1"/>
                  <a:t>
                        \Lambda=\frac{2\lambda^2}{d}.
                        </a:t>
                </a:r>
              </mc:Fallback>
            </mc:AlternateContent>
          </a:p>
        </p:txBody>
      </p:sp>
      <p:sp>
        <p:nvSpPr>
          <p:cNvPr id="32" name="TextBox 31"/>
          <p:cNvSpPr txBox="1"/>
          <p:nvPr/>
        </p:nvSpPr>
        <p:spPr>
          <a:xfrm>
            <a:off x="6269751" y="4231068"/>
            <a:ext cx="5223046" cy="336780"/>
          </a:xfrm>
          <a:prstGeom prst="rect">
            <a:avLst/>
          </a:prstGeom>
          <a:noFill/>
        </p:spPr>
        <p:txBody>
          <a:bodyPr wrap="square" lIns="0" rIns="0" tIns="0" bIns="0" anchor="t">
            <a:noAutofit/>
          </a:bodyPr>
          <a:lstStyle/>
          <a:p>
            <a:pPr algn="l">
              <a:lnSpc>
                <a:spcPts val="1550"/>
              </a:lnSpc>
            </a:pPr>
            <a:r>
              <a:rPr sz="1150" b="0" i="0">
                <a:solidFill>
                  <a:srgbClr val="4F4C56"/>
                </a:solidFill>
                <a:latin typeface="Montserrat"/>
                <a:ea typeface="Montserrat"/>
                <a:cs typeface="Montserrat"/>
              </a:rPr>
              <a:t>Thickness, linewidth, slots, and ground-plane holes therefore affect current crowding, kinetic inductance, vortex entry, and microwave loss.</a:t>
            </a:r>
          </a:p>
        </p:txBody>
      </p:sp>
      <p:sp>
        <p:nvSpPr>
          <p:cNvPr id="33" name="TextBox 32"/>
          <p:cNvSpPr txBox="1"/>
          <p:nvPr/>
        </p:nvSpPr>
        <p:spPr>
          <a:xfrm>
            <a:off x="575733" y="4763530"/>
            <a:ext cx="11040270" cy="462479"/>
          </a:xfrm>
          <a:prstGeom prst="rect">
            <a:avLst/>
          </a:prstGeom>
          <a:noFill/>
        </p:spPr>
        <p:txBody>
          <a:bodyPr wrap="square" lIns="0" rIns="0" tIns="0" bIns="0" anchor="t">
            <a:noAutofit/>
          </a:bodyPr>
          <a:lstStyle/>
          <a:p>
            <a:pPr algn="l">
              <a:lnSpc>
                <a:spcPts val="2130"/>
              </a:lnSpc>
            </a:pPr>
            <a:r>
              <a:rPr sz="1400" b="1" i="0">
                <a:solidFill>
                  <a:srgbClr val="4F4C56"/>
                </a:solidFill>
                <a:latin typeface="Montserrat"/>
                <a:ea typeface="Montserrat"/>
                <a:cs typeface="Montserrat"/>
              </a:rPr>
              <a:t>Design takeaway:</a:t>
            </a:r>
            <a:r>
              <a:rPr sz="1400" b="0" i="0">
                <a:solidFill>
                  <a:srgbClr val="4F4C56"/>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λ</m:t>
                    </m:r>
                  </m:oMath>
                </a14:m>
              </mc:Choice>
              <mc:Fallback>
                <a:r>
                  <a:rPr lang="en-US" sz="1664" i="1"/>
                  <a:t>\lambda</a:t>
                </a:r>
              </mc:Fallback>
            </mc:AlternateContent>
            <a:r>
              <a:rPr sz="1400" b="0" i="0">
                <a:solidFill>
                  <a:srgbClr val="4F4C56"/>
                </a:solidFill>
                <a:latin typeface="Montserrat"/>
                <a:ea typeface="Montserrat"/>
                <a:cs typeface="Montserrat"/>
              </a:rPr>
              <a:t> tells us where current and field live;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ξ</m:t>
                    </m:r>
                  </m:oMath>
                </a14:m>
              </mc:Choice>
              <mc:Fallback>
                <a:r>
                  <a:rPr lang="en-US" sz="1664" i="1"/>
                  <a:t>\xi</a:t>
                </a:r>
              </mc:Fallback>
            </mc:AlternateContent>
            <a:r>
              <a:rPr sz="1400" b="0" i="0">
                <a:solidFill>
                  <a:srgbClr val="4F4C56"/>
                </a:solidFill>
                <a:latin typeface="Montserrat"/>
                <a:ea typeface="Montserrat"/>
                <a:cs typeface="Montserrat"/>
              </a:rPr>
              <a:t> tells us how sharply superconductivity can vary. Geometry must be compared with both, not merely with the microwave wavelength.</a:t>
            </a:r>
          </a:p>
        </p:txBody>
      </p:sp>
      <p:sp>
        <p:nvSpPr>
          <p:cNvPr id="34" name="Rectangle 33"/>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36" name="TextBox 35"/>
          <p:cNvSpPr txBox="1"/>
          <p:nvPr/>
        </p:nvSpPr>
        <p:spPr>
          <a:xfrm>
            <a:off x="11263312" y="6565900"/>
            <a:ext cx="437621"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31 / 100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913805" y="324115"/>
            <a:ext cx="1787128"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What Is a Superconductor?</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What the Prize Actually Recognized</a:t>
            </a:r>
          </a:p>
        </p:txBody>
      </p:sp>
      <p:pic>
        <p:nvPicPr>
          <p:cNvPr id="6" name="Official Nobel 2025 Figure 6 showing the filtered microwave apparatus and Joseph" descr="nobel-2025-fig6-experiment.jpg"/>
          <p:cNvPicPr>
            <a:picLocks noChangeAspect="1"/>
          </p:cNvPicPr>
          <p:nvPr/>
        </p:nvPicPr>
        <p:blipFill>
          <a:blip r:embed="rId2"/>
          <a:stretch>
            <a:fillRect/>
          </a:stretch>
        </p:blipFill>
        <p:spPr>
          <a:xfrm>
            <a:off x="575733" y="2043128"/>
            <a:ext cx="6428978" cy="2203683"/>
          </a:xfrm>
          <a:prstGeom prst="rect">
            <a:avLst/>
          </a:prstGeom>
        </p:spPr>
      </p:pic>
      <p:sp>
        <p:nvSpPr>
          <p:cNvPr id="7" name="TextBox 6"/>
          <p:cNvSpPr txBox="1"/>
          <p:nvPr/>
        </p:nvSpPr>
        <p:spPr>
          <a:xfrm>
            <a:off x="575733" y="4537736"/>
            <a:ext cx="6428978" cy="700617"/>
          </a:xfrm>
          <a:prstGeom prst="rect">
            <a:avLst/>
          </a:prstGeom>
          <a:noFill/>
        </p:spPr>
        <p:txBody>
          <a:bodyPr wrap="square" lIns="0" rIns="0" tIns="0" bIns="0" anchor="t">
            <a:noAutofit/>
          </a:bodyPr>
          <a:lstStyle/>
          <a:p>
            <a:pPr algn="l">
              <a:lnSpc>
                <a:spcPts val="1380"/>
              </a:lnSpc>
            </a:pPr>
            <a:r>
              <a:rPr sz="1080" b="1" i="0">
                <a:solidFill>
                  <a:srgbClr val="302840"/>
                </a:solidFill>
                <a:latin typeface="Montserrat"/>
                <a:ea typeface="Montserrat"/>
                <a:cs typeface="Montserrat"/>
              </a:rPr>
              <a:t>Official Nobel 2025 Figure 6.</a:t>
            </a:r>
            <a:r>
              <a:rPr sz="1080" b="0" i="0">
                <a:solidFill>
                  <a:srgbClr val="5F5865"/>
                </a:solidFill>
                <a:latin typeface="Montserrat"/>
                <a:ea typeface="Montserrat"/>
                <a:cs typeface="Montserrat"/>
              </a:rPr>
              <a:t> A centimetre-scale chip and heavily filtered microwave apparatus made the collective phase of billions of Cooper pairs behave as one quantum degree of freedom. © Johan Jarnestad / The Royal Swedish Academy of Sciences, </a:t>
            </a:r>
            <a:r>
              <a:rPr sz="1080" b="0" i="0">
                <a:solidFill>
                  <a:srgbClr val="355C9A"/>
                </a:solidFill>
                <a:latin typeface="Montserrat"/>
                <a:ea typeface="Montserrat"/>
                <a:cs typeface="Montserrat"/>
                <a:hlinkClick r:id="rId3"/>
              </a:rPr>
              <a:t>official source</a:t>
            </a:r>
            <a:r>
              <a:rPr sz="1080" b="0" i="0">
                <a:solidFill>
                  <a:srgbClr val="5F5865"/>
                </a:solidFill>
                <a:latin typeface="Montserrat"/>
                <a:ea typeface="Montserrat"/>
                <a:cs typeface="Montserrat"/>
              </a:rPr>
              <a:t>. </a:t>
            </a:r>
          </a:p>
        </p:txBody>
      </p:sp>
      <p:sp>
        <p:nvSpPr>
          <p:cNvPr id="8" name="Rectangle 7"/>
          <p:cNvSpPr/>
          <p:nvPr/>
        </p:nvSpPr>
        <p:spPr>
          <a:xfrm>
            <a:off x="7148645" y="1588294"/>
            <a:ext cx="4467490" cy="980546"/>
          </a:xfrm>
          <a:prstGeom prst="rect">
            <a:avLst/>
          </a:prstGeom>
          <a:solidFill>
            <a:srgbClr val="EF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148645" y="1588294"/>
            <a:ext cx="42333" cy="980546"/>
          </a:xfrm>
          <a:prstGeom prst="rect">
            <a:avLst/>
          </a:prstGeom>
          <a:solidFill>
            <a:srgbClr val="5F4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8778" y="1740694"/>
            <a:ext cx="4069556" cy="540279"/>
          </a:xfrm>
          <a:prstGeom prst="rect">
            <a:avLst/>
          </a:prstGeom>
          <a:noFill/>
        </p:spPr>
        <p:txBody>
          <a:bodyPr wrap="square" lIns="0" rIns="0" tIns="0" bIns="0" anchor="t">
            <a:noAutofit/>
          </a:bodyPr>
          <a:lstStyle/>
          <a:p>
            <a:pPr algn="l">
              <a:lnSpc>
                <a:spcPts val="2130"/>
              </a:lnSpc>
            </a:pPr>
            <a:r>
              <a:rPr sz="1400" b="1" i="0">
                <a:solidFill>
                  <a:srgbClr val="4F4C56"/>
                </a:solidFill>
                <a:latin typeface="Montserrat"/>
                <a:ea typeface="Montserrat"/>
                <a:cs typeface="Montserrat"/>
              </a:rPr>
              <a:t>Laureates:</a:t>
            </a:r>
            <a:r>
              <a:rPr sz="1400" b="0" i="0">
                <a:solidFill>
                  <a:srgbClr val="4F4C56"/>
                </a:solidFill>
                <a:latin typeface="Montserrat"/>
                <a:ea typeface="Montserrat"/>
                <a:cs typeface="Montserrat"/>
              </a:rPr>
              <a:t> John Clarke, Michel H. Devoret, and John M. Martinis</a:t>
            </a:r>
          </a:p>
        </p:txBody>
      </p:sp>
      <p:sp>
        <p:nvSpPr>
          <p:cNvPr id="11" name="TextBox 10"/>
          <p:cNvSpPr txBox="1"/>
          <p:nvPr/>
        </p:nvSpPr>
        <p:spPr>
          <a:xfrm>
            <a:off x="7148645" y="2704306"/>
            <a:ext cx="4467490" cy="678656"/>
          </a:xfrm>
          <a:prstGeom prst="rect">
            <a:avLst/>
          </a:prstGeom>
          <a:noFill/>
        </p:spPr>
        <p:txBody>
          <a:bodyPr wrap="square" lIns="0" rIns="0" tIns="0" bIns="0" anchor="t">
            <a:noAutofit/>
          </a:bodyPr>
          <a:lstStyle/>
          <a:p>
            <a:pPr algn="l">
              <a:lnSpc>
                <a:spcPts val="1780"/>
              </a:lnSpc>
            </a:pPr>
            <a:r>
              <a:rPr sz="1480" b="0" i="1">
                <a:solidFill>
                  <a:srgbClr val="4F4C56"/>
                </a:solidFill>
                <a:latin typeface="Montserrat"/>
                <a:ea typeface="Montserrat"/>
                <a:cs typeface="Montserrat"/>
              </a:rPr>
              <a:t>“for the discovery of macroscopic quantum mechanical tunnelling and energy quantisation in an electric circuit”</a:t>
            </a:r>
          </a:p>
        </p:txBody>
      </p:sp>
      <p:sp>
        <p:nvSpPr>
          <p:cNvPr id="12" name="Rounded Rectangle 11"/>
          <p:cNvSpPr/>
          <p:nvPr/>
        </p:nvSpPr>
        <p:spPr>
          <a:xfrm>
            <a:off x="7148645" y="3518429"/>
            <a:ext cx="4467490" cy="707496"/>
          </a:xfrm>
          <a:prstGeom prst="roundRect">
            <a:avLst>
              <a:gd name="adj" fmla="val 8376"/>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148645" y="3518429"/>
            <a:ext cx="33867" cy="707496"/>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48645" y="3518429"/>
            <a:ext cx="4467490" cy="707496"/>
          </a:xfrm>
          <a:prstGeom prst="rect">
            <a:avLst/>
          </a:prstGeom>
          <a:noFill/>
        </p:spPr>
        <p:txBody>
          <a:bodyPr wrap="square" lIns="84667" rIns="84667" tIns="59267" bIns="59267" anchor="t">
            <a:noAutofit/>
          </a:bodyPr>
          <a:lstStyle/>
          <a:p>
            <a:pPr algn="l">
              <a:lnSpc>
                <a:spcPts val="1550"/>
              </a:lnSpc>
            </a:pPr>
            <a:r>
              <a:rPr sz="1190" b="1" i="0">
                <a:solidFill>
                  <a:srgbClr val="22232A"/>
                </a:solidFill>
                <a:latin typeface="Montserrat"/>
                <a:ea typeface="Montserrat"/>
                <a:cs typeface="Montserrat"/>
              </a:rPr>
              <a:t>Macroscopic tunnelling:</a:t>
            </a:r>
            <a:r>
              <a:rPr sz="1190" b="0" i="0">
                <a:solidFill>
                  <a:srgbClr val="22232A"/>
                </a:solidFill>
                <a:latin typeface="Montserrat"/>
                <a:ea typeface="Montserrat"/>
                <a:cs typeface="Montserrat"/>
              </a:rPr>
              <a:t> the junction phase escapes a metastable zero-voltage well even when thermal activation is frozen out.</a:t>
            </a:r>
          </a:p>
        </p:txBody>
      </p:sp>
      <p:sp>
        <p:nvSpPr>
          <p:cNvPr id="15" name="Rounded Rectangle 14"/>
          <p:cNvSpPr/>
          <p:nvPr/>
        </p:nvSpPr>
        <p:spPr>
          <a:xfrm>
            <a:off x="7148645" y="4302125"/>
            <a:ext cx="4467490" cy="511175"/>
          </a:xfrm>
          <a:prstGeom prst="roundRect">
            <a:avLst>
              <a:gd name="adj" fmla="val 11594"/>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7148645" y="4302125"/>
            <a:ext cx="33867" cy="511175"/>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48645" y="4302125"/>
            <a:ext cx="4467490" cy="511175"/>
          </a:xfrm>
          <a:prstGeom prst="rect">
            <a:avLst/>
          </a:prstGeom>
          <a:noFill/>
        </p:spPr>
        <p:txBody>
          <a:bodyPr wrap="square" lIns="84667" rIns="84667" tIns="59267" bIns="59267" anchor="t">
            <a:noAutofit/>
          </a:bodyPr>
          <a:lstStyle/>
          <a:p>
            <a:pPr algn="l">
              <a:lnSpc>
                <a:spcPts val="1550"/>
              </a:lnSpc>
            </a:pPr>
            <a:r>
              <a:rPr sz="1190" b="1" i="0">
                <a:solidFill>
                  <a:srgbClr val="22232A"/>
                </a:solidFill>
                <a:latin typeface="Montserrat"/>
                <a:ea typeface="Montserrat"/>
                <a:cs typeface="Montserrat"/>
              </a:rPr>
              <a:t>Energy quantisation:</a:t>
            </a:r>
            <a:r>
              <a:rPr sz="1190" b="0" i="0">
                <a:solidFill>
                  <a:srgbClr val="22232A"/>
                </a:solidFill>
                <a:latin typeface="Montserrat"/>
                <a:ea typeface="Montserrat"/>
                <a:cs typeface="Montserrat"/>
              </a:rPr>
              <a:t> microwave activation resolves discrete levels of that same collective circuit coordinate.</a:t>
            </a:r>
          </a:p>
        </p:txBody>
      </p:sp>
      <p:sp>
        <p:nvSpPr>
          <p:cNvPr id="18" name="Rounded Rectangle 17"/>
          <p:cNvSpPr/>
          <p:nvPr/>
        </p:nvSpPr>
        <p:spPr>
          <a:xfrm>
            <a:off x="7148645" y="4889500"/>
            <a:ext cx="4467490" cy="707496"/>
          </a:xfrm>
          <a:prstGeom prst="roundRect">
            <a:avLst>
              <a:gd name="adj" fmla="val 8376"/>
            </a:avLst>
          </a:prstGeom>
          <a:solidFill>
            <a:srgbClr val="F5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148645" y="4889500"/>
            <a:ext cx="33867" cy="707496"/>
          </a:xfrm>
          <a:prstGeom prst="rect">
            <a:avLst/>
          </a:prstGeom>
          <a:solidFill>
            <a:srgbClr val="705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48645" y="4889500"/>
            <a:ext cx="4467490" cy="707496"/>
          </a:xfrm>
          <a:prstGeom prst="rect">
            <a:avLst/>
          </a:prstGeom>
          <a:noFill/>
        </p:spPr>
        <p:txBody>
          <a:bodyPr wrap="square" lIns="84667" rIns="84667" tIns="59267" bIns="59267" anchor="t">
            <a:noAutofit/>
          </a:bodyPr>
          <a:lstStyle/>
          <a:p>
            <a:pPr algn="l">
              <a:lnSpc>
                <a:spcPts val="1550"/>
              </a:lnSpc>
            </a:pPr>
            <a:r>
              <a:rPr sz="1190" b="1" i="0">
                <a:solidFill>
                  <a:srgbClr val="22232A"/>
                </a:solidFill>
                <a:latin typeface="Montserrat"/>
                <a:ea typeface="Montserrat"/>
                <a:cs typeface="Montserrat"/>
              </a:rPr>
              <a:t>Why it matters here:</a:t>
            </a:r>
            <a:r>
              <a:rPr sz="1190" b="0" i="0">
                <a:solidFill>
                  <a:srgbClr val="22232A"/>
                </a:solidFill>
                <a:latin typeface="Montserrat"/>
                <a:ea typeface="Montserrat"/>
                <a:cs typeface="Montserrat"/>
              </a:rPr>
              <a:t> a fabricated electrical mode can be a quantum mechanical particle—and therefore can be engineered as an artificial atom.</a:t>
            </a:r>
          </a:p>
        </p:txBody>
      </p:sp>
      <p:sp>
        <p:nvSpPr>
          <p:cNvPr id="21" name="TextBox 20"/>
          <p:cNvSpPr txBox="1"/>
          <p:nvPr/>
        </p:nvSpPr>
        <p:spPr>
          <a:xfrm>
            <a:off x="575733" y="5681662"/>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Official award summary: </a:t>
            </a:r>
            <a:r>
              <a:rPr sz="1400" b="0" i="0">
                <a:solidFill>
                  <a:srgbClr val="355C9A"/>
                </a:solidFill>
                <a:latin typeface="Montserrat"/>
                <a:ea typeface="Montserrat"/>
                <a:cs typeface="Montserrat"/>
                <a:hlinkClick r:id="rId4"/>
              </a:rPr>
              <a:t>Nobel Prize in Physics 2025</a:t>
            </a:r>
            <a:r>
              <a:rPr sz="1400" b="0" i="0">
                <a:solidFill>
                  <a:srgbClr val="4F4C56"/>
                </a:solidFill>
                <a:latin typeface="Montserrat"/>
                <a:ea typeface="Montserrat"/>
                <a:cs typeface="Montserrat"/>
              </a:rPr>
              <a:t>. </a:t>
            </a:r>
          </a:p>
        </p:txBody>
      </p:sp>
      <p:sp>
        <p:nvSpPr>
          <p:cNvPr id="22" name="Rectangle 21"/>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24" name="TextBox 23"/>
          <p:cNvSpPr txBox="1"/>
          <p:nvPr/>
        </p:nvSpPr>
        <p:spPr>
          <a:xfrm>
            <a:off x="11240426" y="6565900"/>
            <a:ext cx="460507"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32 / 100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913805" y="324115"/>
            <a:ext cx="1787128"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What Is a Superconductor?</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The Evidence: Escape Statistics + Junction Spectroscopy</a:t>
            </a:r>
          </a:p>
        </p:txBody>
      </p:sp>
      <p:pic>
        <p:nvPicPr>
          <p:cNvPr id="6" name="Official Nobel scientific-background Figure 3 showing low-temperature saturation" descr="nobel-2025-advanced-fig3-mqt-graph.jpg"/>
          <p:cNvPicPr>
            <a:picLocks noChangeAspect="1"/>
          </p:cNvPicPr>
          <p:nvPr/>
        </p:nvPicPr>
        <p:blipFill>
          <a:blip r:embed="rId2"/>
          <a:stretch>
            <a:fillRect/>
          </a:stretch>
        </p:blipFill>
        <p:spPr>
          <a:xfrm>
            <a:off x="1042458" y="1452859"/>
            <a:ext cx="4523317" cy="3301937"/>
          </a:xfrm>
          <a:prstGeom prst="rect">
            <a:avLst/>
          </a:prstGeom>
        </p:spPr>
      </p:pic>
      <p:sp>
        <p:nvSpPr>
          <p:cNvPr id="7" name="TextBox 6"/>
          <p:cNvSpPr txBox="1"/>
          <p:nvPr/>
        </p:nvSpPr>
        <p:spPr>
          <a:xfrm>
            <a:off x="575733" y="4814094"/>
            <a:ext cx="5456767" cy="700617"/>
          </a:xfrm>
          <a:prstGeom prst="rect">
            <a:avLst/>
          </a:prstGeom>
          <a:noFill/>
        </p:spPr>
        <p:txBody>
          <a:bodyPr wrap="square" lIns="0" rIns="0" tIns="0" bIns="0" anchor="t">
            <a:noAutofit/>
          </a:bodyPr>
          <a:lstStyle/>
          <a:p>
            <a:pPr algn="l">
              <a:lnSpc>
                <a:spcPts val="1380"/>
              </a:lnSpc>
            </a:pPr>
            <a:r>
              <a:rPr sz="1080" b="1" i="0">
                <a:solidFill>
                  <a:srgbClr val="302840"/>
                </a:solidFill>
                <a:latin typeface="Montserrat"/>
                <a:ea typeface="Montserrat"/>
                <a:cs typeface="Montserrat"/>
              </a:rPr>
              <a:t>Macroscopic quantum tunnelling.</a:t>
            </a:r>
            <a:r>
              <a:rPr sz="1080" b="0" i="0">
                <a:solidFill>
                  <a:srgbClr val="5F5865"/>
                </a:solidFill>
                <a:latin typeface="Montserrat"/>
                <a:ea typeface="Montserrat"/>
                <a:cs typeface="Montserrat"/>
              </a:rPr>
              <a:t> The “quantum junction” escape temperature stops following the thermal line below the crossover; the control junction verifies that the cryostat itself is colder. Cropped from Figure 3 of the </a:t>
            </a:r>
            <a:r>
              <a:rPr sz="1080" b="0" i="0">
                <a:solidFill>
                  <a:srgbClr val="355C9A"/>
                </a:solidFill>
                <a:latin typeface="Montserrat"/>
                <a:ea typeface="Montserrat"/>
                <a:cs typeface="Montserrat"/>
                <a:hlinkClick r:id="rId3"/>
              </a:rPr>
              <a:t>official 2025 scientific background</a:t>
            </a:r>
            <a:r>
              <a:rPr sz="1080" b="0" i="0">
                <a:solidFill>
                  <a:srgbClr val="5F5865"/>
                </a:solidFill>
                <a:latin typeface="Montserrat"/>
                <a:ea typeface="Montserrat"/>
                <a:cs typeface="Montserrat"/>
              </a:rPr>
              <a:t>. </a:t>
            </a:r>
          </a:p>
        </p:txBody>
      </p:sp>
      <p:pic>
        <p:nvPicPr>
          <p:cNvPr id="8" name="Official Nobel scientific-background Figure 4 showing microwave-enhanced tunnell" descr="nobel-2025-advanced-fig4-quantization-graph.jpg"/>
          <p:cNvPicPr>
            <a:picLocks noChangeAspect="1"/>
          </p:cNvPicPr>
          <p:nvPr/>
        </p:nvPicPr>
        <p:blipFill>
          <a:blip r:embed="rId4"/>
          <a:stretch>
            <a:fillRect/>
          </a:stretch>
        </p:blipFill>
        <p:spPr>
          <a:xfrm>
            <a:off x="7080382" y="1452880"/>
            <a:ext cx="3614870" cy="3301894"/>
          </a:xfrm>
          <a:prstGeom prst="rect">
            <a:avLst/>
          </a:prstGeom>
        </p:spPr>
      </p:pic>
      <p:sp>
        <p:nvSpPr>
          <p:cNvPr id="9" name="TextBox 8"/>
          <p:cNvSpPr txBox="1"/>
          <p:nvPr/>
        </p:nvSpPr>
        <p:spPr>
          <a:xfrm>
            <a:off x="6159500" y="4814094"/>
            <a:ext cx="5456767" cy="700617"/>
          </a:xfrm>
          <a:prstGeom prst="rect">
            <a:avLst/>
          </a:prstGeom>
          <a:noFill/>
        </p:spPr>
        <p:txBody>
          <a:bodyPr wrap="square" lIns="0" rIns="0" tIns="0" bIns="0" anchor="t">
            <a:noAutofit/>
          </a:bodyPr>
          <a:lstStyle/>
          <a:p>
            <a:pPr algn="l">
              <a:lnSpc>
                <a:spcPts val="1380"/>
              </a:lnSpc>
            </a:pPr>
            <a:r>
              <a:rPr sz="1080" b="1" i="0">
                <a:solidFill>
                  <a:srgbClr val="302840"/>
                </a:solidFill>
                <a:latin typeface="Montserrat"/>
                <a:ea typeface="Montserrat"/>
                <a:cs typeface="Montserrat"/>
              </a:rPr>
              <a:t>Quantised junction levels.</a:t>
            </a:r>
            <a:r>
              <a:rPr sz="1080" b="0" i="0">
                <a:solidFill>
                  <a:srgbClr val="5F5865"/>
                </a:solidFill>
                <a:latin typeface="Montserrat"/>
                <a:ea typeface="Montserrat"/>
                <a:cs typeface="Montserrat"/>
              </a:rPr>
              <a:t> A 2-GHz microwave drive enhances escape when it matches transitions out of the first, second, and third excited levels of the tilted Josephson potential. Cropped from Figure 4 of the </a:t>
            </a:r>
            <a:r>
              <a:rPr sz="1080" b="0" i="0">
                <a:solidFill>
                  <a:srgbClr val="355C9A"/>
                </a:solidFill>
                <a:latin typeface="Montserrat"/>
                <a:ea typeface="Montserrat"/>
                <a:cs typeface="Montserrat"/>
                <a:hlinkClick r:id="rId3"/>
              </a:rPr>
              <a:t>official scientific background</a:t>
            </a:r>
            <a:r>
              <a:rPr sz="1080" b="0" i="0">
                <a:solidFill>
                  <a:srgbClr val="5F5865"/>
                </a:solidFill>
                <a:latin typeface="Montserrat"/>
                <a:ea typeface="Montserrat"/>
                <a:cs typeface="Montserrat"/>
              </a:rPr>
              <a:t>. </a:t>
            </a:r>
          </a:p>
        </p:txBody>
      </p:sp>
      <p:sp>
        <p:nvSpPr>
          <p:cNvPr id="10" name="TextBox 9"/>
          <p:cNvSpPr txBox="1"/>
          <p:nvPr/>
        </p:nvSpPr>
        <p:spPr>
          <a:xfrm>
            <a:off x="575733" y="5599377"/>
            <a:ext cx="11040533" cy="459052"/>
          </a:xfrm>
          <a:prstGeom prst="rect">
            <a:avLst/>
          </a:prstGeom>
          <a:noFill/>
        </p:spPr>
        <p:txBody>
          <a:bodyPr wrap="square" lIns="0" rIns="0" tIns="0" bIns="0" anchor="t">
            <a:noAutofit/>
          </a:bodyPr>
          <a:lstStyle/>
          <a:p>
            <a:pPr algn="l">
              <a:lnSpc>
                <a:spcPts val="1810"/>
              </a:lnSpc>
            </a:pPr>
            <a:r>
              <a:rPr sz="1190" b="1" i="0">
                <a:solidFill>
                  <a:srgbClr val="4F4C56"/>
                </a:solidFill>
                <a:latin typeface="Montserrat"/>
                <a:ea typeface="Montserrat"/>
                <a:cs typeface="Montserrat"/>
              </a:rPr>
              <a:t>Logical chain:</a:t>
            </a:r>
            <a:r>
              <a:rPr sz="1190" b="0" i="0">
                <a:solidFill>
                  <a:srgbClr val="4F4C56"/>
                </a:solidFill>
                <a:latin typeface="Montserrat"/>
                <a:ea typeface="Montserrat"/>
                <a:cs typeface="Montserrat"/>
              </a:rPr>
              <a:t> discrete microwave resonances establish level quantisation; low-temperature escape statistics establish tunnelling of the macroscopic phase coordinate.</a:t>
            </a:r>
          </a:p>
        </p:txBody>
      </p:sp>
      <p:sp>
        <p:nvSpPr>
          <p:cNvPr id="11" name="Rectangle 10"/>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3" name="TextBox 12"/>
          <p:cNvSpPr txBox="1"/>
          <p:nvPr/>
        </p:nvSpPr>
        <p:spPr>
          <a:xfrm>
            <a:off x="11240161" y="6565900"/>
            <a:ext cx="460772"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33 / 100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997546" y="324115"/>
            <a:ext cx="1703387"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1985: Energy Quantization</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1985: Energy Quantization in a Circuit</a:t>
            </a:r>
          </a:p>
        </p:txBody>
      </p:sp>
      <p:pic>
        <p:nvPicPr>
          <p:cNvPr id="6" name="Illustrations of the 2025 physics laureates" descr="s04-nobel-2025-laureates.jpg"/>
          <p:cNvPicPr>
            <a:picLocks noChangeAspect="1"/>
          </p:cNvPicPr>
          <p:nvPr/>
        </p:nvPicPr>
        <p:blipFill>
          <a:blip r:embed="rId2"/>
          <a:stretch>
            <a:fillRect/>
          </a:stretch>
        </p:blipFill>
        <p:spPr>
          <a:xfrm>
            <a:off x="2386702" y="1452827"/>
            <a:ext cx="1839063" cy="1422400"/>
          </a:xfrm>
          <a:prstGeom prst="rect">
            <a:avLst/>
          </a:prstGeom>
        </p:spPr>
      </p:pic>
      <p:sp>
        <p:nvSpPr>
          <p:cNvPr id="7" name="TextBox 6"/>
          <p:cNvSpPr txBox="1"/>
          <p:nvPr/>
        </p:nvSpPr>
        <p:spPr>
          <a:xfrm>
            <a:off x="575733" y="2909094"/>
            <a:ext cx="5461000" cy="153591"/>
          </a:xfrm>
          <a:prstGeom prst="rect">
            <a:avLst/>
          </a:prstGeom>
          <a:noFill/>
        </p:spPr>
        <p:txBody>
          <a:bodyPr wrap="none" lIns="0" rIns="0" tIns="0" bIns="0" anchor="t">
            <a:noAutofit/>
          </a:bodyPr>
          <a:lstStyle/>
          <a:p>
            <a:pPr algn="l">
              <a:lnSpc>
                <a:spcPts val="1210"/>
              </a:lnSpc>
            </a:pPr>
            <a:r>
              <a:rPr sz="1010" b="1" i="0">
                <a:solidFill>
                  <a:srgbClr val="302840"/>
                </a:solidFill>
                <a:latin typeface="Montserrat"/>
                <a:ea typeface="Montserrat"/>
                <a:cs typeface="Montserrat"/>
              </a:rPr>
              <a:t>Nobel Prize in Physics 2025.</a:t>
            </a:r>
            <a:r>
              <a:rPr sz="1010" b="0" i="0">
                <a:solidFill>
                  <a:srgbClr val="5F5865"/>
                </a:solidFill>
                <a:latin typeface="Montserrat"/>
                <a:ea typeface="Montserrat"/>
                <a:cs typeface="Montserrat"/>
              </a:rPr>
              <a:t> Ref. </a:t>
            </a:r>
            <a:r>
              <a:rPr sz="1010" b="0" i="0">
                <a:solidFill>
                  <a:srgbClr val="355C9A"/>
                </a:solidFill>
                <a:latin typeface="Montserrat"/>
                <a:ea typeface="Montserrat"/>
                <a:cs typeface="Montserrat"/>
                <a:hlinkClick r:id="rId3"/>
              </a:rPr>
              <a:t>[1]</a:t>
            </a:r>
          </a:p>
        </p:txBody>
      </p:sp>
      <p:pic>
        <p:nvPicPr>
          <p:cNvPr id="8" name="svg-diagram" descr="el-x5.png"/>
          <p:cNvPicPr>
            <a:picLocks noChangeAspect="1"/>
          </p:cNvPicPr>
          <p:nvPr/>
        </p:nvPicPr>
        <p:blipFill>
          <a:blip r:embed="rId4">
            <a:extLst>
              <a:ext uri="{96DAC541-7B7A-43D3-8B79-37D633B846F1}">
                <ns0:svgBlip xmlns:ns0="http://schemas.microsoft.com/office/drawing/2016/SVG/main" r:embed="rId5"/>
              </a:ext>
            </a:extLst>
          </a:blip>
          <a:stretch>
            <a:fillRect/>
          </a:stretch>
        </p:blipFill>
        <p:spPr>
          <a:xfrm>
            <a:off x="575733" y="3121951"/>
            <a:ext cx="1573080" cy="1270000"/>
          </a:xfrm>
          <a:prstGeom prst="rect">
            <a:avLst/>
          </a:prstGeom>
        </p:spPr>
      </p:pic>
      <p:sp>
        <p:nvSpPr>
          <p:cNvPr id="9" name="equation"/>
          <p:cNvSpPr txBox="1"/>
          <p:nvPr/>
        </p:nvSpPr>
        <p:spPr>
          <a:xfrm>
            <a:off x="2216547" y="3501099"/>
            <a:ext cx="2179373" cy="511704"/>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568">
                          <a:latin typeface="Cambria Math"/>
                        </a:rPr>
                        <m:t>ω</m:t>
                      </m:r>
                      <m:r>
                        <m:rPr>
                          <m:sty m:val="p"/>
                        </m:rPr>
                        <a:rPr lang="en-US" i="0" sz="1568">
                          <a:latin typeface="Cambria Math"/>
                        </a:rPr>
                        <m:t>=</m:t>
                      </m:r>
                      <m:f>
                        <m:num>
                          <m:r>
                            <m:rPr>
                              <m:sty m:val="p"/>
                            </m:rPr>
                            <a:rPr lang="en-US" i="0" sz="1568">
                              <a:latin typeface="Cambria Math"/>
                            </a:rPr>
                            <m:t>1</m:t>
                          </m:r>
                        </m:num>
                        <m:den>
                          <m:rad>
                            <m:radPr>
                              <m:degHide m:val="1"/>
                            </m:radPr>
                            <m:deg/>
                            <m:e>
                              <m:box>
                                <m:e>
                                  <m:sSub>
                                    <m:e>
                                      <m:r>
                                        <m:rPr>
                                          <m:sty m:val="i"/>
                                        </m:rPr>
                                        <a:rPr lang="en-US" i="1" sz="1568">
                                          <a:latin typeface="Cambria Math"/>
                                        </a:rPr>
                                        <m:t>L</m:t>
                                      </m:r>
                                    </m:e>
                                    <m:sub>
                                      <m:r>
                                        <m:rPr>
                                          <m:sty m:val="i"/>
                                        </m:rPr>
                                        <a:rPr lang="en-US" i="1" sz="1568">
                                          <a:latin typeface="Cambria Math"/>
                                        </a:rPr>
                                        <m:t>J</m:t>
                                      </m:r>
                                    </m:sub>
                                  </m:sSub>
                                  <m:r>
                                    <m:rPr>
                                      <m:sty m:val="i"/>
                                    </m:rPr>
                                    <a:rPr lang="en-US" i="1" sz="1568">
                                      <a:latin typeface="Cambria Math"/>
                                    </a:rPr>
                                    <m:t>C</m:t>
                                  </m:r>
                                </m:e>
                              </m:box>
                            </m:e>
                          </m:rad>
                        </m:den>
                      </m:f>
                      <m:r>
                        <m:rPr>
                          <m:sty m:val="p"/>
                        </m:rPr>
                        <a:rPr lang="en-US" i="0" sz="1568">
                          <a:latin typeface="Cambria Math"/>
                        </a:rPr>
                        <m:t>∝</m:t>
                      </m:r>
                      <m:rad>
                        <m:deg>
                          <m:r>
                            <m:rPr>
                              <m:sty m:val="p"/>
                            </m:rPr>
                            <a:rPr lang="en-US" i="0" sz="1568">
                              <a:latin typeface="Cambria Math"/>
                            </a:rPr>
                            <m:t>4</m:t>
                          </m:r>
                        </m:deg>
                        <m:e>
                          <m:box>
                            <m:e>
                              <m:sSubSup>
                                <m:e>
                                  <m:r>
                                    <m:rPr>
                                      <m:sty m:val="i"/>
                                    </m:rPr>
                                    <a:rPr lang="en-US" i="1" sz="1568">
                                      <a:latin typeface="Cambria Math"/>
                                    </a:rPr>
                                    <m:t>I</m:t>
                                  </m:r>
                                </m:e>
                                <m:sub>
                                  <m:r>
                                    <m:rPr>
                                      <m:sty m:val="i"/>
                                    </m:rPr>
                                    <a:rPr lang="en-US" i="1" sz="1568">
                                      <a:latin typeface="Cambria Math"/>
                                    </a:rPr>
                                    <m:t>c</m:t>
                                  </m:r>
                                </m:sub>
                                <m:sup>
                                  <m:r>
                                    <m:rPr>
                                      <m:sty m:val="p"/>
                                    </m:rPr>
                                    <a:rPr lang="en-US" i="0" sz="1568">
                                      <a:latin typeface="Cambria Math"/>
                                    </a:rPr>
                                    <m:t>2</m:t>
                                  </m:r>
                                </m:sup>
                              </m:sSubSup>
                              <m:r>
                                <m:rPr>
                                  <m:sty m:val="p"/>
                                </m:rPr>
                                <a:rPr lang="en-US" i="0" sz="1568">
                                  <a:latin typeface="Cambria Math"/>
                                </a:rPr>
                                <m:t>−</m:t>
                              </m:r>
                              <m:sSup>
                                <m:e>
                                  <m:r>
                                    <m:rPr>
                                      <m:sty m:val="i"/>
                                    </m:rPr>
                                    <a:rPr lang="en-US" i="1" sz="1568">
                                      <a:latin typeface="Cambria Math"/>
                                    </a:rPr>
                                    <m:t>I</m:t>
                                  </m:r>
                                </m:e>
                                <m:sup>
                                  <m:r>
                                    <m:rPr>
                                      <m:sty m:val="p"/>
                                    </m:rPr>
                                    <a:rPr lang="en-US" i="0" sz="1568">
                                      <a:latin typeface="Cambria Math"/>
                                    </a:rPr>
                                    <m:t>2</m:t>
                                  </m:r>
                                </m:sup>
                              </m:sSup>
                            </m:e>
                          </m:box>
                        </m:e>
                      </m:rad>
                    </m:oMath>
                  </m:oMathPara>
                </a14:m>
              </mc:Choice>
              <mc:Fallback>
                <a:r>
                  <a:rPr lang="en-US" sz="1567" i="1"/>
                  <a:t>\omega=\frac{1}{\sqrt{L_JC}}\propto\sqrt[4]{I_c^2-I^2}</a:t>
                </a:r>
              </mc:Fallback>
            </mc:AlternateContent>
          </a:p>
        </p:txBody>
      </p:sp>
      <p:pic>
        <p:nvPicPr>
          <p:cNvPr id="10" name="Washboard potential and bias circuit" descr="s04-martinis-1985-fig1-washboard.png"/>
          <p:cNvPicPr>
            <a:picLocks noChangeAspect="1"/>
          </p:cNvPicPr>
          <p:nvPr/>
        </p:nvPicPr>
        <p:blipFill>
          <a:blip r:embed="rId6"/>
          <a:stretch>
            <a:fillRect/>
          </a:stretch>
        </p:blipFill>
        <p:spPr>
          <a:xfrm>
            <a:off x="7396091" y="1452827"/>
            <a:ext cx="2979351" cy="1185333"/>
          </a:xfrm>
          <a:prstGeom prst="rect">
            <a:avLst/>
          </a:prstGeom>
        </p:spPr>
      </p:pic>
      <p:sp>
        <p:nvSpPr>
          <p:cNvPr id="11" name="TextBox 10"/>
          <p:cNvSpPr txBox="1"/>
          <p:nvPr/>
        </p:nvSpPr>
        <p:spPr>
          <a:xfrm>
            <a:off x="6155267" y="2672027"/>
            <a:ext cx="5461000" cy="307181"/>
          </a:xfrm>
          <a:prstGeom prst="rect">
            <a:avLst/>
          </a:prstGeom>
          <a:noFill/>
        </p:spPr>
        <p:txBody>
          <a:bodyPr wrap="square" lIns="0" rIns="0" tIns="0" bIns="0" anchor="t">
            <a:noAutofit/>
          </a:bodyPr>
          <a:lstStyle/>
          <a:p>
            <a:pPr algn="l">
              <a:lnSpc>
                <a:spcPts val="1210"/>
              </a:lnSpc>
            </a:pPr>
            <a:r>
              <a:rPr sz="1010" b="1" i="0">
                <a:solidFill>
                  <a:srgbClr val="302840"/>
                </a:solidFill>
                <a:latin typeface="Montserrat"/>
                <a:ea typeface="Montserrat"/>
                <a:cs typeface="Montserrat"/>
              </a:rPr>
              <a:t>(a)</a:t>
            </a:r>
            <a:r>
              <a:rPr sz="1010" b="0" i="0">
                <a:solidFill>
                  <a:srgbClr val="5F5865"/>
                </a:solidFill>
                <a:latin typeface="Montserrat"/>
                <a:ea typeface="Montserrat"/>
                <a:cs typeface="Montserrat"/>
              </a:rPr>
              <a:t> Quantized levels in the washboard potential; </a:t>
            </a:r>
            <a:r>
              <a:rPr sz="1010" b="1" i="0">
                <a:solidFill>
                  <a:srgbClr val="302840"/>
                </a:solidFill>
                <a:latin typeface="Montserrat"/>
                <a:ea typeface="Montserrat"/>
                <a:cs typeface="Montserrat"/>
              </a:rPr>
              <a:t>(b)</a:t>
            </a:r>
            <a:r>
              <a:rPr sz="1010" b="0" i="0">
                <a:solidFill>
                  <a:srgbClr val="5F5865"/>
                </a:solidFill>
                <a:latin typeface="Montserrat"/>
                <a:ea typeface="Montserrat"/>
                <a:cs typeface="Montserrat"/>
              </a:rPr>
              <a:t> bias circuit with microwave drive. Ref. </a:t>
            </a:r>
            <a:r>
              <a:rPr sz="1010" b="0" i="0">
                <a:solidFill>
                  <a:srgbClr val="355C9A"/>
                </a:solidFill>
                <a:latin typeface="Montserrat"/>
                <a:ea typeface="Montserrat"/>
                <a:cs typeface="Montserrat"/>
                <a:hlinkClick r:id="rId7"/>
              </a:rPr>
              <a:t>[3]</a:t>
            </a:r>
            <a:r>
              <a:rPr sz="1010" b="0" i="0">
                <a:solidFill>
                  <a:srgbClr val="5F5865"/>
                </a:solidFill>
                <a:latin typeface="Montserrat"/>
                <a:ea typeface="Montserrat"/>
                <a:cs typeface="Montserrat"/>
              </a:rPr>
              <a:t> </a:t>
            </a:r>
          </a:p>
        </p:txBody>
      </p:sp>
      <p:pic>
        <p:nvPicPr>
          <p:cNvPr id="12" name="Microwave-enhanced escape and level spacings vs bias current" descr="s26-martinis-1985-fig-level-spectroscopy.png"/>
          <p:cNvPicPr>
            <a:picLocks noChangeAspect="1"/>
          </p:cNvPicPr>
          <p:nvPr/>
        </p:nvPicPr>
        <p:blipFill>
          <a:blip r:embed="rId8"/>
          <a:stretch>
            <a:fillRect/>
          </a:stretch>
        </p:blipFill>
        <p:spPr>
          <a:xfrm>
            <a:off x="8147026" y="3038475"/>
            <a:ext cx="1477482" cy="1422400"/>
          </a:xfrm>
          <a:prstGeom prst="rect">
            <a:avLst/>
          </a:prstGeom>
        </p:spPr>
      </p:pic>
      <p:sp>
        <p:nvSpPr>
          <p:cNvPr id="13" name="TextBox 12"/>
          <p:cNvSpPr txBox="1"/>
          <p:nvPr/>
        </p:nvSpPr>
        <p:spPr>
          <a:xfrm>
            <a:off x="6155267" y="4494742"/>
            <a:ext cx="5461000" cy="652330"/>
          </a:xfrm>
          <a:prstGeom prst="rect">
            <a:avLst/>
          </a:prstGeom>
          <a:noFill/>
        </p:spPr>
        <p:txBody>
          <a:bodyPr wrap="square" lIns="0" rIns="0" tIns="0" bIns="0" anchor="t">
            <a:noAutofit/>
          </a:bodyPr>
          <a:lstStyle/>
          <a:p>
            <a:pPr algn="l">
              <a:lnSpc>
                <a:spcPts val="1210"/>
              </a:lnSpc>
            </a:pPr>
            <a:r>
              <a:rPr sz="1010" b="1" i="0">
                <a:solidFill>
                  <a:srgbClr val="302840"/>
                </a:solidFill>
                <a:latin typeface="Montserrat"/>
                <a:ea typeface="Montserrat"/>
                <a:cs typeface="Montserrat"/>
              </a:rPr>
              <a:t>Spectroscopy of the junction levels.</a:t>
            </a:r>
            <a:r>
              <a:rPr sz="1010" b="0" i="0">
                <a:solidFill>
                  <a:srgbClr val="5F5865"/>
                </a:solidFill>
                <a:latin typeface="Montserrat"/>
                <a:ea typeface="Montserrat"/>
                <a:cs typeface="Montserrat"/>
              </a:rPr>
              <a:t> A 2-GHz drive enhances the escape rate when it matches a level spacing (a); the resonant bias currents track the calculated transitions </a:t>
            </a:r>
            <mc:AlternateContent xmlns:mc="http://schemas.openxmlformats.org/markup-compatibility/2006">
              <mc:Choice xmlns:a14="http://schemas.microsoft.com/office/drawing/2010/main" Requires="a14">
                <a14:m>
                  <m:oMath xmlns:m="http://schemas.openxmlformats.org/officeDocument/2006/math">
                    <m:r>
                      <m:rPr>
                        <m:sty m:val="p"/>
                      </m:rPr>
                      <a:rPr lang="en-US" i="0" sz="1200">
                        <a:latin typeface="Cambria Math"/>
                      </a:rPr>
                      <m:t>0</m:t>
                    </m:r>
                    <m:r>
                      <m:rPr>
                        <m:sty m:val="p"/>
                      </m:rPr>
                      <a:rPr lang="en-US" i="0" sz="1200">
                        <a:latin typeface="Cambria Math"/>
                      </a:rPr>
                      <m:t>→</m:t>
                    </m:r>
                    <m:r>
                      <m:rPr>
                        <m:sty m:val="p"/>
                      </m:rPr>
                      <a:rPr lang="en-US" i="0" sz="1200">
                        <a:latin typeface="Cambria Math"/>
                      </a:rPr>
                      <m:t>1</m:t>
                    </m:r>
                  </m:oMath>
                </a14:m>
              </mc:Choice>
              <mc:Fallback>
                <a:r>
                  <a:rPr lang="en-US" sz="1199" i="1"/>
                  <a:t>0\to1</a:t>
                </a:r>
              </mc:Fallback>
            </mc:AlternateContent>
            <a:r>
              <a:rPr sz="1010" b="0" i="0">
                <a:solidFill>
                  <a:srgbClr val="5F5865"/>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r>
                      <m:rPr>
                        <m:sty m:val="p"/>
                      </m:rPr>
                      <a:rPr lang="en-US" i="0" sz="1200">
                        <a:latin typeface="Cambria Math"/>
                      </a:rPr>
                      <m:t>1</m:t>
                    </m:r>
                    <m:r>
                      <m:rPr>
                        <m:sty m:val="p"/>
                      </m:rPr>
                      <a:rPr lang="en-US" i="0" sz="1200">
                        <a:latin typeface="Cambria Math"/>
                      </a:rPr>
                      <m:t>→</m:t>
                    </m:r>
                    <m:r>
                      <m:rPr>
                        <m:sty m:val="p"/>
                      </m:rPr>
                      <a:rPr lang="en-US" i="0" sz="1200">
                        <a:latin typeface="Cambria Math"/>
                      </a:rPr>
                      <m:t>2</m:t>
                    </m:r>
                  </m:oMath>
                </a14:m>
              </mc:Choice>
              <mc:Fallback>
                <a:r>
                  <a:rPr lang="en-US" sz="1199" i="1"/>
                  <a:t>1\to2</a:t>
                </a:r>
              </mc:Fallback>
            </mc:AlternateContent>
            <a:r>
              <a:rPr sz="1010" b="0" i="0">
                <a:solidFill>
                  <a:srgbClr val="5F5865"/>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r>
                      <m:rPr>
                        <m:sty m:val="p"/>
                      </m:rPr>
                      <a:rPr lang="en-US" i="0" sz="1200">
                        <a:latin typeface="Cambria Math"/>
                      </a:rPr>
                      <m:t>2</m:t>
                    </m:r>
                    <m:r>
                      <m:rPr>
                        <m:sty m:val="p"/>
                      </m:rPr>
                      <a:rPr lang="en-US" i="0" sz="1200">
                        <a:latin typeface="Cambria Math"/>
                      </a:rPr>
                      <m:t>→</m:t>
                    </m:r>
                    <m:r>
                      <m:rPr>
                        <m:sty m:val="p"/>
                      </m:rPr>
                      <a:rPr lang="en-US" i="0" sz="1200">
                        <a:latin typeface="Cambria Math"/>
                      </a:rPr>
                      <m:t>3</m:t>
                    </m:r>
                  </m:oMath>
                </a14:m>
              </mc:Choice>
              <mc:Fallback>
                <a:r>
                  <a:rPr lang="en-US" sz="1199" i="1"/>
                  <a:t>2\to3</a:t>
                </a:r>
              </mc:Fallback>
            </mc:AlternateContent>
            <a:r>
              <a:rPr sz="1010" b="0" i="0">
                <a:solidFill>
                  <a:srgbClr val="5F5865"/>
                </a:solidFill>
                <a:latin typeface="Montserrat"/>
                <a:ea typeface="Montserrat"/>
                <a:cs typeface="Montserrat"/>
              </a:rPr>
              <a:t> (b). As </a:t>
            </a:r>
            <mc:AlternateContent xmlns:mc="http://schemas.openxmlformats.org/markup-compatibility/2006">
              <mc:Choice xmlns:a14="http://schemas.microsoft.com/office/drawing/2010/main" Requires="a14">
                <a14:m>
                  <m:oMath xmlns:m="http://schemas.openxmlformats.org/officeDocument/2006/math">
                    <m:r>
                      <m:rPr>
                        <m:sty m:val="i"/>
                      </m:rPr>
                      <a:rPr lang="en-US" i="1" sz="1200">
                        <a:latin typeface="Cambria Math"/>
                      </a:rPr>
                      <m:t>I</m:t>
                    </m:r>
                    <m:r>
                      <m:rPr>
                        <m:sty m:val="p"/>
                      </m:rPr>
                      <a:rPr lang="en-US" i="0" sz="1200">
                        <a:latin typeface="Cambria Math"/>
                      </a:rPr>
                      <m:t>→</m:t>
                    </m:r>
                    <m:sSub>
                      <m:e>
                        <m:r>
                          <m:rPr>
                            <m:sty m:val="i"/>
                          </m:rPr>
                          <a:rPr lang="en-US" i="1" sz="1200">
                            <a:latin typeface="Cambria Math"/>
                          </a:rPr>
                          <m:t>I</m:t>
                        </m:r>
                      </m:e>
                      <m:sub>
                        <m:r>
                          <m:rPr>
                            <m:sty m:val="i"/>
                          </m:rPr>
                          <a:rPr lang="en-US" i="1" sz="1200">
                            <a:latin typeface="Cambria Math"/>
                          </a:rPr>
                          <m:t>c</m:t>
                        </m:r>
                      </m:sub>
                    </m:sSub>
                  </m:oMath>
                </a14:m>
              </mc:Choice>
              <mc:Fallback>
                <a:r>
                  <a:rPr lang="en-US" sz="1199" i="1"/>
                  <a:t>I\to I_c</a:t>
                </a:r>
              </mc:Fallback>
            </mc:AlternateContent>
            <a:r>
              <a:rPr sz="1010" b="0" i="0">
                <a:solidFill>
                  <a:srgbClr val="5F5865"/>
                </a:solidFill>
                <a:latin typeface="Montserrat"/>
                <a:ea typeface="Montserrat"/>
                <a:cs typeface="Montserrat"/>
              </a:rPr>
              <a:t> the spacing shrinks, as </a:t>
            </a:r>
            <mc:AlternateContent xmlns:mc="http://schemas.openxmlformats.org/markup-compatibility/2006">
              <mc:Choice xmlns:a14="http://schemas.microsoft.com/office/drawing/2010/main" Requires="a14">
                <a14:m>
                  <m:oMath xmlns:m="http://schemas.openxmlformats.org/officeDocument/2006/math">
                    <m:r>
                      <m:rPr>
                        <m:sty m:val="i"/>
                      </m:rPr>
                      <a:rPr lang="en-US" i="1" sz="1200">
                        <a:latin typeface="Cambria Math"/>
                      </a:rPr>
                      <m:t>ω</m:t>
                    </m:r>
                    <m:r>
                      <m:rPr>
                        <m:sty m:val="p"/>
                      </m:rPr>
                      <a:rPr lang="en-US" i="0" sz="1200">
                        <a:latin typeface="Cambria Math"/>
                      </a:rPr>
                      <m:t>∝</m:t>
                    </m:r>
                    <m:r>
                      <m:rPr>
                        <m:sty m:val="p"/>
                      </m:rPr>
                      <a:rPr lang="en-US" i="0" sz="1200">
                        <a:latin typeface="Cambria Math"/>
                      </a:rPr>
                      <m:t>(</m:t>
                    </m:r>
                    <m:sSubSup>
                      <m:e>
                        <m:r>
                          <m:rPr>
                            <m:sty m:val="i"/>
                          </m:rPr>
                          <a:rPr lang="en-US" i="1" sz="1200">
                            <a:latin typeface="Cambria Math"/>
                          </a:rPr>
                          <m:t>I</m:t>
                        </m:r>
                      </m:e>
                      <m:sub>
                        <m:r>
                          <m:rPr>
                            <m:sty m:val="i"/>
                          </m:rPr>
                          <a:rPr lang="en-US" i="1" sz="1200">
                            <a:latin typeface="Cambria Math"/>
                          </a:rPr>
                          <m:t>c</m:t>
                        </m:r>
                      </m:sub>
                      <m:sup>
                        <m:r>
                          <m:rPr>
                            <m:sty m:val="p"/>
                          </m:rPr>
                          <a:rPr lang="en-US" i="0" sz="1200">
                            <a:latin typeface="Cambria Math"/>
                          </a:rPr>
                          <m:t>2</m:t>
                        </m:r>
                      </m:sup>
                    </m:sSubSup>
                    <m:r>
                      <m:rPr>
                        <m:sty m:val="p"/>
                      </m:rPr>
                      <a:rPr lang="en-US" i="0" sz="1200">
                        <a:latin typeface="Cambria Math"/>
                      </a:rPr>
                      <m:t>−</m:t>
                    </m:r>
                    <m:sSup>
                      <m:e>
                        <m:r>
                          <m:rPr>
                            <m:sty m:val="i"/>
                          </m:rPr>
                          <a:rPr lang="en-US" i="1" sz="1200">
                            <a:latin typeface="Cambria Math"/>
                          </a:rPr>
                          <m:t>I</m:t>
                        </m:r>
                      </m:e>
                      <m:sup>
                        <m:r>
                          <m:rPr>
                            <m:sty m:val="p"/>
                          </m:rPr>
                          <a:rPr lang="en-US" i="0" sz="1200">
                            <a:latin typeface="Cambria Math"/>
                          </a:rPr>
                          <m:t>2</m:t>
                        </m:r>
                      </m:sup>
                    </m:sSup>
                    <m:sSup>
                      <m:e>
                        <m:r>
                          <m:rPr>
                            <m:sty m:val="p"/>
                          </m:rPr>
                          <a:rPr lang="en-US" i="0" sz="1200">
                            <a:latin typeface="Cambria Math"/>
                          </a:rPr>
                          <m:t>)</m:t>
                        </m:r>
                      </m:e>
                      <m:sup>
                        <m:box>
                          <m:e>
                            <m:r>
                              <m:rPr>
                                <m:sty m:val="p"/>
                              </m:rPr>
                              <a:rPr lang="en-US" i="0" sz="1200">
                                <a:latin typeface="Cambria Math"/>
                              </a:rPr>
                              <m:t>1</m:t>
                            </m:r>
                            <m:box>
                              <m:e>
                                <m:r>
                                  <m:rPr>
                                    <m:sty m:val="p"/>
                                  </m:rPr>
                                  <a:rPr lang="en-US" i="0" sz="1200">
                                    <a:latin typeface="Cambria Math"/>
                                  </a:rPr>
                                  <m:t>/</m:t>
                                </m:r>
                              </m:e>
                            </m:box>
                            <m:r>
                              <m:rPr>
                                <m:sty m:val="p"/>
                              </m:rPr>
                              <a:rPr lang="en-US" i="0" sz="1200">
                                <a:latin typeface="Cambria Math"/>
                              </a:rPr>
                              <m:t>4</m:t>
                            </m:r>
                          </m:e>
                        </m:box>
                      </m:sup>
                    </m:sSup>
                  </m:oMath>
                </a14:m>
              </mc:Choice>
              <mc:Fallback>
                <a:r>
                  <a:rPr lang="en-US" sz="1199" i="1"/>
                  <a:t>\omega\propto(I_c^2-I^2)^{1/4}</a:t>
                </a:r>
              </mc:Fallback>
            </mc:AlternateContent>
            <a:r>
              <a:rPr sz="1010" b="0" i="0">
                <a:solidFill>
                  <a:srgbClr val="5F5865"/>
                </a:solidFill>
                <a:latin typeface="Montserrat"/>
                <a:ea typeface="Montserrat"/>
                <a:cs typeface="Montserrat"/>
              </a:rPr>
              <a:t> predicts. Ref. </a:t>
            </a:r>
            <a:r>
              <a:rPr sz="1010" b="0" i="0">
                <a:solidFill>
                  <a:srgbClr val="355C9A"/>
                </a:solidFill>
                <a:latin typeface="Montserrat"/>
                <a:ea typeface="Montserrat"/>
                <a:cs typeface="Montserrat"/>
                <a:hlinkClick r:id="rId7"/>
              </a:rPr>
              <a:t>[3]</a:t>
            </a:r>
          </a:p>
        </p:txBody>
      </p:sp>
      <p:sp>
        <p:nvSpPr>
          <p:cNvPr id="14" name="Rectangle 13"/>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6" name="TextBox 15"/>
          <p:cNvSpPr txBox="1"/>
          <p:nvPr/>
        </p:nvSpPr>
        <p:spPr>
          <a:xfrm>
            <a:off x="11228123" y="6565900"/>
            <a:ext cx="472810"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34 / 100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913805" y="324115"/>
            <a:ext cx="1787128"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What Is a Superconductor?</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From Spectroscopy to Coherent Control (1997–1999)</a:t>
            </a:r>
          </a:p>
        </p:txBody>
      </p:sp>
      <p:pic>
        <p:nvPicPr>
          <p:cNvPr id="6" name="Nakamura Pashkin Tsai 1999 Figure 1 showing the single-Cooper-pair box micrograp" descr="nakamura-1999-fig1-device-crop.jpg"/>
          <p:cNvPicPr>
            <a:picLocks noChangeAspect="1"/>
          </p:cNvPicPr>
          <p:nvPr/>
        </p:nvPicPr>
        <p:blipFill>
          <a:blip r:embed="rId2"/>
          <a:stretch>
            <a:fillRect/>
          </a:stretch>
        </p:blipFill>
        <p:spPr>
          <a:xfrm>
            <a:off x="1053042" y="1452839"/>
            <a:ext cx="4502150" cy="2285975"/>
          </a:xfrm>
          <a:prstGeom prst="rect">
            <a:avLst/>
          </a:prstGeom>
        </p:spPr>
      </p:pic>
      <p:sp>
        <p:nvSpPr>
          <p:cNvPr id="7" name="TextBox 6"/>
          <p:cNvSpPr txBox="1"/>
          <p:nvPr/>
        </p:nvSpPr>
        <p:spPr>
          <a:xfrm>
            <a:off x="575733" y="3798094"/>
            <a:ext cx="5456767" cy="700617"/>
          </a:xfrm>
          <a:prstGeom prst="rect">
            <a:avLst/>
          </a:prstGeom>
          <a:noFill/>
        </p:spPr>
        <p:txBody>
          <a:bodyPr wrap="square" lIns="0" rIns="0" tIns="0" bIns="0" anchor="t">
            <a:noAutofit/>
          </a:bodyPr>
          <a:lstStyle/>
          <a:p>
            <a:pPr algn="l">
              <a:lnSpc>
                <a:spcPts val="1380"/>
              </a:lnSpc>
            </a:pPr>
            <a:r>
              <a:rPr sz="1080" b="1" i="0">
                <a:solidFill>
                  <a:srgbClr val="302840"/>
                </a:solidFill>
                <a:latin typeface="Montserrat"/>
                <a:ea typeface="Montserrat"/>
                <a:cs typeface="Montserrat"/>
              </a:rPr>
              <a:t>The device is the Hamiltonian.</a:t>
            </a:r>
            <a:r>
              <a:rPr sz="1080" b="0" i="0">
                <a:solidFill>
                  <a:srgbClr val="5F5865"/>
                </a:solidFill>
                <a:latin typeface="Montserrat"/>
                <a:ea typeface="Montserrat"/>
                <a:cs typeface="Montserrat"/>
              </a:rPr>
              <a:t> The island (“box”), Josephson junctions, gates, probe junction, and capacitances are visible in the micrograph and circuit model.</a:t>
            </a:r>
          </a:p>
          <a:p>
            <a:pPr algn="l">
              <a:lnSpc>
                <a:spcPts val="1380"/>
              </a:lnSpc>
            </a:pPr>
            <a:r>
              <a:rPr sz="1080" b="0" i="0">
                <a:solidFill>
                  <a:srgbClr val="5F5865"/>
                </a:solidFill>
                <a:latin typeface="Montserrat"/>
                <a:ea typeface="Montserrat"/>
                <a:cs typeface="Montserrat"/>
              </a:rPr>
              <a:t> Figure 1, Nakamura, Pashkin &amp; Tsai, </a:t>
            </a:r>
            <a:r>
              <a:rPr sz="1080" b="0" i="1">
                <a:solidFill>
                  <a:srgbClr val="5F5865"/>
                </a:solidFill>
                <a:latin typeface="Montserrat"/>
                <a:ea typeface="Montserrat"/>
                <a:cs typeface="Montserrat"/>
              </a:rPr>
              <a:t>Nature</a:t>
            </a:r>
            <a:r>
              <a:rPr sz="1080" b="0" i="0">
                <a:solidFill>
                  <a:srgbClr val="5F5865"/>
                </a:solidFill>
                <a:latin typeface="Montserrat"/>
                <a:ea typeface="Montserrat"/>
                <a:cs typeface="Montserrat"/>
              </a:rPr>
              <a:t> 398, 786 (1999), </a:t>
            </a:r>
            <a:r>
              <a:rPr sz="1080" b="0" i="0">
                <a:solidFill>
                  <a:srgbClr val="355C9A"/>
                </a:solidFill>
                <a:latin typeface="Montserrat"/>
                <a:ea typeface="Montserrat"/>
                <a:cs typeface="Montserrat"/>
                <a:hlinkClick r:id="rId3"/>
              </a:rPr>
              <a:t>DOI</a:t>
            </a:r>
            <a:r>
              <a:rPr sz="1080" b="0" i="0">
                <a:solidFill>
                  <a:srgbClr val="5F5865"/>
                </a:solidFill>
                <a:latin typeface="Montserrat"/>
                <a:ea typeface="Montserrat"/>
                <a:cs typeface="Montserrat"/>
              </a:rPr>
              <a:t>. </a:t>
            </a:r>
          </a:p>
        </p:txBody>
      </p:sp>
      <p:pic>
        <p:nvPicPr>
          <p:cNvPr id="8" name="Nakamura Pashkin Tsai 1999 Figure 4 showing coherent charge oscillations and mic" descr="nakamura-1999-fig4-oscillation-crop.jpg"/>
          <p:cNvPicPr>
            <a:picLocks noChangeAspect="1"/>
          </p:cNvPicPr>
          <p:nvPr/>
        </p:nvPicPr>
        <p:blipFill>
          <a:blip r:embed="rId4"/>
          <a:stretch>
            <a:fillRect/>
          </a:stretch>
        </p:blipFill>
        <p:spPr>
          <a:xfrm>
            <a:off x="7526602" y="1452836"/>
            <a:ext cx="2722562" cy="2285982"/>
          </a:xfrm>
          <a:prstGeom prst="rect">
            <a:avLst/>
          </a:prstGeom>
        </p:spPr>
      </p:pic>
      <p:sp>
        <p:nvSpPr>
          <p:cNvPr id="9" name="TextBox 8"/>
          <p:cNvSpPr txBox="1"/>
          <p:nvPr/>
        </p:nvSpPr>
        <p:spPr>
          <a:xfrm>
            <a:off x="6159500" y="3798094"/>
            <a:ext cx="5456767" cy="875771"/>
          </a:xfrm>
          <a:prstGeom prst="rect">
            <a:avLst/>
          </a:prstGeom>
          <a:noFill/>
        </p:spPr>
        <p:txBody>
          <a:bodyPr wrap="square" lIns="0" rIns="0" tIns="0" bIns="0" anchor="t">
            <a:noAutofit/>
          </a:bodyPr>
          <a:lstStyle/>
          <a:p>
            <a:pPr algn="l">
              <a:lnSpc>
                <a:spcPts val="1380"/>
              </a:lnSpc>
            </a:pPr>
            <a:r>
              <a:rPr sz="1080" b="1" i="0">
                <a:solidFill>
                  <a:srgbClr val="302840"/>
                </a:solidFill>
                <a:latin typeface="Montserrat"/>
                <a:ea typeface="Montserrat"/>
                <a:cs typeface="Montserrat"/>
              </a:rPr>
              <a:t>Time domain agrees with the earlier spectrum.</a:t>
            </a:r>
            <a:r>
              <a:rPr sz="1080" b="0" i="0">
                <a:solidFill>
                  <a:srgbClr val="5F5865"/>
                </a:solidFill>
                <a:latin typeface="Montserrat"/>
                <a:ea typeface="Montserrat"/>
                <a:cs typeface="Montserrat"/>
              </a:rPr>
              <a:t> The main panel resolves coherent charge oscillations versus pulse length. In the inset,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282">
                            <a:latin typeface="Cambria Math"/>
                          </a:rPr>
                          <m:t>E</m:t>
                        </m:r>
                      </m:e>
                      <m:sub>
                        <m:r>
                          <m:rPr>
                            <m:sty m:val="i"/>
                          </m:rPr>
                          <a:rPr lang="en-US" i="1" sz="1282">
                            <a:latin typeface="Cambria Math"/>
                          </a:rPr>
                          <m:t>J</m:t>
                        </m:r>
                      </m:sub>
                    </m:sSub>
                  </m:oMath>
                </a14:m>
              </mc:Choice>
              <mc:Fallback>
                <a:r>
                  <a:rPr lang="en-US" sz="1281" i="1"/>
                  <a:t>E_J</a:t>
                </a:r>
              </mc:Fallback>
            </mc:AlternateContent>
            <a:r>
              <a:rPr sz="1080" b="0" i="0">
                <a:solidFill>
                  <a:srgbClr val="5F5865"/>
                </a:solidFill>
                <a:latin typeface="Montserrat"/>
                <a:ea typeface="Montserrat"/>
                <a:cs typeface="Montserrat"/>
              </a:rPr>
              <a:t> extracted from the oscillation period agrees with microwave spectroscopy—the 1997 Nakamura–C. D. Chen–J. S. Tsai result cited as Ref. 4 in the paper.</a:t>
            </a:r>
          </a:p>
          <a:p>
            <a:pPr algn="l">
              <a:lnSpc>
                <a:spcPts val="1380"/>
              </a:lnSpc>
            </a:pPr>
            <a:r>
              <a:rPr sz="1080" b="0" i="0">
                <a:solidFill>
                  <a:srgbClr val="5F5865"/>
                </a:solidFill>
                <a:latin typeface="Montserrat"/>
                <a:ea typeface="Montserrat"/>
                <a:cs typeface="Montserrat"/>
              </a:rPr>
              <a:t> Figure 4, Nakamura, Pashkin &amp; Tsai (1999).</a:t>
            </a:r>
          </a:p>
        </p:txBody>
      </p:sp>
      <p:sp>
        <p:nvSpPr>
          <p:cNvPr id="10" name="Rectangle 9"/>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2" name="TextBox 11"/>
          <p:cNvSpPr txBox="1"/>
          <p:nvPr/>
        </p:nvSpPr>
        <p:spPr>
          <a:xfrm>
            <a:off x="11240426" y="6565900"/>
            <a:ext cx="460507"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35 / 100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913805" y="324115"/>
            <a:ext cx="1787128"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What Is a Superconductor?</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The Citation Chain Matters</a:t>
            </a:r>
          </a:p>
        </p:txBody>
      </p:sp>
      <p:pic>
        <p:nvPicPr>
          <p:cNvPr id="6" name="Nakamura Pashkin Tsai 1999 Figure 4 with charge oscillations and the earlier spe" descr="nakamura-1999-fig4-oscillation-crop.jpg"/>
          <p:cNvPicPr>
            <a:picLocks noChangeAspect="1"/>
          </p:cNvPicPr>
          <p:nvPr/>
        </p:nvPicPr>
        <p:blipFill>
          <a:blip r:embed="rId2"/>
          <a:stretch>
            <a:fillRect/>
          </a:stretch>
        </p:blipFill>
        <p:spPr>
          <a:xfrm>
            <a:off x="2201995" y="1455351"/>
            <a:ext cx="3176323" cy="2666979"/>
          </a:xfrm>
          <a:prstGeom prst="rect">
            <a:avLst/>
          </a:prstGeom>
        </p:spPr>
      </p:pic>
      <p:sp>
        <p:nvSpPr>
          <p:cNvPr id="7" name="TextBox 6"/>
          <p:cNvSpPr txBox="1"/>
          <p:nvPr/>
        </p:nvSpPr>
        <p:spPr>
          <a:xfrm>
            <a:off x="575733" y="4181607"/>
            <a:ext cx="6428978" cy="700617"/>
          </a:xfrm>
          <a:prstGeom prst="rect">
            <a:avLst/>
          </a:prstGeom>
          <a:noFill/>
        </p:spPr>
        <p:txBody>
          <a:bodyPr wrap="square" lIns="0" rIns="0" tIns="0" bIns="0" anchor="t">
            <a:noAutofit/>
          </a:bodyPr>
          <a:lstStyle/>
          <a:p>
            <a:pPr algn="l">
              <a:lnSpc>
                <a:spcPts val="1380"/>
              </a:lnSpc>
            </a:pPr>
            <a:r>
              <a:rPr sz="1080" b="1" i="0">
                <a:solidFill>
                  <a:srgbClr val="302840"/>
                </a:solidFill>
                <a:latin typeface="Montserrat"/>
                <a:ea typeface="Montserrat"/>
                <a:cs typeface="Montserrat"/>
              </a:rPr>
              <a:t>Why this 1999 panel also points back to Chen.</a:t>
            </a:r>
            <a:r>
              <a:rPr sz="1080" b="0" i="0">
                <a:solidFill>
                  <a:srgbClr val="5F5865"/>
                </a:solidFill>
                <a:latin typeface="Montserrat"/>
                <a:ea typeface="Montserrat"/>
                <a:cs typeface="Montserrat"/>
              </a:rPr>
              <a:t> The main graph is the time-domain oscillation; the inset overlays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282">
                            <a:latin typeface="Cambria Math"/>
                          </a:rPr>
                          <m:t>E</m:t>
                        </m:r>
                      </m:e>
                      <m:sub>
                        <m:r>
                          <m:rPr>
                            <m:sty m:val="i"/>
                          </m:rPr>
                          <a:rPr lang="en-US" i="1" sz="1282">
                            <a:latin typeface="Cambria Math"/>
                          </a:rPr>
                          <m:t>J</m:t>
                        </m:r>
                      </m:sub>
                    </m:sSub>
                  </m:oMath>
                </a14:m>
              </mc:Choice>
              <mc:Fallback>
                <a:r>
                  <a:rPr lang="en-US" sz="1281" i="1"/>
                  <a:t>E_J</a:t>
                </a:r>
              </mc:Fallback>
            </mc:AlternateContent>
            <a:r>
              <a:rPr sz="1080" b="0" i="0">
                <a:solidFill>
                  <a:srgbClr val="5F5865"/>
                </a:solidFill>
                <a:latin typeface="Montserrat"/>
                <a:ea typeface="Montserrat"/>
                <a:cs typeface="Montserrat"/>
              </a:rPr>
              <a:t> inferred from it with microwave-spectroscopy data cited as Ref. 4—the 1997 Nakamura–C. D. Chen–J. S. Tsai paper. Figure 4, Nakamura, Pashkin &amp; Tsai, </a:t>
            </a:r>
            <a:r>
              <a:rPr sz="1080" b="0" i="1">
                <a:solidFill>
                  <a:srgbClr val="5F5865"/>
                </a:solidFill>
                <a:latin typeface="Montserrat"/>
                <a:ea typeface="Montserrat"/>
                <a:cs typeface="Montserrat"/>
              </a:rPr>
              <a:t>Nature</a:t>
            </a:r>
            <a:r>
              <a:rPr sz="1080" b="0" i="0">
                <a:solidFill>
                  <a:srgbClr val="5F5865"/>
                </a:solidFill>
                <a:latin typeface="Montserrat"/>
                <a:ea typeface="Montserrat"/>
                <a:cs typeface="Montserrat"/>
              </a:rPr>
              <a:t> 398, 786 (1999), </a:t>
            </a:r>
            <a:r>
              <a:rPr sz="1080" b="0" i="0">
                <a:solidFill>
                  <a:srgbClr val="355C9A"/>
                </a:solidFill>
                <a:latin typeface="Montserrat"/>
                <a:ea typeface="Montserrat"/>
                <a:cs typeface="Montserrat"/>
                <a:hlinkClick r:id="rId3"/>
              </a:rPr>
              <a:t>DOI</a:t>
            </a:r>
            <a:r>
              <a:rPr sz="1080" b="0" i="0">
                <a:solidFill>
                  <a:srgbClr val="5F5865"/>
                </a:solidFill>
                <a:latin typeface="Montserrat"/>
                <a:ea typeface="Montserrat"/>
                <a:cs typeface="Montserrat"/>
              </a:rPr>
              <a:t>. </a:t>
            </a:r>
          </a:p>
        </p:txBody>
      </p:sp>
      <p:sp>
        <p:nvSpPr>
          <p:cNvPr id="8" name="Rounded Rectangle 7"/>
          <p:cNvSpPr/>
          <p:nvPr/>
        </p:nvSpPr>
        <p:spPr>
          <a:xfrm>
            <a:off x="7148645" y="1452827"/>
            <a:ext cx="4467490" cy="1146836"/>
          </a:xfrm>
          <a:prstGeom prst="roundRect">
            <a:avLst>
              <a:gd name="adj" fmla="val 7382"/>
            </a:avLst>
          </a:prstGeom>
          <a:solidFill>
            <a:srgbClr val="FB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148645" y="1452827"/>
            <a:ext cx="4467490" cy="33867"/>
          </a:xfrm>
          <a:prstGeom prst="rect">
            <a:avLst/>
          </a:prstGeom>
          <a:solidFill>
            <a:srgbClr val="5F4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607668" y="1452827"/>
            <a:ext cx="8467" cy="1146836"/>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48645" y="2591197"/>
            <a:ext cx="4467490" cy="8467"/>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48645" y="1452827"/>
            <a:ext cx="8467" cy="1146836"/>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92578" y="1605227"/>
            <a:ext cx="4179623" cy="226483"/>
          </a:xfrm>
          <a:prstGeom prst="rect">
            <a:avLst/>
          </a:prstGeom>
          <a:noFill/>
        </p:spPr>
        <p:txBody>
          <a:bodyPr wrap="none" lIns="0" rIns="0" tIns="0" bIns="0" anchor="t">
            <a:noAutofit/>
          </a:bodyPr>
          <a:lstStyle/>
          <a:p>
            <a:pPr algn="l">
              <a:lnSpc>
                <a:spcPts val="1780"/>
              </a:lnSpc>
            </a:pPr>
            <a:r>
              <a:rPr sz="1370" b="0" i="0">
                <a:solidFill>
                  <a:srgbClr val="302840"/>
                </a:solidFill>
                <a:latin typeface="Montserrat"/>
                <a:ea typeface="Montserrat"/>
                <a:cs typeface="Montserrat"/>
              </a:rPr>
              <a:t>1997 · frequency domain</a:t>
            </a:r>
          </a:p>
        </p:txBody>
      </p:sp>
      <p:sp>
        <p:nvSpPr>
          <p:cNvPr id="14" name="TextBox 13"/>
          <p:cNvSpPr txBox="1"/>
          <p:nvPr/>
        </p:nvSpPr>
        <p:spPr>
          <a:xfrm>
            <a:off x="7292578" y="1882510"/>
            <a:ext cx="4179623" cy="590153"/>
          </a:xfrm>
          <a:prstGeom prst="rect">
            <a:avLst/>
          </a:prstGeom>
          <a:noFill/>
        </p:spPr>
        <p:txBody>
          <a:bodyPr wrap="square" lIns="0" rIns="0" tIns="0" bIns="0" anchor="t">
            <a:noAutofit/>
          </a:bodyPr>
          <a:lstStyle/>
          <a:p>
            <a:pPr algn="l">
              <a:lnSpc>
                <a:spcPts val="1550"/>
              </a:lnSpc>
            </a:pPr>
            <a:r>
              <a:rPr sz="1150" b="0" i="0">
                <a:solidFill>
                  <a:srgbClr val="4F4C56"/>
                </a:solidFill>
                <a:latin typeface="Montserrat"/>
                <a:ea typeface="Montserrat"/>
                <a:cs typeface="Montserrat"/>
              </a:rPr>
              <a:t>Nakamura, C. D. Chen &amp; J. S. Tsai observed Josephson-induced level splitting between coherently superposed macroscopic charge states, </a:t>
            </a:r>
            <a:r>
              <a:rPr sz="1150" b="0" i="1">
                <a:solidFill>
                  <a:srgbClr val="355C9A"/>
                </a:solidFill>
                <a:latin typeface="Montserrat"/>
                <a:ea typeface="Montserrat"/>
                <a:cs typeface="Montserrat"/>
                <a:hlinkClick r:id="rId4"/>
              </a:rPr>
              <a:t>PRL</a:t>
            </a:r>
            <a:r>
              <a:rPr sz="1150" b="0" i="0">
                <a:solidFill>
                  <a:srgbClr val="355C9A"/>
                </a:solidFill>
                <a:latin typeface="Montserrat"/>
                <a:ea typeface="Montserrat"/>
                <a:cs typeface="Montserrat"/>
                <a:hlinkClick r:id="rId4"/>
              </a:rPr>
              <a:t> 79, 2328</a:t>
            </a:r>
            <a:r>
              <a:rPr sz="1150" b="0" i="0">
                <a:solidFill>
                  <a:srgbClr val="4F4C56"/>
                </a:solidFill>
                <a:latin typeface="Montserrat"/>
                <a:ea typeface="Montserrat"/>
                <a:cs typeface="Montserrat"/>
              </a:rPr>
              <a:t>. </a:t>
            </a:r>
          </a:p>
        </p:txBody>
      </p:sp>
      <p:sp>
        <p:nvSpPr>
          <p:cNvPr id="15" name="Rounded Rectangle 14"/>
          <p:cNvSpPr/>
          <p:nvPr/>
        </p:nvSpPr>
        <p:spPr>
          <a:xfrm>
            <a:off x="7148645" y="2684330"/>
            <a:ext cx="4467490" cy="1146836"/>
          </a:xfrm>
          <a:prstGeom prst="roundRect">
            <a:avLst>
              <a:gd name="adj" fmla="val 7382"/>
            </a:avLst>
          </a:prstGeom>
          <a:solidFill>
            <a:srgbClr val="FB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7148645" y="2684330"/>
            <a:ext cx="4467490" cy="33867"/>
          </a:xfrm>
          <a:prstGeom prst="rect">
            <a:avLst/>
          </a:prstGeom>
          <a:solidFill>
            <a:srgbClr val="5F4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607668" y="2684330"/>
            <a:ext cx="8467" cy="1146836"/>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48645" y="3822700"/>
            <a:ext cx="4467490" cy="8467"/>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48645" y="2684330"/>
            <a:ext cx="8467" cy="1146836"/>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92578" y="2836730"/>
            <a:ext cx="4179623" cy="226483"/>
          </a:xfrm>
          <a:prstGeom prst="rect">
            <a:avLst/>
          </a:prstGeom>
          <a:noFill/>
        </p:spPr>
        <p:txBody>
          <a:bodyPr wrap="none" lIns="0" rIns="0" tIns="0" bIns="0" anchor="t">
            <a:noAutofit/>
          </a:bodyPr>
          <a:lstStyle/>
          <a:p>
            <a:pPr algn="l">
              <a:lnSpc>
                <a:spcPts val="1780"/>
              </a:lnSpc>
            </a:pPr>
            <a:r>
              <a:rPr sz="1370" b="0" i="0">
                <a:solidFill>
                  <a:srgbClr val="302840"/>
                </a:solidFill>
                <a:latin typeface="Montserrat"/>
                <a:ea typeface="Montserrat"/>
                <a:cs typeface="Montserrat"/>
              </a:rPr>
              <a:t>1999 · time domain</a:t>
            </a:r>
          </a:p>
        </p:txBody>
      </p:sp>
      <p:sp>
        <p:nvSpPr>
          <p:cNvPr id="21" name="TextBox 20"/>
          <p:cNvSpPr txBox="1"/>
          <p:nvPr/>
        </p:nvSpPr>
        <p:spPr>
          <a:xfrm>
            <a:off x="7292578" y="3114014"/>
            <a:ext cx="4179623" cy="590153"/>
          </a:xfrm>
          <a:prstGeom prst="rect">
            <a:avLst/>
          </a:prstGeom>
          <a:noFill/>
        </p:spPr>
        <p:txBody>
          <a:bodyPr wrap="square" lIns="0" rIns="0" tIns="0" bIns="0" anchor="t">
            <a:noAutofit/>
          </a:bodyPr>
          <a:lstStyle/>
          <a:p>
            <a:pPr algn="l">
              <a:lnSpc>
                <a:spcPts val="1550"/>
              </a:lnSpc>
            </a:pPr>
            <a:r>
              <a:rPr sz="1150" b="0" i="0">
                <a:solidFill>
                  <a:srgbClr val="4F4C56"/>
                </a:solidFill>
                <a:latin typeface="Montserrat"/>
                <a:ea typeface="Montserrat"/>
                <a:cs typeface="Montserrat"/>
              </a:rPr>
              <a:t>Nakamura, Pashkin &amp; Tsai used fast gate pulses to drive and read out coherent oscillations of a single-Cooper-pair box, </a:t>
            </a:r>
            <a:r>
              <a:rPr sz="1150" b="0" i="1">
                <a:solidFill>
                  <a:srgbClr val="355C9A"/>
                </a:solidFill>
                <a:latin typeface="Montserrat"/>
                <a:ea typeface="Montserrat"/>
                <a:cs typeface="Montserrat"/>
                <a:hlinkClick r:id="rId3"/>
              </a:rPr>
              <a:t>Nature</a:t>
            </a:r>
            <a:r>
              <a:rPr sz="1150" b="0" i="0">
                <a:solidFill>
                  <a:srgbClr val="355C9A"/>
                </a:solidFill>
                <a:latin typeface="Montserrat"/>
                <a:ea typeface="Montserrat"/>
                <a:cs typeface="Montserrat"/>
                <a:hlinkClick r:id="rId3"/>
              </a:rPr>
              <a:t> 398, 786</a:t>
            </a:r>
            <a:r>
              <a:rPr sz="1150" b="0" i="0">
                <a:solidFill>
                  <a:srgbClr val="4F4C56"/>
                </a:solidFill>
                <a:latin typeface="Montserrat"/>
                <a:ea typeface="Montserrat"/>
                <a:cs typeface="Montserrat"/>
              </a:rPr>
              <a:t>. </a:t>
            </a:r>
          </a:p>
        </p:txBody>
      </p:sp>
      <p:sp>
        <p:nvSpPr>
          <p:cNvPr id="22" name="TextBox 21"/>
          <p:cNvSpPr txBox="1"/>
          <p:nvPr/>
        </p:nvSpPr>
        <p:spPr>
          <a:xfrm>
            <a:off x="7148645" y="3831167"/>
            <a:ext cx="4467490" cy="918104"/>
          </a:xfrm>
          <a:prstGeom prst="rect">
            <a:avLst/>
          </a:prstGeom>
          <a:noFill/>
        </p:spPr>
        <p:txBody>
          <a:bodyPr wrap="square" lIns="0" rIns="0" tIns="0" bIns="0" anchor="t">
            <a:noAutofit/>
          </a:bodyPr>
          <a:lstStyle/>
          <a:p>
            <a:pPr algn="l">
              <a:lnSpc>
                <a:spcPts val="1810"/>
              </a:lnSpc>
            </a:pPr>
            <a:r>
              <a:rPr sz="1190" b="1" i="0">
                <a:solidFill>
                  <a:srgbClr val="4F4C56"/>
                </a:solidFill>
                <a:latin typeface="Montserrat"/>
                <a:ea typeface="Montserrat"/>
                <a:cs typeface="Montserrat"/>
              </a:rPr>
              <a:t>Historical distinction:</a:t>
            </a:r>
            <a:r>
              <a:rPr sz="1190" b="0" i="0">
                <a:solidFill>
                  <a:srgbClr val="4F4C56"/>
                </a:solidFill>
                <a:latin typeface="Montserrat"/>
                <a:ea typeface="Montserrat"/>
                <a:cs typeface="Montserrat"/>
              </a:rPr>
              <a:t> these charge-qubit papers are not the 2025 Nobel-winning experiments. They convert quantised Josephson-circuit physics into a controllable computational two-level system.</a:t>
            </a:r>
          </a:p>
        </p:txBody>
      </p:sp>
      <p:sp>
        <p:nvSpPr>
          <p:cNvPr id="23" name="Rectangle 22"/>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25" name="TextBox 24"/>
          <p:cNvSpPr txBox="1"/>
          <p:nvPr/>
        </p:nvSpPr>
        <p:spPr>
          <a:xfrm>
            <a:off x="11234208" y="6565900"/>
            <a:ext cx="466725"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36 / 100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s-000.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FFFFFF"/>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FFFFFF"/>
                </a:solidFill>
                <a:latin typeface="Montserrat"/>
                <a:ea typeface="Montserrat"/>
                <a:cs typeface="Montserrat"/>
              </a:rPr>
              <a:t>Opening: What Are Artificial Atoms?</a:t>
            </a:r>
          </a:p>
        </p:txBody>
      </p:sp>
      <p:sp>
        <p:nvSpPr>
          <p:cNvPr id="5" name="TextBox 4"/>
          <p:cNvSpPr txBox="1"/>
          <p:nvPr/>
        </p:nvSpPr>
        <p:spPr>
          <a:xfrm>
            <a:off x="1016000" y="3230166"/>
            <a:ext cx="10160000" cy="549936"/>
          </a:xfrm>
          <a:prstGeom prst="rect">
            <a:avLst/>
          </a:prstGeom>
          <a:noFill/>
        </p:spPr>
        <p:txBody>
          <a:bodyPr wrap="none" lIns="0" rIns="0" tIns="0" bIns="0" anchor="t">
            <a:noAutofit/>
          </a:bodyPr>
          <a:lstStyle/>
          <a:p>
            <a:pPr algn="ctr">
              <a:lnSpc>
                <a:spcPts val="4330"/>
              </a:lnSpc>
            </a:pPr>
            <a:r>
              <a:rPr sz="3870" b="1" i="0" spc="-97">
                <a:solidFill>
                  <a:srgbClr val="FFFFFF"/>
                </a:solidFill>
                <a:latin typeface="Montserrat"/>
                <a:ea typeface="Montserrat"/>
                <a:cs typeface="Montserrat"/>
              </a:rPr>
              <a:t>Opening: What Are Artificial Atoms?</a:t>
            </a:r>
          </a:p>
        </p:txBody>
      </p:sp>
      <p:sp>
        <p:nvSpPr>
          <p:cNvPr id="6" name="Rectangle 5"/>
          <p:cNvSpPr/>
          <p:nvPr/>
        </p:nvSpPr>
        <p:spPr>
          <a:xfrm>
            <a:off x="491067" y="6434667"/>
            <a:ext cx="11209867" cy="8467"/>
          </a:xfrm>
          <a:prstGeom prst="rect">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FFFFFF"/>
                </a:solidFill>
                <a:latin typeface="Montserrat"/>
                <a:ea typeface="Montserrat"/>
                <a:cs typeface="Montserrat"/>
              </a:rPr>
              <a:t>Manual slide source</a:t>
            </a:r>
          </a:p>
        </p:txBody>
      </p:sp>
      <p:sp>
        <p:nvSpPr>
          <p:cNvPr id="8" name="TextBox 7"/>
          <p:cNvSpPr txBox="1"/>
          <p:nvPr/>
        </p:nvSpPr>
        <p:spPr>
          <a:xfrm>
            <a:off x="11237251" y="6565900"/>
            <a:ext cx="463682" cy="169333"/>
          </a:xfrm>
          <a:prstGeom prst="rect">
            <a:avLst/>
          </a:prstGeom>
          <a:noFill/>
        </p:spPr>
        <p:txBody>
          <a:bodyPr wrap="none" lIns="0" rIns="0" tIns="0" bIns="0" anchor="t">
            <a:noAutofit/>
          </a:bodyPr>
          <a:lstStyle/>
          <a:p>
            <a:pPr algn="l">
              <a:lnSpc>
                <a:spcPts val="1330"/>
              </a:lnSpc>
            </a:pPr>
            <a:r>
              <a:rPr sz="930" b="1" i="0">
                <a:solidFill>
                  <a:srgbClr val="FFFFFF"/>
                </a:solidFill>
                <a:latin typeface="Montserrat"/>
                <a:ea typeface="Montserrat"/>
                <a:cs typeface="Montserrat"/>
              </a:rPr>
              <a:t>37 / 100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Properties of the transmon</a:t>
            </a:r>
          </a:p>
        </p:txBody>
      </p:sp>
      <p:sp>
        <p:nvSpPr>
          <p:cNvPr id="6" name="TextBox 5"/>
          <p:cNvSpPr txBox="1"/>
          <p:nvPr/>
        </p:nvSpPr>
        <p:spPr>
          <a:xfrm>
            <a:off x="575733" y="1478227"/>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The current mainstream superconducting qubit</a:t>
            </a:r>
          </a:p>
        </p:txBody>
      </p:sp>
      <p:sp>
        <p:nvSpPr>
          <p:cNvPr id="7" name="TextBox 6"/>
          <p:cNvSpPr txBox="1"/>
          <p:nvPr/>
        </p:nvSpPr>
        <p:spPr>
          <a:xfrm>
            <a:off x="575733" y="1854994"/>
            <a:ext cx="11040533"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The transmon is an </a:t>
            </a:r>
            <a:r>
              <a:rPr sz="1400" b="1" i="0">
                <a:solidFill>
                  <a:srgbClr val="4F4C56"/>
                </a:solidFill>
                <a:latin typeface="Montserrat"/>
                <a:ea typeface="Montserrat"/>
                <a:cs typeface="Montserrat"/>
              </a:rPr>
              <a:t>artificial atom</a:t>
            </a:r>
            <a:r>
              <a:rPr sz="1400" b="0" i="0">
                <a:solidFill>
                  <a:srgbClr val="4F4C56"/>
                </a:solidFill>
                <a:latin typeface="Montserrat"/>
                <a:ea typeface="Montserrat"/>
                <a:cs typeface="Montserrat"/>
              </a:rPr>
              <a:t>: instead of an electron bound to a nucleus, it is a circuit made of a </a:t>
            </a:r>
            <a:r>
              <a:rPr sz="1400" b="1" i="0">
                <a:solidFill>
                  <a:srgbClr val="4F4C56"/>
                </a:solidFill>
                <a:latin typeface="Montserrat"/>
                <a:ea typeface="Montserrat"/>
                <a:cs typeface="Montserrat"/>
              </a:rPr>
              <a:t>Josephson junction</a:t>
            </a:r>
            <a:r>
              <a:rPr sz="1400" b="0" i="0">
                <a:solidFill>
                  <a:srgbClr val="4F4C56"/>
                </a:solidFill>
                <a:latin typeface="Montserrat"/>
                <a:ea typeface="Montserrat"/>
                <a:cs typeface="Montserrat"/>
              </a:rPr>
              <a:t> (a nonlinear inductance) shunted by a </a:t>
            </a:r>
            <a:r>
              <a:rPr sz="1400" b="1" i="0">
                <a:solidFill>
                  <a:srgbClr val="4F4C56"/>
                </a:solidFill>
                <a:latin typeface="Montserrat"/>
                <a:ea typeface="Montserrat"/>
                <a:cs typeface="Montserrat"/>
              </a:rPr>
              <a:t>large capacitor</a:t>
            </a:r>
            <a:r>
              <a:rPr sz="1400" b="0" i="0">
                <a:solidFill>
                  <a:srgbClr val="4F4C56"/>
                </a:solidFill>
                <a:latin typeface="Montserrat"/>
                <a:ea typeface="Montserrat"/>
                <a:cs typeface="Montserrat"/>
              </a:rPr>
              <a:t>. Its energy levels are quantized like a real atom, but can be engineered by choosing the circuit values—the idea developed throughout this module. </a:t>
            </a:r>
          </a:p>
        </p:txBody>
      </p:sp>
      <p:pic>
        <p:nvPicPr>
          <p:cNvPr id="8" name="Circuit diagrams of single-JJ, symmetric-SQUID, and asymmetric-SQUID transmons" descr="Transmon.png">
            <a:hlinkClick r:id="rId3"/>
          </p:cNvPr>
          <p:cNvPicPr>
            <a:picLocks noChangeAspect="1"/>
          </p:cNvPicPr>
          <p:nvPr/>
        </p:nvPicPr>
        <p:blipFill>
          <a:blip r:embed="rId2"/>
          <a:stretch>
            <a:fillRect/>
          </a:stretch>
        </p:blipFill>
        <p:spPr>
          <a:xfrm>
            <a:off x="2984500" y="2800879"/>
            <a:ext cx="6223000" cy="1854200"/>
          </a:xfrm>
          <a:prstGeom prst="rect">
            <a:avLst/>
          </a:prstGeom>
        </p:spPr>
      </p:pic>
      <p:sp>
        <p:nvSpPr>
          <p:cNvPr id="9" name="Rectangle 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1" name="TextBox 10"/>
          <p:cNvSpPr txBox="1"/>
          <p:nvPr/>
        </p:nvSpPr>
        <p:spPr>
          <a:xfrm>
            <a:off x="11231562" y="6565900"/>
            <a:ext cx="469371"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38 / 100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pic>
        <p:nvPicPr>
          <p:cNvPr id="5" name="Potential curves and quantum energy-level diagrams" descr="Transmon state.png">
            <a:hlinkClick r:id="rId3"/>
          </p:cNvPr>
          <p:cNvPicPr>
            <a:picLocks noChangeAspect="1"/>
          </p:cNvPicPr>
          <p:nvPr/>
        </p:nvPicPr>
        <p:blipFill>
          <a:blip r:embed="rId2"/>
          <a:stretch>
            <a:fillRect/>
          </a:stretch>
        </p:blipFill>
        <p:spPr>
          <a:xfrm>
            <a:off x="4352396" y="863635"/>
            <a:ext cx="3487208" cy="3301930"/>
          </a:xfrm>
          <a:prstGeom prst="rect">
            <a:avLst/>
          </a:prstGeom>
        </p:spPr>
      </p:pic>
      <p:sp>
        <p:nvSpPr>
          <p:cNvPr id="6" name="TextBox 5"/>
          <p:cNvSpPr txBox="1"/>
          <p:nvPr/>
        </p:nvSpPr>
        <p:spPr>
          <a:xfrm>
            <a:off x="575733" y="4165600"/>
            <a:ext cx="11040533" cy="810419"/>
          </a:xfrm>
          <a:prstGeom prst="rect">
            <a:avLst/>
          </a:prstGeom>
          <a:noFill/>
        </p:spPr>
        <p:txBody>
          <a:bodyPr wrap="square" lIns="0" rIns="0" tIns="0" bIns="0" anchor="t">
            <a:noAutofit/>
          </a:bodyPr>
          <a:lstStyle/>
          <a:p>
            <a:pPr algn="l">
              <a:lnSpc>
                <a:spcPts val="2130"/>
              </a:lnSpc>
            </a:pPr>
            <a:r>
              <a:rPr sz="1400" b="1" i="0">
                <a:solidFill>
                  <a:srgbClr val="4F4C56"/>
                </a:solidFill>
                <a:latin typeface="Montserrat"/>
                <a:ea typeface="Montserrat"/>
                <a:cs typeface="Montserrat"/>
              </a:rPr>
              <a:t>▲</a:t>
            </a:r>
            <a:r>
              <a:rPr sz="1400" b="0" i="0">
                <a:solidFill>
                  <a:srgbClr val="4F4C56"/>
                </a:solidFill>
                <a:latin typeface="Montserrat"/>
                <a:ea typeface="Montserrat"/>
                <a:cs typeface="Montserrat"/>
              </a:rPr>
              <a:t> Potential-energy curves and the quantized energy levels of the transmon. The spacing between adjacent levels is not equal (anharmonicity), so the transition between the ground state and the first excited state can be addressed independently of the higher levels. </a:t>
            </a:r>
          </a:p>
        </p:txBody>
      </p:sp>
      <p:sp>
        <p:nvSpPr>
          <p:cNvPr id="7" name="TextBox 6"/>
          <p:cNvSpPr txBox="1"/>
          <p:nvPr/>
        </p:nvSpPr>
        <p:spPr>
          <a:xfrm>
            <a:off x="575733" y="5111485"/>
            <a:ext cx="11040533" cy="540279"/>
          </a:xfrm>
          <a:prstGeom prst="rect">
            <a:avLst/>
          </a:prstGeom>
          <a:noFill/>
        </p:spPr>
        <p:txBody>
          <a:bodyPr wrap="square" lIns="0" rIns="0" tIns="0" bIns="0" anchor="t">
            <a:noAutofit/>
          </a:bodyPr>
          <a:lstStyle/>
          <a:p>
            <a:pPr algn="l">
              <a:lnSpc>
                <a:spcPts val="2130"/>
              </a:lnSpc>
            </a:pPr>
            <a:r>
              <a:rPr sz="980" b="0" i="0">
                <a:solidFill>
                  <a:srgbClr val="4F4C56"/>
                </a:solidFill>
                <a:latin typeface="Montserrat"/>
                <a:ea typeface="Montserrat"/>
                <a:cs typeface="Montserrat"/>
              </a:rPr>
              <a:t>Ref: DOI:10.48550/arXiv.2203.04164</a:t>
            </a:r>
          </a:p>
          <a:p>
            <a:pPr algn="l">
              <a:lnSpc>
                <a:spcPts val="2130"/>
              </a:lnSpc>
            </a:pPr>
          </a:p>
          <a:p>
            <a:pPr algn="l">
              <a:lnSpc>
                <a:spcPts val="2130"/>
              </a:lnSpc>
            </a:pPr>
            <a:r>
              <a:rPr sz="1400" b="0" i="0">
                <a:solidFill>
                  <a:srgbClr val="4F4C56"/>
                </a:solidFill>
                <a:latin typeface="Montserrat"/>
                <a:ea typeface="Montserrat"/>
                <a:cs typeface="Montserrat"/>
              </a:rPr>
              <a:t> </a:t>
            </a:r>
          </a:p>
        </p:txBody>
      </p:sp>
      <p:sp>
        <p:nvSpPr>
          <p:cNvPr id="8" name="Rectangle 7"/>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0" name="TextBox 9"/>
          <p:cNvSpPr txBox="1"/>
          <p:nvPr/>
        </p:nvSpPr>
        <p:spPr>
          <a:xfrm>
            <a:off x="11234208" y="6565900"/>
            <a:ext cx="466725"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39 / 100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873654"/>
          </a:xfrm>
          <a:prstGeom prst="rect">
            <a:avLst/>
          </a:prstGeom>
          <a:noFill/>
        </p:spPr>
        <p:txBody>
          <a:bodyPr wrap="square" lIns="0" rIns="0" tIns="0" bIns="0" anchor="t">
            <a:noAutofit/>
          </a:bodyPr>
          <a:lstStyle/>
          <a:p>
            <a:pPr algn="l">
              <a:lnSpc>
                <a:spcPts val="3440"/>
              </a:lnSpc>
            </a:pPr>
            <a:r>
              <a:rPr sz="2870" b="1" i="0">
                <a:solidFill>
                  <a:srgbClr val="22232A"/>
                </a:solidFill>
                <a:latin typeface="Montserrat"/>
                <a:ea typeface="Montserrat"/>
                <a:cs typeface="Montserrat"/>
              </a:rPr>
              <a:t>Question 1: Why Can a Macroscopic Circuit Have Quantum Energy Levels?</a:t>
            </a:r>
          </a:p>
        </p:txBody>
      </p:sp>
      <p:sp>
        <p:nvSpPr>
          <p:cNvPr id="6" name="TextBox 5"/>
          <p:cNvSpPr txBox="1"/>
          <p:nvPr/>
        </p:nvSpPr>
        <p:spPr>
          <a:xfrm>
            <a:off x="575733" y="1889654"/>
            <a:ext cx="11040533" cy="1080558"/>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“Macroscopic” does not mean “necessarily classical.” Cooper pairs in a superconductor form a condensate with a shared phase. At low temperature, with low loss and a controlled electromagnetic environment, collective circuit modes can retain quantum coherence long enough to be useful. What is quantized is not the position of an individual electron, but the charge, flux, and phase degrees of freedom of the circuit mode as a whole. </a:t>
            </a:r>
          </a:p>
        </p:txBody>
      </p:sp>
      <p:sp>
        <p:nvSpPr>
          <p:cNvPr id="7" name="TextBox 6"/>
          <p:cNvSpPr txBox="1"/>
          <p:nvPr/>
        </p:nvSpPr>
        <p:spPr>
          <a:xfrm>
            <a:off x="575733" y="3148012"/>
            <a:ext cx="11040533" cy="550333"/>
          </a:xfrm>
          <a:prstGeom prst="rect">
            <a:avLst/>
          </a:prstGeom>
          <a:noFill/>
        </p:spPr>
        <p:txBody>
          <a:bodyPr wrap="square" lIns="0" rIns="0" tIns="0" bIns="0" anchor="t">
            <a:noAutofit/>
          </a:bodyPr>
          <a:lstStyle/>
          <a:p>
            <a:pPr algn="l">
              <a:lnSpc>
                <a:spcPts val="2170"/>
              </a:lnSpc>
            </a:pPr>
            <a:r>
              <a:rPr sz="1670" b="0" i="0">
                <a:solidFill>
                  <a:srgbClr val="302546"/>
                </a:solidFill>
                <a:latin typeface="Montserrat"/>
                <a:ea typeface="Montserrat"/>
                <a:cs typeface="Montserrat"/>
              </a:rPr>
              <a:t>First Correct a Common Misconception: Many Particles Do Not Necessarily Mean Many Degrees of Freedom </a:t>
            </a:r>
          </a:p>
        </p:txBody>
      </p:sp>
      <p:sp>
        <p:nvSpPr>
          <p:cNvPr id="8" name="TextBox 7"/>
          <p:cNvSpPr txBox="1"/>
          <p:nvPr/>
        </p:nvSpPr>
        <p:spPr>
          <a:xfrm>
            <a:off x="575733" y="3799946"/>
            <a:ext cx="11040533"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A piece of superconducting metal certainly contains an enormous number of electrons, but at low energy we do not need to track them individually. The electrons first form Cooper pairs and then condense into a many-body quantum state with long-range phase coherence. It can be represented by a macroscopic order parameter: </a:t>
            </a:r>
          </a:p>
        </p:txBody>
      </p:sp>
      <p:sp>
        <p:nvSpPr>
          <p:cNvPr id="9" name="equation"/>
          <p:cNvSpPr txBox="1"/>
          <p:nvPr/>
        </p:nvSpPr>
        <p:spPr>
          <a:xfrm>
            <a:off x="575733" y="4762765"/>
            <a:ext cx="11040533" cy="372269"/>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568">
                          <a:latin typeface="Cambria Math"/>
                        </a:rPr>
                        <m:t>Ψ</m:t>
                      </m:r>
                      <m:r>
                        <m:rPr>
                          <m:sty m:val="p"/>
                        </m:rPr>
                        <a:rPr lang="en-US" i="0" sz="1568">
                          <a:latin typeface="Cambria Math"/>
                        </a:rPr>
                        <m:t>(</m:t>
                      </m:r>
                      <m:box>
                        <m:e>
                          <m:r>
                            <m:rPr>
                              <m:sty m:val="b"/>
                            </m:rPr>
                            <a:rPr lang="en-US" i="1" sz="1568">
                              <a:latin typeface="Cambria Math"/>
                            </a:rPr>
                            <m:t>r</m:t>
                          </m:r>
                        </m:e>
                      </m:box>
                      <m:r>
                        <m:rPr>
                          <m:sty m:val="p"/>
                        </m:rPr>
                        <a:rPr lang="en-US" i="0" sz="1568">
                          <a:latin typeface="Cambria Math"/>
                        </a:rPr>
                        <m:t>,</m:t>
                      </m:r>
                      <m:r>
                        <m:rPr>
                          <m:sty m:val="i"/>
                        </m:rPr>
                        <a:rPr lang="en-US" i="1" sz="1568">
                          <a:latin typeface="Cambria Math"/>
                        </a:rPr>
                        <m:t>t</m:t>
                      </m:r>
                      <m:r>
                        <m:rPr>
                          <m:sty m:val="p"/>
                        </m:rPr>
                        <a:rPr lang="en-US" i="0" sz="1568">
                          <a:latin typeface="Cambria Math"/>
                        </a:rPr>
                        <m:t>)</m:t>
                      </m:r>
                      <m:r>
                        <m:rPr>
                          <m:sty m:val="p"/>
                        </m:rPr>
                        <a:rPr lang="en-US" i="0" sz="1568">
                          <a:latin typeface="Cambria Math"/>
                        </a:rPr>
                        <m:t>=</m:t>
                      </m:r>
                      <m:rad>
                        <m:radPr>
                          <m:degHide m:val="1"/>
                        </m:radPr>
                        <m:deg/>
                        <m:e>
                          <m:box>
                            <m:e>
                              <m:sSub>
                                <m:e>
                                  <m:r>
                                    <m:rPr>
                                      <m:sty m:val="i"/>
                                    </m:rPr>
                                    <a:rPr lang="en-US" i="1" sz="1568">
                                      <a:latin typeface="Cambria Math"/>
                                    </a:rPr>
                                    <m:t>n</m:t>
                                  </m:r>
                                </m:e>
                                <m:sub>
                                  <m:r>
                                    <m:rPr>
                                      <m:sty m:val="i"/>
                                    </m:rPr>
                                    <a:rPr lang="en-US" i="1" sz="1568">
                                      <a:latin typeface="Cambria Math"/>
                                    </a:rPr>
                                    <m:t>s</m:t>
                                  </m:r>
                                </m:sub>
                              </m:sSub>
                              <m:r>
                                <m:rPr>
                                  <m:sty m:val="p"/>
                                </m:rPr>
                                <a:rPr lang="en-US" i="0" sz="1568">
                                  <a:latin typeface="Cambria Math"/>
                                </a:rPr>
                                <m:t>(</m:t>
                              </m:r>
                              <m:box>
                                <m:e>
                                  <m:r>
                                    <m:rPr>
                                      <m:sty m:val="b"/>
                                    </m:rPr>
                                    <a:rPr lang="en-US" i="1" sz="1568">
                                      <a:latin typeface="Cambria Math"/>
                                    </a:rPr>
                                    <m:t>r</m:t>
                                  </m:r>
                                </m:e>
                              </m:box>
                              <m:r>
                                <m:rPr>
                                  <m:sty m:val="p"/>
                                </m:rPr>
                                <a:rPr lang="en-US" i="0" sz="1568">
                                  <a:latin typeface="Cambria Math"/>
                                </a:rPr>
                                <m:t>,</m:t>
                              </m:r>
                              <m:r>
                                <m:rPr>
                                  <m:sty m:val="i"/>
                                </m:rPr>
                                <a:rPr lang="en-US" i="1" sz="1568">
                                  <a:latin typeface="Cambria Math"/>
                                </a:rPr>
                                <m:t>t</m:t>
                              </m:r>
                              <m:r>
                                <m:rPr>
                                  <m:sty m:val="p"/>
                                </m:rPr>
                                <a:rPr lang="en-US" i="0" sz="1568">
                                  <a:latin typeface="Cambria Math"/>
                                </a:rPr>
                                <m:t>)</m:t>
                              </m:r>
                            </m:e>
                          </m:box>
                        </m:e>
                      </m:rad>
                      <m:box>
                        <m:e>
                          <m:r>
                            <a:rPr lang="en-US" i="1" sz="1568">
                              <a:latin typeface="Cambria Math"/>
                            </a:rPr>
                            <m:t/>
                          </m:r>
                        </m:e>
                      </m:box>
                      <m:sSup>
                        <m:e>
                          <m:r>
                            <m:rPr>
                              <m:sty m:val="i"/>
                            </m:rPr>
                            <a:rPr lang="en-US" i="1" sz="1568">
                              <a:latin typeface="Cambria Math"/>
                            </a:rPr>
                            <m:t>e</m:t>
                          </m:r>
                        </m:e>
                        <m:sup>
                          <m:box>
                            <m:e>
                              <m:r>
                                <m:rPr>
                                  <m:sty m:val="i"/>
                                </m:rPr>
                                <a:rPr lang="en-US" i="1" sz="1568">
                                  <a:latin typeface="Cambria Math"/>
                                </a:rPr>
                                <m:t>i</m:t>
                              </m:r>
                              <m:r>
                                <m:rPr>
                                  <m:sty m:val="i"/>
                                </m:rPr>
                                <a:rPr lang="en-US" i="1" sz="1568">
                                  <a:latin typeface="Cambria Math"/>
                                </a:rPr>
                                <m:t>θ</m:t>
                              </m:r>
                              <m:r>
                                <m:rPr>
                                  <m:sty m:val="p"/>
                                </m:rPr>
                                <a:rPr lang="en-US" i="0" sz="1568">
                                  <a:latin typeface="Cambria Math"/>
                                </a:rPr>
                                <m:t>(</m:t>
                              </m:r>
                              <m:box>
                                <m:e>
                                  <m:r>
                                    <m:rPr>
                                      <m:sty m:val="b"/>
                                    </m:rPr>
                                    <a:rPr lang="en-US" i="1" sz="1568">
                                      <a:latin typeface="Cambria Math"/>
                                    </a:rPr>
                                    <m:t>r</m:t>
                                  </m:r>
                                </m:e>
                              </m:box>
                              <m:r>
                                <m:rPr>
                                  <m:sty m:val="p"/>
                                </m:rPr>
                                <a:rPr lang="en-US" i="0" sz="1568">
                                  <a:latin typeface="Cambria Math"/>
                                </a:rPr>
                                <m:t>,</m:t>
                              </m:r>
                              <m:r>
                                <m:rPr>
                                  <m:sty m:val="i"/>
                                </m:rPr>
                                <a:rPr lang="en-US" i="1" sz="1568">
                                  <a:latin typeface="Cambria Math"/>
                                </a:rPr>
                                <m:t>t</m:t>
                              </m:r>
                              <m:r>
                                <m:rPr>
                                  <m:sty m:val="p"/>
                                </m:rPr>
                                <a:rPr lang="en-US" i="0" sz="1568">
                                  <a:latin typeface="Cambria Math"/>
                                </a:rPr>
                                <m:t>)</m:t>
                              </m:r>
                            </m:e>
                          </m:box>
                        </m:sup>
                      </m:sSup>
                      <m:r>
                        <m:rPr>
                          <m:sty m:val="p"/>
                        </m:rPr>
                        <a:rPr lang="en-US" i="0" sz="1568">
                          <a:latin typeface="Cambria Math"/>
                        </a:rPr>
                        <m:t>.</m:t>
                      </m:r>
                    </m:oMath>
                  </m:oMathPara>
                </a14:m>
              </mc:Choice>
              <mc:Fallback>
                <a:r>
                  <a:rPr lang="en-US" sz="1567" i="1"/>
                  <a:t>
                \Psi(\mathbf r,t)=\sqrt{n_s(\mathbf r,t)}\,e^{i\theta(\mathbf r,t)}.
                </a:t>
                </a:r>
              </mc:Fallback>
            </mc:AlternateContent>
          </a:p>
        </p:txBody>
      </p:sp>
      <p:sp>
        <p:nvSpPr>
          <p:cNvPr id="10" name="Rectangle 9"/>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2" name="TextBox 11"/>
          <p:cNvSpPr txBox="1"/>
          <p:nvPr/>
        </p:nvSpPr>
        <p:spPr>
          <a:xfrm>
            <a:off x="11217804" y="6565900"/>
            <a:ext cx="483129"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40 / 100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1350698"/>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Here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n</m:t>
                        </m:r>
                      </m:e>
                      <m:sub>
                        <m:r>
                          <m:rPr>
                            <m:sty m:val="i"/>
                          </m:rPr>
                          <a:rPr lang="en-US" i="1" sz="1665">
                            <a:latin typeface="Cambria Math"/>
                          </a:rPr>
                          <m:t>s</m:t>
                        </m:r>
                      </m:sub>
                    </m:sSub>
                  </m:oMath>
                </a14:m>
              </mc:Choice>
              <mc:Fallback>
                <a:r>
                  <a:rPr lang="en-US" sz="1664" i="1"/>
                  <a:t>n_s</a:t>
                </a:r>
              </mc:Fallback>
            </mc:AlternateContent>
            <a:r>
              <a:rPr sz="1400" b="0" i="0">
                <a:solidFill>
                  <a:srgbClr val="4F4C56"/>
                </a:solidFill>
                <a:latin typeface="Montserrat"/>
                <a:ea typeface="Montserrat"/>
                <a:cs typeface="Montserrat"/>
              </a:rPr>
              <a:t> describes the condensate density and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θ</m:t>
                    </m:r>
                  </m:oMath>
                </a14:m>
              </mc:Choice>
              <mc:Fallback>
                <a:r>
                  <a:rPr lang="en-US" sz="1664" i="1"/>
                  <a:t>\theta</a:t>
                </a:r>
              </mc:Fallback>
            </mc:AlternateContent>
            <a:r>
              <a:rPr sz="1400" b="0" i="0">
                <a:solidFill>
                  <a:srgbClr val="4F4C56"/>
                </a:solidFill>
                <a:latin typeface="Montserrat"/>
                <a:ea typeface="Montserrat"/>
                <a:cs typeface="Montserrat"/>
              </a:rPr>
              <a:t> its phase. The absolute phase is not itself observable; the gauge-invariant phase difference between superconducting nodes is what enters the current, magnetic flux, and circuit energy. In other words, many microscopic particles can collectively form a small number of controllable</a:t>
            </a:r>
            <a:r>
              <a:rPr sz="1400" b="1" i="0">
                <a:solidFill>
                  <a:srgbClr val="4F4C56"/>
                </a:solidFill>
                <a:latin typeface="Montserrat"/>
                <a:ea typeface="Montserrat"/>
                <a:cs typeface="Montserrat"/>
              </a:rPr>
              <a:t>collective coordinates</a:t>
            </a:r>
            <a:r>
              <a:rPr sz="1400" b="0" i="0">
                <a:solidFill>
                  <a:srgbClr val="4F4C56"/>
                </a:solidFill>
                <a:latin typeface="Montserrat"/>
                <a:ea typeface="Montserrat"/>
                <a:cs typeface="Montserrat"/>
              </a:rPr>
              <a:t>. The real question is not “How many electrons are in the circuit?” but “How many independent modes remain in its low-energy dynamics?” </a:t>
            </a:r>
          </a:p>
        </p:txBody>
      </p:sp>
      <p:sp>
        <p:nvSpPr>
          <p:cNvPr id="6" name="TextBox 5"/>
          <p:cNvSpPr txBox="1"/>
          <p:nvPr/>
        </p:nvSpPr>
        <p:spPr>
          <a:xfrm>
            <a:off x="575733" y="2349765"/>
            <a:ext cx="11040533"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By analogy, a tuning fork also contains many atoms, yet its lowest vibration can be described by a single normal-mode amplitude. The crucial difference for a superconducting circuit is that this collective mode can enter the quantum limit in a cold, low-loss environment instead of behaving only as a classical vibration. </a:t>
            </a:r>
          </a:p>
        </p:txBody>
      </p:sp>
      <p:sp>
        <p:nvSpPr>
          <p:cNvPr id="7" name="TextBox 6"/>
          <p:cNvSpPr txBox="1"/>
          <p:nvPr/>
        </p:nvSpPr>
        <p:spPr>
          <a:xfrm>
            <a:off x="575733" y="3337983"/>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From a Macroscopic Phase to a Quantizable Circuit Mode</a:t>
            </a:r>
          </a:p>
        </p:txBody>
      </p:sp>
      <p:sp>
        <p:nvSpPr>
          <p:cNvPr id="8" name="TextBox 7"/>
          <p:cNvSpPr txBox="1"/>
          <p:nvPr/>
        </p:nvSpPr>
        <p:spPr>
          <a:xfrm>
            <a:off x="575733" y="3714750"/>
            <a:ext cx="11040533" cy="1080558"/>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A superconductor provides more than “zero resistance.” The superconducting gap suppresses low-energy quasiparticle excitations, while the condensate provides phase stiffness. With suitable capacitances, inductances, and boundary conditions, the circuit can retain only a few low-loss electromagnetic modes. For one such mode, the branch flux becomes the coordinate (formalized in Question 2): </a:t>
            </a:r>
          </a:p>
        </p:txBody>
      </p:sp>
      <p:sp>
        <p:nvSpPr>
          <p:cNvPr id="9" name="Rectangle 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1" name="TextBox 10"/>
          <p:cNvSpPr txBox="1"/>
          <p:nvPr/>
        </p:nvSpPr>
        <p:spPr>
          <a:xfrm>
            <a:off x="11254714" y="6565900"/>
            <a:ext cx="446220"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41 / 100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This is the shortest existence proof that a macroscopic circuit can have discrete quantum levels: first identify a collective mode with a restoring energy, then quantize that mode. Question 2 will formally explain why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Φ</m:t>
                    </m:r>
                  </m:oMath>
                </a14:m>
              </mc:Choice>
              <mc:Fallback>
                <a:r>
                  <a:rPr lang="en-US" sz="1664" i="1"/>
                  <a:t>\Phi</a:t>
                </a:r>
              </mc:Fallback>
            </mc:AlternateContent>
            <a:r>
              <a:rPr sz="1400" b="0" i="0">
                <a:solidFill>
                  <a:srgbClr val="4F4C56"/>
                </a:solidFill>
                <a:latin typeface="Montserrat"/>
                <a:ea typeface="Montserrat"/>
                <a:cs typeface="Montserrat"/>
              </a:rPr>
              <a:t> and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Q</m:t>
                    </m:r>
                  </m:oMath>
                </a14:m>
              </mc:Choice>
              <mc:Fallback>
                <a:r>
                  <a:rPr lang="en-US" sz="1664" i="1"/>
                  <a:t>Q</a:t>
                </a:r>
              </mc:Fallback>
            </mc:AlternateContent>
            <a:r>
              <a:rPr sz="1400" b="0" i="0">
                <a:solidFill>
                  <a:srgbClr val="4F4C56"/>
                </a:solidFill>
                <a:latin typeface="Montserrat"/>
                <a:ea typeface="Montserrat"/>
                <a:cs typeface="Montserrat"/>
              </a:rPr>
              <a:t> form a conjugate pair; Question 3 will then ask why this ladder of equally spaced levels still cannot serve directly as a qubit. </a:t>
            </a:r>
          </a:p>
        </p:txBody>
      </p:sp>
      <p:sp>
        <p:nvSpPr>
          <p:cNvPr id="6" name="TextBox 5"/>
          <p:cNvSpPr txBox="1"/>
          <p:nvPr/>
        </p:nvSpPr>
        <p:spPr>
          <a:xfrm>
            <a:off x="575733" y="1851819"/>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The Existence of Energy Levels Is One Thing; Resolving Them Experimentally Is Another</a:t>
            </a:r>
          </a:p>
        </p:txBody>
      </p:sp>
      <p:sp>
        <p:nvSpPr>
          <p:cNvPr id="7" name="TextBox 6"/>
          <p:cNvSpPr txBox="1"/>
          <p:nvPr/>
        </p:nvSpPr>
        <p:spPr>
          <a:xfrm>
            <a:off x="575733" y="2228585"/>
            <a:ext cx="11040533"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Formal quantization guarantees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m</m:t>
                        </m:r>
                      </m:sub>
                    </m:sSub>
                  </m:oMath>
                </a14:m>
              </mc:Choice>
              <mc:Fallback>
                <a:r>
                  <a:rPr lang="en-US" sz="1664" i="1"/>
                  <a:t>E_m</a:t>
                </a:r>
              </mc:Fallback>
            </mc:AlternateContent>
            <a:r>
              <a:rPr sz="1400" b="0" i="0">
                <a:solidFill>
                  <a:srgbClr val="4F4C56"/>
                </a:solidFill>
                <a:latin typeface="Montserrat"/>
                <a:ea typeface="Montserrat"/>
                <a:cs typeface="Montserrat"/>
              </a:rPr>
              <a:t>. But if thermal fluctuations or the environment-induced linewidth exceed the level spacing, an experiment will reveal only an approximately continuous classical response. Resolving the lowest few levels requires at least </a:t>
            </a:r>
          </a:p>
        </p:txBody>
      </p:sp>
      <p:sp>
        <p:nvSpPr>
          <p:cNvPr id="8" name="equation"/>
          <p:cNvSpPr txBox="1"/>
          <p:nvPr/>
        </p:nvSpPr>
        <p:spPr>
          <a:xfrm>
            <a:off x="575733" y="3191404"/>
            <a:ext cx="11040533" cy="196982"/>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568">
                              <a:latin typeface="Cambria Math"/>
                            </a:rPr>
                            <m:t>k</m:t>
                          </m:r>
                        </m:e>
                        <m:sub>
                          <m:r>
                            <m:rPr>
                              <m:sty m:val="i"/>
                            </m:rPr>
                            <a:rPr lang="en-US" i="1" sz="1568">
                              <a:latin typeface="Cambria Math"/>
                            </a:rPr>
                            <m:t>B</m:t>
                          </m:r>
                        </m:sub>
                      </m:sSub>
                      <m:r>
                        <m:rPr>
                          <m:sty m:val="i"/>
                        </m:rPr>
                        <a:rPr lang="en-US" i="1" sz="1568">
                          <a:latin typeface="Cambria Math"/>
                        </a:rPr>
                        <m:t>T</m:t>
                      </m:r>
                      <m:r>
                        <m:rPr>
                          <m:sty m:val="p"/>
                        </m:rPr>
                        <a:rPr lang="en-US" i="0" sz="1568">
                          <a:latin typeface="Cambria Math"/>
                        </a:rPr>
                        <m:t>≪</m:t>
                      </m:r>
                      <m:r>
                        <m:rPr>
                          <m:sty m:val="i"/>
                        </m:rPr>
                        <a:rPr lang="en-US" i="1" sz="1568">
                          <a:latin typeface="Cambria Math"/>
                        </a:rPr>
                        <m:t>ℏ</m:t>
                      </m:r>
                      <m:r>
                        <m:rPr>
                          <m:sty m:val="i"/>
                        </m:rPr>
                        <a:rPr lang="en-US" i="1" sz="1568">
                          <a:latin typeface="Cambria Math"/>
                        </a:rPr>
                        <m:t>ω</m:t>
                      </m:r>
                      <m:r>
                        <m:rPr>
                          <m:sty m:val="p"/>
                        </m:rPr>
                        <a:rPr lang="en-US" i="0" sz="1568">
                          <a:latin typeface="Cambria Math"/>
                        </a:rPr>
                        <m:t>,</m:t>
                      </m:r>
                      <m:box>
                        <m:e>
                          <m:r>
                            <a:rPr lang="en-US" i="1" sz="1568">
                              <a:latin typeface="Cambria Math"/>
                            </a:rPr>
                            <m:t/>
                          </m:r>
                        </m:e>
                      </m:box>
                      <m:r>
                        <m:rPr>
                          <m:sty m:val="i"/>
                        </m:rPr>
                        <a:rPr lang="en-US" i="1" sz="1568">
                          <a:latin typeface="Cambria Math"/>
                        </a:rPr>
                        <m:t>ℏ</m:t>
                      </m:r>
                      <m:r>
                        <m:rPr>
                          <m:sty m:val="i"/>
                        </m:rPr>
                        <a:rPr lang="en-US" i="1" sz="1568">
                          <a:latin typeface="Cambria Math"/>
                        </a:rPr>
                        <m:t>κ</m:t>
                      </m:r>
                      <m:r>
                        <m:rPr>
                          <m:sty m:val="p"/>
                        </m:rPr>
                        <a:rPr lang="en-US" i="0" sz="1568">
                          <a:latin typeface="Cambria Math"/>
                        </a:rPr>
                        <m:t>,</m:t>
                      </m:r>
                      <m:box>
                        <m:e>
                          <m:r>
                            <a:rPr lang="en-US" i="1" sz="1568">
                              <a:latin typeface="Cambria Math"/>
                            </a:rPr>
                            <m:t/>
                          </m:r>
                        </m:e>
                      </m:box>
                      <m:r>
                        <m:rPr>
                          <m:sty m:val="i"/>
                        </m:rPr>
                        <a:rPr lang="en-US" i="1" sz="1568">
                          <a:latin typeface="Cambria Math"/>
                        </a:rPr>
                        <m:t>ℏ</m:t>
                      </m:r>
                      <m:sSub>
                        <m:e>
                          <m:r>
                            <m:rPr>
                              <m:sty m:val="i"/>
                            </m:rPr>
                            <a:rPr lang="en-US" i="1" sz="1568">
                              <a:latin typeface="Cambria Math"/>
                            </a:rPr>
                            <m:t>γ</m:t>
                          </m:r>
                        </m:e>
                        <m:sub>
                          <m:r>
                            <m:rPr>
                              <m:sty m:val="i"/>
                            </m:rPr>
                            <a:rPr lang="en-US" i="1" sz="1568">
                              <a:latin typeface="Cambria Math"/>
                            </a:rPr>
                            <m:t>ϕ</m:t>
                          </m:r>
                        </m:sub>
                      </m:sSub>
                      <m:r>
                        <m:rPr>
                          <m:sty m:val="p"/>
                        </m:rPr>
                        <a:rPr lang="en-US" i="0" sz="1568">
                          <a:latin typeface="Cambria Math"/>
                        </a:rPr>
                        <m:t>≪</m:t>
                      </m:r>
                      <m:r>
                        <m:rPr>
                          <m:sty m:val="i"/>
                        </m:rPr>
                        <a:rPr lang="en-US" i="1" sz="1568">
                          <a:latin typeface="Cambria Math"/>
                        </a:rPr>
                        <m:t>ℏ</m:t>
                      </m:r>
                      <m:r>
                        <m:rPr>
                          <m:sty m:val="i"/>
                        </m:rPr>
                        <a:rPr lang="en-US" i="1" sz="1568">
                          <a:latin typeface="Cambria Math"/>
                        </a:rPr>
                        <m:t>ω</m:t>
                      </m:r>
                      <m:r>
                        <m:rPr>
                          <m:sty m:val="p"/>
                        </m:rPr>
                        <a:rPr lang="en-US" i="0" sz="1568">
                          <a:latin typeface="Cambria Math"/>
                        </a:rPr>
                        <m:t>,</m:t>
                      </m:r>
                    </m:oMath>
                  </m:oMathPara>
                </a14:m>
              </mc:Choice>
              <mc:Fallback>
                <a:r>
                  <a:rPr lang="en-US" sz="1567" i="1"/>
                  <a:t>
                k_BT\ll\hbar\omega,
                \qquad
                \hbar\kappa,\;\hbar\gamma_\phi\ll\hbar\omega,
                </a:t>
                </a:r>
              </mc:Fallback>
            </mc:AlternateContent>
          </a:p>
        </p:txBody>
      </p:sp>
      <p:sp>
        <p:nvSpPr>
          <p:cNvPr id="9" name="TextBox 8"/>
          <p:cNvSpPr txBox="1"/>
          <p:nvPr/>
        </p:nvSpPr>
        <p:spPr>
          <a:xfrm>
            <a:off x="575733" y="3540786"/>
            <a:ext cx="11040533"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where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κ</m:t>
                    </m:r>
                  </m:oMath>
                </a14:m>
              </mc:Choice>
              <mc:Fallback>
                <a:r>
                  <a:rPr lang="en-US" sz="1664" i="1"/>
                  <a:t>\kappa</a:t>
                </a:r>
              </mc:Fallback>
            </mc:AlternateContent>
            <a:r>
              <a:rPr sz="1400" b="0" i="0">
                <a:solidFill>
                  <a:srgbClr val="4F4C56"/>
                </a:solidFill>
                <a:latin typeface="Montserrat"/>
                <a:ea typeface="Montserrat"/>
                <a:cs typeface="Montserrat"/>
              </a:rPr>
              <a:t> is the mode's energy-decay rate and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γ</m:t>
                        </m:r>
                      </m:e>
                      <m:sub>
                        <m:r>
                          <m:rPr>
                            <m:sty m:val="i"/>
                          </m:rPr>
                          <a:rPr lang="en-US" i="1" sz="1665">
                            <a:latin typeface="Cambria Math"/>
                          </a:rPr>
                          <m:t>ϕ</m:t>
                        </m:r>
                      </m:sub>
                    </m:sSub>
                  </m:oMath>
                </a14:m>
              </mc:Choice>
              <mc:Fallback>
                <a:r>
                  <a:rPr lang="en-US" sz="1664" i="1"/>
                  <a:t>\gamma_\phi</a:t>
                </a:r>
              </mc:Fallback>
            </mc:AlternateContent>
            <a:r>
              <a:rPr sz="1400" b="0" i="0">
                <a:solidFill>
                  <a:srgbClr val="4F4C56"/>
                </a:solidFill>
                <a:latin typeface="Montserrat"/>
                <a:ea typeface="Montserrat"/>
                <a:cs typeface="Montserrat"/>
              </a:rPr>
              <a:t> its dephasing rate. The first condition suppresses thermal excitation; the other two prevent relaxation and phase noise from broadening the levels beyond recognition. The mean thermal excitation number is </a:t>
            </a:r>
          </a:p>
        </p:txBody>
      </p:sp>
      <p:sp>
        <p:nvSpPr>
          <p:cNvPr id="10" name="Rectangle 9"/>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2" name="TextBox 11"/>
          <p:cNvSpPr txBox="1"/>
          <p:nvPr/>
        </p:nvSpPr>
        <p:spPr>
          <a:xfrm>
            <a:off x="11228255" y="6565900"/>
            <a:ext cx="472678"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42 / 100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equation"/>
          <p:cNvSpPr txBox="1"/>
          <p:nvPr/>
        </p:nvSpPr>
        <p:spPr>
          <a:xfrm>
            <a:off x="575733" y="1016000"/>
            <a:ext cx="11040533" cy="438415"/>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box>
                            <m:e>
                              <m:limUpp>
                                <m:e>
                                  <m:r>
                                    <m:rPr>
                                      <m:sty m:val="i"/>
                                    </m:rPr>
                                    <a:rPr lang="en-US" i="1" sz="1568">
                                      <a:latin typeface="Cambria Math"/>
                                    </a:rPr>
                                    <m:t>n</m:t>
                                  </m:r>
                                </m:e>
                                <m:lim>
                                  <m:r>
                                    <m:rPr>
                                      <m:sty m:val="p"/>
                                    </m:rPr>
                                    <a:rPr lang="en-US" i="0" sz="1568">
                                      <a:latin typeface="Cambria Math"/>
                                    </a:rPr>
                                    <m:t>¯</m:t>
                                  </m:r>
                                </m:lim>
                              </m:limUpp>
                            </m:e>
                          </m:box>
                        </m:e>
                        <m:sub>
                          <m:box>
                            <m:e>
                              <m:r>
                                <m:rPr>
                                  <m:sty m:val="p"/>
                                </m:rPr>
                                <a:rPr lang="en-US" i="0" sz="1568">
                                  <a:latin typeface="Cambria Math"/>
                                </a:rPr>
                                <m:t>t</m:t>
                              </m:r>
                              <m:r>
                                <m:rPr>
                                  <m:sty m:val="p"/>
                                </m:rPr>
                                <a:rPr lang="en-US" i="0" sz="1568">
                                  <a:latin typeface="Cambria Math"/>
                                </a:rPr>
                                <m:t>h</m:t>
                              </m:r>
                            </m:e>
                          </m:box>
                        </m:sub>
                      </m:sSub>
                      <m:r>
                        <m:rPr>
                          <m:sty m:val="p"/>
                        </m:rPr>
                        <a:rPr lang="en-US" i="0" sz="1568">
                          <a:latin typeface="Cambria Math"/>
                        </a:rPr>
                        <m:t>=</m:t>
                      </m:r>
                      <m:f>
                        <m:num>
                          <m:r>
                            <m:rPr>
                              <m:sty m:val="p"/>
                            </m:rPr>
                            <a:rPr lang="en-US" i="0" sz="1568">
                              <a:latin typeface="Cambria Math"/>
                            </a:rPr>
                            <m:t>1</m:t>
                          </m:r>
                        </m:num>
                        <m:den>
                          <m:box>
                            <m:e>
                              <m:sSup>
                                <m:e>
                                  <m:r>
                                    <m:rPr>
                                      <m:sty m:val="i"/>
                                    </m:rPr>
                                    <a:rPr lang="en-US" i="1" sz="1568">
                                      <a:latin typeface="Cambria Math"/>
                                    </a:rPr>
                                    <m:t>e</m:t>
                                  </m:r>
                                </m:e>
                                <m:sup>
                                  <m:box>
                                    <m:e>
                                      <m:r>
                                        <m:rPr>
                                          <m:sty m:val="i"/>
                                        </m:rPr>
                                        <a:rPr lang="en-US" i="1" sz="1568">
                                          <a:latin typeface="Cambria Math"/>
                                        </a:rPr>
                                        <m:t>ℏ</m:t>
                                      </m:r>
                                      <m:r>
                                        <m:rPr>
                                          <m:sty m:val="i"/>
                                        </m:rPr>
                                        <a:rPr lang="en-US" i="1" sz="1568">
                                          <a:latin typeface="Cambria Math"/>
                                        </a:rPr>
                                        <m:t>ω</m:t>
                                      </m:r>
                                      <m:box>
                                        <m:e>
                                          <m:r>
                                            <m:rPr>
                                              <m:sty m:val="p"/>
                                            </m:rPr>
                                            <a:rPr lang="en-US" i="0" sz="1568">
                                              <a:latin typeface="Cambria Math"/>
                                            </a:rPr>
                                            <m:t>/</m:t>
                                          </m:r>
                                        </m:e>
                                      </m:box>
                                      <m:sSub>
                                        <m:e>
                                          <m:r>
                                            <m:rPr>
                                              <m:sty m:val="i"/>
                                            </m:rPr>
                                            <a:rPr lang="en-US" i="1" sz="1568">
                                              <a:latin typeface="Cambria Math"/>
                                            </a:rPr>
                                            <m:t>k</m:t>
                                          </m:r>
                                        </m:e>
                                        <m:sub>
                                          <m:r>
                                            <m:rPr>
                                              <m:sty m:val="i"/>
                                            </m:rPr>
                                            <a:rPr lang="en-US" i="1" sz="1568">
                                              <a:latin typeface="Cambria Math"/>
                                            </a:rPr>
                                            <m:t>B</m:t>
                                          </m:r>
                                        </m:sub>
                                      </m:sSub>
                                      <m:r>
                                        <m:rPr>
                                          <m:sty m:val="i"/>
                                        </m:rPr>
                                        <a:rPr lang="en-US" i="1" sz="1568">
                                          <a:latin typeface="Cambria Math"/>
                                        </a:rPr>
                                        <m:t>T</m:t>
                                      </m:r>
                                    </m:e>
                                  </m:box>
                                </m:sup>
                              </m:sSup>
                              <m:r>
                                <m:rPr>
                                  <m:sty m:val="p"/>
                                </m:rPr>
                                <a:rPr lang="en-US" i="0" sz="1568">
                                  <a:latin typeface="Cambria Math"/>
                                </a:rPr>
                                <m:t>−</m:t>
                              </m:r>
                              <m:r>
                                <m:rPr>
                                  <m:sty m:val="p"/>
                                </m:rPr>
                                <a:rPr lang="en-US" i="0" sz="1568">
                                  <a:latin typeface="Cambria Math"/>
                                </a:rPr>
                                <m:t>1</m:t>
                              </m:r>
                            </m:e>
                          </m:box>
                        </m:den>
                      </m:f>
                      <m:r>
                        <m:rPr>
                          <m:sty m:val="p"/>
                        </m:rPr>
                        <a:rPr lang="en-US" i="0" sz="1568">
                          <a:latin typeface="Cambria Math"/>
                        </a:rPr>
                        <m:t>.</m:t>
                      </m:r>
                    </m:oMath>
                  </m:oMathPara>
                </a14:m>
              </mc:Choice>
              <mc:Fallback>
                <a:r>
                  <a:rPr lang="en-US" sz="1567" i="1"/>
                  <a:t>
                \bar n_{\rm th}=\frac{1}{e^{\hbar\omega/k_BT}-1}.
                </a:t>
                </a:r>
              </mc:Fallback>
            </mc:AlternateContent>
          </a:p>
        </p:txBody>
      </p:sp>
      <p:sp>
        <p:nvSpPr>
          <p:cNvPr id="6" name="TextBox 5"/>
          <p:cNvSpPr txBox="1"/>
          <p:nvPr/>
        </p:nvSpPr>
        <p:spPr>
          <a:xfrm>
            <a:off x="575733" y="1606815"/>
            <a:ext cx="11040533"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For example, when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f</m:t>
                    </m:r>
                    <m:r>
                      <m:rPr>
                        <m:sty m:val="p"/>
                      </m:rPr>
                      <a:rPr lang="en-US" i="0" sz="1665">
                        <a:latin typeface="Cambria Math"/>
                      </a:rPr>
                      <m:t>=</m:t>
                    </m:r>
                    <m:r>
                      <m:rPr>
                        <m:sty m:val="i"/>
                      </m:rPr>
                      <a:rPr lang="en-US" i="1" sz="1665">
                        <a:latin typeface="Cambria Math"/>
                      </a:rPr>
                      <m:t>ω</m:t>
                    </m:r>
                    <m:box>
                      <m:e>
                        <m:r>
                          <m:rPr>
                            <m:sty m:val="p"/>
                          </m:rPr>
                          <a:rPr lang="en-US" i="0" sz="1665">
                            <a:latin typeface="Cambria Math"/>
                          </a:rPr>
                          <m:t>/</m:t>
                        </m:r>
                      </m:e>
                    </m:box>
                    <m:r>
                      <m:rPr>
                        <m:sty m:val="p"/>
                      </m:rPr>
                      <a:rPr lang="en-US" i="0" sz="1665">
                        <a:latin typeface="Cambria Math"/>
                      </a:rPr>
                      <m:t>2</m:t>
                    </m:r>
                    <m:r>
                      <m:rPr>
                        <m:sty m:val="i"/>
                      </m:rPr>
                      <a:rPr lang="en-US" i="1" sz="1665">
                        <a:latin typeface="Cambria Math"/>
                      </a:rPr>
                      <m:t>π</m:t>
                    </m:r>
                    <m:r>
                      <m:rPr>
                        <m:sty m:val="p"/>
                      </m:rPr>
                      <a:rPr lang="en-US" i="0" sz="1665">
                        <a:latin typeface="Cambria Math"/>
                      </a:rPr>
                      <m:t>=</m:t>
                    </m:r>
                    <m:r>
                      <m:rPr>
                        <m:sty m:val="p"/>
                      </m:rPr>
                      <a:rPr lang="en-US" i="0" sz="1665">
                        <a:latin typeface="Cambria Math"/>
                      </a:rPr>
                      <m:t>5</m:t>
                    </m:r>
                    <m:box>
                      <m:e>
                        <m:r>
                          <a:rPr lang="en-US" i="1" sz="1665">
                            <a:latin typeface="Cambria Math"/>
                          </a:rPr>
                          <m:t/>
                        </m:r>
                      </m:e>
                    </m:box>
                    <m:box>
                      <m:e>
                        <m:r>
                          <m:rPr>
                            <m:sty m:val="p"/>
                          </m:rPr>
                          <a:rPr lang="en-US" i="0" sz="1665">
                            <a:latin typeface="Cambria Math"/>
                          </a:rPr>
                          <m:t>GHz</m:t>
                        </m:r>
                      </m:e>
                    </m:box>
                  </m:oMath>
                </a14:m>
              </mc:Choice>
              <mc:Fallback>
                <a:r>
                  <a:rPr lang="en-US" sz="1664" i="1"/>
                  <a:t>f=\omega/2\pi=5\,\mathrm{GHz}</a:t>
                </a:r>
              </mc:Fallback>
            </mc:AlternateContent>
            <a:r>
              <a:rPr sz="1400" b="0" i="0">
                <a:solidFill>
                  <a:srgbClr val="4F4C56"/>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h</m:t>
                    </m:r>
                    <m:r>
                      <m:rPr>
                        <m:sty m:val="i"/>
                      </m:rPr>
                      <a:rPr lang="en-US" i="1" sz="1665">
                        <a:latin typeface="Cambria Math"/>
                      </a:rPr>
                      <m:t>f</m:t>
                    </m:r>
                    <m:box>
                      <m:e>
                        <m:r>
                          <m:rPr>
                            <m:sty m:val="p"/>
                          </m:rPr>
                          <a:rPr lang="en-US" i="0" sz="1665">
                            <a:latin typeface="Cambria Math"/>
                          </a:rPr>
                          <m:t>/</m:t>
                        </m:r>
                      </m:e>
                    </m:box>
                    <m:sSub>
                      <m:e>
                        <m:r>
                          <m:rPr>
                            <m:sty m:val="i"/>
                          </m:rPr>
                          <a:rPr lang="en-US" i="1" sz="1665">
                            <a:latin typeface="Cambria Math"/>
                          </a:rPr>
                          <m:t>k</m:t>
                        </m:r>
                      </m:e>
                      <m:sub>
                        <m:r>
                          <m:rPr>
                            <m:sty m:val="i"/>
                          </m:rPr>
                          <a:rPr lang="en-US" i="1" sz="1665">
                            <a:latin typeface="Cambria Math"/>
                          </a:rPr>
                          <m:t>B</m:t>
                        </m:r>
                      </m:sub>
                    </m:sSub>
                    <m:r>
                      <m:rPr>
                        <m:sty m:val="p"/>
                      </m:rPr>
                      <a:rPr lang="en-US" i="0" sz="1665">
                        <a:latin typeface="Cambria Math"/>
                      </a:rPr>
                      <m:t>≈</m:t>
                    </m:r>
                    <m:r>
                      <m:rPr>
                        <m:sty m:val="p"/>
                      </m:rPr>
                      <a:rPr lang="en-US" i="0" sz="1665">
                        <a:latin typeface="Cambria Math"/>
                      </a:rPr>
                      <m:t>0.24</m:t>
                    </m:r>
                    <m:box>
                      <m:e>
                        <m:r>
                          <a:rPr lang="en-US" i="1" sz="1665">
                            <a:latin typeface="Cambria Math"/>
                          </a:rPr>
                          <m:t/>
                        </m:r>
                      </m:e>
                    </m:box>
                    <m:box>
                      <m:e>
                        <m:r>
                          <m:rPr>
                            <m:sty m:val="p"/>
                          </m:rPr>
                          <a:rPr lang="en-US" i="0" sz="1665">
                            <a:latin typeface="Cambria Math"/>
                          </a:rPr>
                          <m:t>K</m:t>
                        </m:r>
                      </m:e>
                    </m:box>
                  </m:oMath>
                </a14:m>
              </mc:Choice>
              <mc:Fallback>
                <a:r>
                  <a:rPr lang="en-US" sz="1664" i="1"/>
                  <a:t>hf/k_B\approx0.24\,\mathrm{K}</a:t>
                </a:r>
              </mc:Fallback>
            </mc:AlternateContent>
            <a:r>
              <a:rPr sz="1400" b="0" i="0">
                <a:solidFill>
                  <a:srgbClr val="4F4C56"/>
                </a:solidFill>
                <a:latin typeface="Montserrat"/>
                <a:ea typeface="Montserrat"/>
                <a:cs typeface="Montserrat"/>
              </a:rPr>
              <a:t>. If the chip mode is genuinely thermalized to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T</m:t>
                    </m:r>
                    <m:r>
                      <m:rPr>
                        <m:sty m:val="p"/>
                      </m:rPr>
                      <a:rPr lang="en-US" i="0" sz="1665">
                        <a:latin typeface="Cambria Math"/>
                      </a:rPr>
                      <m:t>=</m:t>
                    </m:r>
                    <m:r>
                      <m:rPr>
                        <m:sty m:val="p"/>
                      </m:rPr>
                      <a:rPr lang="en-US" i="0" sz="1665">
                        <a:latin typeface="Cambria Math"/>
                      </a:rPr>
                      <m:t>20</m:t>
                    </m:r>
                    <m:box>
                      <m:e>
                        <m:r>
                          <a:rPr lang="en-US" i="1" sz="1665">
                            <a:latin typeface="Cambria Math"/>
                          </a:rPr>
                          <m:t/>
                        </m:r>
                      </m:e>
                    </m:box>
                    <m:box>
                      <m:e>
                        <m:r>
                          <m:rPr>
                            <m:sty m:val="p"/>
                          </m:rPr>
                          <a:rPr lang="en-US" i="0" sz="1665">
                            <a:latin typeface="Cambria Math"/>
                          </a:rPr>
                          <m:t>mK</m:t>
                        </m:r>
                      </m:e>
                    </m:box>
                  </m:oMath>
                </a14:m>
              </mc:Choice>
              <mc:Fallback>
                <a:r>
                  <a:rPr lang="en-US" sz="1664" i="1"/>
                  <a:t>T=20\,\mathrm{mK}</a:t>
                </a:r>
              </mc:Fallback>
            </mc:AlternateContent>
            <a:r>
              <a:rPr sz="1400" b="0" i="0">
                <a:solidFill>
                  <a:srgbClr val="4F4C56"/>
                </a:solidFill>
                <a:latin typeface="Montserrat"/>
                <a:ea typeface="Montserrat"/>
                <a:cs typeface="Montserrat"/>
              </a:rPr>
              <a:t>, then </a:t>
            </a:r>
            <mc:AlternateContent xmlns:mc="http://schemas.openxmlformats.org/markup-compatibility/2006">
              <mc:Choice xmlns:a14="http://schemas.microsoft.com/office/drawing/2010/main" Requires="a14">
                <a14:m>
                  <m:oMath xmlns:m="http://schemas.openxmlformats.org/officeDocument/2006/math">
                    <m:sSub>
                      <m:e>
                        <m:box>
                          <m:e>
                            <m:limUpp>
                              <m:e>
                                <m:r>
                                  <m:rPr>
                                    <m:sty m:val="i"/>
                                  </m:rPr>
                                  <a:rPr lang="en-US" i="1" sz="1665">
                                    <a:latin typeface="Cambria Math"/>
                                  </a:rPr>
                                  <m:t>n</m:t>
                                </m:r>
                              </m:e>
                              <m:lim>
                                <m:r>
                                  <m:rPr>
                                    <m:sty m:val="p"/>
                                  </m:rPr>
                                  <a:rPr lang="en-US" i="0" sz="1665">
                                    <a:latin typeface="Cambria Math"/>
                                  </a:rPr>
                                  <m:t>¯</m:t>
                                </m:r>
                              </m:lim>
                            </m:limUpp>
                          </m:e>
                        </m:box>
                      </m:e>
                      <m:sub>
                        <m:box>
                          <m:e>
                            <m:r>
                              <m:rPr>
                                <m:sty m:val="p"/>
                              </m:rPr>
                              <a:rPr lang="en-US" i="0" sz="1665">
                                <a:latin typeface="Cambria Math"/>
                              </a:rPr>
                              <m:t>t</m:t>
                            </m:r>
                            <m:r>
                              <m:rPr>
                                <m:sty m:val="p"/>
                              </m:rPr>
                              <a:rPr lang="en-US" i="0" sz="1665">
                                <a:latin typeface="Cambria Math"/>
                              </a:rPr>
                              <m:t>h</m:t>
                            </m:r>
                          </m:e>
                        </m:box>
                      </m:sub>
                    </m:sSub>
                    <m:r>
                      <m:rPr>
                        <m:sty m:val="p"/>
                      </m:rPr>
                      <a:rPr lang="en-US" i="0" sz="1665">
                        <a:latin typeface="Cambria Math"/>
                      </a:rPr>
                      <m:t>≈</m:t>
                    </m:r>
                    <m:r>
                      <m:rPr>
                        <m:sty m:val="p"/>
                      </m:rPr>
                      <a:rPr lang="en-US" i="0" sz="1665">
                        <a:latin typeface="Cambria Math"/>
                      </a:rPr>
                      <m:t>6</m:t>
                    </m:r>
                    <m:r>
                      <m:rPr>
                        <m:sty m:val="p"/>
                      </m:rPr>
                      <a:rPr lang="en-US" i="0" sz="1665">
                        <a:latin typeface="Cambria Math"/>
                      </a:rPr>
                      <m:t>×</m:t>
                    </m:r>
                    <m:sSup>
                      <m:e>
                        <m:r>
                          <m:rPr>
                            <m:sty m:val="p"/>
                          </m:rPr>
                          <a:rPr lang="en-US" i="0" sz="1665">
                            <a:latin typeface="Cambria Math"/>
                          </a:rPr>
                          <m:t>10</m:t>
                        </m:r>
                      </m:e>
                      <m:sup>
                        <m:box>
                          <m:e>
                            <m:r>
                              <m:rPr>
                                <m:sty m:val="p"/>
                              </m:rPr>
                              <a:rPr lang="en-US" i="0" sz="1665">
                                <a:latin typeface="Cambria Math"/>
                              </a:rPr>
                              <m:t>−</m:t>
                            </m:r>
                            <m:r>
                              <m:rPr>
                                <m:sty m:val="p"/>
                              </m:rPr>
                              <a:rPr lang="en-US" i="0" sz="1665">
                                <a:latin typeface="Cambria Math"/>
                              </a:rPr>
                              <m:t>6</m:t>
                            </m:r>
                          </m:e>
                        </m:box>
                      </m:sup>
                    </m:sSup>
                  </m:oMath>
                </a14:m>
              </mc:Choice>
              <mc:Fallback>
                <a:r>
                  <a:rPr lang="en-US" sz="1664" i="1"/>
                  <a:t>\bar n_{\rm th}\approx6\times10^{-6}</a:t>
                </a:r>
              </mc:Fallback>
            </mc:AlternateContent>
            <a:r>
              <a:rPr sz="1400" b="0" i="0">
                <a:solidFill>
                  <a:srgbClr val="4F4C56"/>
                </a:solidFill>
                <a:latin typeface="Montserrat"/>
                <a:ea typeface="Montserrat"/>
                <a:cs typeface="Montserrat"/>
              </a:rPr>
              <a:t>: the system is almost always in its ground state. In practice, attenuation, filtering, shielding, and good packaging are still required to keep hot photons and external noise from raising the effective temperature. </a:t>
            </a:r>
          </a:p>
        </p:txBody>
      </p:sp>
      <p:sp>
        <p:nvSpPr>
          <p:cNvPr id="7" name="TextBox 6"/>
          <p:cNvSpPr txBox="1"/>
          <p:nvPr/>
        </p:nvSpPr>
        <p:spPr>
          <a:xfrm>
            <a:off x="575733" y="2595033"/>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Why Do Everyday Circuits Still Look Classical?</a:t>
            </a:r>
          </a:p>
        </p:txBody>
      </p:sp>
      <p:sp>
        <p:nvSpPr>
          <p:cNvPr id="8" name="TextBox 7"/>
          <p:cNvSpPr txBox="1"/>
          <p:nvPr/>
        </p:nvSpPr>
        <p:spPr>
          <a:xfrm>
            <a:off x="575733" y="2971800"/>
            <a:ext cx="11040533" cy="1366970"/>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An ordinary RLC circuit is not “devoid of quantum mechanics.” Its quantum structure is usually hidden by three effects: room temperature populates many levels; resistance and environmental coupling broaden the linewidth; and strong driving fills the mode with many quanta. For a coherent state with mean photon number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N</m:t>
                    </m:r>
                    <m:r>
                      <m:rPr>
                        <m:sty m:val="p"/>
                      </m:rPr>
                      <a:rPr lang="en-US" i="0" sz="1665">
                        <a:latin typeface="Cambria Math"/>
                      </a:rPr>
                      <m:t>=</m:t>
                    </m:r>
                    <m:r>
                      <m:rPr>
                        <m:sty m:val="p"/>
                      </m:rPr>
                      <a:rPr lang="en-US" i="0" sz="1665">
                        <a:latin typeface="Cambria Math"/>
                      </a:rPr>
                      <m:t>|</m:t>
                    </m:r>
                    <m:r>
                      <m:rPr>
                        <m:sty m:val="i"/>
                      </m:rPr>
                      <a:rPr lang="en-US" i="1" sz="1665">
                        <a:latin typeface="Cambria Math"/>
                      </a:rPr>
                      <m:t>α</m:t>
                    </m:r>
                    <m:sSup>
                      <m:e>
                        <m:r>
                          <m:rPr>
                            <m:sty m:val="p"/>
                          </m:rPr>
                          <a:rPr lang="en-US" i="0" sz="1665">
                            <a:latin typeface="Cambria Math"/>
                          </a:rPr>
                          <m:t>|</m:t>
                        </m:r>
                      </m:e>
                      <m:sup>
                        <m:r>
                          <m:rPr>
                            <m:sty m:val="p"/>
                          </m:rPr>
                          <a:rPr lang="en-US" i="0" sz="1665">
                            <a:latin typeface="Cambria Math"/>
                          </a:rPr>
                          <m:t>2</m:t>
                        </m:r>
                      </m:sup>
                    </m:sSup>
                    <m:r>
                      <m:rPr>
                        <m:sty m:val="p"/>
                      </m:rPr>
                      <a:rPr lang="en-US" i="0" sz="1665">
                        <a:latin typeface="Cambria Math"/>
                      </a:rPr>
                      <m:t>≫</m:t>
                    </m:r>
                    <m:r>
                      <m:rPr>
                        <m:sty m:val="p"/>
                      </m:rPr>
                      <a:rPr lang="en-US" i="0" sz="1665">
                        <a:latin typeface="Cambria Math"/>
                      </a:rPr>
                      <m:t>1</m:t>
                    </m:r>
                  </m:oMath>
                </a14:m>
              </mc:Choice>
              <mc:Fallback>
                <a:r>
                  <a:rPr lang="en-US" sz="1664" i="1"/>
                  <a:t>N=|\alpha|^2\gg1</a:t>
                </a:r>
              </mc:Fallback>
            </mc:AlternateContent>
            <a:r>
              <a:rPr sz="1400" b="0" i="0">
                <a:solidFill>
                  <a:srgbClr val="4F4C56"/>
                </a:solidFill>
                <a:latin typeface="Montserrat"/>
                <a:ea typeface="Montserrat"/>
                <a:cs typeface="Montserrat"/>
              </a:rPr>
              <a:t>, relative fluctuations shrink approximately as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1</m:t>
                    </m:r>
                    <m:box>
                      <m:e>
                        <m:r>
                          <m:rPr>
                            <m:sty m:val="p"/>
                          </m:rPr>
                          <a:rPr lang="en-US" i="0" sz="1665">
                            <a:latin typeface="Cambria Math"/>
                          </a:rPr>
                          <m:t>/</m:t>
                        </m:r>
                      </m:e>
                    </m:box>
                    <m:rad>
                      <m:radPr>
                        <m:degHide m:val="1"/>
                      </m:radPr>
                      <m:deg/>
                      <m:e>
                        <m:box>
                          <m:e>
                            <m:r>
                              <m:rPr>
                                <m:sty m:val="i"/>
                              </m:rPr>
                              <a:rPr lang="en-US" i="1" sz="1665">
                                <a:latin typeface="Cambria Math"/>
                              </a:rPr>
                              <m:t>N</m:t>
                            </m:r>
                          </m:e>
                        </m:box>
                      </m:e>
                    </m:rad>
                  </m:oMath>
                </a14:m>
              </mc:Choice>
              <mc:Fallback>
                <a:r>
                  <a:rPr lang="en-US" sz="1664" i="1"/>
                  <a:t>1/\sqrt N</a:t>
                </a:r>
              </mc:Fallback>
            </mc:AlternateContent>
            <a:r>
              <a:rPr sz="1400" b="0" i="0">
                <a:solidFill>
                  <a:srgbClr val="4F4C56"/>
                </a:solidFill>
                <a:latin typeface="Montserrat"/>
                <a:ea typeface="Montserrat"/>
                <a:cs typeface="Montserrat"/>
              </a:rPr>
              <a:t>, so the motion approaches a classical waveform. Superconductivity, dilution refrigeration, and microwave engineering push the same kind of circuit back into the regime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N</m:t>
                    </m:r>
                    <m:r>
                      <m:rPr>
                        <m:sty m:val="p"/>
                      </m:rPr>
                      <a:rPr lang="en-US" i="0" sz="1665">
                        <a:latin typeface="Cambria Math"/>
                      </a:rPr>
                      <m:t>∼</m:t>
                    </m:r>
                    <m:r>
                      <m:rPr>
                        <m:sty m:val="p"/>
                      </m:rPr>
                      <a:rPr lang="en-US" i="0" sz="1665">
                        <a:latin typeface="Cambria Math"/>
                      </a:rPr>
                      <m:t>0</m:t>
                    </m:r>
                    <m:r>
                      <m:rPr>
                        <m:sty m:val="p"/>
                      </m:rPr>
                      <a:rPr lang="en-US" i="0" sz="1665">
                        <a:latin typeface="Cambria Math"/>
                      </a:rPr>
                      <m:t>,</m:t>
                    </m:r>
                    <m:r>
                      <m:rPr>
                        <m:sty m:val="p"/>
                      </m:rPr>
                      <a:rPr lang="en-US" i="0" sz="1665">
                        <a:latin typeface="Cambria Math"/>
                      </a:rPr>
                      <m:t>1</m:t>
                    </m:r>
                  </m:oMath>
                </a14:m>
              </mc:Choice>
              <mc:Fallback>
                <a:r>
                  <a:rPr lang="en-US" sz="1664" i="1"/>
                  <a:t>N\sim0,1</a:t>
                </a:r>
              </mc:Fallback>
            </mc:AlternateContent>
            <a:r>
              <a:rPr sz="1400" b="0" i="0">
                <a:solidFill>
                  <a:srgbClr val="4F4C56"/>
                </a:solidFill>
                <a:latin typeface="Montserrat"/>
                <a:ea typeface="Montserrat"/>
                <a:cs typeface="Montserrat"/>
              </a:rPr>
              <a:t> with sufficiently low loss. </a:t>
            </a:r>
          </a:p>
        </p:txBody>
      </p:sp>
      <p:sp>
        <p:nvSpPr>
          <p:cNvPr id="9" name="Rectangle 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1" name="TextBox 10"/>
          <p:cNvSpPr txBox="1"/>
          <p:nvPr/>
        </p:nvSpPr>
        <p:spPr>
          <a:xfrm>
            <a:off x="11228784" y="6565900"/>
            <a:ext cx="472149"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43 / 100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873654"/>
          </a:xfrm>
          <a:prstGeom prst="rect">
            <a:avLst/>
          </a:prstGeom>
          <a:noFill/>
        </p:spPr>
        <p:txBody>
          <a:bodyPr wrap="square" lIns="0" rIns="0" tIns="0" bIns="0" anchor="t">
            <a:noAutofit/>
          </a:bodyPr>
          <a:lstStyle/>
          <a:p>
            <a:pPr algn="l">
              <a:lnSpc>
                <a:spcPts val="3440"/>
              </a:lnSpc>
            </a:pPr>
            <a:r>
              <a:rPr sz="2870" b="1" i="0">
                <a:solidFill>
                  <a:srgbClr val="22232A"/>
                </a:solidFill>
                <a:latin typeface="Montserrat"/>
                <a:ea typeface="Montserrat"/>
                <a:cs typeface="Montserrat"/>
              </a:rPr>
              <a:t>A Josephson Junction Converts Phase into Current and Energy</a:t>
            </a:r>
          </a:p>
        </p:txBody>
      </p:sp>
      <p:pic>
        <p:nvPicPr>
          <p:cNvPr id="6" name="Tsai review Figure 1 showing two superconductors joined by a Josephson junction " descr="tsai-review-2010-fig1-jj.jpg"/>
          <p:cNvPicPr>
            <a:picLocks noChangeAspect="1"/>
          </p:cNvPicPr>
          <p:nvPr/>
        </p:nvPicPr>
        <p:blipFill>
          <a:blip r:embed="rId2"/>
          <a:stretch>
            <a:fillRect/>
          </a:stretch>
        </p:blipFill>
        <p:spPr>
          <a:xfrm>
            <a:off x="1008459" y="1889659"/>
            <a:ext cx="4034102" cy="2285991"/>
          </a:xfrm>
          <a:prstGeom prst="rect">
            <a:avLst/>
          </a:prstGeom>
        </p:spPr>
      </p:pic>
      <p:sp>
        <p:nvSpPr>
          <p:cNvPr id="7" name="TextBox 6"/>
          <p:cNvSpPr txBox="1"/>
          <p:nvPr/>
        </p:nvSpPr>
        <p:spPr>
          <a:xfrm>
            <a:off x="575733" y="4234921"/>
            <a:ext cx="4899554" cy="700617"/>
          </a:xfrm>
          <a:prstGeom prst="rect">
            <a:avLst/>
          </a:prstGeom>
          <a:noFill/>
        </p:spPr>
        <p:txBody>
          <a:bodyPr wrap="square" lIns="0" rIns="0" tIns="0" bIns="0" anchor="t">
            <a:noAutofit/>
          </a:bodyPr>
          <a:lstStyle/>
          <a:p>
            <a:pPr algn="l">
              <a:lnSpc>
                <a:spcPts val="1380"/>
              </a:lnSpc>
            </a:pPr>
            <a:r>
              <a:rPr sz="1080" b="1" i="0">
                <a:solidFill>
                  <a:srgbClr val="302840"/>
                </a:solidFill>
                <a:latin typeface="Montserrat"/>
                <a:ea typeface="Montserrat"/>
                <a:cs typeface="Montserrat"/>
              </a:rPr>
              <a:t>Paper schematic—not a redrawn course icon.</a:t>
            </a:r>
            <a:r>
              <a:rPr sz="1080" b="0" i="0">
                <a:solidFill>
                  <a:srgbClr val="5F5865"/>
                </a:solidFill>
                <a:latin typeface="Montserrat"/>
                <a:ea typeface="Montserrat"/>
                <a:cs typeface="Montserrat"/>
              </a:rPr>
              <a:t> The macroscopic order parameters on the two sides acquire a phase difference that directly determines current and voltage.</a:t>
            </a:r>
          </a:p>
          <a:p>
            <a:pPr algn="l">
              <a:lnSpc>
                <a:spcPts val="1380"/>
              </a:lnSpc>
            </a:pPr>
            <a:r>
              <a:rPr sz="1080" b="0" i="0">
                <a:solidFill>
                  <a:srgbClr val="5F5865"/>
                </a:solidFill>
                <a:latin typeface="Montserrat"/>
                <a:ea typeface="Montserrat"/>
                <a:cs typeface="Montserrat"/>
              </a:rPr>
              <a:t> Figure 1, J. S. Tsai, </a:t>
            </a:r>
            <a:r>
              <a:rPr sz="1080" b="0" i="1">
                <a:solidFill>
                  <a:srgbClr val="5F5865"/>
                </a:solidFill>
                <a:latin typeface="Montserrat"/>
                <a:ea typeface="Montserrat"/>
                <a:cs typeface="Montserrat"/>
              </a:rPr>
              <a:t>Proc. Jpn. Acad. B</a:t>
            </a:r>
            <a:r>
              <a:rPr sz="1080" b="0" i="0">
                <a:solidFill>
                  <a:srgbClr val="5F5865"/>
                </a:solidFill>
                <a:latin typeface="Montserrat"/>
                <a:ea typeface="Montserrat"/>
                <a:cs typeface="Montserrat"/>
              </a:rPr>
              <a:t> 86, 275 (2010), </a:t>
            </a:r>
            <a:r>
              <a:rPr sz="1080" b="0" i="0">
                <a:solidFill>
                  <a:srgbClr val="355C9A"/>
                </a:solidFill>
                <a:latin typeface="Montserrat"/>
                <a:ea typeface="Montserrat"/>
                <a:cs typeface="Montserrat"/>
                <a:hlinkClick r:id="rId3"/>
              </a:rPr>
              <a:t>DOI</a:t>
            </a:r>
            <a:r>
              <a:rPr sz="1080" b="0" i="0">
                <a:solidFill>
                  <a:srgbClr val="5F5865"/>
                </a:solidFill>
                <a:latin typeface="Montserrat"/>
                <a:ea typeface="Montserrat"/>
                <a:cs typeface="Montserrat"/>
              </a:rPr>
              <a:t>. </a:t>
            </a:r>
          </a:p>
        </p:txBody>
      </p:sp>
      <p:sp>
        <p:nvSpPr>
          <p:cNvPr id="8" name="Rectangle 7"/>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0" name="TextBox 9"/>
          <p:cNvSpPr txBox="1"/>
          <p:nvPr/>
        </p:nvSpPr>
        <p:spPr>
          <a:xfrm>
            <a:off x="11216481" y="6565900"/>
            <a:ext cx="484452"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44 / 100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Josephson Phase: Kinematics and Inductance</a:t>
            </a:r>
          </a:p>
        </p:txBody>
      </p:sp>
      <p:sp>
        <p:nvSpPr>
          <p:cNvPr id="6" name="TextBox 5"/>
          <p:cNvSpPr txBox="1"/>
          <p:nvPr/>
        </p:nvSpPr>
        <p:spPr>
          <a:xfrm>
            <a:off x="575733" y="1452827"/>
            <a:ext cx="11040533"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Expand and rearrange. The phase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φ</m:t>
                    </m:r>
                  </m:oMath>
                </a14:m>
              </mc:Choice>
              <mc:Fallback>
                <a:r>
                  <a:rPr lang="en-US" sz="1664" i="1"/>
                  <a:t>\varphi</a:t>
                </a:r>
              </mc:Fallback>
            </mc:AlternateContent>
            <a:r>
              <a:rPr sz="1400" b="0" i="0">
                <a:solidFill>
                  <a:srgbClr val="4F4C56"/>
                </a:solidFill>
                <a:latin typeface="Montserrat"/>
                <a:ea typeface="Montserrat"/>
                <a:cs typeface="Montserrat"/>
              </a:rPr>
              <a:t> is the canonical coordinate conjugate to the Cooper-pair charge; its rate of change fixes the voltage:</a:t>
            </a:r>
          </a:p>
        </p:txBody>
      </p:sp>
      <p:sp>
        <p:nvSpPr>
          <p:cNvPr id="7" name="equation"/>
          <p:cNvSpPr txBox="1"/>
          <p:nvPr/>
        </p:nvSpPr>
        <p:spPr>
          <a:xfrm>
            <a:off x="575733" y="2145506"/>
            <a:ext cx="11040533" cy="439737"/>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limUpp>
                            <m:e>
                              <m:r>
                                <m:rPr>
                                  <m:sty m:val="i"/>
                                </m:rPr>
                                <a:rPr lang="en-US" i="1" sz="1568">
                                  <a:latin typeface="Cambria Math"/>
                                </a:rPr>
                                <m:t>φ</m:t>
                              </m:r>
                            </m:e>
                            <m:lim>
                              <m:r>
                                <m:rPr>
                                  <m:sty m:val="p"/>
                                </m:rPr>
                                <a:rPr lang="en-US" i="0" sz="1568">
                                  <a:latin typeface="Cambria Math"/>
                                </a:rPr>
                                <m:t>˙</m:t>
                              </m:r>
                            </m:lim>
                          </m:limUpp>
                        </m:e>
                      </m:box>
                      <m:r>
                        <m:rPr>
                          <m:sty m:val="p"/>
                        </m:rPr>
                        <a:rPr lang="en-US" i="0" sz="1568">
                          <a:latin typeface="Cambria Math"/>
                        </a:rPr>
                        <m:t>=</m:t>
                      </m:r>
                      <m:f>
                        <m:num>
                          <m:box>
                            <m:e>
                              <m:r>
                                <m:rPr>
                                  <m:sty m:val="p"/>
                                </m:rPr>
                                <a:rPr lang="en-US" i="0" sz="1568">
                                  <a:latin typeface="Cambria Math"/>
                                </a:rPr>
                                <m:t>2</m:t>
                              </m:r>
                              <m:r>
                                <m:rPr>
                                  <m:sty m:val="i"/>
                                </m:rPr>
                                <a:rPr lang="en-US" i="1" sz="1568">
                                  <a:latin typeface="Cambria Math"/>
                                </a:rPr>
                                <m:t>e</m:t>
                              </m:r>
                            </m:e>
                          </m:box>
                        </m:num>
                        <m:den>
                          <m:r>
                            <m:rPr>
                              <m:sty m:val="i"/>
                            </m:rPr>
                            <a:rPr lang="en-US" i="1" sz="1568">
                              <a:latin typeface="Cambria Math"/>
                            </a:rPr>
                            <m:t>ℏ</m:t>
                          </m:r>
                        </m:den>
                      </m:f>
                      <m:r>
                        <m:rPr>
                          <m:sty m:val="i"/>
                        </m:rPr>
                        <a:rPr lang="en-US" i="1" sz="1568">
                          <a:latin typeface="Cambria Math"/>
                        </a:rPr>
                        <m:t>V</m:t>
                      </m:r>
                      <m:r>
                        <m:rPr>
                          <m:sty m:val="p"/>
                        </m:rPr>
                        <a:rPr lang="en-US" i="0" sz="1568">
                          <a:latin typeface="Cambria Math"/>
                        </a:rPr>
                        <m:t>=</m:t>
                      </m:r>
                      <m:f>
                        <m:num>
                          <m:box>
                            <m:e>
                              <m:r>
                                <m:rPr>
                                  <m:sty m:val="p"/>
                                </m:rPr>
                                <a:rPr lang="en-US" i="0" sz="1568">
                                  <a:latin typeface="Cambria Math"/>
                                </a:rPr>
                                <m:t>2</m:t>
                              </m:r>
                              <m:r>
                                <m:rPr>
                                  <m:sty m:val="i"/>
                                </m:rPr>
                                <a:rPr lang="en-US" i="1" sz="1568">
                                  <a:latin typeface="Cambria Math"/>
                                </a:rPr>
                                <m:t>π</m:t>
                              </m:r>
                            </m:e>
                          </m:box>
                        </m:num>
                        <m:den>
                          <m:sSub>
                            <m:e>
                              <m:r>
                                <m:rPr>
                                  <m:sty m:val="p"/>
                                </m:rPr>
                                <a:rPr lang="en-US" i="0" sz="1568">
                                  <a:latin typeface="Cambria Math"/>
                                </a:rPr>
                                <m:t>Φ</m:t>
                              </m:r>
                            </m:e>
                            <m:sub>
                              <m:r>
                                <m:rPr>
                                  <m:sty m:val="p"/>
                                </m:rPr>
                                <a:rPr lang="en-US" i="0" sz="1568">
                                  <a:latin typeface="Cambria Math"/>
                                </a:rPr>
                                <m:t>0</m:t>
                              </m:r>
                            </m:sub>
                          </m:sSub>
                        </m:den>
                      </m:f>
                      <m:r>
                        <m:rPr>
                          <m:sty m:val="i"/>
                        </m:rPr>
                        <a:rPr lang="en-US" i="1" sz="1568">
                          <a:latin typeface="Cambria Math"/>
                        </a:rPr>
                        <m:t>V</m:t>
                      </m:r>
                      <m:r>
                        <m:rPr>
                          <m:sty m:val="p"/>
                        </m:rPr>
                        <a:rPr lang="en-US" i="0" sz="1568">
                          <a:latin typeface="Cambria Math"/>
                        </a:rPr>
                        <m:t>,</m:t>
                      </m:r>
                      <m:box>
                        <m:e>
                          <m:r>
                            <a:rPr lang="en-US" i="1" sz="1568">
                              <a:latin typeface="Cambria Math"/>
                            </a:rPr>
                            <m:t/>
                          </m:r>
                        </m:e>
                      </m:box>
                      <m:r>
                        <m:rPr>
                          <m:sty m:val="i"/>
                        </m:rPr>
                        <a:rPr lang="en-US" i="1" sz="1568">
                          <a:latin typeface="Cambria Math"/>
                        </a:rPr>
                        <m:t>I</m:t>
                      </m:r>
                      <m:r>
                        <m:rPr>
                          <m:sty m:val="p"/>
                        </m:rPr>
                        <a:rPr lang="en-US" i="0" sz="1568">
                          <a:latin typeface="Cambria Math"/>
                        </a:rPr>
                        <m:t>=</m:t>
                      </m:r>
                      <m:sSub>
                        <m:e>
                          <m:r>
                            <m:rPr>
                              <m:sty m:val="i"/>
                            </m:rPr>
                            <a:rPr lang="en-US" i="1" sz="1568">
                              <a:latin typeface="Cambria Math"/>
                            </a:rPr>
                            <m:t>I</m:t>
                          </m:r>
                        </m:e>
                        <m:sub>
                          <m:r>
                            <m:rPr>
                              <m:sty m:val="i"/>
                            </m:rPr>
                            <a:rPr lang="en-US" i="1" sz="1568">
                              <a:latin typeface="Cambria Math"/>
                            </a:rPr>
                            <m:t>c</m:t>
                          </m:r>
                        </m:sub>
                      </m:sSub>
                      <m:r>
                        <m:rPr>
                          <m:sty m:val="p"/>
                        </m:rPr>
                        <a:rPr lang="en-US" i="0" sz="1568">
                          <a:latin typeface="Cambria Math"/>
                        </a:rPr>
                        <m:t>sin</m:t>
                      </m:r>
                      <m:r>
                        <m:rPr>
                          <m:sty m:val="p"/>
                        </m:rPr>
                        <a:rPr lang="en-US" i="0" sz="1568">
                          <a:latin typeface="Cambria Math"/>
                        </a:rPr>
                        <m:t/>
                      </m:r>
                      <m:r>
                        <m:rPr>
                          <m:sty m:val="i"/>
                        </m:rPr>
                        <a:rPr lang="en-US" i="1" sz="1568">
                          <a:latin typeface="Cambria Math"/>
                        </a:rPr>
                        <m:t>φ</m:t>
                      </m:r>
                      <m:r>
                        <m:rPr>
                          <m:sty m:val="p"/>
                        </m:rPr>
                        <a:rPr lang="en-US" i="0" sz="1568">
                          <a:latin typeface="Cambria Math"/>
                        </a:rPr>
                        <m:t>,</m:t>
                      </m:r>
                      <m:box>
                        <m:e>
                          <m:r>
                            <a:rPr lang="en-US" i="1" sz="1568">
                              <a:latin typeface="Cambria Math"/>
                            </a:rPr>
                            <m:t/>
                          </m:r>
                        </m:e>
                      </m:box>
                      <m:r>
                        <m:rPr>
                          <m:sty m:val="p"/>
                        </m:rPr>
                        <a:rPr lang="en-US" i="0" sz="1568">
                          <a:latin typeface="Cambria Math"/>
                        </a:rPr>
                        <m:t>Φ</m:t>
                      </m:r>
                      <m:r>
                        <m:rPr>
                          <m:sty m:val="p"/>
                        </m:rPr>
                        <a:rPr lang="en-US" i="0" sz="1568">
                          <a:latin typeface="Cambria Math"/>
                        </a:rPr>
                        <m:t>=</m:t>
                      </m:r>
                      <m:f>
                        <m:num>
                          <m:sSub>
                            <m:e>
                              <m:r>
                                <m:rPr>
                                  <m:sty m:val="p"/>
                                </m:rPr>
                                <a:rPr lang="en-US" i="0" sz="1568">
                                  <a:latin typeface="Cambria Math"/>
                                </a:rPr>
                                <m:t>Φ</m:t>
                              </m:r>
                            </m:e>
                            <m:sub>
                              <m:r>
                                <m:rPr>
                                  <m:sty m:val="p"/>
                                </m:rPr>
                                <a:rPr lang="en-US" i="0" sz="1568">
                                  <a:latin typeface="Cambria Math"/>
                                </a:rPr>
                                <m:t>0</m:t>
                              </m:r>
                            </m:sub>
                          </m:sSub>
                        </m:num>
                        <m:den>
                          <m:box>
                            <m:e>
                              <m:r>
                                <m:rPr>
                                  <m:sty m:val="p"/>
                                </m:rPr>
                                <a:rPr lang="en-US" i="0" sz="1568">
                                  <a:latin typeface="Cambria Math"/>
                                </a:rPr>
                                <m:t>2</m:t>
                              </m:r>
                              <m:r>
                                <m:rPr>
                                  <m:sty m:val="i"/>
                                </m:rPr>
                                <a:rPr lang="en-US" i="1" sz="1568">
                                  <a:latin typeface="Cambria Math"/>
                                </a:rPr>
                                <m:t>π</m:t>
                              </m:r>
                            </m:e>
                          </m:box>
                        </m:den>
                      </m:f>
                      <m:r>
                        <m:rPr>
                          <m:sty m:val="i"/>
                        </m:rPr>
                        <a:rPr lang="en-US" i="1" sz="1568">
                          <a:latin typeface="Cambria Math"/>
                        </a:rPr>
                        <m:t>φ</m:t>
                      </m:r>
                      <m:r>
                        <m:rPr>
                          <m:sty m:val="p"/>
                        </m:rPr>
                        <a:rPr lang="en-US" i="0" sz="1568">
                          <a:latin typeface="Cambria Math"/>
                        </a:rPr>
                        <m:t>.</m:t>
                      </m:r>
                    </m:oMath>
                  </m:oMathPara>
                </a14:m>
              </mc:Choice>
              <mc:Fallback>
                <a:r>
                  <a:rPr lang="en-US" sz="1567" i="1"/>
                  <a:t>
                \dot{\varphi}=\frac{2e}{\hbar}V=\frac{2\pi}{\Phi_0}V,
                \qquad I=I_c\sin\varphi,
                \qquad \Phi=\frac{\Phi_0}{2\pi}\varphi.
                </a:t>
                </a:r>
              </mc:Fallback>
            </mc:AlternateContent>
          </a:p>
        </p:txBody>
      </p:sp>
      <p:sp>
        <p:nvSpPr>
          <p:cNvPr id="8" name="TextBox 7"/>
          <p:cNvSpPr txBox="1"/>
          <p:nvPr/>
        </p:nvSpPr>
        <p:spPr>
          <a:xfrm>
            <a:off x="575733" y="2737644"/>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Because the current is a sinusoid of the phase, the effective junction inductance is phase-dependent:</a:t>
            </a:r>
          </a:p>
        </p:txBody>
      </p:sp>
      <p:sp>
        <p:nvSpPr>
          <p:cNvPr id="9" name="equation"/>
          <p:cNvSpPr txBox="1"/>
          <p:nvPr/>
        </p:nvSpPr>
        <p:spPr>
          <a:xfrm>
            <a:off x="575733" y="3160183"/>
            <a:ext cx="11040533" cy="633942"/>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568">
                              <a:latin typeface="Cambria Math"/>
                            </a:rPr>
                            <m:t>L</m:t>
                          </m:r>
                        </m:e>
                        <m:sub>
                          <m:r>
                            <m:rPr>
                              <m:sty m:val="i"/>
                            </m:rPr>
                            <a:rPr lang="en-US" i="1" sz="1568">
                              <a:latin typeface="Cambria Math"/>
                            </a:rPr>
                            <m:t>J</m:t>
                          </m:r>
                        </m:sub>
                      </m:sSub>
                      <m:r>
                        <m:rPr>
                          <m:sty m:val="p"/>
                        </m:rPr>
                        <a:rPr lang="en-US" i="0" sz="1568">
                          <a:latin typeface="Cambria Math"/>
                        </a:rPr>
                        <m:t>≡</m:t>
                      </m:r>
                      <m:f>
                        <m:num>
                          <m:box>
                            <m:e>
                              <m:r>
                                <m:rPr>
                                  <m:sty m:val="i"/>
                                </m:rPr>
                                <a:rPr lang="en-US" i="1" sz="1568">
                                  <a:latin typeface="Cambria Math"/>
                                </a:rPr>
                                <m:t>d</m:t>
                              </m:r>
                              <m:r>
                                <m:rPr>
                                  <m:sty m:val="p"/>
                                </m:rPr>
                                <a:rPr lang="en-US" i="0" sz="1568">
                                  <a:latin typeface="Cambria Math"/>
                                </a:rPr>
                                <m:t>Φ</m:t>
                              </m:r>
                            </m:e>
                          </m:box>
                        </m:num>
                        <m:den>
                          <m:box>
                            <m:e>
                              <m:r>
                                <m:rPr>
                                  <m:sty m:val="i"/>
                                </m:rPr>
                                <a:rPr lang="en-US" i="1" sz="1568">
                                  <a:latin typeface="Cambria Math"/>
                                </a:rPr>
                                <m:t>d</m:t>
                              </m:r>
                              <m:r>
                                <m:rPr>
                                  <m:sty m:val="i"/>
                                </m:rPr>
                                <a:rPr lang="en-US" i="1" sz="1568">
                                  <a:latin typeface="Cambria Math"/>
                                </a:rPr>
                                <m:t>I</m:t>
                              </m:r>
                            </m:e>
                          </m:box>
                        </m:den>
                      </m:f>
                      <m:r>
                        <m:rPr>
                          <m:sty m:val="p"/>
                        </m:rPr>
                        <a:rPr lang="en-US" i="0" sz="1568">
                          <a:latin typeface="Cambria Math"/>
                        </a:rPr>
                        <m:t>=</m:t>
                      </m:r>
                      <m:f>
                        <m:num>
                          <m:f>
                            <m:num>
                              <m:box>
                                <m:e>
                                  <m:r>
                                    <m:rPr>
                                      <m:sty m:val="i"/>
                                    </m:rPr>
                                    <a:rPr lang="en-US" i="1" sz="1568">
                                      <a:latin typeface="Cambria Math"/>
                                    </a:rPr>
                                    <m:t>d</m:t>
                                  </m:r>
                                  <m:r>
                                    <m:rPr>
                                      <m:sty m:val="p"/>
                                    </m:rPr>
                                    <a:rPr lang="en-US" i="0" sz="1568">
                                      <a:latin typeface="Cambria Math"/>
                                    </a:rPr>
                                    <m:t>Φ</m:t>
                                  </m:r>
                                </m:e>
                              </m:box>
                            </m:num>
                            <m:den>
                              <m:box>
                                <m:e>
                                  <m:r>
                                    <m:rPr>
                                      <m:sty m:val="i"/>
                                    </m:rPr>
                                    <a:rPr lang="en-US" i="1" sz="1568">
                                      <a:latin typeface="Cambria Math"/>
                                    </a:rPr>
                                    <m:t>d</m:t>
                                  </m:r>
                                  <m:r>
                                    <m:rPr>
                                      <m:sty m:val="i"/>
                                    </m:rPr>
                                    <a:rPr lang="en-US" i="1" sz="1568">
                                      <a:latin typeface="Cambria Math"/>
                                    </a:rPr>
                                    <m:t>φ</m:t>
                                  </m:r>
                                </m:e>
                              </m:box>
                            </m:den>
                          </m:f>
                        </m:num>
                        <m:den>
                          <m:f>
                            <m:num>
                              <m:box>
                                <m:e>
                                  <m:r>
                                    <m:rPr>
                                      <m:sty m:val="i"/>
                                    </m:rPr>
                                    <a:rPr lang="en-US" i="1" sz="1568">
                                      <a:latin typeface="Cambria Math"/>
                                    </a:rPr>
                                    <m:t>d</m:t>
                                  </m:r>
                                  <m:r>
                                    <m:rPr>
                                      <m:sty m:val="i"/>
                                    </m:rPr>
                                    <a:rPr lang="en-US" i="1" sz="1568">
                                      <a:latin typeface="Cambria Math"/>
                                    </a:rPr>
                                    <m:t>I</m:t>
                                  </m:r>
                                </m:e>
                              </m:box>
                            </m:num>
                            <m:den>
                              <m:box>
                                <m:e>
                                  <m:r>
                                    <m:rPr>
                                      <m:sty m:val="i"/>
                                    </m:rPr>
                                    <a:rPr lang="en-US" i="1" sz="1568">
                                      <a:latin typeface="Cambria Math"/>
                                    </a:rPr>
                                    <m:t>d</m:t>
                                  </m:r>
                                  <m:r>
                                    <m:rPr>
                                      <m:sty m:val="i"/>
                                    </m:rPr>
                                    <a:rPr lang="en-US" i="1" sz="1568">
                                      <a:latin typeface="Cambria Math"/>
                                    </a:rPr>
                                    <m:t>φ</m:t>
                                  </m:r>
                                </m:e>
                              </m:box>
                            </m:den>
                          </m:f>
                        </m:den>
                      </m:f>
                      <m:r>
                        <m:rPr>
                          <m:sty m:val="p"/>
                        </m:rPr>
                        <a:rPr lang="en-US" i="0" sz="1568">
                          <a:latin typeface="Cambria Math"/>
                        </a:rPr>
                        <m:t>=</m:t>
                      </m:r>
                      <m:f>
                        <m:num>
                          <m:f>
                            <m:num>
                              <m:sSub>
                                <m:e>
                                  <m:r>
                                    <m:rPr>
                                      <m:sty m:val="p"/>
                                    </m:rPr>
                                    <a:rPr lang="en-US" i="0" sz="1568">
                                      <a:latin typeface="Cambria Math"/>
                                    </a:rPr>
                                    <m:t>Φ</m:t>
                                  </m:r>
                                </m:e>
                                <m:sub>
                                  <m:r>
                                    <m:rPr>
                                      <m:sty m:val="p"/>
                                    </m:rPr>
                                    <a:rPr lang="en-US" i="0" sz="1568">
                                      <a:latin typeface="Cambria Math"/>
                                    </a:rPr>
                                    <m:t>0</m:t>
                                  </m:r>
                                </m:sub>
                              </m:sSub>
                            </m:num>
                            <m:den>
                              <m:box>
                                <m:e>
                                  <m:r>
                                    <m:rPr>
                                      <m:sty m:val="p"/>
                                    </m:rPr>
                                    <a:rPr lang="en-US" i="0" sz="1568">
                                      <a:latin typeface="Cambria Math"/>
                                    </a:rPr>
                                    <m:t>2</m:t>
                                  </m:r>
                                  <m:r>
                                    <m:rPr>
                                      <m:sty m:val="i"/>
                                    </m:rPr>
                                    <a:rPr lang="en-US" i="1" sz="1568">
                                      <a:latin typeface="Cambria Math"/>
                                    </a:rPr>
                                    <m:t>π</m:t>
                                  </m:r>
                                </m:e>
                              </m:box>
                            </m:den>
                          </m:f>
                        </m:num>
                        <m:den>
                          <m:box>
                            <m:e>
                              <m:sSub>
                                <m:e>
                                  <m:r>
                                    <m:rPr>
                                      <m:sty m:val="i"/>
                                    </m:rPr>
                                    <a:rPr lang="en-US" i="1" sz="1568">
                                      <a:latin typeface="Cambria Math"/>
                                    </a:rPr>
                                    <m:t>I</m:t>
                                  </m:r>
                                </m:e>
                                <m:sub>
                                  <m:r>
                                    <m:rPr>
                                      <m:sty m:val="i"/>
                                    </m:rPr>
                                    <a:rPr lang="en-US" i="1" sz="1568">
                                      <a:latin typeface="Cambria Math"/>
                                    </a:rPr>
                                    <m:t>c</m:t>
                                  </m:r>
                                </m:sub>
                              </m:sSub>
                              <m:r>
                                <m:rPr>
                                  <m:sty m:val="p"/>
                                </m:rPr>
                                <a:rPr lang="en-US" i="0" sz="1568">
                                  <a:latin typeface="Cambria Math"/>
                                </a:rPr>
                                <m:t>cos</m:t>
                              </m:r>
                              <m:r>
                                <m:rPr>
                                  <m:sty m:val="p"/>
                                </m:rPr>
                                <a:rPr lang="en-US" i="0" sz="1568">
                                  <a:latin typeface="Cambria Math"/>
                                </a:rPr>
                                <m:t/>
                              </m:r>
                              <m:r>
                                <m:rPr>
                                  <m:sty m:val="i"/>
                                </m:rPr>
                                <a:rPr lang="en-US" i="1" sz="1568">
                                  <a:latin typeface="Cambria Math"/>
                                </a:rPr>
                                <m:t>φ</m:t>
                              </m:r>
                            </m:e>
                          </m:box>
                        </m:den>
                      </m:f>
                      <m:r>
                        <m:rPr>
                          <m:sty m:val="p"/>
                        </m:rPr>
                        <a:rPr lang="en-US" i="0" sz="1568">
                          <a:latin typeface="Cambria Math"/>
                        </a:rPr>
                        <m:t>=</m:t>
                      </m:r>
                      <m:f>
                        <m:num>
                          <m:sSub>
                            <m:e>
                              <m:r>
                                <m:rPr>
                                  <m:sty m:val="p"/>
                                </m:rPr>
                                <a:rPr lang="en-US" i="0" sz="1568">
                                  <a:latin typeface="Cambria Math"/>
                                </a:rPr>
                                <m:t>Φ</m:t>
                              </m:r>
                            </m:e>
                            <m:sub>
                              <m:r>
                                <m:rPr>
                                  <m:sty m:val="p"/>
                                </m:rPr>
                                <a:rPr lang="en-US" i="0" sz="1568">
                                  <a:latin typeface="Cambria Math"/>
                                </a:rPr>
                                <m:t>0</m:t>
                              </m:r>
                            </m:sub>
                          </m:sSub>
                        </m:num>
                        <m:den>
                          <m:box>
                            <m:e>
                              <m:r>
                                <m:rPr>
                                  <m:sty m:val="p"/>
                                </m:rPr>
                                <a:rPr lang="en-US" i="0" sz="1568">
                                  <a:latin typeface="Cambria Math"/>
                                </a:rPr>
                                <m:t>2</m:t>
                              </m:r>
                              <m:r>
                                <m:rPr>
                                  <m:sty m:val="i"/>
                                </m:rPr>
                                <a:rPr lang="en-US" i="1" sz="1568">
                                  <a:latin typeface="Cambria Math"/>
                                </a:rPr>
                                <m:t>π</m:t>
                              </m:r>
                              <m:sSub>
                                <m:e>
                                  <m:r>
                                    <m:rPr>
                                      <m:sty m:val="i"/>
                                    </m:rPr>
                                    <a:rPr lang="en-US" i="1" sz="1568">
                                      <a:latin typeface="Cambria Math"/>
                                    </a:rPr>
                                    <m:t>I</m:t>
                                  </m:r>
                                </m:e>
                                <m:sub>
                                  <m:r>
                                    <m:rPr>
                                      <m:sty m:val="i"/>
                                    </m:rPr>
                                    <a:rPr lang="en-US" i="1" sz="1568">
                                      <a:latin typeface="Cambria Math"/>
                                    </a:rPr>
                                    <m:t>c</m:t>
                                  </m:r>
                                </m:sub>
                              </m:sSub>
                              <m:r>
                                <m:rPr>
                                  <m:sty m:val="p"/>
                                </m:rPr>
                                <a:rPr lang="en-US" i="0" sz="1568">
                                  <a:latin typeface="Cambria Math"/>
                                </a:rPr>
                                <m:t>cos</m:t>
                              </m:r>
                              <m:r>
                                <m:rPr>
                                  <m:sty m:val="p"/>
                                </m:rPr>
                                <a:rPr lang="en-US" i="0" sz="1568">
                                  <a:latin typeface="Cambria Math"/>
                                </a:rPr>
                                <m:t/>
                              </m:r>
                              <m:r>
                                <m:rPr>
                                  <m:sty m:val="i"/>
                                </m:rPr>
                                <a:rPr lang="en-US" i="1" sz="1568">
                                  <a:latin typeface="Cambria Math"/>
                                </a:rPr>
                                <m:t>φ</m:t>
                              </m:r>
                            </m:e>
                          </m:box>
                        </m:den>
                      </m:f>
                      <m:r>
                        <m:rPr>
                          <m:sty m:val="p"/>
                        </m:rPr>
                        <a:rPr lang="en-US" i="0" sz="1568">
                          <a:latin typeface="Cambria Math"/>
                        </a:rPr>
                        <m:t>.</m:t>
                      </m:r>
                    </m:oMath>
                  </m:oMathPara>
                </a14:m>
              </mc:Choice>
              <mc:Fallback>
                <a:r>
                  <a:rPr lang="en-US" sz="1567" i="1"/>
                  <a:t>
                L_J\equiv\frac{d\Phi}{dI}
                =\frac{\frac{d\Phi}{d\varphi}}{\frac{dI}{d\varphi}}
                =\frac{\frac{\Phi_0}{2\pi}}{I_c\cos\varphi}
                =\frac{\Phi_0}{2\pi I_c\cos\varphi}.
                </a:t>
                </a:r>
              </mc:Fallback>
            </mc:AlternateContent>
          </a:p>
        </p:txBody>
      </p:sp>
      <p:sp>
        <p:nvSpPr>
          <p:cNvPr id="10" name="TextBox 9"/>
          <p:cNvSpPr txBox="1"/>
          <p:nvPr/>
        </p:nvSpPr>
        <p:spPr>
          <a:xfrm>
            <a:off x="575733" y="3971925"/>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The Josephson Energy</a:t>
            </a:r>
          </a:p>
        </p:txBody>
      </p:sp>
      <p:sp>
        <p:nvSpPr>
          <p:cNvPr id="11" name="equation"/>
          <p:cNvSpPr txBox="1"/>
          <p:nvPr/>
        </p:nvSpPr>
        <p:spPr>
          <a:xfrm>
            <a:off x="575733" y="4399492"/>
            <a:ext cx="11040533" cy="495300"/>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568">
                              <a:latin typeface="Cambria Math"/>
                            </a:rPr>
                            <m:t>U</m:t>
                          </m:r>
                        </m:e>
                        <m:sub>
                          <m:r>
                            <m:rPr>
                              <m:sty m:val="i"/>
                            </m:rPr>
                            <a:rPr lang="en-US" i="1" sz="1568">
                              <a:latin typeface="Cambria Math"/>
                            </a:rPr>
                            <m:t>J</m:t>
                          </m:r>
                        </m:sub>
                      </m:sSub>
                      <m:r>
                        <m:rPr>
                          <m:sty m:val="p"/>
                        </m:rPr>
                        <a:rPr lang="en-US" i="0" sz="1568">
                          <a:latin typeface="Cambria Math"/>
                        </a:rPr>
                        <m:t>=</m:t>
                      </m:r>
                      <m:nary>
                        <m:naryPr>
                          <m:chr m:val="∫"/>
                          <m:limLoc m:val="subSup"/>
                        </m:naryPr>
                        <m:sub>
                          <m:r>
                            <m:rPr>
                              <m:sty m:val="p"/>
                            </m:rPr>
                            <a:rPr lang="en-US" i="0" sz="1568">
                              <a:latin typeface="Cambria Math"/>
                            </a:rPr>
                            <m:t>0</m:t>
                          </m:r>
                        </m:sub>
                        <m:sup>
                          <m:r>
                            <m:rPr>
                              <m:sty m:val="i"/>
                            </m:rPr>
                            <a:rPr lang="en-US" i="1" sz="1568">
                              <a:latin typeface="Cambria Math"/>
                            </a:rPr>
                            <m:t>T</m:t>
                          </m:r>
                        </m:sup>
                        <m:e>
                          <m:r>
                            <m:rPr>
                              <m:sty m:val="i"/>
                            </m:rPr>
                            <a:rPr lang="en-US" i="1" sz="1568">
                              <a:latin typeface="Cambria Math"/>
                            </a:rPr>
                            <m:t>I</m:t>
                          </m:r>
                          <m:r>
                            <m:rPr>
                              <m:sty m:val="i"/>
                            </m:rPr>
                            <a:rPr lang="en-US" i="1" sz="1568">
                              <a:latin typeface="Cambria Math"/>
                            </a:rPr>
                            <m:t>V</m:t>
                          </m:r>
                          <m:box>
                            <m:e>
                              <m:r>
                                <a:rPr lang="en-US" i="1" sz="1568">
                                  <a:latin typeface="Cambria Math"/>
                                </a:rPr>
                                <m:t/>
                              </m:r>
                            </m:e>
                          </m:box>
                          <m:r>
                            <m:rPr>
                              <m:sty m:val="i"/>
                            </m:rPr>
                            <a:rPr lang="en-US" i="1" sz="1568">
                              <a:latin typeface="Cambria Math"/>
                            </a:rPr>
                            <m:t>d</m:t>
                          </m:r>
                          <m:r>
                            <m:rPr>
                              <m:sty m:val="i"/>
                            </m:rPr>
                            <a:rPr lang="en-US" i="1" sz="1568">
                              <a:latin typeface="Cambria Math"/>
                            </a:rPr>
                            <m:t>t</m:t>
                          </m:r>
                          <m:r>
                            <m:rPr>
                              <m:sty m:val="p"/>
                            </m:rPr>
                            <a:rPr lang="en-US" i="0" sz="1568">
                              <a:latin typeface="Cambria Math"/>
                            </a:rPr>
                            <m:t>=</m:t>
                          </m:r>
                          <m:nary>
                            <m:naryPr>
                              <m:chr m:val="∫"/>
                              <m:limLoc m:val="subSup"/>
                            </m:naryPr>
                            <m:sub>
                              <m:r>
                                <m:rPr>
                                  <m:sty m:val="p"/>
                                </m:rPr>
                                <a:rPr lang="en-US" i="0" sz="1568">
                                  <a:latin typeface="Cambria Math"/>
                                </a:rPr>
                                <m:t>0</m:t>
                              </m:r>
                            </m:sub>
                            <m:sup>
                              <m:r>
                                <m:rPr>
                                  <m:sty m:val="i"/>
                                </m:rPr>
                                <a:rPr lang="en-US" i="1" sz="1568">
                                  <a:latin typeface="Cambria Math"/>
                                </a:rPr>
                                <m:t>T</m:t>
                              </m:r>
                            </m:sup>
                            <m:e>
                              <m:sSub>
                                <m:e>
                                  <m:r>
                                    <m:rPr>
                                      <m:sty m:val="i"/>
                                    </m:rPr>
                                    <a:rPr lang="en-US" i="1" sz="1568">
                                      <a:latin typeface="Cambria Math"/>
                                    </a:rPr>
                                    <m:t>I</m:t>
                                  </m:r>
                                </m:e>
                                <m:sub>
                                  <m:r>
                                    <m:rPr>
                                      <m:sty m:val="i"/>
                                    </m:rPr>
                                    <a:rPr lang="en-US" i="1" sz="1568">
                                      <a:latin typeface="Cambria Math"/>
                                    </a:rPr>
                                    <m:t>c</m:t>
                                  </m:r>
                                </m:sub>
                              </m:sSub>
                              <m:r>
                                <m:rPr>
                                  <m:sty m:val="p"/>
                                </m:rPr>
                                <a:rPr lang="en-US" i="0" sz="1568">
                                  <a:latin typeface="Cambria Math"/>
                                </a:rPr>
                                <m:t>sin</m:t>
                              </m:r>
                              <m:r>
                                <m:rPr>
                                  <m:sty m:val="p"/>
                                </m:rPr>
                                <a:rPr lang="en-US" i="0" sz="1568">
                                  <a:latin typeface="Cambria Math"/>
                                </a:rPr>
                                <m:t/>
                              </m:r>
                              <m:r>
                                <m:rPr>
                                  <m:sty m:val="i"/>
                                </m:rPr>
                                <a:rPr lang="en-US" i="1" sz="1568">
                                  <a:latin typeface="Cambria Math"/>
                                </a:rPr>
                                <m:t>φ</m:t>
                              </m:r>
                              <m:box>
                                <m:e>
                                  <m:r>
                                    <a:rPr lang="en-US" i="1" sz="1568">
                                      <a:latin typeface="Cambria Math"/>
                                    </a:rPr>
                                    <m:t/>
                                  </m:r>
                                </m:e>
                              </m:box>
                              <m:f>
                                <m:num>
                                  <m:sSub>
                                    <m:e>
                                      <m:r>
                                        <m:rPr>
                                          <m:sty m:val="p"/>
                                        </m:rPr>
                                        <a:rPr lang="en-US" i="0" sz="1568">
                                          <a:latin typeface="Cambria Math"/>
                                        </a:rPr>
                                        <m:t>Φ</m:t>
                                      </m:r>
                                    </m:e>
                                    <m:sub>
                                      <m:r>
                                        <m:rPr>
                                          <m:sty m:val="p"/>
                                        </m:rPr>
                                        <a:rPr lang="en-US" i="0" sz="1568">
                                          <a:latin typeface="Cambria Math"/>
                                        </a:rPr>
                                        <m:t>0</m:t>
                                      </m:r>
                                    </m:sub>
                                  </m:sSub>
                                </m:num>
                                <m:den>
                                  <m:box>
                                    <m:e>
                                      <m:r>
                                        <m:rPr>
                                          <m:sty m:val="p"/>
                                        </m:rPr>
                                        <a:rPr lang="en-US" i="0" sz="1568">
                                          <a:latin typeface="Cambria Math"/>
                                        </a:rPr>
                                        <m:t>2</m:t>
                                      </m:r>
                                      <m:r>
                                        <m:rPr>
                                          <m:sty m:val="i"/>
                                        </m:rPr>
                                        <a:rPr lang="en-US" i="1" sz="1568">
                                          <a:latin typeface="Cambria Math"/>
                                        </a:rPr>
                                        <m:t>π</m:t>
                                      </m:r>
                                    </m:e>
                                  </m:box>
                                </m:den>
                              </m:f>
                              <m:box>
                                <m:e>
                                  <m:limUpp>
                                    <m:e>
                                      <m:r>
                                        <m:rPr>
                                          <m:sty m:val="i"/>
                                        </m:rPr>
                                        <a:rPr lang="en-US" i="1" sz="1568">
                                          <a:latin typeface="Cambria Math"/>
                                        </a:rPr>
                                        <m:t>φ</m:t>
                                      </m:r>
                                    </m:e>
                                    <m:lim>
                                      <m:r>
                                        <m:rPr>
                                          <m:sty m:val="p"/>
                                        </m:rPr>
                                        <a:rPr lang="en-US" i="0" sz="1568">
                                          <a:latin typeface="Cambria Math"/>
                                        </a:rPr>
                                        <m:t>˙</m:t>
                                      </m:r>
                                    </m:lim>
                                  </m:limUpp>
                                </m:e>
                              </m:box>
                              <m:box>
                                <m:e>
                                  <m:r>
                                    <a:rPr lang="en-US" i="1" sz="1568">
                                      <a:latin typeface="Cambria Math"/>
                                    </a:rPr>
                                    <m:t/>
                                  </m:r>
                                </m:e>
                              </m:box>
                              <m:r>
                                <m:rPr>
                                  <m:sty m:val="i"/>
                                </m:rPr>
                                <a:rPr lang="en-US" i="1" sz="1568">
                                  <a:latin typeface="Cambria Math"/>
                                </a:rPr>
                                <m:t>d</m:t>
                              </m:r>
                              <m:r>
                                <m:rPr>
                                  <m:sty m:val="i"/>
                                </m:rPr>
                                <a:rPr lang="en-US" i="1" sz="1568">
                                  <a:latin typeface="Cambria Math"/>
                                </a:rPr>
                                <m:t>t</m:t>
                              </m:r>
                              <m:r>
                                <m:rPr>
                                  <m:sty m:val="p"/>
                                </m:rPr>
                                <a:rPr lang="en-US" i="0" sz="1568">
                                  <a:latin typeface="Cambria Math"/>
                                </a:rPr>
                                <m:t>=</m:t>
                              </m:r>
                              <m:f>
                                <m:num>
                                  <m:box>
                                    <m:e>
                                      <m:sSub>
                                        <m:e>
                                          <m:r>
                                            <m:rPr>
                                              <m:sty m:val="i"/>
                                            </m:rPr>
                                            <a:rPr lang="en-US" i="1" sz="1568">
                                              <a:latin typeface="Cambria Math"/>
                                            </a:rPr>
                                            <m:t>I</m:t>
                                          </m:r>
                                        </m:e>
                                        <m:sub>
                                          <m:r>
                                            <m:rPr>
                                              <m:sty m:val="i"/>
                                            </m:rPr>
                                            <a:rPr lang="en-US" i="1" sz="1568">
                                              <a:latin typeface="Cambria Math"/>
                                            </a:rPr>
                                            <m:t>c</m:t>
                                          </m:r>
                                        </m:sub>
                                      </m:sSub>
                                      <m:sSub>
                                        <m:e>
                                          <m:r>
                                            <m:rPr>
                                              <m:sty m:val="p"/>
                                            </m:rPr>
                                            <a:rPr lang="en-US" i="0" sz="1568">
                                              <a:latin typeface="Cambria Math"/>
                                            </a:rPr>
                                            <m:t>Φ</m:t>
                                          </m:r>
                                        </m:e>
                                        <m:sub>
                                          <m:r>
                                            <m:rPr>
                                              <m:sty m:val="p"/>
                                            </m:rPr>
                                            <a:rPr lang="en-US" i="0" sz="1568">
                                              <a:latin typeface="Cambria Math"/>
                                            </a:rPr>
                                            <m:t>0</m:t>
                                          </m:r>
                                        </m:sub>
                                      </m:sSub>
                                    </m:e>
                                  </m:box>
                                </m:num>
                                <m:den>
                                  <m:box>
                                    <m:e>
                                      <m:r>
                                        <m:rPr>
                                          <m:sty m:val="p"/>
                                        </m:rPr>
                                        <a:rPr lang="en-US" i="0" sz="1568">
                                          <a:latin typeface="Cambria Math"/>
                                        </a:rPr>
                                        <m:t>2</m:t>
                                      </m:r>
                                      <m:r>
                                        <m:rPr>
                                          <m:sty m:val="i"/>
                                        </m:rPr>
                                        <a:rPr lang="en-US" i="1" sz="1568">
                                          <a:latin typeface="Cambria Math"/>
                                        </a:rPr>
                                        <m:t>π</m:t>
                                      </m:r>
                                    </m:e>
                                  </m:box>
                                </m:den>
                              </m:f>
                              <m:nary>
                                <m:naryPr>
                                  <m:chr m:val="∫"/>
                                  <m:limLoc m:val="subSup"/>
                                </m:naryPr>
                                <m:sub>
                                  <m:r>
                                    <m:rPr>
                                      <m:sty m:val="p"/>
                                    </m:rPr>
                                    <a:rPr lang="en-US" i="0" sz="1568">
                                      <a:latin typeface="Cambria Math"/>
                                    </a:rPr>
                                    <m:t>0</m:t>
                                  </m:r>
                                </m:sub>
                                <m:sup>
                                  <m:box>
                                    <m:e>
                                      <m:box>
                                        <m:e>
                                          <m:limUpp>
                                            <m:e>
                                              <m:r>
                                                <m:rPr>
                                                  <m:sty m:val="i"/>
                                                </m:rPr>
                                                <a:rPr lang="en-US" i="1" sz="1568">
                                                  <a:latin typeface="Cambria Math"/>
                                                </a:rPr>
                                                <m:t>φ</m:t>
                                              </m:r>
                                            </m:e>
                                            <m:lim>
                                              <m:r>
                                                <m:rPr>
                                                  <m:sty m:val="p"/>
                                                </m:rPr>
                                                <a:rPr lang="en-US" i="0" sz="1568">
                                                  <a:latin typeface="Cambria Math"/>
                                                </a:rPr>
                                                <m:t>¯</m:t>
                                              </m:r>
                                            </m:lim>
                                          </m:limUpp>
                                        </m:e>
                                      </m:box>
                                    </m:e>
                                  </m:box>
                                </m:sup>
                                <m:e>
                                  <m:r>
                                    <m:rPr>
                                      <m:sty m:val="p"/>
                                    </m:rPr>
                                    <a:rPr lang="en-US" i="0" sz="1568">
                                      <a:latin typeface="Cambria Math"/>
                                    </a:rPr>
                                    <m:t>sin</m:t>
                                  </m:r>
                                  <m:r>
                                    <m:rPr>
                                      <m:sty m:val="p"/>
                                    </m:rPr>
                                    <a:rPr lang="en-US" i="0" sz="1568">
                                      <a:latin typeface="Cambria Math"/>
                                    </a:rPr>
                                    <m:t/>
                                  </m:r>
                                  <m:r>
                                    <m:rPr>
                                      <m:sty m:val="i"/>
                                    </m:rPr>
                                    <a:rPr lang="en-US" i="1" sz="1568">
                                      <a:latin typeface="Cambria Math"/>
                                    </a:rPr>
                                    <m:t>φ</m:t>
                                  </m:r>
                                  <m:box>
                                    <m:e>
                                      <m:r>
                                        <a:rPr lang="en-US" i="1" sz="1568">
                                          <a:latin typeface="Cambria Math"/>
                                        </a:rPr>
                                        <m:t/>
                                      </m:r>
                                    </m:e>
                                  </m:box>
                                  <m:r>
                                    <m:rPr>
                                      <m:sty m:val="i"/>
                                    </m:rPr>
                                    <a:rPr lang="en-US" i="1" sz="1568">
                                      <a:latin typeface="Cambria Math"/>
                                    </a:rPr>
                                    <m:t>d</m:t>
                                  </m:r>
                                  <m:r>
                                    <m:rPr>
                                      <m:sty m:val="i"/>
                                    </m:rPr>
                                    <a:rPr lang="en-US" i="1" sz="1568">
                                      <a:latin typeface="Cambria Math"/>
                                    </a:rPr>
                                    <m:t>φ</m:t>
                                  </m:r>
                                  <m:r>
                                    <m:rPr>
                                      <m:sty m:val="p"/>
                                    </m:rPr>
                                    <a:rPr lang="en-US" i="0" sz="1568">
                                      <a:latin typeface="Cambria Math"/>
                                    </a:rPr>
                                    <m:t>=</m:t>
                                  </m:r>
                                  <m:f>
                                    <m:num>
                                      <m:box>
                                        <m:e>
                                          <m:sSub>
                                            <m:e>
                                              <m:r>
                                                <m:rPr>
                                                  <m:sty m:val="i"/>
                                                </m:rPr>
                                                <a:rPr lang="en-US" i="1" sz="1568">
                                                  <a:latin typeface="Cambria Math"/>
                                                </a:rPr>
                                                <m:t>I</m:t>
                                              </m:r>
                                            </m:e>
                                            <m:sub>
                                              <m:r>
                                                <m:rPr>
                                                  <m:sty m:val="i"/>
                                                </m:rPr>
                                                <a:rPr lang="en-US" i="1" sz="1568">
                                                  <a:latin typeface="Cambria Math"/>
                                                </a:rPr>
                                                <m:t>c</m:t>
                                              </m:r>
                                            </m:sub>
                                          </m:sSub>
                                          <m:sSub>
                                            <m:e>
                                              <m:r>
                                                <m:rPr>
                                                  <m:sty m:val="p"/>
                                                </m:rPr>
                                                <a:rPr lang="en-US" i="0" sz="1568">
                                                  <a:latin typeface="Cambria Math"/>
                                                </a:rPr>
                                                <m:t>Φ</m:t>
                                              </m:r>
                                            </m:e>
                                            <m:sub>
                                              <m:r>
                                                <m:rPr>
                                                  <m:sty m:val="p"/>
                                                </m:rPr>
                                                <a:rPr lang="en-US" i="0" sz="1568">
                                                  <a:latin typeface="Cambria Math"/>
                                                </a:rPr>
                                                <m:t>0</m:t>
                                              </m:r>
                                            </m:sub>
                                          </m:sSub>
                                        </m:e>
                                      </m:box>
                                    </m:num>
                                    <m:den>
                                      <m:box>
                                        <m:e>
                                          <m:r>
                                            <m:rPr>
                                              <m:sty m:val="p"/>
                                            </m:rPr>
                                            <a:rPr lang="en-US" i="0" sz="1568">
                                              <a:latin typeface="Cambria Math"/>
                                            </a:rPr>
                                            <m:t>2</m:t>
                                          </m:r>
                                          <m:r>
                                            <m:rPr>
                                              <m:sty m:val="i"/>
                                            </m:rPr>
                                            <a:rPr lang="en-US" i="1" sz="1568">
                                              <a:latin typeface="Cambria Math"/>
                                            </a:rPr>
                                            <m:t>π</m:t>
                                          </m:r>
                                        </m:e>
                                      </m:box>
                                    </m:den>
                                  </m:f>
                                  <m:box>
                                    <m:e>
                                      <m:d>
                                        <m:dPr>
                                          <m:begChr m:val="["/>
                                          <m:endChr m:val="]"/>
                                        </m:dPr>
                                        <m:e>
                                          <m:box>
                                            <m:e>
                                              <m:r>
                                                <m:rPr>
                                                  <m:sty m:val="p"/>
                                                </m:rPr>
                                                <a:rPr lang="en-US" i="0" sz="1568">
                                                  <a:latin typeface="Cambria Math"/>
                                                </a:rPr>
                                                <m:t>1</m:t>
                                              </m:r>
                                              <m:r>
                                                <m:rPr>
                                                  <m:sty m:val="p"/>
                                                </m:rPr>
                                                <a:rPr lang="en-US" i="0" sz="1568">
                                                  <a:latin typeface="Cambria Math"/>
                                                </a:rPr>
                                                <m:t>−</m:t>
                                              </m:r>
                                              <m:r>
                                                <m:rPr>
                                                  <m:sty m:val="p"/>
                                                </m:rPr>
                                                <a:rPr lang="en-US" i="0" sz="1568">
                                                  <a:latin typeface="Cambria Math"/>
                                                </a:rPr>
                                                <m:t>cos</m:t>
                                              </m:r>
                                              <m:r>
                                                <m:rPr>
                                                  <m:sty m:val="p"/>
                                                </m:rPr>
                                                <a:rPr lang="en-US" i="0" sz="1568">
                                                  <a:latin typeface="Cambria Math"/>
                                                </a:rPr>
                                                <m:t/>
                                              </m:r>
                                              <m:box>
                                                <m:e>
                                                  <m:limUpp>
                                                    <m:e>
                                                      <m:r>
                                                        <m:rPr>
                                                          <m:sty m:val="i"/>
                                                        </m:rPr>
                                                        <a:rPr lang="en-US" i="1" sz="1568">
                                                          <a:latin typeface="Cambria Math"/>
                                                        </a:rPr>
                                                        <m:t>φ</m:t>
                                                      </m:r>
                                                    </m:e>
                                                    <m:lim>
                                                      <m:r>
                                                        <m:rPr>
                                                          <m:sty m:val="p"/>
                                                        </m:rPr>
                                                        <a:rPr lang="en-US" i="0" sz="1568">
                                                          <a:latin typeface="Cambria Math"/>
                                                        </a:rPr>
                                                        <m:t>¯</m:t>
                                                      </m:r>
                                                    </m:lim>
                                                  </m:limUpp>
                                                </m:e>
                                              </m:box>
                                            </m:e>
                                          </m:box>
                                        </m:e>
                                      </m:d>
                                    </m:e>
                                  </m:box>
                                  <m:r>
                                    <m:rPr>
                                      <m:sty m:val="p"/>
                                    </m:rPr>
                                    <a:rPr lang="en-US" i="0" sz="1568">
                                      <a:latin typeface="Cambria Math"/>
                                    </a:rPr>
                                    <m:t>.</m:t>
                                  </m:r>
                                </m:e>
                              </m:nary>
                            </m:e>
                          </m:nary>
                        </m:e>
                      </m:nary>
                    </m:oMath>
                  </m:oMathPara>
                </a14:m>
              </mc:Choice>
              <mc:Fallback>
                <a:r>
                  <a:rPr lang="en-US" sz="1567" i="1"/>
                  <a:t>
                U_J=\int_0^T IV\,dt
                =\int_0^T I_c\sin\varphi\,\frac{\Phi_0}{2\pi}\dot{\varphi}\,dt
                =\frac{I_c\Phi_0}{2\pi}\int_0^{\bar{\varphi}}\sin\varphi\,d\varphi
                =\frac{I_c\Phi_0}{2\pi}\left[1-\cos\bar{\varphi}\right].
                </a:t>
                </a:r>
              </mc:Fallback>
            </mc:AlternateContent>
          </a:p>
        </p:txBody>
      </p:sp>
      <p:sp>
        <p:nvSpPr>
          <p:cNvPr id="12" name="TextBox 11"/>
          <p:cNvSpPr txBox="1"/>
          <p:nvPr/>
        </p:nvSpPr>
        <p:spPr>
          <a:xfrm>
            <a:off x="575733" y="5047192"/>
            <a:ext cx="11040533"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Define the Josephson energy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J</m:t>
                        </m:r>
                      </m:sub>
                    </m:sSub>
                  </m:oMath>
                </a14:m>
              </mc:Choice>
              <mc:Fallback>
                <a:r>
                  <a:rPr lang="en-US" sz="1664" i="1"/>
                  <a:t>E_J</a:t>
                </a:r>
              </mc:Fallback>
            </mc:AlternateContent>
            <a:r>
              <a:rPr sz="1400" b="0" i="0">
                <a:solidFill>
                  <a:srgbClr val="4F4C56"/>
                </a:solidFill>
                <a:latin typeface="Montserrat"/>
                <a:ea typeface="Montserrat"/>
                <a:cs typeface="Montserrat"/>
              </a:rPr>
              <a:t> so that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U</m:t>
                        </m:r>
                      </m:e>
                      <m:sub>
                        <m:r>
                          <m:rPr>
                            <m:sty m:val="i"/>
                          </m:rPr>
                          <a:rPr lang="en-US" i="1" sz="1665">
                            <a:latin typeface="Cambria Math"/>
                          </a:rPr>
                          <m:t>J</m:t>
                        </m:r>
                      </m:sub>
                    </m:sSub>
                    <m:r>
                      <m:rPr>
                        <m:sty m:val="p"/>
                      </m:rPr>
                      <a:rPr lang="en-US" i="0" sz="1665">
                        <a:latin typeface="Cambria Math"/>
                      </a:rPr>
                      <m:t>(</m:t>
                    </m:r>
                    <m:r>
                      <m:rPr>
                        <m:sty m:val="i"/>
                      </m:rPr>
                      <a:rPr lang="en-US" i="1" sz="1665">
                        <a:latin typeface="Cambria Math"/>
                      </a:rPr>
                      <m:t>φ</m:t>
                    </m:r>
                    <m:r>
                      <m:rPr>
                        <m:sty m:val="p"/>
                      </m:rPr>
                      <a:rPr lang="en-US" i="0" sz="1665">
                        <a:latin typeface="Cambria Math"/>
                      </a:rPr>
                      <m:t>)</m:t>
                    </m:r>
                    <m:r>
                      <m:rPr>
                        <m:sty m:val="p"/>
                      </m:rPr>
                      <a:rPr lang="en-US" i="0" sz="1665">
                        <a:latin typeface="Cambria Math"/>
                      </a:rPr>
                      <m:t>=</m:t>
                    </m:r>
                    <m:sSub>
                      <m:e>
                        <m:r>
                          <m:rPr>
                            <m:sty m:val="i"/>
                          </m:rPr>
                          <a:rPr lang="en-US" i="1" sz="1665">
                            <a:latin typeface="Cambria Math"/>
                          </a:rPr>
                          <m:t>E</m:t>
                        </m:r>
                      </m:e>
                      <m:sub>
                        <m:r>
                          <m:rPr>
                            <m:sty m:val="i"/>
                          </m:rPr>
                          <a:rPr lang="en-US" i="1" sz="1665">
                            <a:latin typeface="Cambria Math"/>
                          </a:rPr>
                          <m:t>J</m:t>
                        </m:r>
                      </m:sub>
                    </m:sSub>
                    <m:r>
                      <m:rPr>
                        <m:sty m:val="p"/>
                      </m:rPr>
                      <a:rPr lang="en-US" i="0" sz="1665">
                        <a:latin typeface="Cambria Math"/>
                      </a:rPr>
                      <m:t>(</m:t>
                    </m:r>
                    <m:r>
                      <m:rPr>
                        <m:sty m:val="p"/>
                      </m:rPr>
                      <a:rPr lang="en-US" i="0" sz="1665">
                        <a:latin typeface="Cambria Math"/>
                      </a:rPr>
                      <m:t>1</m:t>
                    </m:r>
                    <m:r>
                      <m:rPr>
                        <m:sty m:val="p"/>
                      </m:rPr>
                      <a:rPr lang="en-US" i="0" sz="1665">
                        <a:latin typeface="Cambria Math"/>
                      </a:rPr>
                      <m:t>−</m:t>
                    </m:r>
                    <m:r>
                      <m:rPr>
                        <m:sty m:val="p"/>
                      </m:rPr>
                      <a:rPr lang="en-US" i="0" sz="1665">
                        <a:latin typeface="Cambria Math"/>
                      </a:rPr>
                      <m:t>cos</m:t>
                    </m:r>
                    <m:r>
                      <m:rPr>
                        <m:sty m:val="p"/>
                      </m:rPr>
                      <a:rPr lang="en-US" i="0" sz="1665">
                        <a:latin typeface="Cambria Math"/>
                      </a:rPr>
                      <m:t/>
                    </m:r>
                    <m:r>
                      <m:rPr>
                        <m:sty m:val="i"/>
                      </m:rPr>
                      <a:rPr lang="en-US" i="1" sz="1665">
                        <a:latin typeface="Cambria Math"/>
                      </a:rPr>
                      <m:t>φ</m:t>
                    </m:r>
                    <m:r>
                      <m:rPr>
                        <m:sty m:val="p"/>
                      </m:rPr>
                      <a:rPr lang="en-US" i="0" sz="1665">
                        <a:latin typeface="Cambria Math"/>
                      </a:rPr>
                      <m:t>)</m:t>
                    </m:r>
                  </m:oMath>
                </a14:m>
              </mc:Choice>
              <mc:Fallback>
                <a:r>
                  <a:rPr lang="en-US" sz="1664" i="1"/>
                  <a:t>U_J(\varphi)=E_J(1-\cos\varphi)</a:t>
                </a:r>
              </mc:Fallback>
            </mc:AlternateContent>
            <a:r>
              <a:rPr sz="1400" b="0" i="0">
                <a:solidFill>
                  <a:srgbClr val="4F4C56"/>
                </a:solidFill>
                <a:latin typeface="Montserrat"/>
                <a:ea typeface="Montserrat"/>
                <a:cs typeface="Montserrat"/>
              </a:rPr>
              <a:t>. Since potential energy is defined only up to an additive constant, the conventional form is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U</m:t>
                        </m:r>
                      </m:e>
                      <m:sub>
                        <m:r>
                          <m:rPr>
                            <m:sty m:val="i"/>
                          </m:rPr>
                          <a:rPr lang="en-US" i="1" sz="1665">
                            <a:latin typeface="Cambria Math"/>
                          </a:rPr>
                          <m:t>J</m:t>
                        </m:r>
                      </m:sub>
                    </m:sSub>
                    <m:r>
                      <m:rPr>
                        <m:sty m:val="p"/>
                      </m:rPr>
                      <a:rPr lang="en-US" i="0" sz="1665">
                        <a:latin typeface="Cambria Math"/>
                      </a:rPr>
                      <m:t>(</m:t>
                    </m:r>
                    <m:r>
                      <m:rPr>
                        <m:sty m:val="i"/>
                      </m:rPr>
                      <a:rPr lang="en-US" i="1" sz="1665">
                        <a:latin typeface="Cambria Math"/>
                      </a:rPr>
                      <m:t>φ</m:t>
                    </m:r>
                    <m:r>
                      <m:rPr>
                        <m:sty m:val="p"/>
                      </m:rPr>
                      <a:rPr lang="en-US" i="0" sz="1665">
                        <a:latin typeface="Cambria Math"/>
                      </a:rPr>
                      <m:t>)</m:t>
                    </m:r>
                    <m:r>
                      <m:rPr>
                        <m:sty m:val="p"/>
                      </m:rPr>
                      <a:rPr lang="en-US" i="0" sz="1665">
                        <a:latin typeface="Cambria Math"/>
                      </a:rPr>
                      <m:t>=</m:t>
                    </m:r>
                    <m:r>
                      <m:rPr>
                        <m:sty m:val="p"/>
                      </m:rPr>
                      <a:rPr lang="en-US" i="0" sz="1665">
                        <a:latin typeface="Cambria Math"/>
                      </a:rPr>
                      <m:t>−</m:t>
                    </m:r>
                    <m:sSub>
                      <m:e>
                        <m:r>
                          <m:rPr>
                            <m:sty m:val="i"/>
                          </m:rPr>
                          <a:rPr lang="en-US" i="1" sz="1665">
                            <a:latin typeface="Cambria Math"/>
                          </a:rPr>
                          <m:t>E</m:t>
                        </m:r>
                      </m:e>
                      <m:sub>
                        <m:r>
                          <m:rPr>
                            <m:sty m:val="i"/>
                          </m:rPr>
                          <a:rPr lang="en-US" i="1" sz="1665">
                            <a:latin typeface="Cambria Math"/>
                          </a:rPr>
                          <m:t>J</m:t>
                        </m:r>
                      </m:sub>
                    </m:sSub>
                    <m:r>
                      <m:rPr>
                        <m:sty m:val="p"/>
                      </m:rPr>
                      <a:rPr lang="en-US" i="0" sz="1665">
                        <a:latin typeface="Cambria Math"/>
                      </a:rPr>
                      <m:t>cos</m:t>
                    </m:r>
                    <m:r>
                      <m:rPr>
                        <m:sty m:val="p"/>
                      </m:rPr>
                      <a:rPr lang="en-US" i="0" sz="1665">
                        <a:latin typeface="Cambria Math"/>
                      </a:rPr>
                      <m:t/>
                    </m:r>
                    <m:r>
                      <m:rPr>
                        <m:sty m:val="i"/>
                      </m:rPr>
                      <a:rPr lang="en-US" i="1" sz="1665">
                        <a:latin typeface="Cambria Math"/>
                      </a:rPr>
                      <m:t>φ</m:t>
                    </m:r>
                  </m:oMath>
                </a14:m>
              </mc:Choice>
              <mc:Fallback>
                <a:r>
                  <a:rPr lang="en-US" sz="1664" i="1"/>
                  <a:t>U_J(\varphi)=-E_J\cos\varphi</a:t>
                </a:r>
              </mc:Fallback>
            </mc:AlternateContent>
            <a:r>
              <a:rPr sz="1400" b="0" i="0">
                <a:solidFill>
                  <a:srgbClr val="4F4C56"/>
                </a:solidFill>
                <a:latin typeface="Montserrat"/>
                <a:ea typeface="Montserrat"/>
                <a:cs typeface="Montserrat"/>
              </a:rPr>
              <a:t>. The capacitive energy is:</a:t>
            </a:r>
          </a:p>
        </p:txBody>
      </p:sp>
      <p:sp>
        <p:nvSpPr>
          <p:cNvPr id="13" name="Rounded Rectangle 12"/>
          <p:cNvSpPr/>
          <p:nvPr/>
        </p:nvSpPr>
        <p:spPr>
          <a:xfrm>
            <a:off x="575733" y="5722938"/>
            <a:ext cx="11040533" cy="919427"/>
          </a:xfrm>
          <a:prstGeom prst="roundRect">
            <a:avLst>
              <a:gd name="adj" fmla="val 7366"/>
            </a:avLst>
          </a:prstGeom>
          <a:solidFill>
            <a:srgbClr val="FEF9E7"/>
          </a:solidFill>
          <a:ln w="16933">
            <a:solidFill>
              <a:srgbClr val="F0C0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quation"/>
          <p:cNvSpPr txBox="1"/>
          <p:nvPr/>
        </p:nvSpPr>
        <p:spPr>
          <a:xfrm>
            <a:off x="711200" y="5976938"/>
            <a:ext cx="10769600" cy="411427"/>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568">
                              <a:latin typeface="Cambria Math"/>
                            </a:rPr>
                            <m:t>E</m:t>
                          </m:r>
                        </m:e>
                        <m:sub>
                          <m:r>
                            <m:rPr>
                              <m:sty m:val="i"/>
                            </m:rPr>
                            <a:rPr lang="en-US" i="1" sz="1568">
                              <a:latin typeface="Cambria Math"/>
                            </a:rPr>
                            <m:t>J</m:t>
                          </m:r>
                        </m:sub>
                      </m:sSub>
                      <m:r>
                        <m:rPr>
                          <m:sty m:val="p"/>
                        </m:rPr>
                        <a:rPr lang="en-US" i="0" sz="1568">
                          <a:latin typeface="Cambria Math"/>
                        </a:rPr>
                        <m:t>≡</m:t>
                      </m:r>
                      <m:f>
                        <m:num>
                          <m:box>
                            <m:e>
                              <m:sSub>
                                <m:e>
                                  <m:r>
                                    <m:rPr>
                                      <m:sty m:val="i"/>
                                    </m:rPr>
                                    <a:rPr lang="en-US" i="1" sz="1568">
                                      <a:latin typeface="Cambria Math"/>
                                    </a:rPr>
                                    <m:t>I</m:t>
                                  </m:r>
                                </m:e>
                                <m:sub>
                                  <m:r>
                                    <m:rPr>
                                      <m:sty m:val="i"/>
                                    </m:rPr>
                                    <a:rPr lang="en-US" i="1" sz="1568">
                                      <a:latin typeface="Cambria Math"/>
                                    </a:rPr>
                                    <m:t>c</m:t>
                                  </m:r>
                                </m:sub>
                              </m:sSub>
                              <m:sSub>
                                <m:e>
                                  <m:r>
                                    <m:rPr>
                                      <m:sty m:val="p"/>
                                    </m:rPr>
                                    <a:rPr lang="en-US" i="0" sz="1568">
                                      <a:latin typeface="Cambria Math"/>
                                    </a:rPr>
                                    <m:t>Φ</m:t>
                                  </m:r>
                                </m:e>
                                <m:sub>
                                  <m:r>
                                    <m:rPr>
                                      <m:sty m:val="p"/>
                                    </m:rPr>
                                    <a:rPr lang="en-US" i="0" sz="1568">
                                      <a:latin typeface="Cambria Math"/>
                                    </a:rPr>
                                    <m:t>0</m:t>
                                  </m:r>
                                </m:sub>
                              </m:sSub>
                            </m:e>
                          </m:box>
                        </m:num>
                        <m:den>
                          <m:box>
                            <m:e>
                              <m:r>
                                <m:rPr>
                                  <m:sty m:val="p"/>
                                </m:rPr>
                                <a:rPr lang="en-US" i="0" sz="1568">
                                  <a:latin typeface="Cambria Math"/>
                                </a:rPr>
                                <m:t>2</m:t>
                              </m:r>
                              <m:r>
                                <m:rPr>
                                  <m:sty m:val="i"/>
                                </m:rPr>
                                <a:rPr lang="en-US" i="1" sz="1568">
                                  <a:latin typeface="Cambria Math"/>
                                </a:rPr>
                                <m:t>π</m:t>
                              </m:r>
                            </m:e>
                          </m:box>
                        </m:den>
                      </m:f>
                      <m:r>
                        <m:rPr>
                          <m:sty m:val="p"/>
                        </m:rPr>
                        <a:rPr lang="en-US" i="0" sz="1568">
                          <a:latin typeface="Cambria Math"/>
                        </a:rPr>
                        <m:t>=</m:t>
                      </m:r>
                      <m:f>
                        <m:num>
                          <m:box>
                            <m:e>
                              <m:r>
                                <m:rPr>
                                  <m:sty m:val="i"/>
                                </m:rPr>
                                <a:rPr lang="en-US" i="1" sz="1568">
                                  <a:latin typeface="Cambria Math"/>
                                </a:rPr>
                                <m:t>ℏ</m:t>
                              </m:r>
                              <m:sSub>
                                <m:e>
                                  <m:r>
                                    <m:rPr>
                                      <m:sty m:val="i"/>
                                    </m:rPr>
                                    <a:rPr lang="en-US" i="1" sz="1568">
                                      <a:latin typeface="Cambria Math"/>
                                    </a:rPr>
                                    <m:t>I</m:t>
                                  </m:r>
                                </m:e>
                                <m:sub>
                                  <m:r>
                                    <m:rPr>
                                      <m:sty m:val="i"/>
                                    </m:rPr>
                                    <a:rPr lang="en-US" i="1" sz="1568">
                                      <a:latin typeface="Cambria Math"/>
                                    </a:rPr>
                                    <m:t>c</m:t>
                                  </m:r>
                                </m:sub>
                              </m:sSub>
                            </m:e>
                          </m:box>
                        </m:num>
                        <m:den>
                          <m:box>
                            <m:e>
                              <m:r>
                                <m:rPr>
                                  <m:sty m:val="p"/>
                                </m:rPr>
                                <a:rPr lang="en-US" i="0" sz="1568">
                                  <a:latin typeface="Cambria Math"/>
                                </a:rPr>
                                <m:t>2</m:t>
                              </m:r>
                              <m:r>
                                <m:rPr>
                                  <m:sty m:val="i"/>
                                </m:rPr>
                                <a:rPr lang="en-US" i="1" sz="1568">
                                  <a:latin typeface="Cambria Math"/>
                                </a:rPr>
                                <m:t>e</m:t>
                              </m:r>
                            </m:e>
                          </m:box>
                        </m:den>
                      </m:f>
                    </m:oMath>
                  </m:oMathPara>
                </a14:m>
              </mc:Choice>
              <mc:Fallback>
                <a:r>
                  <a:rPr lang="en-US" sz="1567" i="1"/>
                  <a:t>
                    E_J\equiv\frac{I_c\Phi_0}{2\pi}=\frac{\hbar I_c}{2e}</a:t>
                </a:r>
              </mc:Fallback>
            </mc:AlternateContent>
          </a:p>
        </p:txBody>
      </p:sp>
      <p:sp>
        <p:nvSpPr>
          <p:cNvPr id="15" name="Rectangle 14"/>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7" name="TextBox 16"/>
          <p:cNvSpPr txBox="1"/>
          <p:nvPr/>
        </p:nvSpPr>
        <p:spPr>
          <a:xfrm>
            <a:off x="11227726" y="6565900"/>
            <a:ext cx="473207"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45 / 100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Lagrangian and the Canonical Pair</a:t>
            </a:r>
          </a:p>
        </p:txBody>
      </p:sp>
      <p:sp>
        <p:nvSpPr>
          <p:cNvPr id="6" name="equation"/>
          <p:cNvSpPr txBox="1"/>
          <p:nvPr/>
        </p:nvSpPr>
        <p:spPr>
          <a:xfrm>
            <a:off x="575733" y="1452827"/>
            <a:ext cx="11040533" cy="516864"/>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568">
                              <a:latin typeface="Cambria Math"/>
                            </a:rPr>
                            <m:t>U</m:t>
                          </m:r>
                        </m:e>
                        <m:sub>
                          <m:r>
                            <m:rPr>
                              <m:sty m:val="i"/>
                            </m:rPr>
                            <a:rPr lang="en-US" i="1" sz="1568">
                              <a:latin typeface="Cambria Math"/>
                            </a:rPr>
                            <m:t>C</m:t>
                          </m:r>
                        </m:sub>
                      </m:sSub>
                      <m:r>
                        <m:rPr>
                          <m:sty m:val="p"/>
                        </m:rPr>
                        <a:rPr lang="en-US" i="0" sz="1568">
                          <a:latin typeface="Cambria Math"/>
                        </a:rPr>
                        <m:t>=</m:t>
                      </m:r>
                      <m:f>
                        <m:num>
                          <m:r>
                            <m:rPr>
                              <m:sty m:val="p"/>
                            </m:rPr>
                            <a:rPr lang="en-US" i="0" sz="1568">
                              <a:latin typeface="Cambria Math"/>
                            </a:rPr>
                            <m:t>1</m:t>
                          </m:r>
                        </m:num>
                        <m:den>
                          <m:r>
                            <m:rPr>
                              <m:sty m:val="p"/>
                            </m:rPr>
                            <a:rPr lang="en-US" i="0" sz="1568">
                              <a:latin typeface="Cambria Math"/>
                            </a:rPr>
                            <m:t>2</m:t>
                          </m:r>
                        </m:den>
                      </m:f>
                      <m:r>
                        <m:rPr>
                          <m:sty m:val="i"/>
                        </m:rPr>
                        <a:rPr lang="en-US" i="1" sz="1568">
                          <a:latin typeface="Cambria Math"/>
                        </a:rPr>
                        <m:t>C</m:t>
                      </m:r>
                      <m:sSup>
                        <m:e>
                          <m:r>
                            <m:rPr>
                              <m:sty m:val="i"/>
                            </m:rPr>
                            <a:rPr lang="en-US" i="1" sz="1568">
                              <a:latin typeface="Cambria Math"/>
                            </a:rPr>
                            <m:t>V</m:t>
                          </m:r>
                        </m:e>
                        <m:sup>
                          <m:r>
                            <m:rPr>
                              <m:sty m:val="p"/>
                            </m:rPr>
                            <a:rPr lang="en-US" i="0" sz="1568">
                              <a:latin typeface="Cambria Math"/>
                            </a:rPr>
                            <m:t>2</m:t>
                          </m:r>
                        </m:sup>
                      </m:sSup>
                      <m:r>
                        <m:rPr>
                          <m:sty m:val="p"/>
                        </m:rPr>
                        <a:rPr lang="en-US" i="0" sz="1568">
                          <a:latin typeface="Cambria Math"/>
                        </a:rPr>
                        <m:t>=</m:t>
                      </m:r>
                      <m:f>
                        <m:num>
                          <m:r>
                            <m:rPr>
                              <m:sty m:val="p"/>
                            </m:rPr>
                            <a:rPr lang="en-US" i="0" sz="1568">
                              <a:latin typeface="Cambria Math"/>
                            </a:rPr>
                            <m:t>1</m:t>
                          </m:r>
                        </m:num>
                        <m:den>
                          <m:r>
                            <m:rPr>
                              <m:sty m:val="p"/>
                            </m:rPr>
                            <a:rPr lang="en-US" i="0" sz="1568">
                              <a:latin typeface="Cambria Math"/>
                            </a:rPr>
                            <m:t>2</m:t>
                          </m:r>
                        </m:den>
                      </m:f>
                      <m:r>
                        <m:rPr>
                          <m:sty m:val="i"/>
                        </m:rPr>
                        <a:rPr lang="en-US" i="1" sz="1568">
                          <a:latin typeface="Cambria Math"/>
                        </a:rPr>
                        <m:t>C</m:t>
                      </m:r>
                      <m:sSup>
                        <m:e>
                          <m:box>
                            <m:e>
                              <m:d>
                                <m:dPr>
                                  <m:begChr m:val="("/>
                                  <m:endChr m:val=")"/>
                                </m:dPr>
                                <m:e>
                                  <m:box>
                                    <m:e>
                                      <m:f>
                                        <m:num>
                                          <m:r>
                                            <m:rPr>
                                              <m:sty m:val="i"/>
                                            </m:rPr>
                                            <a:rPr lang="en-US" i="1" sz="1568">
                                              <a:latin typeface="Cambria Math"/>
                                            </a:rPr>
                                            <m:t>ℏ</m:t>
                                          </m:r>
                                        </m:num>
                                        <m:den>
                                          <m:box>
                                            <m:e>
                                              <m:r>
                                                <m:rPr>
                                                  <m:sty m:val="p"/>
                                                </m:rPr>
                                                <a:rPr lang="en-US" i="0" sz="1568">
                                                  <a:latin typeface="Cambria Math"/>
                                                </a:rPr>
                                                <m:t>2</m:t>
                                              </m:r>
                                              <m:r>
                                                <m:rPr>
                                                  <m:sty m:val="i"/>
                                                </m:rPr>
                                                <a:rPr lang="en-US" i="1" sz="1568">
                                                  <a:latin typeface="Cambria Math"/>
                                                </a:rPr>
                                                <m:t>e</m:t>
                                              </m:r>
                                            </m:e>
                                          </m:box>
                                        </m:den>
                                      </m:f>
                                      <m:box>
                                        <m:e>
                                          <m:limUpp>
                                            <m:e>
                                              <m:r>
                                                <m:rPr>
                                                  <m:sty m:val="i"/>
                                                </m:rPr>
                                                <a:rPr lang="en-US" i="1" sz="1568">
                                                  <a:latin typeface="Cambria Math"/>
                                                </a:rPr>
                                                <m:t>φ</m:t>
                                              </m:r>
                                            </m:e>
                                            <m:lim>
                                              <m:r>
                                                <m:rPr>
                                                  <m:sty m:val="p"/>
                                                </m:rPr>
                                                <a:rPr lang="en-US" i="0" sz="1568">
                                                  <a:latin typeface="Cambria Math"/>
                                                </a:rPr>
                                                <m:t>˙</m:t>
                                              </m:r>
                                            </m:lim>
                                          </m:limUpp>
                                        </m:e>
                                      </m:box>
                                    </m:e>
                                  </m:box>
                                </m:e>
                              </m:d>
                            </m:e>
                          </m:box>
                        </m:e>
                        <m:sup>
                          <m:r>
                            <m:rPr>
                              <m:sty m:val="p"/>
                            </m:rPr>
                            <a:rPr lang="en-US" i="0" sz="1568">
                              <a:latin typeface="Cambria Math"/>
                            </a:rPr>
                            <m:t>2</m:t>
                          </m:r>
                        </m:sup>
                      </m:sSup>
                      <m:r>
                        <m:rPr>
                          <m:sty m:val="p"/>
                        </m:rPr>
                        <a:rPr lang="en-US" i="0" sz="1568">
                          <a:latin typeface="Cambria Math"/>
                        </a:rPr>
                        <m:t>.</m:t>
                      </m:r>
                    </m:oMath>
                  </m:oMathPara>
                </a14:m>
              </mc:Choice>
              <mc:Fallback>
                <a:r>
                  <a:rPr lang="en-US" sz="1567" i="1"/>
                  <a:t>
                U_C=\frac{1}{2}CV^2=\frac{1}{2}C\left(\frac{\hbar}{2e}\dot{\varphi}\right)^2.
                </a:t>
                </a:r>
              </mc:Fallback>
            </mc:AlternateContent>
          </a:p>
        </p:txBody>
      </p:sp>
      <p:sp>
        <p:nvSpPr>
          <p:cNvPr id="7" name="TextBox 6"/>
          <p:cNvSpPr txBox="1"/>
          <p:nvPr/>
        </p:nvSpPr>
        <p:spPr>
          <a:xfrm>
            <a:off x="575733" y="2122091"/>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Using the conventional Josephson potential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U</m:t>
                        </m:r>
                      </m:e>
                      <m:sub>
                        <m:r>
                          <m:rPr>
                            <m:sty m:val="i"/>
                          </m:rPr>
                          <a:rPr lang="en-US" i="1" sz="1665">
                            <a:latin typeface="Cambria Math"/>
                          </a:rPr>
                          <m:t>J</m:t>
                        </m:r>
                      </m:sub>
                    </m:sSub>
                    <m:r>
                      <m:rPr>
                        <m:sty m:val="p"/>
                      </m:rPr>
                      <a:rPr lang="en-US" i="0" sz="1665">
                        <a:latin typeface="Cambria Math"/>
                      </a:rPr>
                      <m:t>=</m:t>
                    </m:r>
                    <m:r>
                      <m:rPr>
                        <m:sty m:val="p"/>
                      </m:rPr>
                      <a:rPr lang="en-US" i="0" sz="1665">
                        <a:latin typeface="Cambria Math"/>
                      </a:rPr>
                      <m:t>−</m:t>
                    </m:r>
                    <m:sSub>
                      <m:e>
                        <m:r>
                          <m:rPr>
                            <m:sty m:val="i"/>
                          </m:rPr>
                          <a:rPr lang="en-US" i="1" sz="1665">
                            <a:latin typeface="Cambria Math"/>
                          </a:rPr>
                          <m:t>E</m:t>
                        </m:r>
                      </m:e>
                      <m:sub>
                        <m:r>
                          <m:rPr>
                            <m:sty m:val="i"/>
                          </m:rPr>
                          <a:rPr lang="en-US" i="1" sz="1665">
                            <a:latin typeface="Cambria Math"/>
                          </a:rPr>
                          <m:t>J</m:t>
                        </m:r>
                      </m:sub>
                    </m:sSub>
                    <m:r>
                      <m:rPr>
                        <m:sty m:val="p"/>
                      </m:rPr>
                      <a:rPr lang="en-US" i="0" sz="1665">
                        <a:latin typeface="Cambria Math"/>
                      </a:rPr>
                      <m:t>cos</m:t>
                    </m:r>
                    <m:r>
                      <m:rPr>
                        <m:sty m:val="p"/>
                      </m:rPr>
                      <a:rPr lang="en-US" i="0" sz="1665">
                        <a:latin typeface="Cambria Math"/>
                      </a:rPr>
                      <m:t/>
                    </m:r>
                    <m:r>
                      <m:rPr>
                        <m:sty m:val="i"/>
                      </m:rPr>
                      <a:rPr lang="en-US" i="1" sz="1665">
                        <a:latin typeface="Cambria Math"/>
                      </a:rPr>
                      <m:t>φ</m:t>
                    </m:r>
                  </m:oMath>
                </a14:m>
              </mc:Choice>
              <mc:Fallback>
                <a:r>
                  <a:rPr lang="en-US" sz="1664" i="1"/>
                  <a:t>U_J=-E_J\cos\varphi</a:t>
                </a:r>
              </mc:Fallback>
            </mc:AlternateContent>
            <a:r>
              <a:rPr sz="1400" b="0" i="0">
                <a:solidFill>
                  <a:srgbClr val="4F4C56"/>
                </a:solidFill>
                <a:latin typeface="Montserrat"/>
                <a:ea typeface="Montserrat"/>
                <a:cs typeface="Montserrat"/>
              </a:rPr>
              <a:t>, the Lagrangian is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T</m:t>
                    </m:r>
                    <m:r>
                      <m:rPr>
                        <m:sty m:val="p"/>
                      </m:rPr>
                      <a:rPr lang="en-US" i="0" sz="1665">
                        <a:latin typeface="Cambria Math"/>
                      </a:rPr>
                      <m:t>−</m:t>
                    </m:r>
                    <m:r>
                      <m:rPr>
                        <m:sty m:val="i"/>
                      </m:rPr>
                      <a:rPr lang="en-US" i="1" sz="1665">
                        <a:latin typeface="Cambria Math"/>
                      </a:rPr>
                      <m:t>U</m:t>
                    </m:r>
                  </m:oMath>
                </a14:m>
              </mc:Choice>
              <mc:Fallback>
                <a:r>
                  <a:rPr lang="en-US" sz="1664" i="1"/>
                  <a:t>T-U</a:t>
                </a:r>
              </mc:Fallback>
            </mc:AlternateContent>
            <a:r>
              <a:rPr sz="1400" b="0" i="0">
                <a:solidFill>
                  <a:srgbClr val="4F4C56"/>
                </a:solidFill>
                <a:latin typeface="Montserrat"/>
                <a:ea typeface="Montserrat"/>
                <a:cs typeface="Montserrat"/>
              </a:rPr>
              <a:t>:</a:t>
            </a:r>
          </a:p>
        </p:txBody>
      </p:sp>
      <p:sp>
        <p:nvSpPr>
          <p:cNvPr id="8" name="Rounded Rectangle 7"/>
          <p:cNvSpPr/>
          <p:nvPr/>
        </p:nvSpPr>
        <p:spPr>
          <a:xfrm>
            <a:off x="575733" y="2527697"/>
            <a:ext cx="11040533" cy="1024864"/>
          </a:xfrm>
          <a:prstGeom prst="roundRect">
            <a:avLst>
              <a:gd name="adj" fmla="val 6609"/>
            </a:avLst>
          </a:prstGeom>
          <a:solidFill>
            <a:srgbClr val="FEF9E7"/>
          </a:solidFill>
          <a:ln w="16933">
            <a:solidFill>
              <a:srgbClr val="F0C0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quation"/>
          <p:cNvSpPr txBox="1"/>
          <p:nvPr/>
        </p:nvSpPr>
        <p:spPr>
          <a:xfrm>
            <a:off x="711200" y="2781697"/>
            <a:ext cx="10769600" cy="516864"/>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r>
                            <m:rPr>
                              <m:scr m:val="script"/>
                              <m:sty m:val="i"/>
                            </m:rPr>
                            <a:rPr lang="en-US" i="1" sz="1568">
                              <a:latin typeface="Cambria Math"/>
                            </a:rPr>
                            <m:t>L</m:t>
                          </m:r>
                        </m:e>
                      </m:box>
                      <m:r>
                        <m:rPr>
                          <m:sty m:val="p"/>
                        </m:rPr>
                        <a:rPr lang="en-US" i="0" sz="1568">
                          <a:latin typeface="Cambria Math"/>
                        </a:rPr>
                        <m:t>(</m:t>
                      </m:r>
                      <m:r>
                        <m:rPr>
                          <m:sty m:val="i"/>
                        </m:rPr>
                        <a:rPr lang="en-US" i="1" sz="1568">
                          <a:latin typeface="Cambria Math"/>
                        </a:rPr>
                        <m:t>φ</m:t>
                      </m:r>
                      <m:r>
                        <m:rPr>
                          <m:sty m:val="p"/>
                        </m:rPr>
                        <a:rPr lang="en-US" i="0" sz="1568">
                          <a:latin typeface="Cambria Math"/>
                        </a:rPr>
                        <m:t>,</m:t>
                      </m:r>
                      <m:box>
                        <m:e>
                          <m:limUpp>
                            <m:e>
                              <m:r>
                                <m:rPr>
                                  <m:sty m:val="i"/>
                                </m:rPr>
                                <a:rPr lang="en-US" i="1" sz="1568">
                                  <a:latin typeface="Cambria Math"/>
                                </a:rPr>
                                <m:t>φ</m:t>
                              </m:r>
                            </m:e>
                            <m:lim>
                              <m:r>
                                <m:rPr>
                                  <m:sty m:val="p"/>
                                </m:rPr>
                                <a:rPr lang="en-US" i="0" sz="1568">
                                  <a:latin typeface="Cambria Math"/>
                                </a:rPr>
                                <m:t>˙</m:t>
                              </m:r>
                            </m:lim>
                          </m:limUpp>
                        </m:e>
                      </m:box>
                      <m:r>
                        <m:rPr>
                          <m:sty m:val="p"/>
                        </m:rPr>
                        <a:rPr lang="en-US" i="0" sz="1568">
                          <a:latin typeface="Cambria Math"/>
                        </a:rPr>
                        <m:t>)</m:t>
                      </m:r>
                      <m:r>
                        <m:rPr>
                          <m:sty m:val="p"/>
                        </m:rPr>
                        <a:rPr lang="en-US" i="0" sz="1568">
                          <a:latin typeface="Cambria Math"/>
                        </a:rPr>
                        <m:t>=</m:t>
                      </m:r>
                      <m:f>
                        <m:num>
                          <m:r>
                            <m:rPr>
                              <m:sty m:val="p"/>
                            </m:rPr>
                            <a:rPr lang="en-US" i="0" sz="1568">
                              <a:latin typeface="Cambria Math"/>
                            </a:rPr>
                            <m:t>1</m:t>
                          </m:r>
                        </m:num>
                        <m:den>
                          <m:r>
                            <m:rPr>
                              <m:sty m:val="p"/>
                            </m:rPr>
                            <a:rPr lang="en-US" i="0" sz="1568">
                              <a:latin typeface="Cambria Math"/>
                            </a:rPr>
                            <m:t>2</m:t>
                          </m:r>
                        </m:den>
                      </m:f>
                      <m:r>
                        <m:rPr>
                          <m:sty m:val="i"/>
                        </m:rPr>
                        <a:rPr lang="en-US" i="1" sz="1568">
                          <a:latin typeface="Cambria Math"/>
                        </a:rPr>
                        <m:t>C</m:t>
                      </m:r>
                      <m:sSup>
                        <m:e>
                          <m:box>
                            <m:e>
                              <m:d>
                                <m:dPr>
                                  <m:begChr m:val="("/>
                                  <m:endChr m:val=")"/>
                                </m:dPr>
                                <m:e>
                                  <m:box>
                                    <m:e>
                                      <m:f>
                                        <m:num>
                                          <m:r>
                                            <m:rPr>
                                              <m:sty m:val="i"/>
                                            </m:rPr>
                                            <a:rPr lang="en-US" i="1" sz="1568">
                                              <a:latin typeface="Cambria Math"/>
                                            </a:rPr>
                                            <m:t>ℏ</m:t>
                                          </m:r>
                                        </m:num>
                                        <m:den>
                                          <m:box>
                                            <m:e>
                                              <m:r>
                                                <m:rPr>
                                                  <m:sty m:val="p"/>
                                                </m:rPr>
                                                <a:rPr lang="en-US" i="0" sz="1568">
                                                  <a:latin typeface="Cambria Math"/>
                                                </a:rPr>
                                                <m:t>2</m:t>
                                              </m:r>
                                              <m:r>
                                                <m:rPr>
                                                  <m:sty m:val="i"/>
                                                </m:rPr>
                                                <a:rPr lang="en-US" i="1" sz="1568">
                                                  <a:latin typeface="Cambria Math"/>
                                                </a:rPr>
                                                <m:t>e</m:t>
                                              </m:r>
                                            </m:e>
                                          </m:box>
                                        </m:den>
                                      </m:f>
                                      <m:box>
                                        <m:e>
                                          <m:limUpp>
                                            <m:e>
                                              <m:r>
                                                <m:rPr>
                                                  <m:sty m:val="i"/>
                                                </m:rPr>
                                                <a:rPr lang="en-US" i="1" sz="1568">
                                                  <a:latin typeface="Cambria Math"/>
                                                </a:rPr>
                                                <m:t>φ</m:t>
                                              </m:r>
                                            </m:e>
                                            <m:lim>
                                              <m:r>
                                                <m:rPr>
                                                  <m:sty m:val="p"/>
                                                </m:rPr>
                                                <a:rPr lang="en-US" i="0" sz="1568">
                                                  <a:latin typeface="Cambria Math"/>
                                                </a:rPr>
                                                <m:t>˙</m:t>
                                              </m:r>
                                            </m:lim>
                                          </m:limUpp>
                                        </m:e>
                                      </m:box>
                                    </m:e>
                                  </m:box>
                                </m:e>
                              </m:d>
                            </m:e>
                          </m:box>
                        </m:e>
                        <m:sup>
                          <m:r>
                            <m:rPr>
                              <m:sty m:val="p"/>
                            </m:rPr>
                            <a:rPr lang="en-US" i="0" sz="1568">
                              <a:latin typeface="Cambria Math"/>
                            </a:rPr>
                            <m:t>2</m:t>
                          </m:r>
                        </m:sup>
                      </m:sSup>
                      <m:r>
                        <m:rPr>
                          <m:sty m:val="p"/>
                        </m:rPr>
                        <a:rPr lang="en-US" i="0" sz="1568">
                          <a:latin typeface="Cambria Math"/>
                        </a:rPr>
                        <m:t>−</m:t>
                      </m:r>
                      <m:box>
                        <m:e>
                          <m:d>
                            <m:dPr>
                              <m:begChr m:val="("/>
                              <m:endChr m:val=")"/>
                            </m:dPr>
                            <m:e>
                              <m:box>
                                <m:e>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J</m:t>
                                      </m:r>
                                    </m:sub>
                                  </m:sSub>
                                  <m:r>
                                    <m:rPr>
                                      <m:sty m:val="p"/>
                                    </m:rPr>
                                    <a:rPr lang="en-US" i="0" sz="1568">
                                      <a:latin typeface="Cambria Math"/>
                                    </a:rPr>
                                    <m:t>cos</m:t>
                                  </m:r>
                                  <m:r>
                                    <m:rPr>
                                      <m:sty m:val="p"/>
                                    </m:rPr>
                                    <a:rPr lang="en-US" i="0" sz="1568">
                                      <a:latin typeface="Cambria Math"/>
                                    </a:rPr>
                                    <m:t/>
                                  </m:r>
                                  <m:r>
                                    <m:rPr>
                                      <m:sty m:val="i"/>
                                    </m:rPr>
                                    <a:rPr lang="en-US" i="1" sz="1568">
                                      <a:latin typeface="Cambria Math"/>
                                    </a:rPr>
                                    <m:t>φ</m:t>
                                  </m:r>
                                </m:e>
                              </m:box>
                            </m:e>
                          </m:d>
                        </m:e>
                      </m:box>
                      <m:r>
                        <m:rPr>
                          <m:sty m:val="p"/>
                        </m:rPr>
                        <a:rPr lang="en-US" i="0" sz="1568">
                          <a:latin typeface="Cambria Math"/>
                        </a:rPr>
                        <m:t>=</m:t>
                      </m:r>
                      <m:box>
                        <m:e>
                          <m:f>
                            <m:num>
                              <m:r>
                                <m:rPr>
                                  <m:sty m:val="p"/>
                                </m:rPr>
                                <a:rPr lang="en-US" i="0" sz="1568">
                                  <a:latin typeface="Cambria Math"/>
                                </a:rPr>
                                <m:t>1</m:t>
                              </m:r>
                            </m:num>
                            <m:den>
                              <m:r>
                                <m:rPr>
                                  <m:sty m:val="p"/>
                                </m:rPr>
                                <a:rPr lang="en-US" i="0" sz="1568">
                                  <a:latin typeface="Cambria Math"/>
                                </a:rPr>
                                <m:t>2</m:t>
                              </m:r>
                            </m:den>
                          </m:f>
                          <m:r>
                            <m:rPr>
                              <m:sty m:val="i"/>
                            </m:rPr>
                            <a:rPr lang="en-US" i="1" sz="1568">
                              <a:latin typeface="Cambria Math"/>
                            </a:rPr>
                            <m:t>C</m:t>
                          </m:r>
                          <m:sSup>
                            <m:e>
                              <m:box>
                                <m:e>
                                  <m:d>
                                    <m:dPr>
                                      <m:begChr m:val="("/>
                                      <m:endChr m:val=")"/>
                                    </m:dPr>
                                    <m:e>
                                      <m:box>
                                        <m:e>
                                          <m:f>
                                            <m:num>
                                              <m:r>
                                                <m:rPr>
                                                  <m:sty m:val="i"/>
                                                </m:rPr>
                                                <a:rPr lang="en-US" i="1" sz="1568">
                                                  <a:latin typeface="Cambria Math"/>
                                                </a:rPr>
                                                <m:t>ℏ</m:t>
                                              </m:r>
                                            </m:num>
                                            <m:den>
                                              <m:box>
                                                <m:e>
                                                  <m:r>
                                                    <m:rPr>
                                                      <m:sty m:val="p"/>
                                                    </m:rPr>
                                                    <a:rPr lang="en-US" i="0" sz="1568">
                                                      <a:latin typeface="Cambria Math"/>
                                                    </a:rPr>
                                                    <m:t>2</m:t>
                                                  </m:r>
                                                  <m:r>
                                                    <m:rPr>
                                                      <m:sty m:val="i"/>
                                                    </m:rPr>
                                                    <a:rPr lang="en-US" i="1" sz="1568">
                                                      <a:latin typeface="Cambria Math"/>
                                                    </a:rPr>
                                                    <m:t>e</m:t>
                                                  </m:r>
                                                </m:e>
                                              </m:box>
                                            </m:den>
                                          </m:f>
                                        </m:e>
                                      </m:box>
                                    </m:e>
                                  </m:d>
                                </m:e>
                              </m:box>
                            </m:e>
                            <m:sup>
                              <m:r>
                                <m:rPr>
                                  <m:sty m:val="p"/>
                                </m:rPr>
                                <a:rPr lang="en-US" i="0" sz="1568">
                                  <a:latin typeface="Cambria Math"/>
                                </a:rPr>
                                <m:t>2</m:t>
                              </m:r>
                            </m:sup>
                          </m:sSup>
                          <m:sSup>
                            <m:e>
                              <m:box>
                                <m:e>
                                  <m:limUpp>
                                    <m:e>
                                      <m:r>
                                        <m:rPr>
                                          <m:sty m:val="i"/>
                                        </m:rPr>
                                        <a:rPr lang="en-US" i="1" sz="1568">
                                          <a:latin typeface="Cambria Math"/>
                                        </a:rPr>
                                        <m:t>φ</m:t>
                                      </m:r>
                                    </m:e>
                                    <m:lim>
                                      <m:r>
                                        <m:rPr>
                                          <m:sty m:val="p"/>
                                        </m:rPr>
                                        <a:rPr lang="en-US" i="0" sz="1568">
                                          <a:latin typeface="Cambria Math"/>
                                        </a:rPr>
                                        <m:t>˙</m:t>
                                      </m:r>
                                    </m:lim>
                                  </m:limUpp>
                                </m:e>
                              </m:box>
                            </m:e>
                            <m:sup>
                              <m:box>
                                <m:e>
                                  <m:box>
                                    <m:e>
                                      <m:r>
                                        <a:rPr lang="en-US" i="1" sz="1568">
                                          <a:latin typeface="Cambria Math"/>
                                        </a:rPr>
                                        <m:t/>
                                      </m:r>
                                    </m:e>
                                  </m:box>
                                  <m:r>
                                    <m:rPr>
                                      <m:sty m:val="p"/>
                                    </m:rPr>
                                    <a:rPr lang="en-US" i="0" sz="1568">
                                      <a:latin typeface="Cambria Math"/>
                                    </a:rPr>
                                    <m:t>2</m:t>
                                  </m:r>
                                </m:e>
                              </m:box>
                            </m:sup>
                          </m:sSup>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J</m:t>
                              </m:r>
                            </m:sub>
                          </m:sSub>
                          <m:r>
                            <m:rPr>
                              <m:sty m:val="p"/>
                            </m:rPr>
                            <a:rPr lang="en-US" i="0" sz="1568">
                              <a:latin typeface="Cambria Math"/>
                            </a:rPr>
                            <m:t>cos</m:t>
                          </m:r>
                          <m:r>
                            <m:rPr>
                              <m:sty m:val="p"/>
                            </m:rPr>
                            <a:rPr lang="en-US" i="0" sz="1568">
                              <a:latin typeface="Cambria Math"/>
                            </a:rPr>
                            <m:t/>
                          </m:r>
                          <m:r>
                            <m:rPr>
                              <m:sty m:val="i"/>
                            </m:rPr>
                            <a:rPr lang="en-US" i="1" sz="1568">
                              <a:latin typeface="Cambria Math"/>
                            </a:rPr>
                            <m:t>φ</m:t>
                          </m:r>
                        </m:e>
                      </m:box>
                      <m:r>
                        <m:rPr>
                          <m:sty m:val="p"/>
                        </m:rPr>
                        <a:rPr lang="en-US" i="0" sz="1568">
                          <a:latin typeface="Cambria Math"/>
                        </a:rPr>
                        <m:t>.</m:t>
                      </m:r>
                    </m:oMath>
                  </m:oMathPara>
                </a14:m>
              </mc:Choice>
              <mc:Fallback>
                <a:r>
                  <a:rPr lang="en-US" sz="1567" i="1"/>
                  <a:t>
                    \mathcal{L}(\varphi,\dot{\varphi})
                    =\frac{1}{2}C\left(\frac{\hbar}{2e}\dot{\varphi}\right)^2
                    -\left(-E_J\cos\varphi\right)
                    ={\frac{1}{2}C\left(\frac{\hbar}{2e}\right)^2\dot{\varphi}^{\,2}+E_J\cos\varphi}.
                    </a:t>
                </a:r>
              </mc:Fallback>
            </mc:AlternateContent>
          </a:p>
        </p:txBody>
      </p:sp>
      <p:sp>
        <p:nvSpPr>
          <p:cNvPr id="10" name="TextBox 9"/>
          <p:cNvSpPr txBox="1"/>
          <p:nvPr/>
        </p:nvSpPr>
        <p:spPr>
          <a:xfrm>
            <a:off x="575733" y="3654160"/>
            <a:ext cx="11040533" cy="278077"/>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From the Josephson voltage–phase relation and the capacitor relation,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V</m:t>
                    </m:r>
                    <m:r>
                      <m:rPr>
                        <m:sty m:val="p"/>
                      </m:rPr>
                      <a:rPr lang="en-US" i="0" sz="1665">
                        <a:latin typeface="Cambria Math"/>
                      </a:rPr>
                      <m:t>=</m:t>
                    </m:r>
                    <m:f>
                      <m:num>
                        <m:r>
                          <m:rPr>
                            <m:sty m:val="i"/>
                          </m:rPr>
                          <a:rPr lang="en-US" i="1" sz="1665">
                            <a:latin typeface="Cambria Math"/>
                          </a:rPr>
                          <m:t>ℏ</m:t>
                        </m:r>
                      </m:num>
                      <m:den>
                        <m:box>
                          <m:e>
                            <m:r>
                              <m:rPr>
                                <m:sty m:val="p"/>
                              </m:rPr>
                              <a:rPr lang="en-US" i="0" sz="1665">
                                <a:latin typeface="Cambria Math"/>
                              </a:rPr>
                              <m:t>2</m:t>
                            </m:r>
                            <m:r>
                              <m:rPr>
                                <m:sty m:val="i"/>
                              </m:rPr>
                              <a:rPr lang="en-US" i="1" sz="1665">
                                <a:latin typeface="Cambria Math"/>
                              </a:rPr>
                              <m:t>e</m:t>
                            </m:r>
                          </m:e>
                        </m:box>
                      </m:den>
                    </m:f>
                    <m:box>
                      <m:e>
                        <m:limUpp>
                          <m:e>
                            <m:r>
                              <m:rPr>
                                <m:sty m:val="i"/>
                              </m:rPr>
                              <a:rPr lang="en-US" i="1" sz="1665">
                                <a:latin typeface="Cambria Math"/>
                              </a:rPr>
                              <m:t>φ</m:t>
                            </m:r>
                          </m:e>
                          <m:lim>
                            <m:r>
                              <m:rPr>
                                <m:sty m:val="p"/>
                              </m:rPr>
                              <a:rPr lang="en-US" i="0" sz="1665">
                                <a:latin typeface="Cambria Math"/>
                              </a:rPr>
                              <m:t>˙</m:t>
                            </m:r>
                          </m:lim>
                        </m:limUpp>
                      </m:e>
                    </m:box>
                  </m:oMath>
                </a14:m>
              </mc:Choice>
              <mc:Fallback>
                <a:r>
                  <a:rPr lang="en-US" sz="1664" i="1"/>
                  <a:t>V=\frac{\hbar}{2e}\dot{\varphi}</a:t>
                </a:r>
              </mc:Fallback>
            </mc:AlternateContent>
            <a:r>
              <a:rPr sz="1400" b="0" i="0">
                <a:solidFill>
                  <a:srgbClr val="4F4C56"/>
                </a:solidFill>
                <a:latin typeface="Montserrat"/>
                <a:ea typeface="Montserrat"/>
                <a:cs typeface="Montserrat"/>
              </a:rPr>
              <a:t> and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Q</m:t>
                    </m:r>
                    <m:r>
                      <m:rPr>
                        <m:sty m:val="p"/>
                      </m:rPr>
                      <a:rPr lang="en-US" i="0" sz="1665">
                        <a:latin typeface="Cambria Math"/>
                      </a:rPr>
                      <m:t>=</m:t>
                    </m:r>
                    <m:r>
                      <m:rPr>
                        <m:sty m:val="i"/>
                      </m:rPr>
                      <a:rPr lang="en-US" i="1" sz="1665">
                        <a:latin typeface="Cambria Math"/>
                      </a:rPr>
                      <m:t>C</m:t>
                    </m:r>
                    <m:r>
                      <m:rPr>
                        <m:sty m:val="i"/>
                      </m:rPr>
                      <a:rPr lang="en-US" i="1" sz="1665">
                        <a:latin typeface="Cambria Math"/>
                      </a:rPr>
                      <m:t>V</m:t>
                    </m:r>
                  </m:oMath>
                </a14:m>
              </mc:Choice>
              <mc:Fallback>
                <a:r>
                  <a:rPr lang="en-US" sz="1664" i="1"/>
                  <a:t>Q=CV</a:t>
                </a:r>
              </mc:Fallback>
            </mc:AlternateContent>
            <a:r>
              <a:rPr sz="1400" b="0" i="0">
                <a:solidFill>
                  <a:srgbClr val="4F4C56"/>
                </a:solidFill>
                <a:latin typeface="Montserrat"/>
                <a:ea typeface="Montserrat"/>
                <a:cs typeface="Montserrat"/>
              </a:rPr>
              <a:t>:</a:t>
            </a:r>
          </a:p>
        </p:txBody>
      </p:sp>
      <p:sp>
        <p:nvSpPr>
          <p:cNvPr id="11" name="equation"/>
          <p:cNvSpPr txBox="1"/>
          <p:nvPr/>
        </p:nvSpPr>
        <p:spPr>
          <a:xfrm>
            <a:off x="575733" y="4084637"/>
            <a:ext cx="11040533" cy="411427"/>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568">
                          <a:latin typeface="Cambria Math"/>
                        </a:rPr>
                        <m:t>Q</m:t>
                      </m:r>
                      <m:r>
                        <m:rPr>
                          <m:sty m:val="p"/>
                        </m:rPr>
                        <a:rPr lang="en-US" i="0" sz="1568">
                          <a:latin typeface="Cambria Math"/>
                        </a:rPr>
                        <m:t>=</m:t>
                      </m:r>
                      <m:r>
                        <m:rPr>
                          <m:sty m:val="i"/>
                        </m:rPr>
                        <a:rPr lang="en-US" i="1" sz="1568">
                          <a:latin typeface="Cambria Math"/>
                        </a:rPr>
                        <m:t>C</m:t>
                      </m:r>
                      <m:f>
                        <m:num>
                          <m:r>
                            <m:rPr>
                              <m:sty m:val="i"/>
                            </m:rPr>
                            <a:rPr lang="en-US" i="1" sz="1568">
                              <a:latin typeface="Cambria Math"/>
                            </a:rPr>
                            <m:t>ℏ</m:t>
                          </m:r>
                        </m:num>
                        <m:den>
                          <m:box>
                            <m:e>
                              <m:r>
                                <m:rPr>
                                  <m:sty m:val="p"/>
                                </m:rPr>
                                <a:rPr lang="en-US" i="0" sz="1568">
                                  <a:latin typeface="Cambria Math"/>
                                </a:rPr>
                                <m:t>2</m:t>
                              </m:r>
                              <m:r>
                                <m:rPr>
                                  <m:sty m:val="i"/>
                                </m:rPr>
                                <a:rPr lang="en-US" i="1" sz="1568">
                                  <a:latin typeface="Cambria Math"/>
                                </a:rPr>
                                <m:t>e</m:t>
                              </m:r>
                            </m:e>
                          </m:box>
                        </m:den>
                      </m:f>
                      <m:box>
                        <m:e>
                          <m:limUpp>
                            <m:e>
                              <m:r>
                                <m:rPr>
                                  <m:sty m:val="i"/>
                                </m:rPr>
                                <a:rPr lang="en-US" i="1" sz="1568">
                                  <a:latin typeface="Cambria Math"/>
                                </a:rPr>
                                <m:t>φ</m:t>
                              </m:r>
                            </m:e>
                            <m:lim>
                              <m:r>
                                <m:rPr>
                                  <m:sty m:val="p"/>
                                </m:rPr>
                                <a:rPr lang="en-US" i="0" sz="1568">
                                  <a:latin typeface="Cambria Math"/>
                                </a:rPr>
                                <m:t>˙</m:t>
                              </m:r>
                            </m:lim>
                          </m:limUpp>
                        </m:e>
                      </m:box>
                      <m:r>
                        <m:rPr>
                          <m:sty m:val="p"/>
                        </m:rPr>
                        <a:rPr lang="en-US" i="0" sz="1568">
                          <a:latin typeface="Cambria Math"/>
                        </a:rPr>
                        <m:t>.</m:t>
                      </m:r>
                    </m:oMath>
                  </m:oMathPara>
                </a14:m>
              </mc:Choice>
              <mc:Fallback>
                <a:r>
                  <a:rPr lang="en-US" sz="1567" i="1"/>
                  <a:t>
                Q=C\frac{\hbar}{2e}\dot{\varphi}.
                </a:t>
                </a:r>
              </mc:Fallback>
            </mc:AlternateContent>
          </a:p>
        </p:txBody>
      </p:sp>
      <p:sp>
        <p:nvSpPr>
          <p:cNvPr id="12" name="TextBox 11"/>
          <p:cNvSpPr txBox="1"/>
          <p:nvPr/>
        </p:nvSpPr>
        <p:spPr>
          <a:xfrm>
            <a:off x="575733" y="4648465"/>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If the charge is written in terms of the Cooper-pair number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n</m:t>
                    </m:r>
                  </m:oMath>
                </a14:m>
              </mc:Choice>
              <mc:Fallback>
                <a:r>
                  <a:rPr lang="en-US" sz="1664" i="1"/>
                  <a:t>n</a:t>
                </a:r>
              </mc:Fallback>
            </mc:AlternateContent>
            <a:r>
              <a:rPr sz="1400" b="0" i="0">
                <a:solidFill>
                  <a:srgbClr val="4F4C56"/>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Q</m:t>
                    </m:r>
                    <m:r>
                      <m:rPr>
                        <m:sty m:val="p"/>
                      </m:rPr>
                      <a:rPr lang="en-US" i="0" sz="1665">
                        <a:latin typeface="Cambria Math"/>
                      </a:rPr>
                      <m:t>=</m:t>
                    </m:r>
                    <m:r>
                      <m:rPr>
                        <m:sty m:val="p"/>
                      </m:rPr>
                      <a:rPr lang="en-US" i="0" sz="1665">
                        <a:latin typeface="Cambria Math"/>
                      </a:rPr>
                      <m:t>2</m:t>
                    </m:r>
                    <m:r>
                      <m:rPr>
                        <m:sty m:val="i"/>
                      </m:rPr>
                      <a:rPr lang="en-US" i="1" sz="1665">
                        <a:latin typeface="Cambria Math"/>
                      </a:rPr>
                      <m:t>e</m:t>
                    </m:r>
                    <m:r>
                      <m:rPr>
                        <m:sty m:val="i"/>
                      </m:rPr>
                      <a:rPr lang="en-US" i="1" sz="1665">
                        <a:latin typeface="Cambria Math"/>
                      </a:rPr>
                      <m:t>n</m:t>
                    </m:r>
                  </m:oMath>
                </a14:m>
              </mc:Choice>
              <mc:Fallback>
                <a:r>
                  <a:rPr lang="en-US" sz="1664" i="1"/>
                  <a:t>Q=2en</a:t>
                </a:r>
              </mc:Fallback>
            </mc:AlternateContent>
            <a:r>
              <a:rPr sz="1400" b="0" i="0">
                <a:solidFill>
                  <a:srgbClr val="4F4C56"/>
                </a:solidFill>
                <a:latin typeface="Montserrat"/>
                <a:ea typeface="Montserrat"/>
                <a:cs typeface="Montserrat"/>
              </a:rPr>
              <a:t>, then the canonical momentum conjugate to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φ</m:t>
                    </m:r>
                  </m:oMath>
                </a14:m>
              </mc:Choice>
              <mc:Fallback>
                <a:r>
                  <a:rPr lang="en-US" sz="1664" i="1"/>
                  <a:t>\varphi</a:t>
                </a:r>
              </mc:Fallback>
            </mc:AlternateContent>
            <a:r>
              <a:rPr sz="1400" b="0" i="0">
                <a:solidFill>
                  <a:srgbClr val="4F4C56"/>
                </a:solidFill>
                <a:latin typeface="Montserrat"/>
                <a:ea typeface="Montserrat"/>
                <a:cs typeface="Montserrat"/>
              </a:rPr>
              <a:t> is:</a:t>
            </a:r>
          </a:p>
        </p:txBody>
      </p:sp>
      <p:sp>
        <p:nvSpPr>
          <p:cNvPr id="13" name="Rounded Rectangle 12"/>
          <p:cNvSpPr/>
          <p:nvPr/>
        </p:nvSpPr>
        <p:spPr>
          <a:xfrm>
            <a:off x="575733" y="5054071"/>
            <a:ext cx="11040533" cy="1024864"/>
          </a:xfrm>
          <a:prstGeom prst="roundRect">
            <a:avLst>
              <a:gd name="adj" fmla="val 6609"/>
            </a:avLst>
          </a:prstGeom>
          <a:solidFill>
            <a:srgbClr val="FEF9E7"/>
          </a:solidFill>
          <a:ln w="16933">
            <a:solidFill>
              <a:srgbClr val="F0C0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quation"/>
          <p:cNvSpPr txBox="1"/>
          <p:nvPr/>
        </p:nvSpPr>
        <p:spPr>
          <a:xfrm>
            <a:off x="711200" y="5308071"/>
            <a:ext cx="10769600" cy="516864"/>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568">
                              <a:latin typeface="Cambria Math"/>
                            </a:rPr>
                            <m:t>p</m:t>
                          </m:r>
                        </m:e>
                        <m:sub>
                          <m:r>
                            <m:rPr>
                              <m:sty m:val="i"/>
                            </m:rPr>
                            <a:rPr lang="en-US" i="1" sz="1568">
                              <a:latin typeface="Cambria Math"/>
                            </a:rPr>
                            <m:t>φ</m:t>
                          </m:r>
                        </m:sub>
                      </m:sSub>
                      <m:r>
                        <m:rPr>
                          <m:sty m:val="p"/>
                        </m:rPr>
                        <a:rPr lang="en-US" i="0" sz="1568">
                          <a:latin typeface="Cambria Math"/>
                        </a:rPr>
                        <m:t>≡</m:t>
                      </m:r>
                      <m:f>
                        <m:num>
                          <m:box>
                            <m:e>
                              <m:r>
                                <m:rPr>
                                  <m:sty m:val="i"/>
                                </m:rPr>
                                <a:rPr lang="en-US" i="1" sz="1568">
                                  <a:latin typeface="Cambria Math"/>
                                </a:rPr>
                                <m:t>∂</m:t>
                              </m:r>
                              <m:box>
                                <m:e>
                                  <m:r>
                                    <m:rPr>
                                      <m:scr m:val="script"/>
                                      <m:sty m:val="i"/>
                                    </m:rPr>
                                    <a:rPr lang="en-US" i="1" sz="1568">
                                      <a:latin typeface="Cambria Math"/>
                                    </a:rPr>
                                    <m:t>L</m:t>
                                  </m:r>
                                </m:e>
                              </m:box>
                            </m:e>
                          </m:box>
                        </m:num>
                        <m:den>
                          <m:box>
                            <m:e>
                              <m:r>
                                <m:rPr>
                                  <m:sty m:val="i"/>
                                </m:rPr>
                                <a:rPr lang="en-US" i="1" sz="1568">
                                  <a:latin typeface="Cambria Math"/>
                                </a:rPr>
                                <m:t>∂</m:t>
                              </m:r>
                              <m:box>
                                <m:e>
                                  <m:limUpp>
                                    <m:e>
                                      <m:r>
                                        <m:rPr>
                                          <m:sty m:val="i"/>
                                        </m:rPr>
                                        <a:rPr lang="en-US" i="1" sz="1568">
                                          <a:latin typeface="Cambria Math"/>
                                        </a:rPr>
                                        <m:t>φ</m:t>
                                      </m:r>
                                    </m:e>
                                    <m:lim>
                                      <m:r>
                                        <m:rPr>
                                          <m:sty m:val="p"/>
                                        </m:rPr>
                                        <a:rPr lang="en-US" i="0" sz="1568">
                                          <a:latin typeface="Cambria Math"/>
                                        </a:rPr>
                                        <m:t>˙</m:t>
                                      </m:r>
                                    </m:lim>
                                  </m:limUpp>
                                </m:e>
                              </m:box>
                            </m:e>
                          </m:box>
                        </m:den>
                      </m:f>
                      <m:r>
                        <m:rPr>
                          <m:sty m:val="p"/>
                        </m:rPr>
                        <a:rPr lang="en-US" i="0" sz="1568">
                          <a:latin typeface="Cambria Math"/>
                        </a:rPr>
                        <m:t>=</m:t>
                      </m:r>
                      <m:r>
                        <m:rPr>
                          <m:sty m:val="i"/>
                        </m:rPr>
                        <a:rPr lang="en-US" i="1" sz="1568">
                          <a:latin typeface="Cambria Math"/>
                        </a:rPr>
                        <m:t>C</m:t>
                      </m:r>
                      <m:sSup>
                        <m:e>
                          <m:box>
                            <m:e>
                              <m:d>
                                <m:dPr>
                                  <m:begChr m:val="("/>
                                  <m:endChr m:val=")"/>
                                </m:dPr>
                                <m:e>
                                  <m:box>
                                    <m:e>
                                      <m:f>
                                        <m:num>
                                          <m:r>
                                            <m:rPr>
                                              <m:sty m:val="i"/>
                                            </m:rPr>
                                            <a:rPr lang="en-US" i="1" sz="1568">
                                              <a:latin typeface="Cambria Math"/>
                                            </a:rPr>
                                            <m:t>ℏ</m:t>
                                          </m:r>
                                        </m:num>
                                        <m:den>
                                          <m:box>
                                            <m:e>
                                              <m:r>
                                                <m:rPr>
                                                  <m:sty m:val="p"/>
                                                </m:rPr>
                                                <a:rPr lang="en-US" i="0" sz="1568">
                                                  <a:latin typeface="Cambria Math"/>
                                                </a:rPr>
                                                <m:t>2</m:t>
                                              </m:r>
                                              <m:r>
                                                <m:rPr>
                                                  <m:sty m:val="i"/>
                                                </m:rPr>
                                                <a:rPr lang="en-US" i="1" sz="1568">
                                                  <a:latin typeface="Cambria Math"/>
                                                </a:rPr>
                                                <m:t>e</m:t>
                                              </m:r>
                                            </m:e>
                                          </m:box>
                                        </m:den>
                                      </m:f>
                                    </m:e>
                                  </m:box>
                                </m:e>
                              </m:d>
                            </m:e>
                          </m:box>
                        </m:e>
                        <m:sup>
                          <m:r>
                            <m:rPr>
                              <m:sty m:val="p"/>
                            </m:rPr>
                            <a:rPr lang="en-US" i="0" sz="1568">
                              <a:latin typeface="Cambria Math"/>
                            </a:rPr>
                            <m:t>2</m:t>
                          </m:r>
                        </m:sup>
                      </m:sSup>
                      <m:box>
                        <m:e>
                          <m:limUpp>
                            <m:e>
                              <m:r>
                                <m:rPr>
                                  <m:sty m:val="i"/>
                                </m:rPr>
                                <a:rPr lang="en-US" i="1" sz="1568">
                                  <a:latin typeface="Cambria Math"/>
                                </a:rPr>
                                <m:t>φ</m:t>
                              </m:r>
                            </m:e>
                            <m:lim>
                              <m:r>
                                <m:rPr>
                                  <m:sty m:val="p"/>
                                </m:rPr>
                                <a:rPr lang="en-US" i="0" sz="1568">
                                  <a:latin typeface="Cambria Math"/>
                                </a:rPr>
                                <m:t>˙</m:t>
                              </m:r>
                            </m:lim>
                          </m:limUpp>
                        </m:e>
                      </m:box>
                      <m:r>
                        <m:rPr>
                          <m:sty m:val="p"/>
                        </m:rPr>
                        <a:rPr lang="en-US" i="0" sz="1568">
                          <a:latin typeface="Cambria Math"/>
                        </a:rPr>
                        <m:t>=</m:t>
                      </m:r>
                      <m:f>
                        <m:num>
                          <m:r>
                            <m:rPr>
                              <m:sty m:val="i"/>
                            </m:rPr>
                            <a:rPr lang="en-US" i="1" sz="1568">
                              <a:latin typeface="Cambria Math"/>
                            </a:rPr>
                            <m:t>ℏ</m:t>
                          </m:r>
                        </m:num>
                        <m:den>
                          <m:box>
                            <m:e>
                              <m:r>
                                <m:rPr>
                                  <m:sty m:val="p"/>
                                </m:rPr>
                                <a:rPr lang="en-US" i="0" sz="1568">
                                  <a:latin typeface="Cambria Math"/>
                                </a:rPr>
                                <m:t>2</m:t>
                              </m:r>
                              <m:r>
                                <m:rPr>
                                  <m:sty m:val="i"/>
                                </m:rPr>
                                <a:rPr lang="en-US" i="1" sz="1568">
                                  <a:latin typeface="Cambria Math"/>
                                </a:rPr>
                                <m:t>e</m:t>
                              </m:r>
                            </m:e>
                          </m:box>
                        </m:den>
                      </m:f>
                      <m:box>
                        <m:e>
                          <m:d>
                            <m:dPr>
                              <m:begChr m:val="("/>
                              <m:endChr m:val=")"/>
                            </m:dPr>
                            <m:e>
                              <m:box>
                                <m:e>
                                  <m:r>
                                    <m:rPr>
                                      <m:sty m:val="i"/>
                                    </m:rPr>
                                    <a:rPr lang="en-US" i="1" sz="1568">
                                      <a:latin typeface="Cambria Math"/>
                                    </a:rPr>
                                    <m:t>C</m:t>
                                  </m:r>
                                  <m:f>
                                    <m:num>
                                      <m:r>
                                        <m:rPr>
                                          <m:sty m:val="i"/>
                                        </m:rPr>
                                        <a:rPr lang="en-US" i="1" sz="1568">
                                          <a:latin typeface="Cambria Math"/>
                                        </a:rPr>
                                        <m:t>ℏ</m:t>
                                      </m:r>
                                    </m:num>
                                    <m:den>
                                      <m:box>
                                        <m:e>
                                          <m:r>
                                            <m:rPr>
                                              <m:sty m:val="p"/>
                                            </m:rPr>
                                            <a:rPr lang="en-US" i="0" sz="1568">
                                              <a:latin typeface="Cambria Math"/>
                                            </a:rPr>
                                            <m:t>2</m:t>
                                          </m:r>
                                          <m:r>
                                            <m:rPr>
                                              <m:sty m:val="i"/>
                                            </m:rPr>
                                            <a:rPr lang="en-US" i="1" sz="1568">
                                              <a:latin typeface="Cambria Math"/>
                                            </a:rPr>
                                            <m:t>e</m:t>
                                          </m:r>
                                        </m:e>
                                      </m:box>
                                    </m:den>
                                  </m:f>
                                  <m:box>
                                    <m:e>
                                      <m:limUpp>
                                        <m:e>
                                          <m:r>
                                            <m:rPr>
                                              <m:sty m:val="i"/>
                                            </m:rPr>
                                            <a:rPr lang="en-US" i="1" sz="1568">
                                              <a:latin typeface="Cambria Math"/>
                                            </a:rPr>
                                            <m:t>φ</m:t>
                                          </m:r>
                                        </m:e>
                                        <m:lim>
                                          <m:r>
                                            <m:rPr>
                                              <m:sty m:val="p"/>
                                            </m:rPr>
                                            <a:rPr lang="en-US" i="0" sz="1568">
                                              <a:latin typeface="Cambria Math"/>
                                            </a:rPr>
                                            <m:t>˙</m:t>
                                          </m:r>
                                        </m:lim>
                                      </m:limUpp>
                                    </m:e>
                                  </m:box>
                                </m:e>
                              </m:box>
                            </m:e>
                          </m:d>
                        </m:e>
                      </m:box>
                      <m:r>
                        <m:rPr>
                          <m:sty m:val="p"/>
                        </m:rPr>
                        <a:rPr lang="en-US" i="0" sz="1568">
                          <a:latin typeface="Cambria Math"/>
                        </a:rPr>
                        <m:t>=</m:t>
                      </m:r>
                      <m:f>
                        <m:num>
                          <m:r>
                            <m:rPr>
                              <m:sty m:val="i"/>
                            </m:rPr>
                            <a:rPr lang="en-US" i="1" sz="1568">
                              <a:latin typeface="Cambria Math"/>
                            </a:rPr>
                            <m:t>ℏ</m:t>
                          </m:r>
                        </m:num>
                        <m:den>
                          <m:box>
                            <m:e>
                              <m:r>
                                <m:rPr>
                                  <m:sty m:val="p"/>
                                </m:rPr>
                                <a:rPr lang="en-US" i="0" sz="1568">
                                  <a:latin typeface="Cambria Math"/>
                                </a:rPr>
                                <m:t>2</m:t>
                              </m:r>
                              <m:r>
                                <m:rPr>
                                  <m:sty m:val="i"/>
                                </m:rPr>
                                <a:rPr lang="en-US" i="1" sz="1568">
                                  <a:latin typeface="Cambria Math"/>
                                </a:rPr>
                                <m:t>e</m:t>
                              </m:r>
                            </m:e>
                          </m:box>
                        </m:den>
                      </m:f>
                      <m:r>
                        <m:rPr>
                          <m:sty m:val="i"/>
                        </m:rPr>
                        <a:rPr lang="en-US" i="1" sz="1568">
                          <a:latin typeface="Cambria Math"/>
                        </a:rPr>
                        <m:t>Q</m:t>
                      </m:r>
                      <m:r>
                        <m:rPr>
                          <m:sty m:val="p"/>
                        </m:rPr>
                        <a:rPr lang="en-US" i="0" sz="1568">
                          <a:latin typeface="Cambria Math"/>
                        </a:rPr>
                        <m:t>=</m:t>
                      </m:r>
                      <m:f>
                        <m:num>
                          <m:r>
                            <m:rPr>
                              <m:sty m:val="i"/>
                            </m:rPr>
                            <a:rPr lang="en-US" i="1" sz="1568">
                              <a:latin typeface="Cambria Math"/>
                            </a:rPr>
                            <m:t>ℏ</m:t>
                          </m:r>
                        </m:num>
                        <m:den>
                          <m:box>
                            <m:e>
                              <m:r>
                                <m:rPr>
                                  <m:sty m:val="p"/>
                                </m:rPr>
                                <a:rPr lang="en-US" i="0" sz="1568">
                                  <a:latin typeface="Cambria Math"/>
                                </a:rPr>
                                <m:t>2</m:t>
                              </m:r>
                              <m:r>
                                <m:rPr>
                                  <m:sty m:val="i"/>
                                </m:rPr>
                                <a:rPr lang="en-US" i="1" sz="1568">
                                  <a:latin typeface="Cambria Math"/>
                                </a:rPr>
                                <m:t>e</m:t>
                              </m:r>
                            </m:e>
                          </m:box>
                        </m:den>
                      </m:f>
                      <m:r>
                        <m:rPr>
                          <m:sty m:val="p"/>
                        </m:rPr>
                        <a:rPr lang="en-US" i="0" sz="1568">
                          <a:latin typeface="Cambria Math"/>
                        </a:rPr>
                        <m:t>(</m:t>
                      </m:r>
                      <m:r>
                        <m:rPr>
                          <m:sty m:val="p"/>
                        </m:rPr>
                        <a:rPr lang="en-US" i="0" sz="1568">
                          <a:latin typeface="Cambria Math"/>
                        </a:rPr>
                        <m:t>2</m:t>
                      </m:r>
                      <m:r>
                        <m:rPr>
                          <m:sty m:val="i"/>
                        </m:rPr>
                        <a:rPr lang="en-US" i="1" sz="1568">
                          <a:latin typeface="Cambria Math"/>
                        </a:rPr>
                        <m:t>e</m:t>
                      </m:r>
                      <m:r>
                        <m:rPr>
                          <m:sty m:val="i"/>
                        </m:rPr>
                        <a:rPr lang="en-US" i="1" sz="1568">
                          <a:latin typeface="Cambria Math"/>
                        </a:rPr>
                        <m:t>n</m:t>
                      </m:r>
                      <m:r>
                        <m:rPr>
                          <m:sty m:val="p"/>
                        </m:rPr>
                        <a:rPr lang="en-US" i="0" sz="1568">
                          <a:latin typeface="Cambria Math"/>
                        </a:rPr>
                        <m:t>)</m:t>
                      </m:r>
                      <m:r>
                        <m:rPr>
                          <m:sty m:val="p"/>
                        </m:rPr>
                        <a:rPr lang="en-US" i="0" sz="1568">
                          <a:latin typeface="Cambria Math"/>
                        </a:rPr>
                        <m:t>=</m:t>
                      </m:r>
                      <m:box>
                        <m:e>
                          <m:r>
                            <m:rPr>
                              <m:sty m:val="i"/>
                            </m:rPr>
                            <a:rPr lang="en-US" i="1" sz="1568">
                              <a:latin typeface="Cambria Math"/>
                            </a:rPr>
                            <m:t>ℏ</m:t>
                          </m:r>
                          <m:r>
                            <m:rPr>
                              <m:sty m:val="i"/>
                            </m:rPr>
                            <a:rPr lang="en-US" i="1" sz="1568">
                              <a:latin typeface="Cambria Math"/>
                            </a:rPr>
                            <m:t>n</m:t>
                          </m:r>
                        </m:e>
                      </m:box>
                      <m:r>
                        <m:rPr>
                          <m:sty m:val="p"/>
                        </m:rPr>
                        <a:rPr lang="en-US" i="0" sz="1568">
                          <a:latin typeface="Cambria Math"/>
                        </a:rPr>
                        <m:t>.</m:t>
                      </m:r>
                    </m:oMath>
                  </m:oMathPara>
                </a14:m>
              </mc:Choice>
              <mc:Fallback>
                <a:r>
                  <a:rPr lang="en-US" sz="1567" i="1"/>
                  <a:t>
                    p_\varphi\equiv\frac{\partial\mathcal{L}}{\partial\dot{\varphi}}
                    =C\left(\frac{\hbar}{2e}\right)^2\dot{\varphi}
                    =\frac{\hbar}{2e}\left(C\frac{\hbar}{2e}\dot{\varphi}\right)
                    =\frac{\hbar}{2e}Q=\frac{\hbar}{2e}(2en)
                    ={\hbar n}.
                    </a:t>
                </a:r>
              </mc:Fallback>
            </mc:AlternateContent>
          </a:p>
        </p:txBody>
      </p:sp>
      <p:sp>
        <p:nvSpPr>
          <p:cNvPr id="15" name="Rectangle 14"/>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7" name="TextBox 16"/>
          <p:cNvSpPr txBox="1"/>
          <p:nvPr/>
        </p:nvSpPr>
        <p:spPr>
          <a:xfrm>
            <a:off x="11222699" y="6565900"/>
            <a:ext cx="478234"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46 / 100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47201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The Hamiltonian: </a:t>
            </a:r>
            <mc:AlternateContent xmlns:mc="http://schemas.openxmlformats.org/markup-compatibility/2006">
              <mc:Choice xmlns:a14="http://schemas.microsoft.com/office/drawing/2010/main" Requires="a14">
                <a14:m>
                  <m:oMath xmlns:m="http://schemas.openxmlformats.org/officeDocument/2006/math">
                    <m:r>
                      <m:rPr>
                        <m:sty m:val="p"/>
                      </m:rPr>
                      <a:rPr lang="en-US" i="0" sz="3408">
                        <a:latin typeface="Cambria Math"/>
                      </a:rPr>
                      <m:t>4</m:t>
                    </m:r>
                    <m:sSub>
                      <m:e>
                        <m:r>
                          <m:rPr>
                            <m:sty m:val="i"/>
                          </m:rPr>
                          <a:rPr lang="en-US" i="1" sz="3408">
                            <a:latin typeface="Cambria Math"/>
                          </a:rPr>
                          <m:t>E</m:t>
                        </m:r>
                      </m:e>
                      <m:sub>
                        <m:r>
                          <m:rPr>
                            <m:sty m:val="i"/>
                          </m:rPr>
                          <a:rPr lang="en-US" i="1" sz="3408">
                            <a:latin typeface="Cambria Math"/>
                          </a:rPr>
                          <m:t>C</m:t>
                        </m:r>
                      </m:sub>
                    </m:sSub>
                    <m:sSup>
                      <m:e>
                        <m:r>
                          <m:rPr>
                            <m:sty m:val="i"/>
                          </m:rPr>
                          <a:rPr lang="en-US" i="1" sz="3408">
                            <a:latin typeface="Cambria Math"/>
                          </a:rPr>
                          <m:t>n</m:t>
                        </m:r>
                      </m:e>
                      <m:sup>
                        <m:r>
                          <m:rPr>
                            <m:sty m:val="p"/>
                          </m:rPr>
                          <a:rPr lang="en-US" i="0" sz="3408">
                            <a:latin typeface="Cambria Math"/>
                          </a:rPr>
                          <m:t>2</m:t>
                        </m:r>
                      </m:sup>
                    </m:sSup>
                    <m:r>
                      <m:rPr>
                        <m:sty m:val="p"/>
                      </m:rPr>
                      <a:rPr lang="en-US" i="0" sz="3408">
                        <a:latin typeface="Cambria Math"/>
                      </a:rPr>
                      <m:t>−</m:t>
                    </m:r>
                    <m:sSub>
                      <m:e>
                        <m:r>
                          <m:rPr>
                            <m:sty m:val="i"/>
                          </m:rPr>
                          <a:rPr lang="en-US" i="1" sz="3408">
                            <a:latin typeface="Cambria Math"/>
                          </a:rPr>
                          <m:t>E</m:t>
                        </m:r>
                      </m:e>
                      <m:sub>
                        <m:r>
                          <m:rPr>
                            <m:sty m:val="i"/>
                          </m:rPr>
                          <a:rPr lang="en-US" i="1" sz="3408">
                            <a:latin typeface="Cambria Math"/>
                          </a:rPr>
                          <m:t>J</m:t>
                        </m:r>
                      </m:sub>
                    </m:sSub>
                    <m:r>
                      <m:rPr>
                        <m:sty m:val="p"/>
                      </m:rPr>
                      <a:rPr lang="en-US" i="0" sz="3408">
                        <a:latin typeface="Cambria Math"/>
                      </a:rPr>
                      <m:t>cos</m:t>
                    </m:r>
                    <m:r>
                      <m:rPr>
                        <m:sty m:val="p"/>
                      </m:rPr>
                      <a:rPr lang="en-US" i="0" sz="3408">
                        <a:latin typeface="Cambria Math"/>
                      </a:rPr>
                      <m:t/>
                    </m:r>
                    <m:r>
                      <m:rPr>
                        <m:sty m:val="i"/>
                      </m:rPr>
                      <a:rPr lang="en-US" i="1" sz="3408">
                        <a:latin typeface="Cambria Math"/>
                      </a:rPr>
                      <m:t>φ</m:t>
                    </m:r>
                  </m:oMath>
                </a14:m>
              </mc:Choice>
              <mc:Fallback>
                <a:r>
                  <a:rPr lang="en-US" sz="3408" i="1"/>
                  <a:t>4E_C n^2 - E_J\cos\varphi</a:t>
                </a:r>
              </mc:Fallback>
            </mc:AlternateContent>
          </a:p>
        </p:txBody>
      </p:sp>
      <p:sp>
        <p:nvSpPr>
          <p:cNvPr id="6" name="TextBox 5"/>
          <p:cNvSpPr txBox="1"/>
          <p:nvPr/>
        </p:nvSpPr>
        <p:spPr>
          <a:xfrm>
            <a:off x="575733" y="1488017"/>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The Hamiltonian is obtained through the Legendre transformation </a:t>
            </a:r>
            <mc:AlternateContent xmlns:mc="http://schemas.openxmlformats.org/markup-compatibility/2006">
              <mc:Choice xmlns:a14="http://schemas.microsoft.com/office/drawing/2010/main" Requires="a14">
                <a14:m>
                  <m:oMath xmlns:m="http://schemas.openxmlformats.org/officeDocument/2006/math">
                    <m:box>
                      <m:e>
                        <m:r>
                          <m:rPr>
                            <m:scr m:val="script"/>
                            <m:sty m:val="i"/>
                          </m:rPr>
                          <a:rPr lang="en-US" i="1" sz="1665">
                            <a:latin typeface="Cambria Math"/>
                          </a:rPr>
                          <m:t>H</m:t>
                        </m:r>
                      </m:e>
                    </m:box>
                    <m:r>
                      <m:rPr>
                        <m:sty m:val="p"/>
                      </m:rPr>
                      <a:rPr lang="en-US" i="0" sz="1665">
                        <a:latin typeface="Cambria Math"/>
                      </a:rPr>
                      <m:t>=</m:t>
                    </m:r>
                    <m:sSub>
                      <m:e>
                        <m:r>
                          <m:rPr>
                            <m:sty m:val="i"/>
                          </m:rPr>
                          <a:rPr lang="en-US" i="1" sz="1665">
                            <a:latin typeface="Cambria Math"/>
                          </a:rPr>
                          <m:t>p</m:t>
                        </m:r>
                      </m:e>
                      <m:sub>
                        <m:r>
                          <m:rPr>
                            <m:sty m:val="i"/>
                          </m:rPr>
                          <a:rPr lang="en-US" i="1" sz="1665">
                            <a:latin typeface="Cambria Math"/>
                          </a:rPr>
                          <m:t>φ</m:t>
                        </m:r>
                      </m:sub>
                    </m:sSub>
                    <m:box>
                      <m:e>
                        <m:limUpp>
                          <m:e>
                            <m:r>
                              <m:rPr>
                                <m:sty m:val="i"/>
                              </m:rPr>
                              <a:rPr lang="en-US" i="1" sz="1665">
                                <a:latin typeface="Cambria Math"/>
                              </a:rPr>
                              <m:t>φ</m:t>
                            </m:r>
                          </m:e>
                          <m:lim>
                            <m:r>
                              <m:rPr>
                                <m:sty m:val="p"/>
                              </m:rPr>
                              <a:rPr lang="en-US" i="0" sz="1665">
                                <a:latin typeface="Cambria Math"/>
                              </a:rPr>
                              <m:t>˙</m:t>
                            </m:r>
                          </m:lim>
                        </m:limUpp>
                      </m:e>
                    </m:box>
                    <m:r>
                      <m:rPr>
                        <m:sty m:val="p"/>
                      </m:rPr>
                      <a:rPr lang="en-US" i="0" sz="1665">
                        <a:latin typeface="Cambria Math"/>
                      </a:rPr>
                      <m:t>−</m:t>
                    </m:r>
                    <m:box>
                      <m:e>
                        <m:r>
                          <m:rPr>
                            <m:scr m:val="script"/>
                            <m:sty m:val="i"/>
                          </m:rPr>
                          <a:rPr lang="en-US" i="1" sz="1665">
                            <a:latin typeface="Cambria Math"/>
                          </a:rPr>
                          <m:t>L</m:t>
                        </m:r>
                      </m:e>
                    </m:box>
                  </m:oMath>
                </a14:m>
              </mc:Choice>
              <mc:Fallback>
                <a:r>
                  <a:rPr lang="en-US" sz="1664" i="1"/>
                  <a:t>\mathcal{H}=p_\varphi\dot{\varphi}-\mathcal{L}</a:t>
                </a:r>
              </mc:Fallback>
            </mc:AlternateContent>
            <a:r>
              <a:rPr sz="1400" b="0" i="0">
                <a:solidFill>
                  <a:srgbClr val="4F4C56"/>
                </a:solidFill>
                <a:latin typeface="Montserrat"/>
                <a:ea typeface="Montserrat"/>
                <a:cs typeface="Montserrat"/>
              </a:rPr>
              <a:t>. Solving for </a:t>
            </a:r>
            <mc:AlternateContent xmlns:mc="http://schemas.openxmlformats.org/markup-compatibility/2006">
              <mc:Choice xmlns:a14="http://schemas.microsoft.com/office/drawing/2010/main" Requires="a14">
                <a14:m>
                  <m:oMath xmlns:m="http://schemas.openxmlformats.org/officeDocument/2006/math">
                    <m:box>
                      <m:e>
                        <m:limUpp>
                          <m:e>
                            <m:r>
                              <m:rPr>
                                <m:sty m:val="i"/>
                              </m:rPr>
                              <a:rPr lang="en-US" i="1" sz="1665">
                                <a:latin typeface="Cambria Math"/>
                              </a:rPr>
                              <m:t>φ</m:t>
                            </m:r>
                          </m:e>
                          <m:lim>
                            <m:r>
                              <m:rPr>
                                <m:sty m:val="p"/>
                              </m:rPr>
                              <a:rPr lang="en-US" i="0" sz="1665">
                                <a:latin typeface="Cambria Math"/>
                              </a:rPr>
                              <m:t>˙</m:t>
                            </m:r>
                          </m:lim>
                        </m:limUpp>
                      </m:e>
                    </m:box>
                  </m:oMath>
                </a14:m>
              </mc:Choice>
              <mc:Fallback>
                <a:r>
                  <a:rPr lang="en-US" sz="1664" i="1"/>
                  <a:t>\dot{\varphi}</a:t>
                </a:r>
              </mc:Fallback>
            </mc:AlternateContent>
            <a:r>
              <a:rPr sz="1400" b="0" i="0">
                <a:solidFill>
                  <a:srgbClr val="4F4C56"/>
                </a:solidFill>
                <a:latin typeface="Montserrat"/>
                <a:ea typeface="Montserrat"/>
                <a:cs typeface="Montserrat"/>
              </a:rPr>
              <a:t> and substituting:</a:t>
            </a:r>
          </a:p>
        </p:txBody>
      </p:sp>
      <p:sp>
        <p:nvSpPr>
          <p:cNvPr id="7" name="equation"/>
          <p:cNvSpPr txBox="1"/>
          <p:nvPr/>
        </p:nvSpPr>
        <p:spPr>
          <a:xfrm>
            <a:off x="575733" y="1910556"/>
            <a:ext cx="11040533" cy="613966"/>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limUpp>
                            <m:e>
                              <m:r>
                                <m:rPr>
                                  <m:sty m:val="i"/>
                                </m:rPr>
                                <a:rPr lang="en-US" i="1" sz="1568">
                                  <a:latin typeface="Cambria Math"/>
                                </a:rPr>
                                <m:t>φ</m:t>
                              </m:r>
                            </m:e>
                            <m:lim>
                              <m:r>
                                <m:rPr>
                                  <m:sty m:val="p"/>
                                </m:rPr>
                                <a:rPr lang="en-US" i="0" sz="1568">
                                  <a:latin typeface="Cambria Math"/>
                                </a:rPr>
                                <m:t>˙</m:t>
                              </m:r>
                            </m:lim>
                          </m:limUpp>
                        </m:e>
                      </m:box>
                      <m:r>
                        <m:rPr>
                          <m:sty m:val="p"/>
                        </m:rPr>
                        <a:rPr lang="en-US" i="0" sz="1568">
                          <a:latin typeface="Cambria Math"/>
                        </a:rPr>
                        <m:t>=</m:t>
                      </m:r>
                      <m:f>
                        <m:num>
                          <m:sSub>
                            <m:e>
                              <m:r>
                                <m:rPr>
                                  <m:sty m:val="i"/>
                                </m:rPr>
                                <a:rPr lang="en-US" i="1" sz="1568">
                                  <a:latin typeface="Cambria Math"/>
                                </a:rPr>
                                <m:t>p</m:t>
                              </m:r>
                            </m:e>
                            <m:sub>
                              <m:r>
                                <m:rPr>
                                  <m:sty m:val="i"/>
                                </m:rPr>
                                <a:rPr lang="en-US" i="1" sz="1568">
                                  <a:latin typeface="Cambria Math"/>
                                </a:rPr>
                                <m:t>φ</m:t>
                              </m:r>
                            </m:sub>
                          </m:sSub>
                        </m:num>
                        <m:den>
                          <m:box>
                            <m:e>
                              <m:r>
                                <m:rPr>
                                  <m:sty m:val="i"/>
                                </m:rPr>
                                <a:rPr lang="en-US" i="1" sz="1568">
                                  <a:latin typeface="Cambria Math"/>
                                </a:rPr>
                                <m:t>C</m:t>
                              </m:r>
                              <m:sSup>
                                <m:e>
                                  <m:box>
                                    <m:e>
                                      <m:d>
                                        <m:dPr>
                                          <m:begChr m:val="("/>
                                          <m:endChr m:val=")"/>
                                        </m:dPr>
                                        <m:e>
                                          <m:box>
                                            <m:e>
                                              <m:f>
                                                <m:num>
                                                  <m:r>
                                                    <m:rPr>
                                                      <m:sty m:val="i"/>
                                                    </m:rPr>
                                                    <a:rPr lang="en-US" i="1" sz="1568">
                                                      <a:latin typeface="Cambria Math"/>
                                                    </a:rPr>
                                                    <m:t>ℏ</m:t>
                                                  </m:r>
                                                </m:num>
                                                <m:den>
                                                  <m:box>
                                                    <m:e>
                                                      <m:r>
                                                        <m:rPr>
                                                          <m:sty m:val="p"/>
                                                        </m:rPr>
                                                        <a:rPr lang="en-US" i="0" sz="1568">
                                                          <a:latin typeface="Cambria Math"/>
                                                        </a:rPr>
                                                        <m:t>2</m:t>
                                                      </m:r>
                                                      <m:r>
                                                        <m:rPr>
                                                          <m:sty m:val="i"/>
                                                        </m:rPr>
                                                        <a:rPr lang="en-US" i="1" sz="1568">
                                                          <a:latin typeface="Cambria Math"/>
                                                        </a:rPr>
                                                        <m:t>e</m:t>
                                                      </m:r>
                                                    </m:e>
                                                  </m:box>
                                                </m:den>
                                              </m:f>
                                            </m:e>
                                          </m:box>
                                        </m:e>
                                      </m:d>
                                    </m:e>
                                  </m:box>
                                </m:e>
                                <m:sup>
                                  <m:r>
                                    <m:rPr>
                                      <m:sty m:val="p"/>
                                    </m:rPr>
                                    <a:rPr lang="en-US" i="0" sz="1568">
                                      <a:latin typeface="Cambria Math"/>
                                    </a:rPr>
                                    <m:t>2</m:t>
                                  </m:r>
                                </m:sup>
                              </m:sSup>
                            </m:e>
                          </m:box>
                        </m:den>
                      </m:f>
                      <m:r>
                        <m:rPr>
                          <m:sty m:val="p"/>
                        </m:rPr>
                        <a:rPr lang="en-US" i="0" sz="1568">
                          <a:latin typeface="Cambria Math"/>
                        </a:rPr>
                        <m:t>,</m:t>
                      </m:r>
                      <m:box>
                        <m:e>
                          <m:r>
                            <a:rPr lang="en-US" i="1" sz="1568">
                              <a:latin typeface="Cambria Math"/>
                            </a:rPr>
                            <m:t/>
                          </m:r>
                        </m:e>
                      </m:box>
                      <m:box>
                        <m:e>
                          <m:r>
                            <m:rPr>
                              <m:scr m:val="script"/>
                              <m:sty m:val="i"/>
                            </m:rPr>
                            <a:rPr lang="en-US" i="1" sz="1568">
                              <a:latin typeface="Cambria Math"/>
                            </a:rPr>
                            <m:t>H</m:t>
                          </m:r>
                        </m:e>
                      </m:box>
                      <m:r>
                        <m:rPr>
                          <m:sty m:val="p"/>
                        </m:rPr>
                        <a:rPr lang="en-US" i="0" sz="1568">
                          <a:latin typeface="Cambria Math"/>
                        </a:rPr>
                        <m:t>=</m:t>
                      </m:r>
                      <m:f>
                        <m:num>
                          <m:sSubSup>
                            <m:e>
                              <m:r>
                                <m:rPr>
                                  <m:sty m:val="i"/>
                                </m:rPr>
                                <a:rPr lang="en-US" i="1" sz="1568">
                                  <a:latin typeface="Cambria Math"/>
                                </a:rPr>
                                <m:t>p</m:t>
                              </m:r>
                            </m:e>
                            <m:sub>
                              <m:r>
                                <m:rPr>
                                  <m:sty m:val="i"/>
                                </m:rPr>
                                <a:rPr lang="en-US" i="1" sz="1568">
                                  <a:latin typeface="Cambria Math"/>
                                </a:rPr>
                                <m:t>φ</m:t>
                              </m:r>
                            </m:sub>
                            <m:sup>
                              <m:r>
                                <m:rPr>
                                  <m:sty m:val="p"/>
                                </m:rPr>
                                <a:rPr lang="en-US" i="0" sz="1568">
                                  <a:latin typeface="Cambria Math"/>
                                </a:rPr>
                                <m:t>2</m:t>
                              </m:r>
                            </m:sup>
                          </m:sSubSup>
                        </m:num>
                        <m:den>
                          <m:box>
                            <m:e>
                              <m:r>
                                <m:rPr>
                                  <m:sty m:val="i"/>
                                </m:rPr>
                                <a:rPr lang="en-US" i="1" sz="1568">
                                  <a:latin typeface="Cambria Math"/>
                                </a:rPr>
                                <m:t>C</m:t>
                              </m:r>
                              <m:sSup>
                                <m:e>
                                  <m:box>
                                    <m:e>
                                      <m:d>
                                        <m:dPr>
                                          <m:begChr m:val="("/>
                                          <m:endChr m:val=")"/>
                                        </m:dPr>
                                        <m:e>
                                          <m:box>
                                            <m:e>
                                              <m:f>
                                                <m:num>
                                                  <m:r>
                                                    <m:rPr>
                                                      <m:sty m:val="i"/>
                                                    </m:rPr>
                                                    <a:rPr lang="en-US" i="1" sz="1568">
                                                      <a:latin typeface="Cambria Math"/>
                                                    </a:rPr>
                                                    <m:t>ℏ</m:t>
                                                  </m:r>
                                                </m:num>
                                                <m:den>
                                                  <m:box>
                                                    <m:e>
                                                      <m:r>
                                                        <m:rPr>
                                                          <m:sty m:val="p"/>
                                                        </m:rPr>
                                                        <a:rPr lang="en-US" i="0" sz="1568">
                                                          <a:latin typeface="Cambria Math"/>
                                                        </a:rPr>
                                                        <m:t>2</m:t>
                                                      </m:r>
                                                      <m:r>
                                                        <m:rPr>
                                                          <m:sty m:val="i"/>
                                                        </m:rPr>
                                                        <a:rPr lang="en-US" i="1" sz="1568">
                                                          <a:latin typeface="Cambria Math"/>
                                                        </a:rPr>
                                                        <m:t>e</m:t>
                                                      </m:r>
                                                    </m:e>
                                                  </m:box>
                                                </m:den>
                                              </m:f>
                                            </m:e>
                                          </m:box>
                                        </m:e>
                                      </m:d>
                                    </m:e>
                                  </m:box>
                                </m:e>
                                <m:sup>
                                  <m:r>
                                    <m:rPr>
                                      <m:sty m:val="p"/>
                                    </m:rPr>
                                    <a:rPr lang="en-US" i="0" sz="1568">
                                      <a:latin typeface="Cambria Math"/>
                                    </a:rPr>
                                    <m:t>2</m:t>
                                  </m:r>
                                </m:sup>
                              </m:sSup>
                            </m:e>
                          </m:box>
                        </m:den>
                      </m:f>
                      <m:r>
                        <m:rPr>
                          <m:sty m:val="p"/>
                        </m:rPr>
                        <a:rPr lang="en-US" i="0" sz="1568">
                          <a:latin typeface="Cambria Math"/>
                        </a:rPr>
                        <m:t>−</m:t>
                      </m:r>
                      <m:f>
                        <m:num>
                          <m:r>
                            <m:rPr>
                              <m:sty m:val="p"/>
                            </m:rPr>
                            <a:rPr lang="en-US" i="0" sz="1568">
                              <a:latin typeface="Cambria Math"/>
                            </a:rPr>
                            <m:t>1</m:t>
                          </m:r>
                        </m:num>
                        <m:den>
                          <m:r>
                            <m:rPr>
                              <m:sty m:val="p"/>
                            </m:rPr>
                            <a:rPr lang="en-US" i="0" sz="1568">
                              <a:latin typeface="Cambria Math"/>
                            </a:rPr>
                            <m:t>2</m:t>
                          </m:r>
                        </m:den>
                      </m:f>
                      <m:f>
                        <m:num>
                          <m:sSubSup>
                            <m:e>
                              <m:r>
                                <m:rPr>
                                  <m:sty m:val="i"/>
                                </m:rPr>
                                <a:rPr lang="en-US" i="1" sz="1568">
                                  <a:latin typeface="Cambria Math"/>
                                </a:rPr>
                                <m:t>p</m:t>
                              </m:r>
                            </m:e>
                            <m:sub>
                              <m:r>
                                <m:rPr>
                                  <m:sty m:val="i"/>
                                </m:rPr>
                                <a:rPr lang="en-US" i="1" sz="1568">
                                  <a:latin typeface="Cambria Math"/>
                                </a:rPr>
                                <m:t>φ</m:t>
                              </m:r>
                            </m:sub>
                            <m:sup>
                              <m:r>
                                <m:rPr>
                                  <m:sty m:val="p"/>
                                </m:rPr>
                                <a:rPr lang="en-US" i="0" sz="1568">
                                  <a:latin typeface="Cambria Math"/>
                                </a:rPr>
                                <m:t>2</m:t>
                              </m:r>
                            </m:sup>
                          </m:sSubSup>
                        </m:num>
                        <m:den>
                          <m:box>
                            <m:e>
                              <m:r>
                                <m:rPr>
                                  <m:sty m:val="i"/>
                                </m:rPr>
                                <a:rPr lang="en-US" i="1" sz="1568">
                                  <a:latin typeface="Cambria Math"/>
                                </a:rPr>
                                <m:t>C</m:t>
                              </m:r>
                              <m:sSup>
                                <m:e>
                                  <m:box>
                                    <m:e>
                                      <m:d>
                                        <m:dPr>
                                          <m:begChr m:val="("/>
                                          <m:endChr m:val=")"/>
                                        </m:dPr>
                                        <m:e>
                                          <m:box>
                                            <m:e>
                                              <m:f>
                                                <m:num>
                                                  <m:r>
                                                    <m:rPr>
                                                      <m:sty m:val="i"/>
                                                    </m:rPr>
                                                    <a:rPr lang="en-US" i="1" sz="1568">
                                                      <a:latin typeface="Cambria Math"/>
                                                    </a:rPr>
                                                    <m:t>ℏ</m:t>
                                                  </m:r>
                                                </m:num>
                                                <m:den>
                                                  <m:box>
                                                    <m:e>
                                                      <m:r>
                                                        <m:rPr>
                                                          <m:sty m:val="p"/>
                                                        </m:rPr>
                                                        <a:rPr lang="en-US" i="0" sz="1568">
                                                          <a:latin typeface="Cambria Math"/>
                                                        </a:rPr>
                                                        <m:t>2</m:t>
                                                      </m:r>
                                                      <m:r>
                                                        <m:rPr>
                                                          <m:sty m:val="i"/>
                                                        </m:rPr>
                                                        <a:rPr lang="en-US" i="1" sz="1568">
                                                          <a:latin typeface="Cambria Math"/>
                                                        </a:rPr>
                                                        <m:t>e</m:t>
                                                      </m:r>
                                                    </m:e>
                                                  </m:box>
                                                </m:den>
                                              </m:f>
                                            </m:e>
                                          </m:box>
                                        </m:e>
                                      </m:d>
                                    </m:e>
                                  </m:box>
                                </m:e>
                                <m:sup>
                                  <m:r>
                                    <m:rPr>
                                      <m:sty m:val="p"/>
                                    </m:rPr>
                                    <a:rPr lang="en-US" i="0" sz="1568">
                                      <a:latin typeface="Cambria Math"/>
                                    </a:rPr>
                                    <m:t>2</m:t>
                                  </m:r>
                                </m:sup>
                              </m:sSup>
                            </m:e>
                          </m:box>
                        </m:den>
                      </m:f>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J</m:t>
                          </m:r>
                        </m:sub>
                      </m:sSub>
                      <m:r>
                        <m:rPr>
                          <m:sty m:val="p"/>
                        </m:rPr>
                        <a:rPr lang="en-US" i="0" sz="1568">
                          <a:latin typeface="Cambria Math"/>
                        </a:rPr>
                        <m:t>cos</m:t>
                      </m:r>
                      <m:r>
                        <m:rPr>
                          <m:sty m:val="p"/>
                        </m:rPr>
                        <a:rPr lang="en-US" i="0" sz="1568">
                          <a:latin typeface="Cambria Math"/>
                        </a:rPr>
                        <m:t/>
                      </m:r>
                      <m:r>
                        <m:rPr>
                          <m:sty m:val="i"/>
                        </m:rPr>
                        <a:rPr lang="en-US" i="1" sz="1568">
                          <a:latin typeface="Cambria Math"/>
                        </a:rPr>
                        <m:t>φ</m:t>
                      </m:r>
                      <m:r>
                        <m:rPr>
                          <m:sty m:val="p"/>
                        </m:rPr>
                        <a:rPr lang="en-US" i="0" sz="1568">
                          <a:latin typeface="Cambria Math"/>
                        </a:rPr>
                        <m:t>=</m:t>
                      </m:r>
                      <m:f>
                        <m:num>
                          <m:sSubSup>
                            <m:e>
                              <m:r>
                                <m:rPr>
                                  <m:sty m:val="i"/>
                                </m:rPr>
                                <a:rPr lang="en-US" i="1" sz="1568">
                                  <a:latin typeface="Cambria Math"/>
                                </a:rPr>
                                <m:t>p</m:t>
                              </m:r>
                            </m:e>
                            <m:sub>
                              <m:r>
                                <m:rPr>
                                  <m:sty m:val="i"/>
                                </m:rPr>
                                <a:rPr lang="en-US" i="1" sz="1568">
                                  <a:latin typeface="Cambria Math"/>
                                </a:rPr>
                                <m:t>φ</m:t>
                              </m:r>
                            </m:sub>
                            <m:sup>
                              <m:r>
                                <m:rPr>
                                  <m:sty m:val="p"/>
                                </m:rPr>
                                <a:rPr lang="en-US" i="0" sz="1568">
                                  <a:latin typeface="Cambria Math"/>
                                </a:rPr>
                                <m:t>2</m:t>
                              </m:r>
                            </m:sup>
                          </m:sSubSup>
                        </m:num>
                        <m:den>
                          <m:box>
                            <m:e>
                              <m:r>
                                <m:rPr>
                                  <m:sty m:val="p"/>
                                </m:rPr>
                                <a:rPr lang="en-US" i="0" sz="1568">
                                  <a:latin typeface="Cambria Math"/>
                                </a:rPr>
                                <m:t>2</m:t>
                              </m:r>
                              <m:r>
                                <m:rPr>
                                  <m:sty m:val="i"/>
                                </m:rPr>
                                <a:rPr lang="en-US" i="1" sz="1568">
                                  <a:latin typeface="Cambria Math"/>
                                </a:rPr>
                                <m:t>C</m:t>
                              </m:r>
                              <m:sSup>
                                <m:e>
                                  <m:box>
                                    <m:e>
                                      <m:d>
                                        <m:dPr>
                                          <m:begChr m:val="("/>
                                          <m:endChr m:val=")"/>
                                        </m:dPr>
                                        <m:e>
                                          <m:box>
                                            <m:e>
                                              <m:f>
                                                <m:num>
                                                  <m:r>
                                                    <m:rPr>
                                                      <m:sty m:val="i"/>
                                                    </m:rPr>
                                                    <a:rPr lang="en-US" i="1" sz="1568">
                                                      <a:latin typeface="Cambria Math"/>
                                                    </a:rPr>
                                                    <m:t>ℏ</m:t>
                                                  </m:r>
                                                </m:num>
                                                <m:den>
                                                  <m:box>
                                                    <m:e>
                                                      <m:r>
                                                        <m:rPr>
                                                          <m:sty m:val="p"/>
                                                        </m:rPr>
                                                        <a:rPr lang="en-US" i="0" sz="1568">
                                                          <a:latin typeface="Cambria Math"/>
                                                        </a:rPr>
                                                        <m:t>2</m:t>
                                                      </m:r>
                                                      <m:r>
                                                        <m:rPr>
                                                          <m:sty m:val="i"/>
                                                        </m:rPr>
                                                        <a:rPr lang="en-US" i="1" sz="1568">
                                                          <a:latin typeface="Cambria Math"/>
                                                        </a:rPr>
                                                        <m:t>e</m:t>
                                                      </m:r>
                                                    </m:e>
                                                  </m:box>
                                                </m:den>
                                              </m:f>
                                            </m:e>
                                          </m:box>
                                        </m:e>
                                      </m:d>
                                    </m:e>
                                  </m:box>
                                </m:e>
                                <m:sup>
                                  <m:r>
                                    <m:rPr>
                                      <m:sty m:val="p"/>
                                    </m:rPr>
                                    <a:rPr lang="en-US" i="0" sz="1568">
                                      <a:latin typeface="Cambria Math"/>
                                    </a:rPr>
                                    <m:t>2</m:t>
                                  </m:r>
                                </m:sup>
                              </m:sSup>
                            </m:e>
                          </m:box>
                        </m:den>
                      </m:f>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J</m:t>
                          </m:r>
                        </m:sub>
                      </m:sSub>
                      <m:r>
                        <m:rPr>
                          <m:sty m:val="p"/>
                        </m:rPr>
                        <a:rPr lang="en-US" i="0" sz="1568">
                          <a:latin typeface="Cambria Math"/>
                        </a:rPr>
                        <m:t>cos</m:t>
                      </m:r>
                      <m:r>
                        <m:rPr>
                          <m:sty m:val="p"/>
                        </m:rPr>
                        <a:rPr lang="en-US" i="0" sz="1568">
                          <a:latin typeface="Cambria Math"/>
                        </a:rPr>
                        <m:t/>
                      </m:r>
                      <m:r>
                        <m:rPr>
                          <m:sty m:val="i"/>
                        </m:rPr>
                        <a:rPr lang="en-US" i="1" sz="1568">
                          <a:latin typeface="Cambria Math"/>
                        </a:rPr>
                        <m:t>φ</m:t>
                      </m:r>
                      <m:r>
                        <m:rPr>
                          <m:sty m:val="p"/>
                        </m:rPr>
                        <a:rPr lang="en-US" i="0" sz="1568">
                          <a:latin typeface="Cambria Math"/>
                        </a:rPr>
                        <m:t>.</m:t>
                      </m:r>
                    </m:oMath>
                  </m:oMathPara>
                </a14:m>
              </mc:Choice>
              <mc:Fallback>
                <a:r>
                  <a:rPr lang="en-US" sz="1567" i="1"/>
                  <a:t>
                \dot{\varphi}=\frac{p_\varphi}{C\left(\frac{\hbar}{2e}\right)^2},
                \qquad
                \mathcal{H}
                =\frac{p_\varphi^2}{C\left(\frac{\hbar}{2e}\right)^2}
                -\frac{1}{2}\frac{p_\varphi^2}{C\left(\frac{\hbar}{2e}\right)^2}
                -E_J\cos\varphi
                =\frac{p_\varphi^2}{2C\left(\frac{\hbar}{2e}\right)^2}-E_J\cos\varphi.
                </a:t>
                </a:r>
              </mc:Fallback>
            </mc:AlternateContent>
          </a:p>
        </p:txBody>
      </p:sp>
      <p:sp>
        <p:nvSpPr>
          <p:cNvPr id="8" name="TextBox 7"/>
          <p:cNvSpPr txBox="1"/>
          <p:nvPr/>
        </p:nvSpPr>
        <p:spPr>
          <a:xfrm>
            <a:off x="575733" y="2676922"/>
            <a:ext cx="11040533" cy="317897"/>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Recognising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p</m:t>
                        </m:r>
                      </m:e>
                      <m:sub>
                        <m:r>
                          <m:rPr>
                            <m:sty m:val="i"/>
                          </m:rPr>
                          <a:rPr lang="en-US" i="1" sz="1665">
                            <a:latin typeface="Cambria Math"/>
                          </a:rPr>
                          <m:t>φ</m:t>
                        </m:r>
                      </m:sub>
                    </m:sSub>
                    <m:r>
                      <m:rPr>
                        <m:sty m:val="p"/>
                      </m:rPr>
                      <a:rPr lang="en-US" i="0" sz="1665">
                        <a:latin typeface="Cambria Math"/>
                      </a:rPr>
                      <m:t>=</m:t>
                    </m:r>
                    <m:f>
                      <m:num>
                        <m:r>
                          <m:rPr>
                            <m:sty m:val="i"/>
                          </m:rPr>
                          <a:rPr lang="en-US" i="1" sz="1665">
                            <a:latin typeface="Cambria Math"/>
                          </a:rPr>
                          <m:t>ℏ</m:t>
                        </m:r>
                      </m:num>
                      <m:den>
                        <m:box>
                          <m:e>
                            <m:r>
                              <m:rPr>
                                <m:sty m:val="p"/>
                              </m:rPr>
                              <a:rPr lang="en-US" i="0" sz="1665">
                                <a:latin typeface="Cambria Math"/>
                              </a:rPr>
                              <m:t>2</m:t>
                            </m:r>
                            <m:r>
                              <m:rPr>
                                <m:sty m:val="i"/>
                              </m:rPr>
                              <a:rPr lang="en-US" i="1" sz="1665">
                                <a:latin typeface="Cambria Math"/>
                              </a:rPr>
                              <m:t>e</m:t>
                            </m:r>
                          </m:e>
                        </m:box>
                      </m:den>
                    </m:f>
                    <m:r>
                      <m:rPr>
                        <m:sty m:val="i"/>
                      </m:rPr>
                      <a:rPr lang="en-US" i="1" sz="1665">
                        <a:latin typeface="Cambria Math"/>
                      </a:rPr>
                      <m:t>Q</m:t>
                    </m:r>
                  </m:oMath>
                </a14:m>
              </mc:Choice>
              <mc:Fallback>
                <a:r>
                  <a:rPr lang="en-US" sz="1664" i="1"/>
                  <a:t>p_\varphi=\frac{\hbar}{2e}Q</a:t>
                </a:r>
              </mc:Fallback>
            </mc:AlternateContent>
            <a:r>
              <a:rPr sz="1400" b="0" i="0">
                <a:solidFill>
                  <a:srgbClr val="4F4C56"/>
                </a:solidFill>
                <a:latin typeface="Montserrat"/>
                <a:ea typeface="Montserrat"/>
                <a:cs typeface="Montserrat"/>
              </a:rPr>
              <a:t>, the first term becomes </a:t>
            </a:r>
            <mc:AlternateContent xmlns:mc="http://schemas.openxmlformats.org/markup-compatibility/2006">
              <mc:Choice xmlns:a14="http://schemas.microsoft.com/office/drawing/2010/main" Requires="a14">
                <a14:m>
                  <m:oMath xmlns:m="http://schemas.openxmlformats.org/officeDocument/2006/math">
                    <m:f>
                      <m:num>
                        <m:sSup>
                          <m:e>
                            <m:r>
                              <m:rPr>
                                <m:sty m:val="i"/>
                              </m:rPr>
                              <a:rPr lang="en-US" i="1" sz="1665">
                                <a:latin typeface="Cambria Math"/>
                              </a:rPr>
                              <m:t>Q</m:t>
                            </m:r>
                          </m:e>
                          <m:sup>
                            <m:r>
                              <m:rPr>
                                <m:sty m:val="p"/>
                              </m:rPr>
                              <a:rPr lang="en-US" i="0" sz="1665">
                                <a:latin typeface="Cambria Math"/>
                              </a:rPr>
                              <m:t>2</m:t>
                            </m:r>
                          </m:sup>
                        </m:sSup>
                      </m:num>
                      <m:den>
                        <m:box>
                          <m:e>
                            <m:r>
                              <m:rPr>
                                <m:sty m:val="p"/>
                              </m:rPr>
                              <a:rPr lang="en-US" i="0" sz="1665">
                                <a:latin typeface="Cambria Math"/>
                              </a:rPr>
                              <m:t>2</m:t>
                            </m:r>
                            <m:r>
                              <m:rPr>
                                <m:sty m:val="i"/>
                              </m:rPr>
                              <a:rPr lang="en-US" i="1" sz="1665">
                                <a:latin typeface="Cambria Math"/>
                              </a:rPr>
                              <m:t>C</m:t>
                            </m:r>
                          </m:e>
                        </m:box>
                      </m:den>
                    </m:f>
                  </m:oMath>
                </a14:m>
              </mc:Choice>
              <mc:Fallback>
                <a:r>
                  <a:rPr lang="en-US" sz="1664" i="1"/>
                  <a:t>\frac{Q^2}{2C}</a:t>
                </a:r>
              </mc:Fallback>
            </mc:AlternateContent>
            <a:r>
              <a:rPr sz="1400" b="0" i="0">
                <a:solidFill>
                  <a:srgbClr val="4F4C56"/>
                </a:solidFill>
                <a:latin typeface="Montserrat"/>
                <a:ea typeface="Montserrat"/>
                <a:cs typeface="Montserrat"/>
              </a:rPr>
              <a:t>; with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Q</m:t>
                    </m:r>
                    <m:r>
                      <m:rPr>
                        <m:sty m:val="p"/>
                      </m:rPr>
                      <a:rPr lang="en-US" i="0" sz="1665">
                        <a:latin typeface="Cambria Math"/>
                      </a:rPr>
                      <m:t>=</m:t>
                    </m:r>
                    <m:r>
                      <m:rPr>
                        <m:sty m:val="p"/>
                      </m:rPr>
                      <a:rPr lang="en-US" i="0" sz="1665">
                        <a:latin typeface="Cambria Math"/>
                      </a:rPr>
                      <m:t>2</m:t>
                    </m:r>
                    <m:r>
                      <m:rPr>
                        <m:sty m:val="i"/>
                      </m:rPr>
                      <a:rPr lang="en-US" i="1" sz="1665">
                        <a:latin typeface="Cambria Math"/>
                      </a:rPr>
                      <m:t>e</m:t>
                    </m:r>
                    <m:r>
                      <m:rPr>
                        <m:sty m:val="i"/>
                      </m:rPr>
                      <a:rPr lang="en-US" i="1" sz="1665">
                        <a:latin typeface="Cambria Math"/>
                      </a:rPr>
                      <m:t>n</m:t>
                    </m:r>
                  </m:oMath>
                </a14:m>
              </mc:Choice>
              <mc:Fallback>
                <a:r>
                  <a:rPr lang="en-US" sz="1664" i="1"/>
                  <a:t>Q=2en</a:t>
                </a:r>
              </mc:Fallback>
            </mc:AlternateContent>
            <a:r>
              <a:rPr sz="1400" b="0" i="0">
                <a:solidFill>
                  <a:srgbClr val="4F4C56"/>
                </a:solidFill>
                <a:latin typeface="Montserrat"/>
                <a:ea typeface="Montserrat"/>
                <a:cs typeface="Montserrat"/>
              </a:rPr>
              <a:t>:</a:t>
            </a:r>
          </a:p>
        </p:txBody>
      </p:sp>
      <p:sp>
        <p:nvSpPr>
          <p:cNvPr id="9" name="equation"/>
          <p:cNvSpPr txBox="1"/>
          <p:nvPr/>
        </p:nvSpPr>
        <p:spPr>
          <a:xfrm>
            <a:off x="575733" y="3147219"/>
            <a:ext cx="11040533" cy="447807"/>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r>
                            <m:rPr>
                              <m:scr m:val="script"/>
                              <m:sty m:val="i"/>
                            </m:rPr>
                            <a:rPr lang="en-US" i="1" sz="1568">
                              <a:latin typeface="Cambria Math"/>
                            </a:rPr>
                            <m:t>H</m:t>
                          </m:r>
                        </m:e>
                      </m:box>
                      <m:r>
                        <m:rPr>
                          <m:sty m:val="p"/>
                        </m:rPr>
                        <a:rPr lang="en-US" i="0" sz="1568">
                          <a:latin typeface="Cambria Math"/>
                        </a:rPr>
                        <m:t>=</m:t>
                      </m:r>
                      <m:f>
                        <m:num>
                          <m:sSup>
                            <m:e>
                              <m:r>
                                <m:rPr>
                                  <m:sty m:val="i"/>
                                </m:rPr>
                                <a:rPr lang="en-US" i="1" sz="1568">
                                  <a:latin typeface="Cambria Math"/>
                                </a:rPr>
                                <m:t>Q</m:t>
                              </m:r>
                            </m:e>
                            <m:sup>
                              <m:r>
                                <m:rPr>
                                  <m:sty m:val="p"/>
                                </m:rPr>
                                <a:rPr lang="en-US" i="0" sz="1568">
                                  <a:latin typeface="Cambria Math"/>
                                </a:rPr>
                                <m:t>2</m:t>
                              </m:r>
                            </m:sup>
                          </m:sSup>
                        </m:num>
                        <m:den>
                          <m:box>
                            <m:e>
                              <m:r>
                                <m:rPr>
                                  <m:sty m:val="p"/>
                                </m:rPr>
                                <a:rPr lang="en-US" i="0" sz="1568">
                                  <a:latin typeface="Cambria Math"/>
                                </a:rPr>
                                <m:t>2</m:t>
                              </m:r>
                              <m:r>
                                <m:rPr>
                                  <m:sty m:val="i"/>
                                </m:rPr>
                                <a:rPr lang="en-US" i="1" sz="1568">
                                  <a:latin typeface="Cambria Math"/>
                                </a:rPr>
                                <m:t>C</m:t>
                              </m:r>
                            </m:e>
                          </m:box>
                        </m:den>
                      </m:f>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J</m:t>
                          </m:r>
                        </m:sub>
                      </m:sSub>
                      <m:r>
                        <m:rPr>
                          <m:sty m:val="p"/>
                        </m:rPr>
                        <a:rPr lang="en-US" i="0" sz="1568">
                          <a:latin typeface="Cambria Math"/>
                        </a:rPr>
                        <m:t>cos</m:t>
                      </m:r>
                      <m:r>
                        <m:rPr>
                          <m:sty m:val="p"/>
                        </m:rPr>
                        <a:rPr lang="en-US" i="0" sz="1568">
                          <a:latin typeface="Cambria Math"/>
                        </a:rPr>
                        <m:t/>
                      </m:r>
                      <m:r>
                        <m:rPr>
                          <m:sty m:val="i"/>
                        </m:rPr>
                        <a:rPr lang="en-US" i="1" sz="1568">
                          <a:latin typeface="Cambria Math"/>
                        </a:rPr>
                        <m:t>φ</m:t>
                      </m:r>
                      <m:r>
                        <m:rPr>
                          <m:sty m:val="p"/>
                        </m:rPr>
                        <a:rPr lang="en-US" i="0" sz="1568">
                          <a:latin typeface="Cambria Math"/>
                        </a:rPr>
                        <m:t>=</m:t>
                      </m:r>
                      <m:f>
                        <m:num>
                          <m:box>
                            <m:e>
                              <m:r>
                                <m:rPr>
                                  <m:sty m:val="p"/>
                                </m:rPr>
                                <a:rPr lang="en-US" i="0" sz="1568">
                                  <a:latin typeface="Cambria Math"/>
                                </a:rPr>
                                <m:t>(</m:t>
                              </m:r>
                              <m:r>
                                <m:rPr>
                                  <m:sty m:val="p"/>
                                </m:rPr>
                                <a:rPr lang="en-US" i="0" sz="1568">
                                  <a:latin typeface="Cambria Math"/>
                                </a:rPr>
                                <m:t>2</m:t>
                              </m:r>
                              <m:r>
                                <m:rPr>
                                  <m:sty m:val="i"/>
                                </m:rPr>
                                <a:rPr lang="en-US" i="1" sz="1568">
                                  <a:latin typeface="Cambria Math"/>
                                </a:rPr>
                                <m:t>e</m:t>
                              </m:r>
                              <m:r>
                                <m:rPr>
                                  <m:sty m:val="i"/>
                                </m:rPr>
                                <a:rPr lang="en-US" i="1" sz="1568">
                                  <a:latin typeface="Cambria Math"/>
                                </a:rPr>
                                <m:t>n</m:t>
                              </m:r>
                              <m:sSup>
                                <m:e>
                                  <m:r>
                                    <m:rPr>
                                      <m:sty m:val="p"/>
                                    </m:rPr>
                                    <a:rPr lang="en-US" i="0" sz="1568">
                                      <a:latin typeface="Cambria Math"/>
                                    </a:rPr>
                                    <m:t>)</m:t>
                                  </m:r>
                                </m:e>
                                <m:sup>
                                  <m:r>
                                    <m:rPr>
                                      <m:sty m:val="p"/>
                                    </m:rPr>
                                    <a:rPr lang="en-US" i="0" sz="1568">
                                      <a:latin typeface="Cambria Math"/>
                                    </a:rPr>
                                    <m:t>2</m:t>
                                  </m:r>
                                </m:sup>
                              </m:sSup>
                            </m:e>
                          </m:box>
                        </m:num>
                        <m:den>
                          <m:box>
                            <m:e>
                              <m:r>
                                <m:rPr>
                                  <m:sty m:val="p"/>
                                </m:rPr>
                                <a:rPr lang="en-US" i="0" sz="1568">
                                  <a:latin typeface="Cambria Math"/>
                                </a:rPr>
                                <m:t>2</m:t>
                              </m:r>
                              <m:r>
                                <m:rPr>
                                  <m:sty m:val="i"/>
                                </m:rPr>
                                <a:rPr lang="en-US" i="1" sz="1568">
                                  <a:latin typeface="Cambria Math"/>
                                </a:rPr>
                                <m:t>C</m:t>
                              </m:r>
                            </m:e>
                          </m:box>
                        </m:den>
                      </m:f>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J</m:t>
                          </m:r>
                        </m:sub>
                      </m:sSub>
                      <m:r>
                        <m:rPr>
                          <m:sty m:val="p"/>
                        </m:rPr>
                        <a:rPr lang="en-US" i="0" sz="1568">
                          <a:latin typeface="Cambria Math"/>
                        </a:rPr>
                        <m:t>cos</m:t>
                      </m:r>
                      <m:r>
                        <m:rPr>
                          <m:sty m:val="p"/>
                        </m:rPr>
                        <a:rPr lang="en-US" i="0" sz="1568">
                          <a:latin typeface="Cambria Math"/>
                        </a:rPr>
                        <m:t/>
                      </m:r>
                      <m:r>
                        <m:rPr>
                          <m:sty m:val="i"/>
                        </m:rPr>
                        <a:rPr lang="en-US" i="1" sz="1568">
                          <a:latin typeface="Cambria Math"/>
                        </a:rPr>
                        <m:t>φ</m:t>
                      </m:r>
                      <m:r>
                        <m:rPr>
                          <m:sty m:val="p"/>
                        </m:rPr>
                        <a:rPr lang="en-US" i="0" sz="1568">
                          <a:latin typeface="Cambria Math"/>
                        </a:rPr>
                        <m:t>=</m:t>
                      </m:r>
                      <m:f>
                        <m:num>
                          <m:box>
                            <m:e>
                              <m:r>
                                <m:rPr>
                                  <m:sty m:val="p"/>
                                </m:rPr>
                                <a:rPr lang="en-US" i="0" sz="1568">
                                  <a:latin typeface="Cambria Math"/>
                                </a:rPr>
                                <m:t>2</m:t>
                              </m:r>
                              <m:sSup>
                                <m:e>
                                  <m:r>
                                    <m:rPr>
                                      <m:sty m:val="i"/>
                                    </m:rPr>
                                    <a:rPr lang="en-US" i="1" sz="1568">
                                      <a:latin typeface="Cambria Math"/>
                                    </a:rPr>
                                    <m:t>e</m:t>
                                  </m:r>
                                </m:e>
                                <m:sup>
                                  <m:r>
                                    <m:rPr>
                                      <m:sty m:val="p"/>
                                    </m:rPr>
                                    <a:rPr lang="en-US" i="0" sz="1568">
                                      <a:latin typeface="Cambria Math"/>
                                    </a:rPr>
                                    <m:t>2</m:t>
                                  </m:r>
                                </m:sup>
                              </m:sSup>
                            </m:e>
                          </m:box>
                        </m:num>
                        <m:den>
                          <m:r>
                            <m:rPr>
                              <m:sty m:val="i"/>
                            </m:rPr>
                            <a:rPr lang="en-US" i="1" sz="1568">
                              <a:latin typeface="Cambria Math"/>
                            </a:rPr>
                            <m:t>C</m:t>
                          </m:r>
                        </m:den>
                      </m:f>
                      <m:sSup>
                        <m:e>
                          <m:r>
                            <m:rPr>
                              <m:sty m:val="i"/>
                            </m:rPr>
                            <a:rPr lang="en-US" i="1" sz="1568">
                              <a:latin typeface="Cambria Math"/>
                            </a:rPr>
                            <m:t>n</m:t>
                          </m:r>
                        </m:e>
                        <m:sup>
                          <m:r>
                            <m:rPr>
                              <m:sty m:val="p"/>
                            </m:rPr>
                            <a:rPr lang="en-US" i="0" sz="1568">
                              <a:latin typeface="Cambria Math"/>
                            </a:rPr>
                            <m:t>2</m:t>
                          </m:r>
                        </m:sup>
                      </m:sSup>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J</m:t>
                          </m:r>
                        </m:sub>
                      </m:sSub>
                      <m:r>
                        <m:rPr>
                          <m:sty m:val="p"/>
                        </m:rPr>
                        <a:rPr lang="en-US" i="0" sz="1568">
                          <a:latin typeface="Cambria Math"/>
                        </a:rPr>
                        <m:t>cos</m:t>
                      </m:r>
                      <m:r>
                        <m:rPr>
                          <m:sty m:val="p"/>
                        </m:rPr>
                        <a:rPr lang="en-US" i="0" sz="1568">
                          <a:latin typeface="Cambria Math"/>
                        </a:rPr>
                        <m:t/>
                      </m:r>
                      <m:r>
                        <m:rPr>
                          <m:sty m:val="i"/>
                        </m:rPr>
                        <a:rPr lang="en-US" i="1" sz="1568">
                          <a:latin typeface="Cambria Math"/>
                        </a:rPr>
                        <m:t>φ</m:t>
                      </m:r>
                      <m:r>
                        <m:rPr>
                          <m:sty m:val="p"/>
                        </m:rPr>
                        <a:rPr lang="en-US" i="0" sz="1568">
                          <a:latin typeface="Cambria Math"/>
                        </a:rPr>
                        <m:t>.</m:t>
                      </m:r>
                    </m:oMath>
                  </m:oMathPara>
                </a14:m>
              </mc:Choice>
              <mc:Fallback>
                <a:r>
                  <a:rPr lang="en-US" sz="1567" i="1"/>
                  <a:t>
                \mathcal{H}=\frac{Q^2}{2C}-E_J\cos\varphi
                =\frac{(2en)^2}{2C}-E_J\cos\varphi
                =\frac{2e^2}{C}n^2-E_J\cos\varphi.
                </a:t>
                </a:r>
              </mc:Fallback>
            </mc:AlternateContent>
          </a:p>
        </p:txBody>
      </p:sp>
      <p:sp>
        <p:nvSpPr>
          <p:cNvPr id="10" name="TextBox 9"/>
          <p:cNvSpPr txBox="1"/>
          <p:nvPr/>
        </p:nvSpPr>
        <p:spPr>
          <a:xfrm>
            <a:off x="575733" y="3747426"/>
            <a:ext cx="11040533" cy="300302"/>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Define the charging energy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C</m:t>
                        </m:r>
                      </m:sub>
                    </m:sSub>
                    <m:r>
                      <m:rPr>
                        <m:sty m:val="p"/>
                      </m:rPr>
                      <a:rPr lang="en-US" i="0" sz="1665">
                        <a:latin typeface="Cambria Math"/>
                      </a:rPr>
                      <m:t>≡</m:t>
                    </m:r>
                    <m:f>
                      <m:num>
                        <m:sSup>
                          <m:e>
                            <m:r>
                              <m:rPr>
                                <m:sty m:val="i"/>
                              </m:rPr>
                              <a:rPr lang="en-US" i="1" sz="1665">
                                <a:latin typeface="Cambria Math"/>
                              </a:rPr>
                              <m:t>e</m:t>
                            </m:r>
                          </m:e>
                          <m:sup>
                            <m:r>
                              <m:rPr>
                                <m:sty m:val="p"/>
                              </m:rPr>
                              <a:rPr lang="en-US" i="0" sz="1665">
                                <a:latin typeface="Cambria Math"/>
                              </a:rPr>
                              <m:t>2</m:t>
                            </m:r>
                          </m:sup>
                        </m:sSup>
                      </m:num>
                      <m:den>
                        <m:box>
                          <m:e>
                            <m:r>
                              <m:rPr>
                                <m:sty m:val="p"/>
                              </m:rPr>
                              <a:rPr lang="en-US" i="0" sz="1665">
                                <a:latin typeface="Cambria Math"/>
                              </a:rPr>
                              <m:t>2</m:t>
                            </m:r>
                            <m:r>
                              <m:rPr>
                                <m:sty m:val="i"/>
                              </m:rPr>
                              <a:rPr lang="en-US" i="1" sz="1665">
                                <a:latin typeface="Cambria Math"/>
                              </a:rPr>
                              <m:t>C</m:t>
                            </m:r>
                          </m:e>
                        </m:box>
                      </m:den>
                    </m:f>
                  </m:oMath>
                </a14:m>
              </mc:Choice>
              <mc:Fallback>
                <a:r>
                  <a:rPr lang="en-US" sz="1664" i="1"/>
                  <a:t>E_C\equiv\frac{e^2}{2C}</a:t>
                </a:r>
              </mc:Fallback>
            </mc:AlternateContent>
            <a:r>
              <a:rPr sz="1400" b="0" i="0">
                <a:solidFill>
                  <a:srgbClr val="4F4C56"/>
                </a:solidFill>
                <a:latin typeface="Montserrat"/>
                <a:ea typeface="Montserrat"/>
                <a:cs typeface="Montserrat"/>
              </a:rPr>
              <a:t>, so that </a:t>
            </a:r>
            <mc:AlternateContent xmlns:mc="http://schemas.openxmlformats.org/markup-compatibility/2006">
              <mc:Choice xmlns:a14="http://schemas.microsoft.com/office/drawing/2010/main" Requires="a14">
                <a14:m>
                  <m:oMath xmlns:m="http://schemas.openxmlformats.org/officeDocument/2006/math">
                    <m:f>
                      <m:num>
                        <m:box>
                          <m:e>
                            <m:r>
                              <m:rPr>
                                <m:sty m:val="p"/>
                              </m:rPr>
                              <a:rPr lang="en-US" i="0" sz="1665">
                                <a:latin typeface="Cambria Math"/>
                              </a:rPr>
                              <m:t>2</m:t>
                            </m:r>
                            <m:sSup>
                              <m:e>
                                <m:r>
                                  <m:rPr>
                                    <m:sty m:val="i"/>
                                  </m:rPr>
                                  <a:rPr lang="en-US" i="1" sz="1665">
                                    <a:latin typeface="Cambria Math"/>
                                  </a:rPr>
                                  <m:t>e</m:t>
                                </m:r>
                              </m:e>
                              <m:sup>
                                <m:r>
                                  <m:rPr>
                                    <m:sty m:val="p"/>
                                  </m:rPr>
                                  <a:rPr lang="en-US" i="0" sz="1665">
                                    <a:latin typeface="Cambria Math"/>
                                  </a:rPr>
                                  <m:t>2</m:t>
                                </m:r>
                              </m:sup>
                            </m:sSup>
                          </m:e>
                        </m:box>
                      </m:num>
                      <m:den>
                        <m:r>
                          <m:rPr>
                            <m:sty m:val="i"/>
                          </m:rPr>
                          <a:rPr lang="en-US" i="1" sz="1665">
                            <a:latin typeface="Cambria Math"/>
                          </a:rPr>
                          <m:t>C</m:t>
                        </m:r>
                      </m:den>
                    </m:f>
                    <m:r>
                      <m:rPr>
                        <m:sty m:val="p"/>
                      </m:rPr>
                      <a:rPr lang="en-US" i="0" sz="1665">
                        <a:latin typeface="Cambria Math"/>
                      </a:rPr>
                      <m:t>=</m:t>
                    </m:r>
                    <m:r>
                      <m:rPr>
                        <m:sty m:val="p"/>
                      </m:rPr>
                      <a:rPr lang="en-US" i="0" sz="1665">
                        <a:latin typeface="Cambria Math"/>
                      </a:rPr>
                      <m:t>4</m:t>
                    </m:r>
                    <m:sSub>
                      <m:e>
                        <m:r>
                          <m:rPr>
                            <m:sty m:val="i"/>
                          </m:rPr>
                          <a:rPr lang="en-US" i="1" sz="1665">
                            <a:latin typeface="Cambria Math"/>
                          </a:rPr>
                          <m:t>E</m:t>
                        </m:r>
                      </m:e>
                      <m:sub>
                        <m:r>
                          <m:rPr>
                            <m:sty m:val="i"/>
                          </m:rPr>
                          <a:rPr lang="en-US" i="1" sz="1665">
                            <a:latin typeface="Cambria Math"/>
                          </a:rPr>
                          <m:t>C</m:t>
                        </m:r>
                      </m:sub>
                    </m:sSub>
                  </m:oMath>
                </a14:m>
              </mc:Choice>
              <mc:Fallback>
                <a:r>
                  <a:rPr lang="en-US" sz="1664" i="1"/>
                  <a:t>\frac{2e^2}{C}=4E_C</a:t>
                </a:r>
              </mc:Fallback>
            </mc:AlternateContent>
            <a:r>
              <a:rPr sz="1400" b="0" i="0">
                <a:solidFill>
                  <a:srgbClr val="4F4C56"/>
                </a:solidFill>
                <a:latin typeface="Montserrat"/>
                <a:ea typeface="Montserrat"/>
                <a:cs typeface="Montserrat"/>
              </a:rPr>
              <a:t>:</a:t>
            </a:r>
          </a:p>
        </p:txBody>
      </p:sp>
      <p:sp>
        <p:nvSpPr>
          <p:cNvPr id="11" name="Rounded Rectangle 10"/>
          <p:cNvSpPr/>
          <p:nvPr/>
        </p:nvSpPr>
        <p:spPr>
          <a:xfrm>
            <a:off x="575733" y="4183195"/>
            <a:ext cx="11040533" cy="727207"/>
          </a:xfrm>
          <a:prstGeom prst="roundRect">
            <a:avLst>
              <a:gd name="adj" fmla="val 9314"/>
            </a:avLst>
          </a:prstGeom>
          <a:solidFill>
            <a:srgbClr val="FEF9E7"/>
          </a:solidFill>
          <a:ln w="16933">
            <a:solidFill>
              <a:srgbClr val="F0C0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quation"/>
          <p:cNvSpPr txBox="1"/>
          <p:nvPr/>
        </p:nvSpPr>
        <p:spPr>
          <a:xfrm>
            <a:off x="711200" y="4437195"/>
            <a:ext cx="10769600" cy="219207"/>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box>
                            <m:e>
                              <m:r>
                                <m:rPr>
                                  <m:scr m:val="script"/>
                                  <m:sty m:val="i"/>
                                </m:rPr>
                                <a:rPr lang="en-US" i="1" sz="1568">
                                  <a:latin typeface="Cambria Math"/>
                                </a:rPr>
                                <m:t>H</m:t>
                              </m:r>
                            </m:e>
                          </m:box>
                          <m:r>
                            <m:rPr>
                              <m:sty m:val="p"/>
                            </m:rPr>
                            <a:rPr lang="en-US" i="0" sz="1568">
                              <a:latin typeface="Cambria Math"/>
                            </a:rPr>
                            <m:t>=</m:t>
                          </m:r>
                          <m:r>
                            <m:rPr>
                              <m:sty m:val="p"/>
                            </m:rPr>
                            <a:rPr lang="en-US" i="0" sz="1568">
                              <a:latin typeface="Cambria Math"/>
                            </a:rPr>
                            <m:t>4</m:t>
                          </m:r>
                          <m:sSub>
                            <m:e>
                              <m:r>
                                <m:rPr>
                                  <m:sty m:val="i"/>
                                </m:rPr>
                                <a:rPr lang="en-US" i="1" sz="1568">
                                  <a:latin typeface="Cambria Math"/>
                                </a:rPr>
                                <m:t>E</m:t>
                              </m:r>
                            </m:e>
                            <m:sub>
                              <m:r>
                                <m:rPr>
                                  <m:sty m:val="i"/>
                                </m:rPr>
                                <a:rPr lang="en-US" i="1" sz="1568">
                                  <a:latin typeface="Cambria Math"/>
                                </a:rPr>
                                <m:t>C</m:t>
                              </m:r>
                            </m:sub>
                          </m:sSub>
                          <m:sSup>
                            <m:e>
                              <m:r>
                                <m:rPr>
                                  <m:sty m:val="i"/>
                                </m:rPr>
                                <a:rPr lang="en-US" i="1" sz="1568">
                                  <a:latin typeface="Cambria Math"/>
                                </a:rPr>
                                <m:t>n</m:t>
                              </m:r>
                            </m:e>
                            <m:sup>
                              <m:r>
                                <m:rPr>
                                  <m:sty m:val="p"/>
                                </m:rPr>
                                <a:rPr lang="en-US" i="0" sz="1568">
                                  <a:latin typeface="Cambria Math"/>
                                </a:rPr>
                                <m:t>2</m:t>
                              </m:r>
                            </m:sup>
                          </m:sSup>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J</m:t>
                              </m:r>
                            </m:sub>
                          </m:sSub>
                          <m:r>
                            <m:rPr>
                              <m:sty m:val="p"/>
                            </m:rPr>
                            <a:rPr lang="en-US" i="0" sz="1568">
                              <a:latin typeface="Cambria Math"/>
                            </a:rPr>
                            <m:t>cos</m:t>
                          </m:r>
                          <m:r>
                            <m:rPr>
                              <m:sty m:val="p"/>
                            </m:rPr>
                            <a:rPr lang="en-US" i="0" sz="1568">
                              <a:latin typeface="Cambria Math"/>
                            </a:rPr>
                            <m:t/>
                          </m:r>
                          <m:r>
                            <m:rPr>
                              <m:sty m:val="i"/>
                            </m:rPr>
                            <a:rPr lang="en-US" i="1" sz="1568">
                              <a:latin typeface="Cambria Math"/>
                            </a:rPr>
                            <m:t>φ</m:t>
                          </m:r>
                        </m:e>
                      </m:box>
                      <m:r>
                        <m:rPr>
                          <m:sty m:val="p"/>
                        </m:rPr>
                        <a:rPr lang="en-US" i="0" sz="1568">
                          <a:latin typeface="Cambria Math"/>
                        </a:rPr>
                        <m:t>.</m:t>
                      </m:r>
                    </m:oMath>
                  </m:oMathPara>
                </a14:m>
              </mc:Choice>
              <mc:Fallback>
                <a:r>
                  <a:rPr lang="en-US" sz="1567" i="1"/>
                  <a:t>
                    {\mathcal{H}=4E_C n^2-E_J\cos\varphi}.
                    </a:t>
                </a:r>
              </mc:Fallback>
            </mc:AlternateContent>
          </a:p>
        </p:txBody>
      </p:sp>
      <p:sp>
        <p:nvSpPr>
          <p:cNvPr id="13" name="Rectangle 12"/>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5" name="TextBox 14"/>
          <p:cNvSpPr txBox="1"/>
          <p:nvPr/>
        </p:nvSpPr>
        <p:spPr>
          <a:xfrm>
            <a:off x="11229710" y="6565900"/>
            <a:ext cx="471223"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47 / 100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475589"/>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Quantization: </a:t>
            </a:r>
            <mc:AlternateContent xmlns:mc="http://schemas.openxmlformats.org/markup-compatibility/2006">
              <mc:Choice xmlns:a14="http://schemas.microsoft.com/office/drawing/2010/main" Requires="a14">
                <a14:m>
                  <m:oMath xmlns:m="http://schemas.openxmlformats.org/officeDocument/2006/math">
                    <m:r>
                      <m:rPr>
                        <m:sty m:val="p"/>
                      </m:rPr>
                      <a:rPr lang="en-US" i="0" sz="3408">
                        <a:latin typeface="Cambria Math"/>
                      </a:rPr>
                      <m:t>[</m:t>
                    </m:r>
                    <m:box>
                      <m:e>
                        <m:limUpp>
                          <m:e>
                            <m:r>
                              <m:rPr>
                                <m:sty m:val="i"/>
                              </m:rPr>
                              <a:rPr lang="en-US" i="1" sz="3408">
                                <a:latin typeface="Cambria Math"/>
                              </a:rPr>
                              <m:t>φ</m:t>
                            </m:r>
                          </m:e>
                          <m:lim>
                            <m:r>
                              <m:rPr>
                                <m:sty m:val="p"/>
                              </m:rPr>
                              <a:rPr lang="en-US" i="0" sz="3408">
                                <a:latin typeface="Cambria Math"/>
                              </a:rPr>
                              <m:t>^</m:t>
                            </m:r>
                          </m:lim>
                        </m:limUpp>
                      </m:e>
                    </m:box>
                    <m:r>
                      <m:rPr>
                        <m:sty m:val="p"/>
                      </m:rPr>
                      <a:rPr lang="en-US" i="0" sz="3408">
                        <a:latin typeface="Cambria Math"/>
                      </a:rPr>
                      <m:t>,</m:t>
                    </m:r>
                    <m:box>
                      <m:e>
                        <m:limUpp>
                          <m:e>
                            <m:r>
                              <m:rPr>
                                <m:sty m:val="i"/>
                              </m:rPr>
                              <a:rPr lang="en-US" i="1" sz="3408">
                                <a:latin typeface="Cambria Math"/>
                              </a:rPr>
                              <m:t>n</m:t>
                            </m:r>
                          </m:e>
                          <m:lim>
                            <m:r>
                              <m:rPr>
                                <m:sty m:val="p"/>
                              </m:rPr>
                              <a:rPr lang="en-US" i="0" sz="3408">
                                <a:latin typeface="Cambria Math"/>
                              </a:rPr>
                              <m:t>^</m:t>
                            </m:r>
                          </m:lim>
                        </m:limUpp>
                      </m:e>
                    </m:box>
                    <m:r>
                      <m:rPr>
                        <m:sty m:val="p"/>
                      </m:rPr>
                      <a:rPr lang="en-US" i="0" sz="3408">
                        <a:latin typeface="Cambria Math"/>
                      </a:rPr>
                      <m:t>]</m:t>
                    </m:r>
                    <m:r>
                      <m:rPr>
                        <m:sty m:val="p"/>
                      </m:rPr>
                      <a:rPr lang="en-US" i="0" sz="3408">
                        <a:latin typeface="Cambria Math"/>
                      </a:rPr>
                      <m:t>=</m:t>
                    </m:r>
                    <m:r>
                      <m:rPr>
                        <m:sty m:val="i"/>
                      </m:rPr>
                      <a:rPr lang="en-US" i="1" sz="3408">
                        <a:latin typeface="Cambria Math"/>
                      </a:rPr>
                      <m:t>i</m:t>
                    </m:r>
                  </m:oMath>
                </a14:m>
              </mc:Choice>
              <mc:Fallback>
                <a:r>
                  <a:rPr lang="en-US" sz="3408" i="1"/>
                  <a:t>[\hat{\varphi},\hat{n}]=i</a:t>
                </a:r>
              </mc:Fallback>
            </mc:AlternateContent>
          </a:p>
        </p:txBody>
      </p:sp>
      <p:sp>
        <p:nvSpPr>
          <p:cNvPr id="6" name="TextBox 5"/>
          <p:cNvSpPr txBox="1"/>
          <p:nvPr/>
        </p:nvSpPr>
        <p:spPr>
          <a:xfrm>
            <a:off x="575733" y="1491589"/>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To quantize the circuit, promote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φ</m:t>
                    </m:r>
                  </m:oMath>
                </a14:m>
              </mc:Choice>
              <mc:Fallback>
                <a:r>
                  <a:rPr lang="en-US" sz="1664" i="1"/>
                  <a:t>\varphi</a:t>
                </a:r>
              </mc:Fallback>
            </mc:AlternateContent>
            <a:r>
              <a:rPr sz="1400" b="0" i="0">
                <a:solidFill>
                  <a:srgbClr val="4F4C56"/>
                </a:solidFill>
                <a:latin typeface="Montserrat"/>
                <a:ea typeface="Montserrat"/>
                <a:cs typeface="Montserrat"/>
              </a:rPr>
              <a:t> and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p</m:t>
                        </m:r>
                      </m:e>
                      <m:sub>
                        <m:r>
                          <m:rPr>
                            <m:sty m:val="i"/>
                          </m:rPr>
                          <a:rPr lang="en-US" i="1" sz="1665">
                            <a:latin typeface="Cambria Math"/>
                          </a:rPr>
                          <m:t>φ</m:t>
                        </m:r>
                      </m:sub>
                    </m:sSub>
                  </m:oMath>
                </a14:m>
              </mc:Choice>
              <mc:Fallback>
                <a:r>
                  <a:rPr lang="en-US" sz="1664" i="1"/>
                  <a:t>p_\varphi</a:t>
                </a:r>
              </mc:Fallback>
            </mc:AlternateContent>
            <a:r>
              <a:rPr sz="1400" b="0" i="0">
                <a:solidFill>
                  <a:srgbClr val="4F4C56"/>
                </a:solidFill>
                <a:latin typeface="Montserrat"/>
                <a:ea typeface="Montserrat"/>
                <a:cs typeface="Montserrat"/>
              </a:rPr>
              <a:t> to operators obeying the canonical commutation relation:</a:t>
            </a:r>
          </a:p>
        </p:txBody>
      </p:sp>
      <p:sp>
        <p:nvSpPr>
          <p:cNvPr id="7" name="Rounded Rectangle 6"/>
          <p:cNvSpPr/>
          <p:nvPr/>
        </p:nvSpPr>
        <p:spPr>
          <a:xfrm>
            <a:off x="575733" y="1897195"/>
            <a:ext cx="11040533" cy="729589"/>
          </a:xfrm>
          <a:prstGeom prst="roundRect">
            <a:avLst>
              <a:gd name="adj" fmla="val 9283"/>
            </a:avLst>
          </a:prstGeom>
          <a:solidFill>
            <a:srgbClr val="FEF9E7"/>
          </a:solidFill>
          <a:ln w="16933">
            <a:solidFill>
              <a:srgbClr val="F0C0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quation"/>
          <p:cNvSpPr txBox="1"/>
          <p:nvPr/>
        </p:nvSpPr>
        <p:spPr>
          <a:xfrm>
            <a:off x="711200" y="2151195"/>
            <a:ext cx="10769600" cy="221589"/>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568">
                          <a:latin typeface="Cambria Math"/>
                        </a:rPr>
                        <m:t>[</m:t>
                      </m:r>
                      <m:box>
                        <m:e>
                          <m:limUpp>
                            <m:e>
                              <m:r>
                                <m:rPr>
                                  <m:sty m:val="i"/>
                                </m:rPr>
                                <a:rPr lang="en-US" i="1" sz="1568">
                                  <a:latin typeface="Cambria Math"/>
                                </a:rPr>
                                <m:t>φ</m:t>
                              </m:r>
                            </m:e>
                            <m:lim>
                              <m:r>
                                <m:rPr>
                                  <m:sty m:val="p"/>
                                </m:rPr>
                                <a:rPr lang="en-US" i="0" sz="1568">
                                  <a:latin typeface="Cambria Math"/>
                                </a:rPr>
                                <m:t>^</m:t>
                              </m:r>
                            </m:lim>
                          </m:limUpp>
                        </m:e>
                      </m:box>
                      <m:r>
                        <m:rPr>
                          <m:sty m:val="p"/>
                        </m:rPr>
                        <a:rPr lang="en-US" i="0" sz="1568">
                          <a:latin typeface="Cambria Math"/>
                        </a:rPr>
                        <m:t>,</m:t>
                      </m:r>
                      <m:sSub>
                        <m:e>
                          <m:box>
                            <m:e>
                              <m:limUpp>
                                <m:e>
                                  <m:r>
                                    <m:rPr>
                                      <m:sty m:val="i"/>
                                    </m:rPr>
                                    <a:rPr lang="en-US" i="1" sz="1568">
                                      <a:latin typeface="Cambria Math"/>
                                    </a:rPr>
                                    <m:t>p</m:t>
                                  </m:r>
                                </m:e>
                                <m:lim>
                                  <m:r>
                                    <m:rPr>
                                      <m:sty m:val="p"/>
                                    </m:rPr>
                                    <a:rPr lang="en-US" i="0" sz="1568">
                                      <a:latin typeface="Cambria Math"/>
                                    </a:rPr>
                                    <m:t>^</m:t>
                                  </m:r>
                                </m:lim>
                              </m:limUpp>
                            </m:e>
                          </m:box>
                        </m:e>
                        <m:sub>
                          <m:r>
                            <m:rPr>
                              <m:sty m:val="i"/>
                            </m:rPr>
                            <a:rPr lang="en-US" i="1" sz="1568">
                              <a:latin typeface="Cambria Math"/>
                            </a:rPr>
                            <m:t>φ</m:t>
                          </m:r>
                        </m:sub>
                      </m:sSub>
                      <m:r>
                        <m:rPr>
                          <m:sty m:val="p"/>
                        </m:rPr>
                        <a:rPr lang="en-US" i="0" sz="1568">
                          <a:latin typeface="Cambria Math"/>
                        </a:rPr>
                        <m:t>]</m:t>
                      </m:r>
                      <m:r>
                        <m:rPr>
                          <m:sty m:val="p"/>
                        </m:rPr>
                        <a:rPr lang="en-US" i="0" sz="1568">
                          <a:latin typeface="Cambria Math"/>
                        </a:rPr>
                        <m:t>=</m:t>
                      </m:r>
                      <m:r>
                        <m:rPr>
                          <m:sty m:val="p"/>
                        </m:rPr>
                        <a:rPr lang="en-US" i="0" sz="1568">
                          <a:latin typeface="Cambria Math"/>
                        </a:rPr>
                        <m:t>[</m:t>
                      </m:r>
                      <m:box>
                        <m:e>
                          <m:limUpp>
                            <m:e>
                              <m:r>
                                <m:rPr>
                                  <m:sty m:val="i"/>
                                </m:rPr>
                                <a:rPr lang="en-US" i="1" sz="1568">
                                  <a:latin typeface="Cambria Math"/>
                                </a:rPr>
                                <m:t>φ</m:t>
                              </m:r>
                            </m:e>
                            <m:lim>
                              <m:r>
                                <m:rPr>
                                  <m:sty m:val="p"/>
                                </m:rPr>
                                <a:rPr lang="en-US" i="0" sz="1568">
                                  <a:latin typeface="Cambria Math"/>
                                </a:rPr>
                                <m:t>^</m:t>
                              </m:r>
                            </m:lim>
                          </m:limUpp>
                        </m:e>
                      </m:box>
                      <m:r>
                        <m:rPr>
                          <m:sty m:val="p"/>
                        </m:rPr>
                        <a:rPr lang="en-US" i="0" sz="1568">
                          <a:latin typeface="Cambria Math"/>
                        </a:rPr>
                        <m:t>,</m:t>
                      </m:r>
                      <m:r>
                        <m:rPr>
                          <m:sty m:val="i"/>
                        </m:rPr>
                        <a:rPr lang="en-US" i="1" sz="1568">
                          <a:latin typeface="Cambria Math"/>
                        </a:rPr>
                        <m:t>ℏ</m:t>
                      </m:r>
                      <m:box>
                        <m:e>
                          <m:limUpp>
                            <m:e>
                              <m:r>
                                <m:rPr>
                                  <m:sty m:val="i"/>
                                </m:rPr>
                                <a:rPr lang="en-US" i="1" sz="1568">
                                  <a:latin typeface="Cambria Math"/>
                                </a:rPr>
                                <m:t>n</m:t>
                              </m:r>
                            </m:e>
                            <m:lim>
                              <m:r>
                                <m:rPr>
                                  <m:sty m:val="p"/>
                                </m:rPr>
                                <a:rPr lang="en-US" i="0" sz="1568">
                                  <a:latin typeface="Cambria Math"/>
                                </a:rPr>
                                <m:t>^</m:t>
                              </m:r>
                            </m:lim>
                          </m:limUpp>
                        </m:e>
                      </m:box>
                      <m:r>
                        <m:rPr>
                          <m:sty m:val="p"/>
                        </m:rPr>
                        <a:rPr lang="en-US" i="0" sz="1568">
                          <a:latin typeface="Cambria Math"/>
                        </a:rPr>
                        <m:t>]</m:t>
                      </m:r>
                      <m:r>
                        <m:rPr>
                          <m:sty m:val="p"/>
                        </m:rPr>
                        <a:rPr lang="en-US" i="0" sz="1568">
                          <a:latin typeface="Cambria Math"/>
                        </a:rPr>
                        <m:t>=</m:t>
                      </m:r>
                      <m:r>
                        <m:rPr>
                          <m:sty m:val="i"/>
                        </m:rPr>
                        <a:rPr lang="en-US" i="1" sz="1568">
                          <a:latin typeface="Cambria Math"/>
                        </a:rPr>
                        <m:t>i</m:t>
                      </m:r>
                      <m:r>
                        <m:rPr>
                          <m:sty m:val="i"/>
                        </m:rPr>
                        <a:rPr lang="en-US" i="1" sz="1568">
                          <a:latin typeface="Cambria Math"/>
                        </a:rPr>
                        <m:t>ℏ</m:t>
                      </m:r>
                      <m:box>
                        <m:e>
                          <m:r>
                            <a:rPr lang="en-US" i="1" sz="1568">
                              <a:latin typeface="Cambria Math"/>
                            </a:rPr>
                            <m:t/>
                          </m:r>
                        </m:e>
                      </m:box>
                      <m:r>
                        <m:rPr>
                          <m:sty m:val="p"/>
                        </m:rPr>
                        <a:rPr lang="en-US" i="0" sz="1568">
                          <a:latin typeface="Cambria Math"/>
                        </a:rPr>
                        <m:t>⟹</m:t>
                      </m:r>
                      <m:box>
                        <m:e>
                          <m:r>
                            <a:rPr lang="en-US" i="1" sz="1568">
                              <a:latin typeface="Cambria Math"/>
                            </a:rPr>
                            <m:t/>
                          </m:r>
                        </m:e>
                      </m:box>
                      <m:box>
                        <m:e>
                          <m:r>
                            <m:rPr>
                              <m:sty m:val="p"/>
                            </m:rPr>
                            <a:rPr lang="en-US" i="0" sz="1568">
                              <a:latin typeface="Cambria Math"/>
                            </a:rPr>
                            <m:t>[</m:t>
                          </m:r>
                          <m:box>
                            <m:e>
                              <m:limUpp>
                                <m:e>
                                  <m:r>
                                    <m:rPr>
                                      <m:sty m:val="i"/>
                                    </m:rPr>
                                    <a:rPr lang="en-US" i="1" sz="1568">
                                      <a:latin typeface="Cambria Math"/>
                                    </a:rPr>
                                    <m:t>φ</m:t>
                                  </m:r>
                                </m:e>
                                <m:lim>
                                  <m:r>
                                    <m:rPr>
                                      <m:sty m:val="p"/>
                                    </m:rPr>
                                    <a:rPr lang="en-US" i="0" sz="1568">
                                      <a:latin typeface="Cambria Math"/>
                                    </a:rPr>
                                    <m:t>^</m:t>
                                  </m:r>
                                </m:lim>
                              </m:limUpp>
                            </m:e>
                          </m:box>
                          <m:r>
                            <m:rPr>
                              <m:sty m:val="p"/>
                            </m:rPr>
                            <a:rPr lang="en-US" i="0" sz="1568">
                              <a:latin typeface="Cambria Math"/>
                            </a:rPr>
                            <m:t>,</m:t>
                          </m:r>
                          <m:box>
                            <m:e>
                              <m:limUpp>
                                <m:e>
                                  <m:r>
                                    <m:rPr>
                                      <m:sty m:val="i"/>
                                    </m:rPr>
                                    <a:rPr lang="en-US" i="1" sz="1568">
                                      <a:latin typeface="Cambria Math"/>
                                    </a:rPr>
                                    <m:t>n</m:t>
                                  </m:r>
                                </m:e>
                                <m:lim>
                                  <m:r>
                                    <m:rPr>
                                      <m:sty m:val="p"/>
                                    </m:rPr>
                                    <a:rPr lang="en-US" i="0" sz="1568">
                                      <a:latin typeface="Cambria Math"/>
                                    </a:rPr>
                                    <m:t>^</m:t>
                                  </m:r>
                                </m:lim>
                              </m:limUpp>
                            </m:e>
                          </m:box>
                          <m:r>
                            <m:rPr>
                              <m:sty m:val="p"/>
                            </m:rPr>
                            <a:rPr lang="en-US" i="0" sz="1568">
                              <a:latin typeface="Cambria Math"/>
                            </a:rPr>
                            <m:t>]</m:t>
                          </m:r>
                          <m:r>
                            <m:rPr>
                              <m:sty m:val="p"/>
                            </m:rPr>
                            <a:rPr lang="en-US" i="0" sz="1568">
                              <a:latin typeface="Cambria Math"/>
                            </a:rPr>
                            <m:t>=</m:t>
                          </m:r>
                          <m:r>
                            <m:rPr>
                              <m:sty m:val="i"/>
                            </m:rPr>
                            <a:rPr lang="en-US" i="1" sz="1568">
                              <a:latin typeface="Cambria Math"/>
                            </a:rPr>
                            <m:t>i</m:t>
                          </m:r>
                        </m:e>
                      </m:box>
                      <m:r>
                        <m:rPr>
                          <m:sty m:val="p"/>
                        </m:rPr>
                        <a:rPr lang="en-US" i="0" sz="1568">
                          <a:latin typeface="Cambria Math"/>
                        </a:rPr>
                        <m:t>.</m:t>
                      </m:r>
                    </m:oMath>
                  </m:oMathPara>
                </a14:m>
              </mc:Choice>
              <mc:Fallback>
                <a:r>
                  <a:rPr lang="en-US" sz="1567" i="1"/>
                  <a:t>
                    [\hat{\varphi},\hat{p}_\varphi]
                    =[\hat{\varphi},\hbar\hat{n}]=i\hbar
                    \qquad\Longrightarrow\qquad
                    {[\hat{\varphi},\hat{n}]=i}.
                    </a:t>
                </a:r>
              </mc:Fallback>
            </mc:AlternateContent>
          </a:p>
        </p:txBody>
      </p:sp>
      <p:sp>
        <p:nvSpPr>
          <p:cNvPr id="9" name="TextBox 8"/>
          <p:cNvSpPr txBox="1"/>
          <p:nvPr/>
        </p:nvSpPr>
        <p:spPr>
          <a:xfrm>
            <a:off x="575733" y="2728383"/>
            <a:ext cx="11040533"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The phase and number eigenstates are defined by </a:t>
            </a:r>
            <mc:AlternateContent xmlns:mc="http://schemas.openxmlformats.org/markup-compatibility/2006">
              <mc:Choice xmlns:a14="http://schemas.microsoft.com/office/drawing/2010/main" Requires="a14">
                <a14:m>
                  <m:oMath xmlns:m="http://schemas.openxmlformats.org/officeDocument/2006/math">
                    <m:box>
                      <m:e>
                        <m:limUpp>
                          <m:e>
                            <m:r>
                              <m:rPr>
                                <m:sty m:val="i"/>
                              </m:rPr>
                              <a:rPr lang="en-US" i="1" sz="1665">
                                <a:latin typeface="Cambria Math"/>
                              </a:rPr>
                              <m:t>φ</m:t>
                            </m:r>
                          </m:e>
                          <m:lim>
                            <m:r>
                              <m:rPr>
                                <m:sty m:val="p"/>
                              </m:rPr>
                              <a:rPr lang="en-US" i="0" sz="1665">
                                <a:latin typeface="Cambria Math"/>
                              </a:rPr>
                              <m:t>^</m:t>
                            </m:r>
                          </m:lim>
                        </m:limUpp>
                      </m:e>
                    </m:box>
                    <m:r>
                      <m:rPr>
                        <m:sty m:val="p"/>
                      </m:rPr>
                      <a:rPr lang="en-US" i="0" sz="1665">
                        <a:latin typeface="Cambria Math"/>
                      </a:rPr>
                      <m:t>|</m:t>
                    </m:r>
                    <m:r>
                      <m:rPr>
                        <m:sty m:val="i"/>
                      </m:rPr>
                      <a:rPr lang="en-US" i="1" sz="1665">
                        <a:latin typeface="Cambria Math"/>
                      </a:rPr>
                      <m:t>φ</m:t>
                    </m:r>
                    <m:r>
                      <m:rPr>
                        <m:sty m:val="p"/>
                      </m:rPr>
                      <a:rPr lang="en-US" i="0" sz="1665">
                        <a:latin typeface="Cambria Math"/>
                      </a:rPr>
                      <m:t>⟩</m:t>
                    </m:r>
                    <m:r>
                      <m:rPr>
                        <m:sty m:val="p"/>
                      </m:rPr>
                      <a:rPr lang="en-US" i="0" sz="1665">
                        <a:latin typeface="Cambria Math"/>
                      </a:rPr>
                      <m:t>=</m:t>
                    </m:r>
                    <m:r>
                      <m:rPr>
                        <m:sty m:val="i"/>
                      </m:rPr>
                      <a:rPr lang="en-US" i="1" sz="1665">
                        <a:latin typeface="Cambria Math"/>
                      </a:rPr>
                      <m:t>φ</m:t>
                    </m:r>
                    <m:r>
                      <m:rPr>
                        <m:sty m:val="p"/>
                      </m:rPr>
                      <a:rPr lang="en-US" i="0" sz="1665">
                        <a:latin typeface="Cambria Math"/>
                      </a:rPr>
                      <m:t>|</m:t>
                    </m:r>
                    <m:r>
                      <m:rPr>
                        <m:sty m:val="i"/>
                      </m:rPr>
                      <a:rPr lang="en-US" i="1" sz="1665">
                        <a:latin typeface="Cambria Math"/>
                      </a:rPr>
                      <m:t>φ</m:t>
                    </m:r>
                    <m:r>
                      <m:rPr>
                        <m:sty m:val="p"/>
                      </m:rPr>
                      <a:rPr lang="en-US" i="0" sz="1665">
                        <a:latin typeface="Cambria Math"/>
                      </a:rPr>
                      <m:t>⟩</m:t>
                    </m:r>
                  </m:oMath>
                </a14:m>
              </mc:Choice>
              <mc:Fallback>
                <a:r>
                  <a:rPr lang="en-US" sz="1664" i="1"/>
                  <a:t>\hat{\varphi}|\varphi\rangle=\varphi|\varphi\rangle</a:t>
                </a:r>
              </mc:Fallback>
            </mc:AlternateContent>
            <a:r>
              <a:rPr sz="1400" b="0" i="0">
                <a:solidFill>
                  <a:srgbClr val="4F4C56"/>
                </a:solidFill>
                <a:latin typeface="Montserrat"/>
                <a:ea typeface="Montserrat"/>
                <a:cs typeface="Montserrat"/>
              </a:rPr>
              <a:t> and </a:t>
            </a:r>
            <mc:AlternateContent xmlns:mc="http://schemas.openxmlformats.org/markup-compatibility/2006">
              <mc:Choice xmlns:a14="http://schemas.microsoft.com/office/drawing/2010/main" Requires="a14">
                <a14:m>
                  <m:oMath xmlns:m="http://schemas.openxmlformats.org/officeDocument/2006/math">
                    <m:box>
                      <m:e>
                        <m:limUpp>
                          <m:e>
                            <m:r>
                              <m:rPr>
                                <m:sty m:val="i"/>
                              </m:rPr>
                              <a:rPr lang="en-US" i="1" sz="1665">
                                <a:latin typeface="Cambria Math"/>
                              </a:rPr>
                              <m:t>n</m:t>
                            </m:r>
                          </m:e>
                          <m:lim>
                            <m:r>
                              <m:rPr>
                                <m:sty m:val="p"/>
                              </m:rPr>
                              <a:rPr lang="en-US" i="0" sz="1665">
                                <a:latin typeface="Cambria Math"/>
                              </a:rPr>
                              <m:t>^</m:t>
                            </m:r>
                          </m:lim>
                        </m:limUpp>
                      </m:e>
                    </m:box>
                    <m:r>
                      <m:rPr>
                        <m:sty m:val="p"/>
                      </m:rPr>
                      <a:rPr lang="en-US" i="0" sz="1665">
                        <a:latin typeface="Cambria Math"/>
                      </a:rPr>
                      <m:t>|</m:t>
                    </m:r>
                    <m:r>
                      <m:rPr>
                        <m:sty m:val="i"/>
                      </m:rPr>
                      <a:rPr lang="en-US" i="1" sz="1665">
                        <a:latin typeface="Cambria Math"/>
                      </a:rPr>
                      <m:t>n</m:t>
                    </m:r>
                    <m:r>
                      <m:rPr>
                        <m:sty m:val="p"/>
                      </m:rPr>
                      <a:rPr lang="en-US" i="0" sz="1665">
                        <a:latin typeface="Cambria Math"/>
                      </a:rPr>
                      <m:t>⟩</m:t>
                    </m:r>
                    <m:r>
                      <m:rPr>
                        <m:sty m:val="p"/>
                      </m:rPr>
                      <a:rPr lang="en-US" i="0" sz="1665">
                        <a:latin typeface="Cambria Math"/>
                      </a:rPr>
                      <m:t>=</m:t>
                    </m:r>
                    <m:r>
                      <m:rPr>
                        <m:sty m:val="i"/>
                      </m:rPr>
                      <a:rPr lang="en-US" i="1" sz="1665">
                        <a:latin typeface="Cambria Math"/>
                      </a:rPr>
                      <m:t>n</m:t>
                    </m:r>
                    <m:r>
                      <m:rPr>
                        <m:sty m:val="p"/>
                      </m:rPr>
                      <a:rPr lang="en-US" i="0" sz="1665">
                        <a:latin typeface="Cambria Math"/>
                      </a:rPr>
                      <m:t>|</m:t>
                    </m:r>
                    <m:r>
                      <m:rPr>
                        <m:sty m:val="i"/>
                      </m:rPr>
                      <a:rPr lang="en-US" i="1" sz="1665">
                        <a:latin typeface="Cambria Math"/>
                      </a:rPr>
                      <m:t>n</m:t>
                    </m:r>
                    <m:r>
                      <m:rPr>
                        <m:sty m:val="p"/>
                      </m:rPr>
                      <a:rPr lang="en-US" i="0" sz="1665">
                        <a:latin typeface="Cambria Math"/>
                      </a:rPr>
                      <m:t>⟩</m:t>
                    </m:r>
                  </m:oMath>
                </a14:m>
              </mc:Choice>
              <mc:Fallback>
                <a:r>
                  <a:rPr lang="en-US" sz="1664" i="1"/>
                  <a:t>\hat{n}|n\rangle=n|n\rangle</a:t>
                </a:r>
              </mc:Fallback>
            </mc:AlternateContent>
            <a:r>
              <a:rPr sz="1400" b="0" i="0">
                <a:solidFill>
                  <a:srgbClr val="4F4C56"/>
                </a:solidFill>
                <a:latin typeface="Montserrat"/>
                <a:ea typeface="Montserrat"/>
                <a:cs typeface="Montserrat"/>
              </a:rPr>
              <a:t>. In the phase representation </a:t>
            </a:r>
            <mc:AlternateContent xmlns:mc="http://schemas.openxmlformats.org/markup-compatibility/2006">
              <mc:Choice xmlns:a14="http://schemas.microsoft.com/office/drawing/2010/main" Requires="a14">
                <a14:m>
                  <m:oMath xmlns:m="http://schemas.openxmlformats.org/officeDocument/2006/math">
                    <m:box>
                      <m:e>
                        <m:limUpp>
                          <m:e>
                            <m:r>
                              <m:rPr>
                                <m:sty m:val="i"/>
                              </m:rPr>
                              <a:rPr lang="en-US" i="1" sz="1665">
                                <a:latin typeface="Cambria Math"/>
                              </a:rPr>
                              <m:t>φ</m:t>
                            </m:r>
                          </m:e>
                          <m:lim>
                            <m:r>
                              <m:rPr>
                                <m:sty m:val="p"/>
                              </m:rPr>
                              <a:rPr lang="en-US" i="0" sz="1665">
                                <a:latin typeface="Cambria Math"/>
                              </a:rPr>
                              <m:t>^</m:t>
                            </m:r>
                          </m:lim>
                        </m:limUpp>
                      </m:e>
                    </m:box>
                  </m:oMath>
                </a14:m>
              </mc:Choice>
              <mc:Fallback>
                <a:r>
                  <a:rPr lang="en-US" sz="1664" i="1"/>
                  <a:t>\hat{\varphi}</a:t>
                </a:r>
              </mc:Fallback>
            </mc:AlternateContent>
            <a:r>
              <a:rPr sz="1400" b="0" i="0">
                <a:solidFill>
                  <a:srgbClr val="4F4C56"/>
                </a:solidFill>
                <a:latin typeface="Montserrat"/>
                <a:ea typeface="Montserrat"/>
                <a:cs typeface="Montserrat"/>
              </a:rPr>
              <a:t> acts multiplicatively and </a:t>
            </a:r>
            <mc:AlternateContent xmlns:mc="http://schemas.openxmlformats.org/markup-compatibility/2006">
              <mc:Choice xmlns:a14="http://schemas.microsoft.com/office/drawing/2010/main" Requires="a14">
                <a14:m>
                  <m:oMath xmlns:m="http://schemas.openxmlformats.org/officeDocument/2006/math">
                    <m:box>
                      <m:e>
                        <m:limUpp>
                          <m:e>
                            <m:r>
                              <m:rPr>
                                <m:sty m:val="i"/>
                              </m:rPr>
                              <a:rPr lang="en-US" i="1" sz="1665">
                                <a:latin typeface="Cambria Math"/>
                              </a:rPr>
                              <m:t>n</m:t>
                            </m:r>
                          </m:e>
                          <m:lim>
                            <m:r>
                              <m:rPr>
                                <m:sty m:val="p"/>
                              </m:rPr>
                              <a:rPr lang="en-US" i="0" sz="1665">
                                <a:latin typeface="Cambria Math"/>
                              </a:rPr>
                              <m:t>^</m:t>
                            </m:r>
                          </m:lim>
                        </m:limUpp>
                      </m:e>
                    </m:box>
                  </m:oMath>
                </a14:m>
              </mc:Choice>
              <mc:Fallback>
                <a:r>
                  <a:rPr lang="en-US" sz="1664" i="1"/>
                  <a:t>\hat{n}</a:t>
                </a:r>
              </mc:Fallback>
            </mc:AlternateContent>
            <a:r>
              <a:rPr sz="1400" b="0" i="0">
                <a:solidFill>
                  <a:srgbClr val="4F4C56"/>
                </a:solidFill>
                <a:latin typeface="Montserrat"/>
                <a:ea typeface="Montserrat"/>
                <a:cs typeface="Montserrat"/>
              </a:rPr>
              <a:t> is a derivative:</a:t>
            </a:r>
          </a:p>
        </p:txBody>
      </p:sp>
      <p:sp>
        <p:nvSpPr>
          <p:cNvPr id="10" name="Rounded Rectangle 9"/>
          <p:cNvSpPr/>
          <p:nvPr/>
        </p:nvSpPr>
        <p:spPr>
          <a:xfrm>
            <a:off x="575733" y="3404129"/>
            <a:ext cx="11040533" cy="964671"/>
          </a:xfrm>
          <a:prstGeom prst="roundRect">
            <a:avLst>
              <a:gd name="adj" fmla="val 7021"/>
            </a:avLst>
          </a:prstGeom>
          <a:solidFill>
            <a:srgbClr val="FEF9E7"/>
          </a:solidFill>
          <a:ln w="16933">
            <a:solidFill>
              <a:srgbClr val="F0C0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quation"/>
          <p:cNvSpPr txBox="1"/>
          <p:nvPr/>
        </p:nvSpPr>
        <p:spPr>
          <a:xfrm>
            <a:off x="711200" y="3658129"/>
            <a:ext cx="10769600" cy="456671"/>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box>
                            <m:e>
                              <m:limUpp>
                                <m:e>
                                  <m:r>
                                    <m:rPr>
                                      <m:sty m:val="i"/>
                                    </m:rPr>
                                    <a:rPr lang="en-US" i="1" sz="1568">
                                      <a:latin typeface="Cambria Math"/>
                                    </a:rPr>
                                    <m:t>n</m:t>
                                  </m:r>
                                </m:e>
                                <m:lim>
                                  <m:r>
                                    <m:rPr>
                                      <m:sty m:val="p"/>
                                    </m:rPr>
                                    <a:rPr lang="en-US" i="0" sz="1568">
                                      <a:latin typeface="Cambria Math"/>
                                    </a:rPr>
                                    <m:t>^</m:t>
                                  </m:r>
                                </m:lim>
                              </m:limUpp>
                            </m:e>
                          </m:box>
                          <m:r>
                            <m:rPr>
                              <m:sty m:val="p"/>
                            </m:rPr>
                            <a:rPr lang="en-US" i="0" sz="1568">
                              <a:latin typeface="Cambria Math"/>
                            </a:rPr>
                            <m:t>=</m:t>
                          </m:r>
                          <m:r>
                            <m:rPr>
                              <m:sty m:val="p"/>
                            </m:rPr>
                            <a:rPr lang="en-US" i="0" sz="1568">
                              <a:latin typeface="Cambria Math"/>
                            </a:rPr>
                            <m:t>−</m:t>
                          </m:r>
                          <m:r>
                            <m:rPr>
                              <m:sty m:val="i"/>
                            </m:rPr>
                            <a:rPr lang="en-US" i="1" sz="1568">
                              <a:latin typeface="Cambria Math"/>
                            </a:rPr>
                            <m:t>i</m:t>
                          </m:r>
                          <m:f>
                            <m:num>
                              <m:r>
                                <m:rPr>
                                  <m:sty m:val="i"/>
                                </m:rPr>
                                <a:rPr lang="en-US" i="1" sz="1568">
                                  <a:latin typeface="Cambria Math"/>
                                </a:rPr>
                                <m:t>∂</m:t>
                              </m:r>
                            </m:num>
                            <m:den>
                              <m:box>
                                <m:e>
                                  <m:r>
                                    <m:rPr>
                                      <m:sty m:val="i"/>
                                    </m:rPr>
                                    <a:rPr lang="en-US" i="1" sz="1568">
                                      <a:latin typeface="Cambria Math"/>
                                    </a:rPr>
                                    <m:t>∂</m:t>
                                  </m:r>
                                  <m:r>
                                    <m:rPr>
                                      <m:sty m:val="i"/>
                                    </m:rPr>
                                    <a:rPr lang="en-US" i="1" sz="1568">
                                      <a:latin typeface="Cambria Math"/>
                                    </a:rPr>
                                    <m:t>φ</m:t>
                                  </m:r>
                                </m:e>
                              </m:box>
                            </m:den>
                          </m:f>
                        </m:e>
                      </m:box>
                      <m:r>
                        <m:rPr>
                          <m:sty m:val="p"/>
                        </m:rPr>
                        <a:rPr lang="en-US" i="0" sz="1568">
                          <a:latin typeface="Cambria Math"/>
                        </a:rPr>
                        <m:t>.</m:t>
                      </m:r>
                    </m:oMath>
                  </m:oMathPara>
                </a14:m>
              </mc:Choice>
              <mc:Fallback>
                <a:r>
                  <a:rPr lang="en-US" sz="1567" i="1"/>
                  <a:t>
                    {\hat{n}=-i\frac{\partial}{\partial\varphi}}.
                    </a:t>
                </a:r>
              </mc:Fallback>
            </mc:AlternateContent>
          </a:p>
        </p:txBody>
      </p:sp>
      <p:sp>
        <p:nvSpPr>
          <p:cNvPr id="12" name="Rectangle 11"/>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4" name="TextBox 13"/>
          <p:cNvSpPr txBox="1"/>
          <p:nvPr/>
        </p:nvSpPr>
        <p:spPr>
          <a:xfrm>
            <a:off x="11218730" y="6565900"/>
            <a:ext cx="482203"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48 / 100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The Schrödinger Equation</a:t>
            </a:r>
          </a:p>
        </p:txBody>
      </p:sp>
      <p:sp>
        <p:nvSpPr>
          <p:cNvPr id="6" name="TextBox 5"/>
          <p:cNvSpPr txBox="1"/>
          <p:nvPr/>
        </p:nvSpPr>
        <p:spPr>
          <a:xfrm>
            <a:off x="575733" y="1452827"/>
            <a:ext cx="11040533" cy="746125"/>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Indeed,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box>
                      <m:e>
                        <m:limUpp>
                          <m:e>
                            <m:r>
                              <m:rPr>
                                <m:sty m:val="i"/>
                              </m:rPr>
                              <a:rPr lang="en-US" i="1" sz="1665">
                                <a:latin typeface="Cambria Math"/>
                              </a:rPr>
                              <m:t>φ</m:t>
                            </m:r>
                          </m:e>
                          <m:lim>
                            <m:r>
                              <m:rPr>
                                <m:sty m:val="p"/>
                              </m:rPr>
                              <a:rPr lang="en-US" i="0" sz="1665">
                                <a:latin typeface="Cambria Math"/>
                              </a:rPr>
                              <m:t>^</m:t>
                            </m:r>
                          </m:lim>
                        </m:limUpp>
                      </m:e>
                    </m:box>
                    <m:r>
                      <m:rPr>
                        <m:sty m:val="p"/>
                      </m:rPr>
                      <a:rPr lang="en-US" i="0" sz="1665">
                        <a:latin typeface="Cambria Math"/>
                      </a:rPr>
                      <m:t>,</m:t>
                    </m:r>
                    <m:box>
                      <m:e>
                        <m:limUpp>
                          <m:e>
                            <m:r>
                              <m:rPr>
                                <m:sty m:val="i"/>
                              </m:rPr>
                              <a:rPr lang="en-US" i="1" sz="1665">
                                <a:latin typeface="Cambria Math"/>
                              </a:rPr>
                              <m:t>n</m:t>
                            </m:r>
                          </m:e>
                          <m:lim>
                            <m:r>
                              <m:rPr>
                                <m:sty m:val="p"/>
                              </m:rPr>
                              <a:rPr lang="en-US" i="0" sz="1665">
                                <a:latin typeface="Cambria Math"/>
                              </a:rPr>
                              <m:t>^</m:t>
                            </m:r>
                          </m:lim>
                        </m:limUpp>
                      </m:e>
                    </m:box>
                    <m:r>
                      <m:rPr>
                        <m:sty m:val="p"/>
                      </m:rPr>
                      <a:rPr lang="en-US" i="0" sz="1665">
                        <a:latin typeface="Cambria Math"/>
                      </a:rPr>
                      <m:t>]</m:t>
                    </m:r>
                    <m:r>
                      <m:rPr>
                        <m:sty m:val="p"/>
                      </m:rPr>
                      <a:rPr lang="en-US" i="0" sz="1665">
                        <a:latin typeface="Cambria Math"/>
                      </a:rPr>
                      <m:t>|</m:t>
                    </m:r>
                    <m:r>
                      <m:rPr>
                        <m:sty m:val="i"/>
                      </m:rPr>
                      <a:rPr lang="en-US" i="1" sz="1665">
                        <a:latin typeface="Cambria Math"/>
                      </a:rPr>
                      <m:t>φ</m:t>
                    </m:r>
                    <m:r>
                      <m:rPr>
                        <m:sty m:val="p"/>
                      </m:rPr>
                      <a:rPr lang="en-US" i="0" sz="1665">
                        <a:latin typeface="Cambria Math"/>
                      </a:rPr>
                      <m:t>⟩</m:t>
                    </m:r>
                    <m:r>
                      <m:rPr>
                        <m:sty m:val="p"/>
                      </m:rPr>
                      <a:rPr lang="en-US" i="0" sz="1665">
                        <a:latin typeface="Cambria Math"/>
                      </a:rPr>
                      <m:t>=</m:t>
                    </m:r>
                    <m:box>
                      <m:e>
                        <m:d>
                          <m:dPr>
                            <m:begChr m:val="["/>
                            <m:endChr m:val="]"/>
                          </m:dPr>
                          <m:e>
                            <m:box>
                              <m:e>
                                <m:r>
                                  <m:rPr>
                                    <m:sty m:val="i"/>
                                  </m:rPr>
                                  <a:rPr lang="en-US" i="1" sz="1665">
                                    <a:latin typeface="Cambria Math"/>
                                  </a:rPr>
                                  <m:t>φ</m:t>
                                </m:r>
                                <m:r>
                                  <m:rPr>
                                    <m:sty m:val="p"/>
                                  </m:rPr>
                                  <a:rPr lang="en-US" i="0" sz="1665">
                                    <a:latin typeface="Cambria Math"/>
                                  </a:rPr>
                                  <m:t>,</m:t>
                                </m:r>
                                <m:r>
                                  <m:rPr>
                                    <m:sty m:val="p"/>
                                  </m:rPr>
                                  <a:rPr lang="en-US" i="0" sz="1665">
                                    <a:latin typeface="Cambria Math"/>
                                  </a:rPr>
                                  <m:t>−</m:t>
                                </m:r>
                                <m:r>
                                  <m:rPr>
                                    <m:sty m:val="i"/>
                                  </m:rPr>
                                  <a:rPr lang="en-US" i="1" sz="1665">
                                    <a:latin typeface="Cambria Math"/>
                                  </a:rPr>
                                  <m:t>i</m:t>
                                </m:r>
                                <m:f>
                                  <m:num>
                                    <m:r>
                                      <m:rPr>
                                        <m:sty m:val="i"/>
                                      </m:rPr>
                                      <a:rPr lang="en-US" i="1" sz="1665">
                                        <a:latin typeface="Cambria Math"/>
                                      </a:rPr>
                                      <m:t>∂</m:t>
                                    </m:r>
                                  </m:num>
                                  <m:den>
                                    <m:box>
                                      <m:e>
                                        <m:r>
                                          <m:rPr>
                                            <m:sty m:val="i"/>
                                          </m:rPr>
                                          <a:rPr lang="en-US" i="1" sz="1665">
                                            <a:latin typeface="Cambria Math"/>
                                          </a:rPr>
                                          <m:t>∂</m:t>
                                        </m:r>
                                        <m:r>
                                          <m:rPr>
                                            <m:sty m:val="i"/>
                                          </m:rPr>
                                          <a:rPr lang="en-US" i="1" sz="1665">
                                            <a:latin typeface="Cambria Math"/>
                                          </a:rPr>
                                          <m:t>φ</m:t>
                                        </m:r>
                                      </m:e>
                                    </m:box>
                                  </m:den>
                                </m:f>
                              </m:e>
                            </m:box>
                          </m:e>
                        </m:d>
                      </m:e>
                    </m:box>
                    <m:r>
                      <m:rPr>
                        <m:sty m:val="p"/>
                      </m:rPr>
                      <a:rPr lang="en-US" i="0" sz="1665">
                        <a:latin typeface="Cambria Math"/>
                      </a:rPr>
                      <m:t>|</m:t>
                    </m:r>
                    <m:r>
                      <m:rPr>
                        <m:sty m:val="i"/>
                      </m:rPr>
                      <a:rPr lang="en-US" i="1" sz="1665">
                        <a:latin typeface="Cambria Math"/>
                      </a:rPr>
                      <m:t>φ</m:t>
                    </m:r>
                    <m:r>
                      <m:rPr>
                        <m:sty m:val="p"/>
                      </m:rPr>
                      <a:rPr lang="en-US" i="0" sz="1665">
                        <a:latin typeface="Cambria Math"/>
                      </a:rPr>
                      <m:t>⟩</m:t>
                    </m:r>
                    <m:r>
                      <m:rPr>
                        <m:sty m:val="p"/>
                      </m:rPr>
                      <a:rPr lang="en-US" i="0" sz="1665">
                        <a:latin typeface="Cambria Math"/>
                      </a:rPr>
                      <m:t>=</m:t>
                    </m:r>
                    <m:r>
                      <m:rPr>
                        <m:sty m:val="p"/>
                      </m:rPr>
                      <a:rPr lang="en-US" i="0" sz="1665">
                        <a:latin typeface="Cambria Math"/>
                      </a:rPr>
                      <m:t>−</m:t>
                    </m:r>
                    <m:r>
                      <m:rPr>
                        <m:sty m:val="i"/>
                      </m:rPr>
                      <a:rPr lang="en-US" i="1" sz="1665">
                        <a:latin typeface="Cambria Math"/>
                      </a:rPr>
                      <m:t>i</m:t>
                    </m:r>
                    <m:r>
                      <m:rPr>
                        <m:sty m:val="i"/>
                      </m:rPr>
                      <a:rPr lang="en-US" i="1" sz="1665">
                        <a:latin typeface="Cambria Math"/>
                      </a:rPr>
                      <m:t>φ</m:t>
                    </m:r>
                    <m:box>
                      <m:e>
                        <m:r>
                          <a:rPr lang="en-US" i="1" sz="1665">
                            <a:latin typeface="Cambria Math"/>
                          </a:rPr>
                          <m:t/>
                        </m:r>
                      </m:e>
                    </m:box>
                    <m:sSub>
                      <m:e>
                        <m:r>
                          <m:rPr>
                            <m:sty m:val="i"/>
                          </m:rPr>
                          <a:rPr lang="en-US" i="1" sz="1665">
                            <a:latin typeface="Cambria Math"/>
                          </a:rPr>
                          <m:t>∂</m:t>
                        </m:r>
                      </m:e>
                      <m:sub>
                        <m:r>
                          <m:rPr>
                            <m:sty m:val="i"/>
                          </m:rPr>
                          <a:rPr lang="en-US" i="1" sz="1665">
                            <a:latin typeface="Cambria Math"/>
                          </a:rPr>
                          <m:t>φ</m:t>
                        </m:r>
                      </m:sub>
                    </m:sSub>
                    <m:r>
                      <m:rPr>
                        <m:sty m:val="i"/>
                      </m:rPr>
                      <a:rPr lang="en-US" i="1" sz="1665">
                        <a:latin typeface="Cambria Math"/>
                      </a:rPr>
                      <m:t>ψ</m:t>
                    </m:r>
                    <m:r>
                      <m:rPr>
                        <m:sty m:val="p"/>
                      </m:rPr>
                      <a:rPr lang="en-US" i="0" sz="1665">
                        <a:latin typeface="Cambria Math"/>
                      </a:rPr>
                      <m:t>+</m:t>
                    </m:r>
                    <m:r>
                      <m:rPr>
                        <m:sty m:val="i"/>
                      </m:rPr>
                      <a:rPr lang="en-US" i="1" sz="1665">
                        <a:latin typeface="Cambria Math"/>
                      </a:rPr>
                      <m:t>i</m:t>
                    </m:r>
                    <m:box>
                      <m:e>
                        <m:r>
                          <a:rPr lang="en-US" i="1" sz="1665">
                            <a:latin typeface="Cambria Math"/>
                          </a:rPr>
                          <m:t/>
                        </m:r>
                      </m:e>
                    </m:box>
                    <m:sSub>
                      <m:e>
                        <m:r>
                          <m:rPr>
                            <m:sty m:val="i"/>
                          </m:rPr>
                          <a:rPr lang="en-US" i="1" sz="1665">
                            <a:latin typeface="Cambria Math"/>
                          </a:rPr>
                          <m:t>∂</m:t>
                        </m:r>
                      </m:e>
                      <m:sub>
                        <m:r>
                          <m:rPr>
                            <m:sty m:val="i"/>
                          </m:rPr>
                          <a:rPr lang="en-US" i="1" sz="1665">
                            <a:latin typeface="Cambria Math"/>
                          </a:rPr>
                          <m:t>φ</m:t>
                        </m:r>
                      </m:sub>
                    </m:sSub>
                    <m:r>
                      <m:rPr>
                        <m:sty m:val="p"/>
                      </m:rPr>
                      <a:rPr lang="en-US" i="0" sz="1665">
                        <a:latin typeface="Cambria Math"/>
                      </a:rPr>
                      <m:t>(</m:t>
                    </m:r>
                    <m:r>
                      <m:rPr>
                        <m:sty m:val="i"/>
                      </m:rPr>
                      <a:rPr lang="en-US" i="1" sz="1665">
                        <a:latin typeface="Cambria Math"/>
                      </a:rPr>
                      <m:t>φ</m:t>
                    </m:r>
                    <m:r>
                      <m:rPr>
                        <m:sty m:val="i"/>
                      </m:rPr>
                      <a:rPr lang="en-US" i="1" sz="1665">
                        <a:latin typeface="Cambria Math"/>
                      </a:rPr>
                      <m:t>ψ</m:t>
                    </m:r>
                    <m:r>
                      <m:rPr>
                        <m:sty m:val="p"/>
                      </m:rPr>
                      <a:rPr lang="en-US" i="0" sz="1665">
                        <a:latin typeface="Cambria Math"/>
                      </a:rPr>
                      <m:t>)</m:t>
                    </m:r>
                    <m:r>
                      <m:rPr>
                        <m:sty m:val="p"/>
                      </m:rPr>
                      <a:rPr lang="en-US" i="0" sz="1665">
                        <a:latin typeface="Cambria Math"/>
                      </a:rPr>
                      <m:t>=</m:t>
                    </m:r>
                    <m:r>
                      <m:rPr>
                        <m:sty m:val="i"/>
                      </m:rPr>
                      <a:rPr lang="en-US" i="1" sz="1665">
                        <a:latin typeface="Cambria Math"/>
                      </a:rPr>
                      <m:t>i</m:t>
                    </m:r>
                    <m:r>
                      <m:rPr>
                        <m:sty m:val="p"/>
                      </m:rPr>
                      <a:rPr lang="en-US" i="0" sz="1665">
                        <a:latin typeface="Cambria Math"/>
                      </a:rPr>
                      <m:t>|</m:t>
                    </m:r>
                    <m:r>
                      <m:rPr>
                        <m:sty m:val="i"/>
                      </m:rPr>
                      <a:rPr lang="en-US" i="1" sz="1665">
                        <a:latin typeface="Cambria Math"/>
                      </a:rPr>
                      <m:t>φ</m:t>
                    </m:r>
                    <m:r>
                      <m:rPr>
                        <m:sty m:val="p"/>
                      </m:rPr>
                      <a:rPr lang="en-US" i="0" sz="1665">
                        <a:latin typeface="Cambria Math"/>
                      </a:rPr>
                      <m:t>⟩</m:t>
                    </m:r>
                  </m:oMath>
                </a14:m>
              </mc:Choice>
              <mc:Fallback>
                <a:r>
                  <a:rPr lang="en-US" sz="1664" i="1"/>
                  <a:t>
                [\hat{\varphi},\hat{n}]|\varphi\rangle
                =\left[\varphi,-i\frac{\partial}{\partial\varphi}\right]|\varphi\rangle
                =-i\varphi\,\partial_\varphi\psi+i\,\partial_\varphi(\varphi\psi)
                =i|\varphi\rangle
                </a:t>
                </a:r>
              </mc:Fallback>
            </mc:AlternateContent>
            <a:r>
              <a:rPr sz="1400" b="0" i="0">
                <a:solidFill>
                  <a:srgbClr val="4F4C56"/>
                </a:solidFill>
                <a:latin typeface="Montserrat"/>
                <a:ea typeface="Montserrat"/>
                <a:cs typeface="Montserrat"/>
              </a:rPr>
              <a:t>. The Hamiltonian operator is therefore </a:t>
            </a:r>
            <mc:AlternateContent xmlns:mc="http://schemas.openxmlformats.org/markup-compatibility/2006">
              <mc:Choice xmlns:a14="http://schemas.microsoft.com/office/drawing/2010/main" Requires="a14">
                <a14:m>
                  <m:oMath xmlns:m="http://schemas.openxmlformats.org/officeDocument/2006/math">
                    <m:box>
                      <m:e>
                        <m:limUpp>
                          <m:e>
                            <m:r>
                              <m:rPr>
                                <m:sty m:val="i"/>
                              </m:rPr>
                              <a:rPr lang="en-US" i="1" sz="1665">
                                <a:latin typeface="Cambria Math"/>
                              </a:rPr>
                              <m:t>H</m:t>
                            </m:r>
                          </m:e>
                          <m:lim>
                            <m:r>
                              <m:rPr>
                                <m:sty m:val="p"/>
                              </m:rPr>
                              <a:rPr lang="en-US" i="0" sz="1665">
                                <a:latin typeface="Cambria Math"/>
                              </a:rPr>
                              <m:t>^</m:t>
                            </m:r>
                          </m:lim>
                        </m:limUpp>
                      </m:e>
                    </m:box>
                    <m:r>
                      <m:rPr>
                        <m:sty m:val="p"/>
                      </m:rPr>
                      <a:rPr lang="en-US" i="0" sz="1665">
                        <a:latin typeface="Cambria Math"/>
                      </a:rPr>
                      <m:t>=</m:t>
                    </m:r>
                    <m:r>
                      <m:rPr>
                        <m:sty m:val="p"/>
                      </m:rPr>
                      <a:rPr lang="en-US" i="0" sz="1665">
                        <a:latin typeface="Cambria Math"/>
                      </a:rPr>
                      <m:t>4</m:t>
                    </m:r>
                    <m:sSub>
                      <m:e>
                        <m:r>
                          <m:rPr>
                            <m:sty m:val="i"/>
                          </m:rPr>
                          <a:rPr lang="en-US" i="1" sz="1665">
                            <a:latin typeface="Cambria Math"/>
                          </a:rPr>
                          <m:t>E</m:t>
                        </m:r>
                      </m:e>
                      <m:sub>
                        <m:r>
                          <m:rPr>
                            <m:sty m:val="i"/>
                          </m:rPr>
                          <a:rPr lang="en-US" i="1" sz="1665">
                            <a:latin typeface="Cambria Math"/>
                          </a:rPr>
                          <m:t>C</m:t>
                        </m:r>
                      </m:sub>
                    </m:sSub>
                    <m:sSup>
                      <m:e>
                        <m:box>
                          <m:e>
                            <m:limUpp>
                              <m:e>
                                <m:r>
                                  <m:rPr>
                                    <m:sty m:val="i"/>
                                  </m:rPr>
                                  <a:rPr lang="en-US" i="1" sz="1665">
                                    <a:latin typeface="Cambria Math"/>
                                  </a:rPr>
                                  <m:t>n</m:t>
                                </m:r>
                              </m:e>
                              <m:lim>
                                <m:r>
                                  <m:rPr>
                                    <m:sty m:val="p"/>
                                  </m:rPr>
                                  <a:rPr lang="en-US" i="0" sz="1665">
                                    <a:latin typeface="Cambria Math"/>
                                  </a:rPr>
                                  <m:t>^</m:t>
                                </m:r>
                              </m:lim>
                            </m:limUpp>
                          </m:e>
                        </m:box>
                      </m:e>
                      <m:sup>
                        <m:box>
                          <m:e>
                            <m:box>
                              <m:e>
                                <m:r>
                                  <a:rPr lang="en-US" i="1" sz="1665">
                                    <a:latin typeface="Cambria Math"/>
                                  </a:rPr>
                                  <m:t/>
                                </m:r>
                              </m:e>
                            </m:box>
                            <m:r>
                              <m:rPr>
                                <m:sty m:val="p"/>
                              </m:rPr>
                              <a:rPr lang="en-US" i="0" sz="1665">
                                <a:latin typeface="Cambria Math"/>
                              </a:rPr>
                              <m:t>2</m:t>
                            </m:r>
                          </m:e>
                        </m:box>
                      </m:sup>
                    </m:sSup>
                    <m:r>
                      <m:rPr>
                        <m:sty m:val="p"/>
                      </m:rPr>
                      <a:rPr lang="en-US" i="0" sz="1665">
                        <a:latin typeface="Cambria Math"/>
                      </a:rPr>
                      <m:t>−</m:t>
                    </m:r>
                    <m:sSub>
                      <m:e>
                        <m:r>
                          <m:rPr>
                            <m:sty m:val="i"/>
                          </m:rPr>
                          <a:rPr lang="en-US" i="1" sz="1665">
                            <a:latin typeface="Cambria Math"/>
                          </a:rPr>
                          <m:t>E</m:t>
                        </m:r>
                      </m:e>
                      <m:sub>
                        <m:r>
                          <m:rPr>
                            <m:sty m:val="i"/>
                          </m:rPr>
                          <a:rPr lang="en-US" i="1" sz="1665">
                            <a:latin typeface="Cambria Math"/>
                          </a:rPr>
                          <m:t>J</m:t>
                        </m:r>
                      </m:sub>
                    </m:sSub>
                    <m:r>
                      <m:rPr>
                        <m:sty m:val="p"/>
                      </m:rPr>
                      <a:rPr lang="en-US" i="0" sz="1665">
                        <a:latin typeface="Cambria Math"/>
                      </a:rPr>
                      <m:t>cos</m:t>
                    </m:r>
                    <m:r>
                      <m:rPr>
                        <m:sty m:val="p"/>
                      </m:rPr>
                      <a:rPr lang="en-US" i="0" sz="1665">
                        <a:latin typeface="Cambria Math"/>
                      </a:rPr>
                      <m:t/>
                    </m:r>
                    <m:box>
                      <m:e>
                        <m:limUpp>
                          <m:e>
                            <m:r>
                              <m:rPr>
                                <m:sty m:val="i"/>
                              </m:rPr>
                              <a:rPr lang="en-US" i="1" sz="1665">
                                <a:latin typeface="Cambria Math"/>
                              </a:rPr>
                              <m:t>φ</m:t>
                            </m:r>
                          </m:e>
                          <m:lim>
                            <m:r>
                              <m:rPr>
                                <m:sty m:val="p"/>
                              </m:rPr>
                              <a:rPr lang="en-US" i="0" sz="1665">
                                <a:latin typeface="Cambria Math"/>
                              </a:rPr>
                              <m:t>^</m:t>
                            </m:r>
                          </m:lim>
                        </m:limUpp>
                      </m:e>
                    </m:box>
                    <m:r>
                      <m:rPr>
                        <m:sty m:val="p"/>
                      </m:rPr>
                      <a:rPr lang="en-US" i="0" sz="1665">
                        <a:latin typeface="Cambria Math"/>
                      </a:rPr>
                      <m:t>=</m:t>
                    </m:r>
                    <m:r>
                      <m:rPr>
                        <m:sty m:val="p"/>
                      </m:rPr>
                      <a:rPr lang="en-US" i="0" sz="1665">
                        <a:latin typeface="Cambria Math"/>
                      </a:rPr>
                      <m:t>−</m:t>
                    </m:r>
                    <m:r>
                      <m:rPr>
                        <m:sty m:val="p"/>
                      </m:rPr>
                      <a:rPr lang="en-US" i="0" sz="1665">
                        <a:latin typeface="Cambria Math"/>
                      </a:rPr>
                      <m:t>4</m:t>
                    </m:r>
                    <m:sSub>
                      <m:e>
                        <m:r>
                          <m:rPr>
                            <m:sty m:val="i"/>
                          </m:rPr>
                          <a:rPr lang="en-US" i="1" sz="1665">
                            <a:latin typeface="Cambria Math"/>
                          </a:rPr>
                          <m:t>E</m:t>
                        </m:r>
                      </m:e>
                      <m:sub>
                        <m:r>
                          <m:rPr>
                            <m:sty m:val="i"/>
                          </m:rPr>
                          <a:rPr lang="en-US" i="1" sz="1665">
                            <a:latin typeface="Cambria Math"/>
                          </a:rPr>
                          <m:t>C</m:t>
                        </m:r>
                      </m:sub>
                    </m:sSub>
                    <m:f>
                      <m:num>
                        <m:sSup>
                          <m:e>
                            <m:r>
                              <m:rPr>
                                <m:sty m:val="i"/>
                              </m:rPr>
                              <a:rPr lang="en-US" i="1" sz="1665">
                                <a:latin typeface="Cambria Math"/>
                              </a:rPr>
                              <m:t>∂</m:t>
                            </m:r>
                          </m:e>
                          <m:sup>
                            <m:r>
                              <m:rPr>
                                <m:sty m:val="p"/>
                              </m:rPr>
                              <a:rPr lang="en-US" i="0" sz="1665">
                                <a:latin typeface="Cambria Math"/>
                              </a:rPr>
                              <m:t>2</m:t>
                            </m:r>
                          </m:sup>
                        </m:sSup>
                      </m:num>
                      <m:den>
                        <m:box>
                          <m:e>
                            <m:r>
                              <m:rPr>
                                <m:sty m:val="i"/>
                              </m:rPr>
                              <a:rPr lang="en-US" i="1" sz="1665">
                                <a:latin typeface="Cambria Math"/>
                              </a:rPr>
                              <m:t>∂</m:t>
                            </m:r>
                            <m:sSup>
                              <m:e>
                                <m:r>
                                  <m:rPr>
                                    <m:sty m:val="i"/>
                                  </m:rPr>
                                  <a:rPr lang="en-US" i="1" sz="1665">
                                    <a:latin typeface="Cambria Math"/>
                                  </a:rPr>
                                  <m:t>φ</m:t>
                                </m:r>
                              </m:e>
                              <m:sup>
                                <m:r>
                                  <m:rPr>
                                    <m:sty m:val="p"/>
                                  </m:rPr>
                                  <a:rPr lang="en-US" i="0" sz="1665">
                                    <a:latin typeface="Cambria Math"/>
                                  </a:rPr>
                                  <m:t>2</m:t>
                                </m:r>
                              </m:sup>
                            </m:sSup>
                          </m:e>
                        </m:box>
                      </m:den>
                    </m:f>
                    <m:r>
                      <m:rPr>
                        <m:sty m:val="p"/>
                      </m:rPr>
                      <a:rPr lang="en-US" i="0" sz="1665">
                        <a:latin typeface="Cambria Math"/>
                      </a:rPr>
                      <m:t>−</m:t>
                    </m:r>
                    <m:sSub>
                      <m:e>
                        <m:r>
                          <m:rPr>
                            <m:sty m:val="i"/>
                          </m:rPr>
                          <a:rPr lang="en-US" i="1" sz="1665">
                            <a:latin typeface="Cambria Math"/>
                          </a:rPr>
                          <m:t>E</m:t>
                        </m:r>
                      </m:e>
                      <m:sub>
                        <m:r>
                          <m:rPr>
                            <m:sty m:val="i"/>
                          </m:rPr>
                          <a:rPr lang="en-US" i="1" sz="1665">
                            <a:latin typeface="Cambria Math"/>
                          </a:rPr>
                          <m:t>J</m:t>
                        </m:r>
                      </m:sub>
                    </m:sSub>
                    <m:r>
                      <m:rPr>
                        <m:sty m:val="p"/>
                      </m:rPr>
                      <a:rPr lang="en-US" i="0" sz="1665">
                        <a:latin typeface="Cambria Math"/>
                      </a:rPr>
                      <m:t>cos</m:t>
                    </m:r>
                    <m:r>
                      <m:rPr>
                        <m:sty m:val="p"/>
                      </m:rPr>
                      <a:rPr lang="en-US" i="0" sz="1665">
                        <a:latin typeface="Cambria Math"/>
                      </a:rPr>
                      <m:t/>
                    </m:r>
                    <m:r>
                      <m:rPr>
                        <m:sty m:val="i"/>
                      </m:rPr>
                      <a:rPr lang="en-US" i="1" sz="1665">
                        <a:latin typeface="Cambria Math"/>
                      </a:rPr>
                      <m:t>φ</m:t>
                    </m:r>
                  </m:oMath>
                </a14:m>
              </mc:Choice>
              <mc:Fallback>
                <a:r>
                  <a:rPr lang="en-US" sz="1664" i="1"/>
                  <a:t>
                \hat{H}=4E_C\hat{n}^{\,2}-E_J\cos\hat{\varphi}
                =-4E_C\frac{\partial^2}{\partial\varphi^2}-E_J\cos\varphi
                </a:t>
                </a:r>
              </mc:Fallback>
            </mc:AlternateContent>
            <a:r>
              <a:rPr sz="1400" b="0" i="0">
                <a:solidFill>
                  <a:srgbClr val="4F4C56"/>
                </a:solidFill>
                <a:latin typeface="Montserrat"/>
                <a:ea typeface="Montserrat"/>
                <a:cs typeface="Montserrat"/>
              </a:rPr>
              <a:t>, and the time-independent Schrödinger equation becomes:</a:t>
            </a:r>
          </a:p>
        </p:txBody>
      </p:sp>
      <p:sp>
        <p:nvSpPr>
          <p:cNvPr id="7" name="Rounded Rectangle 6"/>
          <p:cNvSpPr/>
          <p:nvPr/>
        </p:nvSpPr>
        <p:spPr>
          <a:xfrm>
            <a:off x="575733" y="2334419"/>
            <a:ext cx="11040533" cy="997215"/>
          </a:xfrm>
          <a:prstGeom prst="roundRect">
            <a:avLst>
              <a:gd name="adj" fmla="val 6792"/>
            </a:avLst>
          </a:prstGeom>
          <a:solidFill>
            <a:srgbClr val="FEF9E7"/>
          </a:solidFill>
          <a:ln w="16933">
            <a:solidFill>
              <a:srgbClr val="F0C0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quation"/>
          <p:cNvSpPr txBox="1"/>
          <p:nvPr/>
        </p:nvSpPr>
        <p:spPr>
          <a:xfrm>
            <a:off x="711200" y="2588419"/>
            <a:ext cx="10769600" cy="489215"/>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d>
                            <m:dPr>
                              <m:begChr m:val="["/>
                              <m:endChr m:val="]"/>
                            </m:dPr>
                            <m:e>
                              <m:box>
                                <m:e>
                                  <m:r>
                                    <m:rPr>
                                      <m:sty m:val="p"/>
                                    </m:rPr>
                                    <a:rPr lang="en-US" i="0" sz="1568">
                                      <a:latin typeface="Cambria Math"/>
                                    </a:rPr>
                                    <m:t>−</m:t>
                                  </m:r>
                                  <m:r>
                                    <m:rPr>
                                      <m:sty m:val="p"/>
                                    </m:rPr>
                                    <a:rPr lang="en-US" i="0" sz="1568">
                                      <a:latin typeface="Cambria Math"/>
                                    </a:rPr>
                                    <m:t>4</m:t>
                                  </m:r>
                                  <m:sSub>
                                    <m:e>
                                      <m:r>
                                        <m:rPr>
                                          <m:sty m:val="i"/>
                                        </m:rPr>
                                        <a:rPr lang="en-US" i="1" sz="1568">
                                          <a:latin typeface="Cambria Math"/>
                                        </a:rPr>
                                        <m:t>E</m:t>
                                      </m:r>
                                    </m:e>
                                    <m:sub>
                                      <m:r>
                                        <m:rPr>
                                          <m:sty m:val="i"/>
                                        </m:rPr>
                                        <a:rPr lang="en-US" i="1" sz="1568">
                                          <a:latin typeface="Cambria Math"/>
                                        </a:rPr>
                                        <m:t>C</m:t>
                                      </m:r>
                                    </m:sub>
                                  </m:sSub>
                                  <m:f>
                                    <m:num>
                                      <m:sSup>
                                        <m:e>
                                          <m:r>
                                            <m:rPr>
                                              <m:sty m:val="i"/>
                                            </m:rPr>
                                            <a:rPr lang="en-US" i="1" sz="1568">
                                              <a:latin typeface="Cambria Math"/>
                                            </a:rPr>
                                            <m:t>∂</m:t>
                                          </m:r>
                                        </m:e>
                                        <m:sup>
                                          <m:r>
                                            <m:rPr>
                                              <m:sty m:val="p"/>
                                            </m:rPr>
                                            <a:rPr lang="en-US" i="0" sz="1568">
                                              <a:latin typeface="Cambria Math"/>
                                            </a:rPr>
                                            <m:t>2</m:t>
                                          </m:r>
                                        </m:sup>
                                      </m:sSup>
                                    </m:num>
                                    <m:den>
                                      <m:box>
                                        <m:e>
                                          <m:r>
                                            <m:rPr>
                                              <m:sty m:val="i"/>
                                            </m:rPr>
                                            <a:rPr lang="en-US" i="1" sz="1568">
                                              <a:latin typeface="Cambria Math"/>
                                            </a:rPr>
                                            <m:t>∂</m:t>
                                          </m:r>
                                          <m:sSup>
                                            <m:e>
                                              <m:r>
                                                <m:rPr>
                                                  <m:sty m:val="i"/>
                                                </m:rPr>
                                                <a:rPr lang="en-US" i="1" sz="1568">
                                                  <a:latin typeface="Cambria Math"/>
                                                </a:rPr>
                                                <m:t>φ</m:t>
                                              </m:r>
                                            </m:e>
                                            <m:sup>
                                              <m:r>
                                                <m:rPr>
                                                  <m:sty m:val="p"/>
                                                </m:rPr>
                                                <a:rPr lang="en-US" i="0" sz="1568">
                                                  <a:latin typeface="Cambria Math"/>
                                                </a:rPr>
                                                <m:t>2</m:t>
                                              </m:r>
                                            </m:sup>
                                          </m:sSup>
                                        </m:e>
                                      </m:box>
                                    </m:den>
                                  </m:f>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J</m:t>
                                      </m:r>
                                    </m:sub>
                                  </m:sSub>
                                  <m:r>
                                    <m:rPr>
                                      <m:sty m:val="p"/>
                                    </m:rPr>
                                    <a:rPr lang="en-US" i="0" sz="1568">
                                      <a:latin typeface="Cambria Math"/>
                                    </a:rPr>
                                    <m:t>cos</m:t>
                                  </m:r>
                                  <m:r>
                                    <m:rPr>
                                      <m:sty m:val="p"/>
                                    </m:rPr>
                                    <a:rPr lang="en-US" i="0" sz="1568">
                                      <a:latin typeface="Cambria Math"/>
                                    </a:rPr>
                                    <m:t/>
                                  </m:r>
                                  <m:r>
                                    <m:rPr>
                                      <m:sty m:val="i"/>
                                    </m:rPr>
                                    <a:rPr lang="en-US" i="1" sz="1568">
                                      <a:latin typeface="Cambria Math"/>
                                    </a:rPr>
                                    <m:t>φ</m:t>
                                  </m:r>
                                </m:e>
                              </m:box>
                            </m:e>
                          </m:d>
                        </m:e>
                      </m:box>
                      <m:r>
                        <m:rPr>
                          <m:sty m:val="p"/>
                        </m:rPr>
                        <a:rPr lang="en-US" i="0" sz="1568">
                          <a:latin typeface="Cambria Math"/>
                        </a:rPr>
                        <m:t>|</m:t>
                      </m:r>
                      <m:r>
                        <m:rPr>
                          <m:sty m:val="i"/>
                        </m:rPr>
                        <a:rPr lang="en-US" i="1" sz="1568">
                          <a:latin typeface="Cambria Math"/>
                        </a:rPr>
                        <m:t>φ</m:t>
                      </m:r>
                      <m:r>
                        <m:rPr>
                          <m:sty m:val="p"/>
                        </m:rPr>
                        <a:rPr lang="en-US" i="0" sz="1568">
                          <a:latin typeface="Cambria Math"/>
                        </a:rPr>
                        <m:t>⟩</m:t>
                      </m:r>
                      <m:r>
                        <m:rPr>
                          <m:sty m:val="p"/>
                        </m:rPr>
                        <a:rPr lang="en-US" i="0" sz="1568">
                          <a:latin typeface="Cambria Math"/>
                        </a:rPr>
                        <m:t>=</m:t>
                      </m:r>
                      <m:r>
                        <m:rPr>
                          <m:sty m:val="i"/>
                        </m:rPr>
                        <a:rPr lang="en-US" i="1" sz="1568">
                          <a:latin typeface="Cambria Math"/>
                        </a:rPr>
                        <m:t>E</m:t>
                      </m:r>
                      <m:r>
                        <m:rPr>
                          <m:sty m:val="p"/>
                        </m:rPr>
                        <a:rPr lang="en-US" i="0" sz="1568">
                          <a:latin typeface="Cambria Math"/>
                        </a:rPr>
                        <m:t>|</m:t>
                      </m:r>
                      <m:r>
                        <m:rPr>
                          <m:sty m:val="i"/>
                        </m:rPr>
                        <a:rPr lang="en-US" i="1" sz="1568">
                          <a:latin typeface="Cambria Math"/>
                        </a:rPr>
                        <m:t>φ</m:t>
                      </m:r>
                      <m:r>
                        <m:rPr>
                          <m:sty m:val="p"/>
                        </m:rPr>
                        <a:rPr lang="en-US" i="0" sz="1568">
                          <a:latin typeface="Cambria Math"/>
                        </a:rPr>
                        <m:t>⟩</m:t>
                      </m:r>
                      <m:r>
                        <m:rPr>
                          <m:sty m:val="p"/>
                        </m:rPr>
                        <a:rPr lang="en-US" i="0" sz="1568">
                          <a:latin typeface="Cambria Math"/>
                        </a:rPr>
                        <m:t>.</m:t>
                      </m:r>
                    </m:oMath>
                  </m:oMathPara>
                </a14:m>
              </mc:Choice>
              <mc:Fallback>
                <a:r>
                  <a:rPr lang="en-US" sz="1567" i="1"/>
                  <a:t>
                    \left[-4E_C\frac{\partial^2}{\partial\varphi^2}-E_J\cos\varphi\right]|\varphi\rangle
                    =E|\varphi\rangle.
                    </a:t>
                </a:r>
              </mc:Fallback>
            </mc:AlternateContent>
          </a:p>
        </p:txBody>
      </p:sp>
      <p:sp>
        <p:nvSpPr>
          <p:cNvPr id="9" name="Rectangle 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1" name="TextBox 10"/>
          <p:cNvSpPr txBox="1"/>
          <p:nvPr/>
        </p:nvSpPr>
        <p:spPr>
          <a:xfrm>
            <a:off x="11223096" y="6565900"/>
            <a:ext cx="477837"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49 / 100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The Integer Spectrum of the Cooper-Pair Number</a:t>
            </a:r>
          </a:p>
        </p:txBody>
      </p:sp>
      <p:sp>
        <p:nvSpPr>
          <p:cNvPr id="6" name="TextBox 5"/>
          <p:cNvSpPr txBox="1"/>
          <p:nvPr/>
        </p:nvSpPr>
        <p:spPr>
          <a:xfrm>
            <a:off x="575733" y="1452827"/>
            <a:ext cx="11040533" cy="575998"/>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The Josephson phase is an angular variable defined modulo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2</m:t>
                    </m:r>
                    <m:r>
                      <m:rPr>
                        <m:sty m:val="i"/>
                      </m:rPr>
                      <a:rPr lang="en-US" i="1" sz="1665">
                        <a:latin typeface="Cambria Math"/>
                      </a:rPr>
                      <m:t>π</m:t>
                    </m:r>
                  </m:oMath>
                </a14:m>
              </mc:Choice>
              <mc:Fallback>
                <a:r>
                  <a:rPr lang="en-US" sz="1664" i="1"/>
                  <a:t>2\pi</a:t>
                </a:r>
              </mc:Fallback>
            </mc:AlternateContent>
            <a:r>
              <a:rPr sz="1400" b="0" i="0">
                <a:solidFill>
                  <a:srgbClr val="4F4C56"/>
                </a:solidFill>
                <a:latin typeface="Montserrat"/>
                <a:ea typeface="Montserrat"/>
                <a:cs typeface="Montserrat"/>
              </a:rPr>
              <a:t>, so the phase degree of freedom is compact,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φ</m:t>
                    </m:r>
                    <m:r>
                      <m:rPr>
                        <m:sty m:val="p"/>
                      </m:rPr>
                      <a:rPr lang="en-US" i="0" sz="1665">
                        <a:latin typeface="Cambria Math"/>
                      </a:rPr>
                      <m:t>∈</m:t>
                    </m:r>
                    <m:sSup>
                      <m:e>
                        <m:r>
                          <m:rPr>
                            <m:sty m:val="i"/>
                          </m:rPr>
                          <a:rPr lang="en-US" i="1" sz="1665">
                            <a:latin typeface="Cambria Math"/>
                          </a:rPr>
                          <m:t>S</m:t>
                        </m:r>
                      </m:e>
                      <m:sup>
                        <m:r>
                          <m:rPr>
                            <m:sty m:val="p"/>
                          </m:rPr>
                          <a:rPr lang="en-US" i="0" sz="1665">
                            <a:latin typeface="Cambria Math"/>
                          </a:rPr>
                          <m:t>1</m:t>
                        </m:r>
                      </m:sup>
                    </m:sSup>
                  </m:oMath>
                </a14:m>
              </mc:Choice>
              <mc:Fallback>
                <a:r>
                  <a:rPr lang="en-US" sz="1664" i="1"/>
                  <a:t>\varphi\in S^1</a:t>
                </a:r>
              </mc:Fallback>
            </mc:AlternateContent>
            <a:r>
              <a:rPr sz="1400" b="0" i="0">
                <a:solidFill>
                  <a:srgbClr val="4F4C56"/>
                </a:solidFill>
                <a:latin typeface="Montserrat"/>
                <a:ea typeface="Montserrat"/>
                <a:cs typeface="Montserrat"/>
              </a:rPr>
              <a:t>. The operator </a:t>
            </a:r>
            <mc:AlternateContent xmlns:mc="http://schemas.openxmlformats.org/markup-compatibility/2006">
              <mc:Choice xmlns:a14="http://schemas.microsoft.com/office/drawing/2010/main" Requires="a14">
                <a14:m>
                  <m:oMath xmlns:m="http://schemas.openxmlformats.org/officeDocument/2006/math">
                    <m:box>
                      <m:e>
                        <m:limUpp>
                          <m:e>
                            <m:r>
                              <m:rPr>
                                <m:sty m:val="i"/>
                              </m:rPr>
                              <a:rPr lang="en-US" i="1" sz="1665">
                                <a:latin typeface="Cambria Math"/>
                              </a:rPr>
                              <m:t>n</m:t>
                            </m:r>
                          </m:e>
                          <m:lim>
                            <m:r>
                              <m:rPr>
                                <m:sty m:val="p"/>
                              </m:rPr>
                              <a:rPr lang="en-US" i="0" sz="1665">
                                <a:latin typeface="Cambria Math"/>
                              </a:rPr>
                              <m:t>^</m:t>
                            </m:r>
                          </m:lim>
                        </m:limUpp>
                      </m:e>
                    </m:box>
                  </m:oMath>
                </a14:m>
              </mc:Choice>
              <mc:Fallback>
                <a:r>
                  <a:rPr lang="en-US" sz="1664" i="1"/>
                  <a:t>\hat{n}</a:t>
                </a:r>
              </mc:Fallback>
            </mc:AlternateContent>
            <a:r>
              <a:rPr sz="1400" b="0" i="0">
                <a:solidFill>
                  <a:srgbClr val="4F4C56"/>
                </a:solidFill>
                <a:latin typeface="Montserrat"/>
                <a:ea typeface="Montserrat"/>
                <a:cs typeface="Montserrat"/>
              </a:rPr>
              <a:t> generates phase translations. With </a:t>
            </a:r>
            <mc:AlternateContent xmlns:mc="http://schemas.openxmlformats.org/markup-compatibility/2006">
              <mc:Choice xmlns:a14="http://schemas.microsoft.com/office/drawing/2010/main" Requires="a14">
                <a14:m>
                  <m:oMath xmlns:m="http://schemas.openxmlformats.org/officeDocument/2006/math">
                    <m:box>
                      <m:e>
                        <m:limUpp>
                          <m:e>
                            <m:r>
                              <m:rPr>
                                <m:sty m:val="i"/>
                              </m:rPr>
                              <a:rPr lang="en-US" i="1" sz="1665">
                                <a:latin typeface="Cambria Math"/>
                              </a:rPr>
                              <m:t>U</m:t>
                            </m:r>
                          </m:e>
                          <m:lim>
                            <m:r>
                              <m:rPr>
                                <m:sty m:val="p"/>
                              </m:rPr>
                              <a:rPr lang="en-US" i="0" sz="1665">
                                <a:latin typeface="Cambria Math"/>
                              </a:rPr>
                              <m:t>^</m:t>
                            </m:r>
                          </m:lim>
                        </m:limUpp>
                      </m:e>
                    </m:box>
                    <m:r>
                      <m:rPr>
                        <m:sty m:val="p"/>
                      </m:rPr>
                      <a:rPr lang="en-US" i="0" sz="1665">
                        <a:latin typeface="Cambria Math"/>
                      </a:rPr>
                      <m:t>(</m:t>
                    </m:r>
                    <m:r>
                      <m:rPr>
                        <m:sty m:val="i"/>
                      </m:rPr>
                      <a:rPr lang="en-US" i="1" sz="1665">
                        <a:latin typeface="Cambria Math"/>
                      </a:rPr>
                      <m:t>α</m:t>
                    </m:r>
                    <m:r>
                      <m:rPr>
                        <m:sty m:val="p"/>
                      </m:rPr>
                      <a:rPr lang="en-US" i="0" sz="1665">
                        <a:latin typeface="Cambria Math"/>
                      </a:rPr>
                      <m:t>)</m:t>
                    </m:r>
                    <m:r>
                      <m:rPr>
                        <m:sty m:val="p"/>
                      </m:rPr>
                      <a:rPr lang="en-US" i="0" sz="1665">
                        <a:latin typeface="Cambria Math"/>
                      </a:rPr>
                      <m:t>=</m:t>
                    </m:r>
                    <m:sSup>
                      <m:e>
                        <m:r>
                          <m:rPr>
                            <m:sty m:val="i"/>
                          </m:rPr>
                          <a:rPr lang="en-US" i="1" sz="1665">
                            <a:latin typeface="Cambria Math"/>
                          </a:rPr>
                          <m:t>e</m:t>
                        </m:r>
                      </m:e>
                      <m:sup>
                        <m:box>
                          <m:e>
                            <m:r>
                              <m:rPr>
                                <m:sty m:val="p"/>
                              </m:rPr>
                              <a:rPr lang="en-US" i="0" sz="1665">
                                <a:latin typeface="Cambria Math"/>
                              </a:rPr>
                              <m:t>−</m:t>
                            </m:r>
                            <m:r>
                              <m:rPr>
                                <m:sty m:val="i"/>
                              </m:rPr>
                              <a:rPr lang="en-US" i="1" sz="1665">
                                <a:latin typeface="Cambria Math"/>
                              </a:rPr>
                              <m:t>i</m:t>
                            </m:r>
                            <m:r>
                              <m:rPr>
                                <m:sty m:val="i"/>
                              </m:rPr>
                              <a:rPr lang="en-US" i="1" sz="1665">
                                <a:latin typeface="Cambria Math"/>
                              </a:rPr>
                              <m:t>α</m:t>
                            </m:r>
                            <m:box>
                              <m:e>
                                <m:limUpp>
                                  <m:e>
                                    <m:r>
                                      <m:rPr>
                                        <m:sty m:val="i"/>
                                      </m:rPr>
                                      <a:rPr lang="en-US" i="1" sz="1665">
                                        <a:latin typeface="Cambria Math"/>
                                      </a:rPr>
                                      <m:t>n</m:t>
                                    </m:r>
                                  </m:e>
                                  <m:lim>
                                    <m:r>
                                      <m:rPr>
                                        <m:sty m:val="p"/>
                                      </m:rPr>
                                      <a:rPr lang="en-US" i="0" sz="1665">
                                        <a:latin typeface="Cambria Math"/>
                                      </a:rPr>
                                      <m:t>^</m:t>
                                    </m:r>
                                  </m:lim>
                                </m:limUpp>
                              </m:e>
                            </m:box>
                          </m:e>
                        </m:box>
                      </m:sup>
                    </m:sSup>
                  </m:oMath>
                </a14:m>
              </mc:Choice>
              <mc:Fallback>
                <a:r>
                  <a:rPr lang="en-US" sz="1664" i="1"/>
                  <a:t>\hat{U}(\alpha)=e^{-i\alpha\hat{n}}</a:t>
                </a:r>
              </mc:Fallback>
            </mc:AlternateContent>
            <a:r>
              <a:rPr sz="1400" b="0" i="0">
                <a:solidFill>
                  <a:srgbClr val="4F4C56"/>
                </a:solidFill>
                <a:latin typeface="Montserrat"/>
                <a:ea typeface="Montserrat"/>
                <a:cs typeface="Montserrat"/>
              </a:rPr>
              <a:t> and the Baker–Campbell–Hausdorff relation:</a:t>
            </a:r>
          </a:p>
        </p:txBody>
      </p:sp>
      <p:sp>
        <p:nvSpPr>
          <p:cNvPr id="7" name="equation"/>
          <p:cNvSpPr txBox="1"/>
          <p:nvPr/>
        </p:nvSpPr>
        <p:spPr>
          <a:xfrm>
            <a:off x="575733" y="2181225"/>
            <a:ext cx="11040533" cy="258895"/>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p>
                        <m:e>
                          <m:box>
                            <m:e>
                              <m:limUpp>
                                <m:e>
                                  <m:r>
                                    <m:rPr>
                                      <m:sty m:val="i"/>
                                    </m:rPr>
                                    <a:rPr lang="en-US" i="1" sz="1568">
                                      <a:latin typeface="Cambria Math"/>
                                    </a:rPr>
                                    <m:t>U</m:t>
                                  </m:r>
                                </m:e>
                                <m:lim>
                                  <m:r>
                                    <m:rPr>
                                      <m:sty m:val="p"/>
                                    </m:rPr>
                                    <a:rPr lang="en-US" i="0" sz="1568">
                                      <a:latin typeface="Cambria Math"/>
                                    </a:rPr>
                                    <m:t>^</m:t>
                                  </m:r>
                                </m:lim>
                              </m:limUpp>
                            </m:e>
                          </m:box>
                        </m:e>
                        <m:sup>
                          <m:box>
                            <m:e>
                              <m:r>
                                <m:rPr>
                                  <m:sty m:val="p"/>
                                </m:rPr>
                                <a:rPr lang="en-US" i="0" sz="1568">
                                  <a:latin typeface="Cambria Math"/>
                                </a:rPr>
                                <m:t>†</m:t>
                              </m:r>
                            </m:e>
                          </m:box>
                        </m:sup>
                      </m:sSup>
                      <m:r>
                        <m:rPr>
                          <m:sty m:val="p"/>
                        </m:rPr>
                        <a:rPr lang="en-US" i="0" sz="1568">
                          <a:latin typeface="Cambria Math"/>
                        </a:rPr>
                        <m:t>(</m:t>
                      </m:r>
                      <m:r>
                        <m:rPr>
                          <m:sty m:val="i"/>
                        </m:rPr>
                        <a:rPr lang="en-US" i="1" sz="1568">
                          <a:latin typeface="Cambria Math"/>
                        </a:rPr>
                        <m:t>α</m:t>
                      </m:r>
                      <m:r>
                        <m:rPr>
                          <m:sty m:val="p"/>
                        </m:rPr>
                        <a:rPr lang="en-US" i="0" sz="1568">
                          <a:latin typeface="Cambria Math"/>
                        </a:rPr>
                        <m:t>)</m:t>
                      </m:r>
                      <m:box>
                        <m:e>
                          <m:limUpp>
                            <m:e>
                              <m:r>
                                <m:rPr>
                                  <m:sty m:val="i"/>
                                </m:rPr>
                                <a:rPr lang="en-US" i="1" sz="1568">
                                  <a:latin typeface="Cambria Math"/>
                                </a:rPr>
                                <m:t>φ</m:t>
                              </m:r>
                            </m:e>
                            <m:lim>
                              <m:r>
                                <m:rPr>
                                  <m:sty m:val="p"/>
                                </m:rPr>
                                <a:rPr lang="en-US" i="0" sz="1568">
                                  <a:latin typeface="Cambria Math"/>
                                </a:rPr>
                                <m:t>^</m:t>
                              </m:r>
                            </m:lim>
                          </m:limUpp>
                        </m:e>
                      </m:box>
                      <m:box>
                        <m:e>
                          <m:limUpp>
                            <m:e>
                              <m:r>
                                <m:rPr>
                                  <m:sty m:val="i"/>
                                </m:rPr>
                                <a:rPr lang="en-US" i="1" sz="1568">
                                  <a:latin typeface="Cambria Math"/>
                                </a:rPr>
                                <m:t>U</m:t>
                              </m:r>
                            </m:e>
                            <m:lim>
                              <m:r>
                                <m:rPr>
                                  <m:sty m:val="p"/>
                                </m:rPr>
                                <a:rPr lang="en-US" i="0" sz="1568">
                                  <a:latin typeface="Cambria Math"/>
                                </a:rPr>
                                <m:t>^</m:t>
                              </m:r>
                            </m:lim>
                          </m:limUpp>
                        </m:e>
                      </m:box>
                      <m:r>
                        <m:rPr>
                          <m:sty m:val="p"/>
                        </m:rPr>
                        <a:rPr lang="en-US" i="0" sz="1568">
                          <a:latin typeface="Cambria Math"/>
                        </a:rPr>
                        <m:t>(</m:t>
                      </m:r>
                      <m:r>
                        <m:rPr>
                          <m:sty m:val="i"/>
                        </m:rPr>
                        <a:rPr lang="en-US" i="1" sz="1568">
                          <a:latin typeface="Cambria Math"/>
                        </a:rPr>
                        <m:t>α</m:t>
                      </m:r>
                      <m:r>
                        <m:rPr>
                          <m:sty m:val="p"/>
                        </m:rPr>
                        <a:rPr lang="en-US" i="0" sz="1568">
                          <a:latin typeface="Cambria Math"/>
                        </a:rPr>
                        <m:t>)</m:t>
                      </m:r>
                      <m:r>
                        <m:rPr>
                          <m:sty m:val="p"/>
                        </m:rPr>
                        <a:rPr lang="en-US" i="0" sz="1568">
                          <a:latin typeface="Cambria Math"/>
                        </a:rPr>
                        <m:t>=</m:t>
                      </m:r>
                      <m:box>
                        <m:e>
                          <m:limUpp>
                            <m:e>
                              <m:r>
                                <m:rPr>
                                  <m:sty m:val="i"/>
                                </m:rPr>
                                <a:rPr lang="en-US" i="1" sz="1568">
                                  <a:latin typeface="Cambria Math"/>
                                </a:rPr>
                                <m:t>φ</m:t>
                              </m:r>
                            </m:e>
                            <m:lim>
                              <m:r>
                                <m:rPr>
                                  <m:sty m:val="p"/>
                                </m:rPr>
                                <a:rPr lang="en-US" i="0" sz="1568">
                                  <a:latin typeface="Cambria Math"/>
                                </a:rPr>
                                <m:t>^</m:t>
                              </m:r>
                            </m:lim>
                          </m:limUpp>
                        </m:e>
                      </m:box>
                      <m:r>
                        <m:rPr>
                          <m:sty m:val="p"/>
                        </m:rPr>
                        <a:rPr lang="en-US" i="0" sz="1568">
                          <a:latin typeface="Cambria Math"/>
                        </a:rPr>
                        <m:t>+</m:t>
                      </m:r>
                      <m:r>
                        <m:rPr>
                          <m:sty m:val="i"/>
                        </m:rPr>
                        <a:rPr lang="en-US" i="1" sz="1568">
                          <a:latin typeface="Cambria Math"/>
                        </a:rPr>
                        <m:t>i</m:t>
                      </m:r>
                      <m:r>
                        <m:rPr>
                          <m:sty m:val="i"/>
                        </m:rPr>
                        <a:rPr lang="en-US" i="1" sz="1568">
                          <a:latin typeface="Cambria Math"/>
                        </a:rPr>
                        <m:t>α</m:t>
                      </m:r>
                      <m:r>
                        <m:rPr>
                          <m:sty m:val="p"/>
                        </m:rPr>
                        <a:rPr lang="en-US" i="0" sz="1568">
                          <a:latin typeface="Cambria Math"/>
                        </a:rPr>
                        <m:t>[</m:t>
                      </m:r>
                      <m:box>
                        <m:e>
                          <m:limUpp>
                            <m:e>
                              <m:r>
                                <m:rPr>
                                  <m:sty m:val="i"/>
                                </m:rPr>
                                <a:rPr lang="en-US" i="1" sz="1568">
                                  <a:latin typeface="Cambria Math"/>
                                </a:rPr>
                                <m:t>n</m:t>
                              </m:r>
                            </m:e>
                            <m:lim>
                              <m:r>
                                <m:rPr>
                                  <m:sty m:val="p"/>
                                </m:rPr>
                                <a:rPr lang="en-US" i="0" sz="1568">
                                  <a:latin typeface="Cambria Math"/>
                                </a:rPr>
                                <m:t>^</m:t>
                              </m:r>
                            </m:lim>
                          </m:limUpp>
                        </m:e>
                      </m:box>
                      <m:r>
                        <m:rPr>
                          <m:sty m:val="p"/>
                        </m:rPr>
                        <a:rPr lang="en-US" i="0" sz="1568">
                          <a:latin typeface="Cambria Math"/>
                        </a:rPr>
                        <m:t>,</m:t>
                      </m:r>
                      <m:box>
                        <m:e>
                          <m:limUpp>
                            <m:e>
                              <m:r>
                                <m:rPr>
                                  <m:sty m:val="i"/>
                                </m:rPr>
                                <a:rPr lang="en-US" i="1" sz="1568">
                                  <a:latin typeface="Cambria Math"/>
                                </a:rPr>
                                <m:t>φ</m:t>
                              </m:r>
                            </m:e>
                            <m:lim>
                              <m:r>
                                <m:rPr>
                                  <m:sty m:val="p"/>
                                </m:rPr>
                                <a:rPr lang="en-US" i="0" sz="1568">
                                  <a:latin typeface="Cambria Math"/>
                                </a:rPr>
                                <m:t>^</m:t>
                              </m:r>
                            </m:lim>
                          </m:limUpp>
                        </m:e>
                      </m:box>
                      <m:r>
                        <m:rPr>
                          <m:sty m:val="p"/>
                        </m:rPr>
                        <a:rPr lang="en-US" i="0" sz="1568">
                          <a:latin typeface="Cambria Math"/>
                        </a:rPr>
                        <m:t>]</m:t>
                      </m:r>
                      <m:r>
                        <m:rPr>
                          <m:sty m:val="p"/>
                        </m:rPr>
                        <a:rPr lang="en-US" i="0" sz="1568">
                          <a:latin typeface="Cambria Math"/>
                        </a:rPr>
                        <m:t>=</m:t>
                      </m:r>
                      <m:box>
                        <m:e>
                          <m:limUpp>
                            <m:e>
                              <m:r>
                                <m:rPr>
                                  <m:sty m:val="i"/>
                                </m:rPr>
                                <a:rPr lang="en-US" i="1" sz="1568">
                                  <a:latin typeface="Cambria Math"/>
                                </a:rPr>
                                <m:t>φ</m:t>
                              </m:r>
                            </m:e>
                            <m:lim>
                              <m:r>
                                <m:rPr>
                                  <m:sty m:val="p"/>
                                </m:rPr>
                                <a:rPr lang="en-US" i="0" sz="1568">
                                  <a:latin typeface="Cambria Math"/>
                                </a:rPr>
                                <m:t>^</m:t>
                              </m:r>
                            </m:lim>
                          </m:limUpp>
                        </m:e>
                      </m:box>
                      <m:r>
                        <m:rPr>
                          <m:sty m:val="p"/>
                        </m:rPr>
                        <a:rPr lang="en-US" i="0" sz="1568">
                          <a:latin typeface="Cambria Math"/>
                        </a:rPr>
                        <m:t>+</m:t>
                      </m:r>
                      <m:r>
                        <m:rPr>
                          <m:sty m:val="i"/>
                        </m:rPr>
                        <a:rPr lang="en-US" i="1" sz="1568">
                          <a:latin typeface="Cambria Math"/>
                        </a:rPr>
                        <m:t>α</m:t>
                      </m:r>
                      <m:r>
                        <m:rPr>
                          <m:sty m:val="p"/>
                        </m:rPr>
                        <a:rPr lang="en-US" i="0" sz="1568">
                          <a:latin typeface="Cambria Math"/>
                        </a:rPr>
                        <m:t>,</m:t>
                      </m:r>
                      <m:box>
                        <m:e>
                          <m:r>
                            <a:rPr lang="en-US" i="1" sz="1568">
                              <a:latin typeface="Cambria Math"/>
                            </a:rPr>
                            <m:t/>
                          </m:r>
                        </m:e>
                      </m:box>
                      <m:r>
                        <m:rPr>
                          <m:sty m:val="p"/>
                        </m:rPr>
                        <a:rPr lang="en-US" i="0" sz="1568">
                          <a:latin typeface="Cambria Math"/>
                        </a:rPr>
                        <m:t>[</m:t>
                      </m:r>
                      <m:box>
                        <m:e>
                          <m:limUpp>
                            <m:e>
                              <m:r>
                                <m:rPr>
                                  <m:sty m:val="i"/>
                                </m:rPr>
                                <a:rPr lang="en-US" i="1" sz="1568">
                                  <a:latin typeface="Cambria Math"/>
                                </a:rPr>
                                <m:t>n</m:t>
                              </m:r>
                            </m:e>
                            <m:lim>
                              <m:r>
                                <m:rPr>
                                  <m:sty m:val="p"/>
                                </m:rPr>
                                <a:rPr lang="en-US" i="0" sz="1568">
                                  <a:latin typeface="Cambria Math"/>
                                </a:rPr>
                                <m:t>^</m:t>
                              </m:r>
                            </m:lim>
                          </m:limUpp>
                        </m:e>
                      </m:box>
                      <m:r>
                        <m:rPr>
                          <m:sty m:val="p"/>
                        </m:rPr>
                        <a:rPr lang="en-US" i="0" sz="1568">
                          <a:latin typeface="Cambria Math"/>
                        </a:rPr>
                        <m:t>,</m:t>
                      </m:r>
                      <m:box>
                        <m:e>
                          <m:limUpp>
                            <m:e>
                              <m:r>
                                <m:rPr>
                                  <m:sty m:val="i"/>
                                </m:rPr>
                                <a:rPr lang="en-US" i="1" sz="1568">
                                  <a:latin typeface="Cambria Math"/>
                                </a:rPr>
                                <m:t>φ</m:t>
                              </m:r>
                            </m:e>
                            <m:lim>
                              <m:r>
                                <m:rPr>
                                  <m:sty m:val="p"/>
                                </m:rPr>
                                <a:rPr lang="en-US" i="0" sz="1568">
                                  <a:latin typeface="Cambria Math"/>
                                </a:rPr>
                                <m:t>^</m:t>
                              </m:r>
                            </m:lim>
                          </m:limUpp>
                        </m:e>
                      </m:box>
                      <m:r>
                        <m:rPr>
                          <m:sty m:val="p"/>
                        </m:rPr>
                        <a:rPr lang="en-US" i="0" sz="1568">
                          <a:latin typeface="Cambria Math"/>
                        </a:rPr>
                        <m:t>]</m:t>
                      </m:r>
                      <m:r>
                        <m:rPr>
                          <m:sty m:val="p"/>
                        </m:rPr>
                        <a:rPr lang="en-US" i="0" sz="1568">
                          <a:latin typeface="Cambria Math"/>
                        </a:rPr>
                        <m:t>=</m:t>
                      </m:r>
                      <m:r>
                        <m:rPr>
                          <m:sty m:val="p"/>
                        </m:rPr>
                        <a:rPr lang="en-US" i="0" sz="1568">
                          <a:latin typeface="Cambria Math"/>
                        </a:rPr>
                        <m:t>−</m:t>
                      </m:r>
                      <m:r>
                        <m:rPr>
                          <m:sty m:val="i"/>
                        </m:rPr>
                        <a:rPr lang="en-US" i="1" sz="1568">
                          <a:latin typeface="Cambria Math"/>
                        </a:rPr>
                        <m:t>i</m:t>
                      </m:r>
                      <m:r>
                        <m:rPr>
                          <m:sty m:val="p"/>
                        </m:rPr>
                        <a:rPr lang="en-US" i="0" sz="1568">
                          <a:latin typeface="Cambria Math"/>
                        </a:rPr>
                        <m:t>.</m:t>
                      </m:r>
                    </m:oMath>
                  </m:oMathPara>
                </a14:m>
              </mc:Choice>
              <mc:Fallback>
                <a:r>
                  <a:rPr lang="en-US" sz="1567" i="1"/>
                  <a:t>
                \hat{U}^{\dagger}(\alpha)\hat{\varphi}\hat{U}(\alpha)
                =\hat{\varphi}+i\alpha[\hat{n},\hat{\varphi}]
                =\hat{\varphi}+\alpha,
                \qquad [\hat{n},\hat{\varphi}]=-i.
                </a:t>
                </a:r>
              </mc:Fallback>
            </mc:AlternateContent>
          </a:p>
        </p:txBody>
      </p:sp>
      <p:sp>
        <p:nvSpPr>
          <p:cNvPr id="8" name="Rounded Rectangle 7"/>
          <p:cNvSpPr/>
          <p:nvPr/>
        </p:nvSpPr>
        <p:spPr>
          <a:xfrm>
            <a:off x="575733" y="2592520"/>
            <a:ext cx="11040533" cy="766895"/>
          </a:xfrm>
          <a:prstGeom prst="roundRect">
            <a:avLst>
              <a:gd name="adj" fmla="val 8832"/>
            </a:avLst>
          </a:prstGeom>
          <a:solidFill>
            <a:srgbClr val="FEF9E7"/>
          </a:solidFill>
          <a:ln w="16933">
            <a:solidFill>
              <a:srgbClr val="F0C0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quation"/>
          <p:cNvSpPr txBox="1"/>
          <p:nvPr/>
        </p:nvSpPr>
        <p:spPr>
          <a:xfrm>
            <a:off x="711200" y="2846520"/>
            <a:ext cx="10769600" cy="258895"/>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box>
                            <m:e>
                              <m:limUpp>
                                <m:e>
                                  <m:r>
                                    <m:rPr>
                                      <m:sty m:val="i"/>
                                    </m:rPr>
                                    <a:rPr lang="en-US" i="1" sz="1568">
                                      <a:latin typeface="Cambria Math"/>
                                    </a:rPr>
                                    <m:t>U</m:t>
                                  </m:r>
                                </m:e>
                                <m:lim>
                                  <m:r>
                                    <m:rPr>
                                      <m:sty m:val="p"/>
                                    </m:rPr>
                                    <a:rPr lang="en-US" i="0" sz="1568">
                                      <a:latin typeface="Cambria Math"/>
                                    </a:rPr>
                                    <m:t>^</m:t>
                                  </m:r>
                                </m:lim>
                              </m:limUpp>
                            </m:e>
                          </m:box>
                          <m:r>
                            <m:rPr>
                              <m:sty m:val="p"/>
                            </m:rPr>
                            <a:rPr lang="en-US" i="0" sz="1568">
                              <a:latin typeface="Cambria Math"/>
                            </a:rPr>
                            <m:t>(</m:t>
                          </m:r>
                          <m:r>
                            <m:rPr>
                              <m:sty m:val="i"/>
                            </m:rPr>
                            <a:rPr lang="en-US" i="1" sz="1568">
                              <a:latin typeface="Cambria Math"/>
                            </a:rPr>
                            <m:t>α</m:t>
                          </m:r>
                          <m:r>
                            <m:rPr>
                              <m:sty m:val="p"/>
                            </m:rPr>
                            <a:rPr lang="en-US" i="0" sz="1568">
                              <a:latin typeface="Cambria Math"/>
                            </a:rPr>
                            <m:t>)</m:t>
                          </m:r>
                          <m:r>
                            <m:rPr>
                              <m:sty m:val="p"/>
                            </m:rPr>
                            <a:rPr lang="en-US" i="0" sz="1568">
                              <a:latin typeface="Cambria Math"/>
                            </a:rPr>
                            <m:t>|</m:t>
                          </m:r>
                          <m:r>
                            <m:rPr>
                              <m:sty m:val="i"/>
                            </m:rPr>
                            <a:rPr lang="en-US" i="1" sz="1568">
                              <a:latin typeface="Cambria Math"/>
                            </a:rPr>
                            <m:t>φ</m:t>
                          </m:r>
                          <m:r>
                            <m:rPr>
                              <m:sty m:val="p"/>
                            </m:rPr>
                            <a:rPr lang="en-US" i="0" sz="1568">
                              <a:latin typeface="Cambria Math"/>
                            </a:rPr>
                            <m:t>⟩</m:t>
                          </m:r>
                          <m:r>
                            <m:rPr>
                              <m:sty m:val="p"/>
                            </m:rPr>
                            <a:rPr lang="en-US" i="0" sz="1568">
                              <a:latin typeface="Cambria Math"/>
                            </a:rPr>
                            <m:t>=</m:t>
                          </m:r>
                          <m:sSup>
                            <m:e>
                              <m:r>
                                <m:rPr>
                                  <m:sty m:val="i"/>
                                </m:rPr>
                                <a:rPr lang="en-US" i="1" sz="1568">
                                  <a:latin typeface="Cambria Math"/>
                                </a:rPr>
                                <m:t>e</m:t>
                              </m:r>
                            </m:e>
                            <m:sup>
                              <m:box>
                                <m:e>
                                  <m:r>
                                    <m:rPr>
                                      <m:sty m:val="p"/>
                                    </m:rPr>
                                    <a:rPr lang="en-US" i="0" sz="1568">
                                      <a:latin typeface="Cambria Math"/>
                                    </a:rPr>
                                    <m:t>−</m:t>
                                  </m:r>
                                  <m:r>
                                    <m:rPr>
                                      <m:sty m:val="i"/>
                                    </m:rPr>
                                    <a:rPr lang="en-US" i="1" sz="1568">
                                      <a:latin typeface="Cambria Math"/>
                                    </a:rPr>
                                    <m:t>i</m:t>
                                  </m:r>
                                  <m:r>
                                    <m:rPr>
                                      <m:sty m:val="i"/>
                                    </m:rPr>
                                    <a:rPr lang="en-US" i="1" sz="1568">
                                      <a:latin typeface="Cambria Math"/>
                                    </a:rPr>
                                    <m:t>α</m:t>
                                  </m:r>
                                  <m:box>
                                    <m:e>
                                      <m:limUpp>
                                        <m:e>
                                          <m:r>
                                            <m:rPr>
                                              <m:sty m:val="i"/>
                                            </m:rPr>
                                            <a:rPr lang="en-US" i="1" sz="1568">
                                              <a:latin typeface="Cambria Math"/>
                                            </a:rPr>
                                            <m:t>n</m:t>
                                          </m:r>
                                        </m:e>
                                        <m:lim>
                                          <m:r>
                                            <m:rPr>
                                              <m:sty m:val="p"/>
                                            </m:rPr>
                                            <a:rPr lang="en-US" i="0" sz="1568">
                                              <a:latin typeface="Cambria Math"/>
                                            </a:rPr>
                                            <m:t>^</m:t>
                                          </m:r>
                                        </m:lim>
                                      </m:limUpp>
                                    </m:e>
                                  </m:box>
                                </m:e>
                              </m:box>
                            </m:sup>
                          </m:sSup>
                          <m:r>
                            <m:rPr>
                              <m:sty m:val="p"/>
                            </m:rPr>
                            <a:rPr lang="en-US" i="0" sz="1568">
                              <a:latin typeface="Cambria Math"/>
                            </a:rPr>
                            <m:t>|</m:t>
                          </m:r>
                          <m:r>
                            <m:rPr>
                              <m:sty m:val="i"/>
                            </m:rPr>
                            <a:rPr lang="en-US" i="1" sz="1568">
                              <a:latin typeface="Cambria Math"/>
                            </a:rPr>
                            <m:t>φ</m:t>
                          </m:r>
                          <m:r>
                            <m:rPr>
                              <m:sty m:val="p"/>
                            </m:rPr>
                            <a:rPr lang="en-US" i="0" sz="1568">
                              <a:latin typeface="Cambria Math"/>
                            </a:rPr>
                            <m:t>⟩</m:t>
                          </m:r>
                          <m:r>
                            <m:rPr>
                              <m:sty m:val="p"/>
                            </m:rPr>
                            <a:rPr lang="en-US" i="0" sz="1568">
                              <a:latin typeface="Cambria Math"/>
                            </a:rPr>
                            <m:t>=</m:t>
                          </m:r>
                          <m:r>
                            <m:rPr>
                              <m:sty m:val="p"/>
                            </m:rPr>
                            <a:rPr lang="en-US" i="0" sz="1568">
                              <a:latin typeface="Cambria Math"/>
                            </a:rPr>
                            <m:t>|</m:t>
                          </m:r>
                          <m:r>
                            <m:rPr>
                              <m:sty m:val="i"/>
                            </m:rPr>
                            <a:rPr lang="en-US" i="1" sz="1568">
                              <a:latin typeface="Cambria Math"/>
                            </a:rPr>
                            <m:t>φ</m:t>
                          </m:r>
                          <m:r>
                            <m:rPr>
                              <m:sty m:val="p"/>
                            </m:rPr>
                            <a:rPr lang="en-US" i="0" sz="1568">
                              <a:latin typeface="Cambria Math"/>
                            </a:rPr>
                            <m:t>+</m:t>
                          </m:r>
                          <m:r>
                            <m:rPr>
                              <m:sty m:val="i"/>
                            </m:rPr>
                            <a:rPr lang="en-US" i="1" sz="1568">
                              <a:latin typeface="Cambria Math"/>
                            </a:rPr>
                            <m:t>α</m:t>
                          </m:r>
                          <m:r>
                            <m:rPr>
                              <m:sty m:val="p"/>
                            </m:rPr>
                            <a:rPr lang="en-US" i="0" sz="1568">
                              <a:latin typeface="Cambria Math"/>
                            </a:rPr>
                            <m:t>⟩</m:t>
                          </m:r>
                        </m:e>
                      </m:box>
                      <m:r>
                        <m:rPr>
                          <m:sty m:val="p"/>
                        </m:rPr>
                        <a:rPr lang="en-US" i="0" sz="1568">
                          <a:latin typeface="Cambria Math"/>
                        </a:rPr>
                        <m:t>.</m:t>
                      </m:r>
                    </m:oMath>
                  </m:oMathPara>
                </a14:m>
              </mc:Choice>
              <mc:Fallback>
                <a:r>
                  <a:rPr lang="en-US" sz="1567" i="1"/>
                  <a:t>
                    {\hat{U}(\alpha)|\varphi\rangle=e^{-i\alpha\hat{n}}|\varphi\rangle=|\varphi+\alpha\rangle}.
                    </a:t>
                </a:r>
              </mc:Fallback>
            </mc:AlternateContent>
          </a:p>
        </p:txBody>
      </p:sp>
      <p:sp>
        <p:nvSpPr>
          <p:cNvPr id="10" name="TextBox 9"/>
          <p:cNvSpPr txBox="1"/>
          <p:nvPr/>
        </p:nvSpPr>
        <p:spPr>
          <a:xfrm>
            <a:off x="575733" y="3461015"/>
            <a:ext cx="11040533" cy="551656"/>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Because the phase is an angular variable, a translation by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2</m:t>
                    </m:r>
                    <m:r>
                      <m:rPr>
                        <m:sty m:val="i"/>
                      </m:rPr>
                      <a:rPr lang="en-US" i="1" sz="1665">
                        <a:latin typeface="Cambria Math"/>
                      </a:rPr>
                      <m:t>π</m:t>
                    </m:r>
                  </m:oMath>
                </a14:m>
              </mc:Choice>
              <mc:Fallback>
                <a:r>
                  <a:rPr lang="en-US" sz="1664" i="1"/>
                  <a:t>2\pi</a:t>
                </a:r>
              </mc:Fallback>
            </mc:AlternateContent>
            <a:r>
              <a:rPr sz="1400" b="0" i="0">
                <a:solidFill>
                  <a:srgbClr val="4F4C56"/>
                </a:solidFill>
                <a:latin typeface="Montserrat"/>
                <a:ea typeface="Montserrat"/>
                <a:cs typeface="Montserrat"/>
              </a:rPr>
              <a:t> returns to the same physical phase,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r>
                      <m:rPr>
                        <m:sty m:val="i"/>
                      </m:rPr>
                      <a:rPr lang="en-US" i="1" sz="1665">
                        <a:latin typeface="Cambria Math"/>
                      </a:rPr>
                      <m:t>φ</m:t>
                    </m:r>
                    <m:r>
                      <m:rPr>
                        <m:sty m:val="p"/>
                      </m:rPr>
                      <a:rPr lang="en-US" i="0" sz="1665">
                        <a:latin typeface="Cambria Math"/>
                      </a:rPr>
                      <m:t>+</m:t>
                    </m:r>
                    <m:r>
                      <m:rPr>
                        <m:sty m:val="p"/>
                      </m:rPr>
                      <a:rPr lang="en-US" i="0" sz="1665">
                        <a:latin typeface="Cambria Math"/>
                      </a:rPr>
                      <m:t>2</m:t>
                    </m:r>
                    <m:r>
                      <m:rPr>
                        <m:sty m:val="i"/>
                      </m:rPr>
                      <a:rPr lang="en-US" i="1" sz="1665">
                        <a:latin typeface="Cambria Math"/>
                      </a:rPr>
                      <m:t>π</m:t>
                    </m:r>
                    <m:r>
                      <m:rPr>
                        <m:sty m:val="p"/>
                      </m:rPr>
                      <a:rPr lang="en-US" i="0" sz="1665">
                        <a:latin typeface="Cambria Math"/>
                      </a:rPr>
                      <m:t>⟩</m:t>
                    </m:r>
                    <m:r>
                      <m:rPr>
                        <m:sty m:val="p"/>
                      </m:rPr>
                      <a:rPr lang="en-US" i="0" sz="1665">
                        <a:latin typeface="Cambria Math"/>
                      </a:rPr>
                      <m:t>=</m:t>
                    </m:r>
                    <m:r>
                      <m:rPr>
                        <m:sty m:val="p"/>
                      </m:rPr>
                      <a:rPr lang="en-US" i="0" sz="1665">
                        <a:latin typeface="Cambria Math"/>
                      </a:rPr>
                      <m:t>|</m:t>
                    </m:r>
                    <m:r>
                      <m:rPr>
                        <m:sty m:val="i"/>
                      </m:rPr>
                      <a:rPr lang="en-US" i="1" sz="1665">
                        <a:latin typeface="Cambria Math"/>
                      </a:rPr>
                      <m:t>φ</m:t>
                    </m:r>
                    <m:r>
                      <m:rPr>
                        <m:sty m:val="p"/>
                      </m:rPr>
                      <a:rPr lang="en-US" i="0" sz="1665">
                        <a:latin typeface="Cambria Math"/>
                      </a:rPr>
                      <m:t>⟩</m:t>
                    </m:r>
                  </m:oMath>
                </a14:m>
              </mc:Choice>
              <mc:Fallback>
                <a:r>
                  <a:rPr lang="en-US" sz="1664" i="1"/>
                  <a:t>|\varphi+2\pi\rangle=|\varphi\rangle</a:t>
                </a:r>
              </mc:Fallback>
            </mc:AlternateContent>
            <a:r>
              <a:rPr sz="1400" b="0" i="0">
                <a:solidFill>
                  <a:srgbClr val="4F4C56"/>
                </a:solidFill>
                <a:latin typeface="Montserrat"/>
                <a:ea typeface="Montserrat"/>
                <a:cs typeface="Montserrat"/>
              </a:rPr>
              <a:t>. Hence </a:t>
            </a:r>
            <mc:AlternateContent xmlns:mc="http://schemas.openxmlformats.org/markup-compatibility/2006">
              <mc:Choice xmlns:a14="http://schemas.microsoft.com/office/drawing/2010/main" Requires="a14">
                <a14:m>
                  <m:oMath xmlns:m="http://schemas.openxmlformats.org/officeDocument/2006/math">
                    <m:sSup>
                      <m:e>
                        <m:r>
                          <m:rPr>
                            <m:sty m:val="i"/>
                          </m:rPr>
                          <a:rPr lang="en-US" i="1" sz="1665">
                            <a:latin typeface="Cambria Math"/>
                          </a:rPr>
                          <m:t>e</m:t>
                        </m:r>
                      </m:e>
                      <m:sup>
                        <m:box>
                          <m:e>
                            <m:r>
                              <m:rPr>
                                <m:sty m:val="p"/>
                              </m:rPr>
                              <a:rPr lang="en-US" i="0" sz="1665">
                                <a:latin typeface="Cambria Math"/>
                              </a:rPr>
                              <m:t>−</m:t>
                            </m:r>
                            <m:r>
                              <m:rPr>
                                <m:sty m:val="i"/>
                              </m:rPr>
                              <a:rPr lang="en-US" i="1" sz="1665">
                                <a:latin typeface="Cambria Math"/>
                              </a:rPr>
                              <m:t>i</m:t>
                            </m:r>
                            <m:r>
                              <m:rPr>
                                <m:sty m:val="p"/>
                              </m:rPr>
                              <a:rPr lang="en-US" i="0" sz="1665">
                                <a:latin typeface="Cambria Math"/>
                              </a:rPr>
                              <m:t>2</m:t>
                            </m:r>
                            <m:r>
                              <m:rPr>
                                <m:sty m:val="i"/>
                              </m:rPr>
                              <a:rPr lang="en-US" i="1" sz="1665">
                                <a:latin typeface="Cambria Math"/>
                              </a:rPr>
                              <m:t>π</m:t>
                            </m:r>
                            <m:box>
                              <m:e>
                                <m:limUpp>
                                  <m:e>
                                    <m:r>
                                      <m:rPr>
                                        <m:sty m:val="i"/>
                                      </m:rPr>
                                      <a:rPr lang="en-US" i="1" sz="1665">
                                        <a:latin typeface="Cambria Math"/>
                                      </a:rPr>
                                      <m:t>n</m:t>
                                    </m:r>
                                  </m:e>
                                  <m:lim>
                                    <m:r>
                                      <m:rPr>
                                        <m:sty m:val="p"/>
                                      </m:rPr>
                                      <a:rPr lang="en-US" i="0" sz="1665">
                                        <a:latin typeface="Cambria Math"/>
                                      </a:rPr>
                                      <m:t>^</m:t>
                                    </m:r>
                                  </m:lim>
                                </m:limUpp>
                              </m:e>
                            </m:box>
                          </m:e>
                        </m:box>
                      </m:sup>
                    </m:sSup>
                    <m:r>
                      <m:rPr>
                        <m:sty m:val="p"/>
                      </m:rPr>
                      <a:rPr lang="en-US" i="0" sz="1665">
                        <a:latin typeface="Cambria Math"/>
                      </a:rPr>
                      <m:t>|</m:t>
                    </m:r>
                    <m:r>
                      <m:rPr>
                        <m:sty m:val="i"/>
                      </m:rPr>
                      <a:rPr lang="en-US" i="1" sz="1665">
                        <a:latin typeface="Cambria Math"/>
                      </a:rPr>
                      <m:t>φ</m:t>
                    </m:r>
                    <m:r>
                      <m:rPr>
                        <m:sty m:val="p"/>
                      </m:rPr>
                      <a:rPr lang="en-US" i="0" sz="1665">
                        <a:latin typeface="Cambria Math"/>
                      </a:rPr>
                      <m:t>⟩</m:t>
                    </m:r>
                    <m:r>
                      <m:rPr>
                        <m:sty m:val="p"/>
                      </m:rPr>
                      <a:rPr lang="en-US" i="0" sz="1665">
                        <a:latin typeface="Cambria Math"/>
                      </a:rPr>
                      <m:t>=</m:t>
                    </m:r>
                    <m:r>
                      <m:rPr>
                        <m:sty m:val="p"/>
                      </m:rPr>
                      <a:rPr lang="en-US" i="0" sz="1665">
                        <a:latin typeface="Cambria Math"/>
                      </a:rPr>
                      <m:t>|</m:t>
                    </m:r>
                    <m:r>
                      <m:rPr>
                        <m:sty m:val="i"/>
                      </m:rPr>
                      <a:rPr lang="en-US" i="1" sz="1665">
                        <a:latin typeface="Cambria Math"/>
                      </a:rPr>
                      <m:t>φ</m:t>
                    </m:r>
                    <m:r>
                      <m:rPr>
                        <m:sty m:val="p"/>
                      </m:rPr>
                      <a:rPr lang="en-US" i="0" sz="1665">
                        <a:latin typeface="Cambria Math"/>
                      </a:rPr>
                      <m:t>⟩</m:t>
                    </m:r>
                  </m:oMath>
                </a14:m>
              </mc:Choice>
              <mc:Fallback>
                <a:r>
                  <a:rPr lang="en-US" sz="1664" i="1"/>
                  <a:t>e^{-i2\pi\hat{n}}|\varphi\rangle=|\varphi\rangle</a:t>
                </a:r>
              </mc:Fallback>
            </mc:AlternateContent>
            <a:r>
              <a:rPr sz="1400" b="0" i="0">
                <a:solidFill>
                  <a:srgbClr val="4F4C56"/>
                </a:solidFill>
                <a:latin typeface="Montserrat"/>
                <a:ea typeface="Montserrat"/>
                <a:cs typeface="Montserrat"/>
              </a:rPr>
              <a:t>, and since this holds for the complete phase basis:</a:t>
            </a:r>
          </a:p>
        </p:txBody>
      </p:sp>
      <p:sp>
        <p:nvSpPr>
          <p:cNvPr id="11" name="Rounded Rectangle 10"/>
          <p:cNvSpPr/>
          <p:nvPr/>
        </p:nvSpPr>
        <p:spPr>
          <a:xfrm>
            <a:off x="575733" y="4148137"/>
            <a:ext cx="11040533" cy="755782"/>
          </a:xfrm>
          <a:prstGeom prst="roundRect">
            <a:avLst>
              <a:gd name="adj" fmla="val 8962"/>
            </a:avLst>
          </a:prstGeom>
          <a:solidFill>
            <a:srgbClr val="FEF9E7"/>
          </a:solidFill>
          <a:ln w="16933">
            <a:solidFill>
              <a:srgbClr val="F0C0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quation"/>
          <p:cNvSpPr txBox="1"/>
          <p:nvPr/>
        </p:nvSpPr>
        <p:spPr>
          <a:xfrm>
            <a:off x="711200" y="4402138"/>
            <a:ext cx="10769600" cy="247782"/>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sSup>
                            <m:e>
                              <m:r>
                                <m:rPr>
                                  <m:sty m:val="i"/>
                                </m:rPr>
                                <a:rPr lang="en-US" i="1" sz="1568">
                                  <a:latin typeface="Cambria Math"/>
                                </a:rPr>
                                <m:t>e</m:t>
                              </m:r>
                            </m:e>
                            <m:sup>
                              <m:box>
                                <m:e>
                                  <m:r>
                                    <m:rPr>
                                      <m:sty m:val="p"/>
                                    </m:rPr>
                                    <a:rPr lang="en-US" i="0" sz="1568">
                                      <a:latin typeface="Cambria Math"/>
                                    </a:rPr>
                                    <m:t>−</m:t>
                                  </m:r>
                                  <m:r>
                                    <m:rPr>
                                      <m:sty m:val="i"/>
                                    </m:rPr>
                                    <a:rPr lang="en-US" i="1" sz="1568">
                                      <a:latin typeface="Cambria Math"/>
                                    </a:rPr>
                                    <m:t>i</m:t>
                                  </m:r>
                                  <m:r>
                                    <m:rPr>
                                      <m:sty m:val="p"/>
                                    </m:rPr>
                                    <a:rPr lang="en-US" i="0" sz="1568">
                                      <a:latin typeface="Cambria Math"/>
                                    </a:rPr>
                                    <m:t>2</m:t>
                                  </m:r>
                                  <m:r>
                                    <m:rPr>
                                      <m:sty m:val="i"/>
                                    </m:rPr>
                                    <a:rPr lang="en-US" i="1" sz="1568">
                                      <a:latin typeface="Cambria Math"/>
                                    </a:rPr>
                                    <m:t>π</m:t>
                                  </m:r>
                                  <m:box>
                                    <m:e>
                                      <m:limUpp>
                                        <m:e>
                                          <m:r>
                                            <m:rPr>
                                              <m:sty m:val="i"/>
                                            </m:rPr>
                                            <a:rPr lang="en-US" i="1" sz="1568">
                                              <a:latin typeface="Cambria Math"/>
                                            </a:rPr>
                                            <m:t>n</m:t>
                                          </m:r>
                                        </m:e>
                                        <m:lim>
                                          <m:r>
                                            <m:rPr>
                                              <m:sty m:val="p"/>
                                            </m:rPr>
                                            <a:rPr lang="en-US" i="0" sz="1568">
                                              <a:latin typeface="Cambria Math"/>
                                            </a:rPr>
                                            <m:t>^</m:t>
                                          </m:r>
                                        </m:lim>
                                      </m:limUpp>
                                    </m:e>
                                  </m:box>
                                </m:e>
                              </m:box>
                            </m:sup>
                          </m:sSup>
                          <m:r>
                            <m:rPr>
                              <m:sty m:val="p"/>
                            </m:rPr>
                            <a:rPr lang="en-US" i="0" sz="1568">
                              <a:latin typeface="Cambria Math"/>
                            </a:rPr>
                            <m:t>=</m:t>
                          </m:r>
                          <m:box>
                            <m:e>
                              <m:limUpp>
                                <m:e>
                                  <m:r>
                                    <m:rPr>
                                      <m:sty m:val="i"/>
                                    </m:rPr>
                                    <a:rPr lang="en-US" i="1" sz="1568">
                                      <a:latin typeface="Cambria Math"/>
                                    </a:rPr>
                                    <m:t>I</m:t>
                                  </m:r>
                                </m:e>
                                <m:lim>
                                  <m:r>
                                    <m:rPr>
                                      <m:sty m:val="p"/>
                                    </m:rPr>
                                    <a:rPr lang="en-US" i="0" sz="1568">
                                      <a:latin typeface="Cambria Math"/>
                                    </a:rPr>
                                    <m:t>^</m:t>
                                  </m:r>
                                </m:lim>
                              </m:limUpp>
                            </m:e>
                          </m:box>
                        </m:e>
                      </m:box>
                      <m:box>
                        <m:e>
                          <m:r>
                            <a:rPr lang="en-US" i="1" sz="1568">
                              <a:latin typeface="Cambria Math"/>
                            </a:rPr>
                            <m:t/>
                          </m:r>
                        </m:e>
                      </m:box>
                      <m:r>
                        <m:rPr>
                          <m:sty m:val="p"/>
                        </m:rPr>
                        <a:rPr lang="en-US" i="0" sz="1568">
                          <a:latin typeface="Cambria Math"/>
                        </a:rPr>
                        <m:t>⟹</m:t>
                      </m:r>
                      <m:box>
                        <m:e>
                          <m:r>
                            <a:rPr lang="en-US" i="1" sz="1568">
                              <a:latin typeface="Cambria Math"/>
                            </a:rPr>
                            <m:t/>
                          </m:r>
                        </m:e>
                      </m:box>
                      <m:sSup>
                        <m:e>
                          <m:r>
                            <m:rPr>
                              <m:sty m:val="i"/>
                            </m:rPr>
                            <a:rPr lang="en-US" i="1" sz="1568">
                              <a:latin typeface="Cambria Math"/>
                            </a:rPr>
                            <m:t>e</m:t>
                          </m:r>
                        </m:e>
                        <m:sup>
                          <m:box>
                            <m:e>
                              <m:r>
                                <m:rPr>
                                  <m:sty m:val="p"/>
                                </m:rPr>
                                <a:rPr lang="en-US" i="0" sz="1568">
                                  <a:latin typeface="Cambria Math"/>
                                </a:rPr>
                                <m:t>−</m:t>
                              </m:r>
                              <m:r>
                                <m:rPr>
                                  <m:sty m:val="i"/>
                                </m:rPr>
                                <a:rPr lang="en-US" i="1" sz="1568">
                                  <a:latin typeface="Cambria Math"/>
                                </a:rPr>
                                <m:t>i</m:t>
                              </m:r>
                              <m:r>
                                <m:rPr>
                                  <m:sty m:val="p"/>
                                </m:rPr>
                                <a:rPr lang="en-US" i="0" sz="1568">
                                  <a:latin typeface="Cambria Math"/>
                                </a:rPr>
                                <m:t>2</m:t>
                              </m:r>
                              <m:r>
                                <m:rPr>
                                  <m:sty m:val="i"/>
                                </m:rPr>
                                <a:rPr lang="en-US" i="1" sz="1568">
                                  <a:latin typeface="Cambria Math"/>
                                </a:rPr>
                                <m:t>π</m:t>
                              </m:r>
                              <m:r>
                                <m:rPr>
                                  <m:sty m:val="i"/>
                                </m:rPr>
                                <a:rPr lang="en-US" i="1" sz="1568">
                                  <a:latin typeface="Cambria Math"/>
                                </a:rPr>
                                <m:t>n</m:t>
                              </m:r>
                            </m:e>
                          </m:box>
                        </m:sup>
                      </m:sSup>
                      <m:r>
                        <m:rPr>
                          <m:sty m:val="p"/>
                        </m:rPr>
                        <a:rPr lang="en-US" i="0" sz="1568">
                          <a:latin typeface="Cambria Math"/>
                        </a:rPr>
                        <m:t>=</m:t>
                      </m:r>
                      <m:r>
                        <m:rPr>
                          <m:sty m:val="p"/>
                        </m:rPr>
                        <a:rPr lang="en-US" i="0" sz="1568">
                          <a:latin typeface="Cambria Math"/>
                        </a:rPr>
                        <m:t>1</m:t>
                      </m:r>
                      <m:box>
                        <m:e>
                          <m:r>
                            <a:rPr lang="en-US" i="1" sz="1568">
                              <a:latin typeface="Cambria Math"/>
                            </a:rPr>
                            <m:t/>
                          </m:r>
                        </m:e>
                      </m:box>
                      <m:r>
                        <m:rPr>
                          <m:sty m:val="p"/>
                        </m:rPr>
                        <a:rPr lang="en-US" i="0" sz="1568">
                          <a:latin typeface="Cambria Math"/>
                        </a:rPr>
                        <m:t>⟹</m:t>
                      </m:r>
                      <m:box>
                        <m:e>
                          <m:r>
                            <a:rPr lang="en-US" i="1" sz="1568">
                              <a:latin typeface="Cambria Math"/>
                            </a:rPr>
                            <m:t/>
                          </m:r>
                        </m:e>
                      </m:box>
                      <m:box>
                        <m:e>
                          <m:r>
                            <m:rPr>
                              <m:sty m:val="i"/>
                            </m:rPr>
                            <a:rPr lang="en-US" i="1" sz="1568">
                              <a:latin typeface="Cambria Math"/>
                            </a:rPr>
                            <m:t>n</m:t>
                          </m:r>
                          <m:r>
                            <m:rPr>
                              <m:sty m:val="p"/>
                            </m:rPr>
                            <a:rPr lang="en-US" i="0" sz="1568">
                              <a:latin typeface="Cambria Math"/>
                            </a:rPr>
                            <m:t>∈</m:t>
                          </m:r>
                          <m:box>
                            <m:e>
                              <m:r>
                                <m:rPr>
                                  <m:scr m:val="double-struck"/>
                                  <m:sty m:val="i"/>
                                </m:rPr>
                                <a:rPr lang="en-US" i="1" sz="1568">
                                  <a:latin typeface="Cambria Math"/>
                                </a:rPr>
                                <m:t>Z</m:t>
                              </m:r>
                            </m:e>
                          </m:box>
                        </m:e>
                      </m:box>
                      <m:r>
                        <m:rPr>
                          <m:sty m:val="p"/>
                        </m:rPr>
                        <a:rPr lang="en-US" i="0" sz="1568">
                          <a:latin typeface="Cambria Math"/>
                        </a:rPr>
                        <m:t>,</m:t>
                      </m:r>
                      <m:box>
                        <m:e>
                          <m:r>
                            <a:rPr lang="en-US" i="1" sz="1568">
                              <a:latin typeface="Cambria Math"/>
                            </a:rPr>
                            <m:t/>
                          </m:r>
                        </m:e>
                      </m:box>
                      <m:r>
                        <m:rPr>
                          <m:sty m:val="i"/>
                        </m:rPr>
                        <a:rPr lang="en-US" i="1" sz="1568">
                          <a:latin typeface="Cambria Math"/>
                        </a:rPr>
                        <m:t>n</m:t>
                      </m:r>
                      <m:r>
                        <m:rPr>
                          <m:sty m:val="p"/>
                        </m:rPr>
                        <a:rPr lang="en-US" i="0" sz="1568">
                          <a:latin typeface="Cambria Math"/>
                        </a:rPr>
                        <m:t>=</m:t>
                      </m:r>
                      <m:r>
                        <m:rPr>
                          <m:sty m:val="p"/>
                        </m:rPr>
                        <a:rPr lang="en-US" i="0" sz="1568">
                          <a:latin typeface="Cambria Math"/>
                        </a:rPr>
                        <m:t>0</m:t>
                      </m:r>
                      <m:r>
                        <m:rPr>
                          <m:sty m:val="p"/>
                        </m:rPr>
                        <a:rPr lang="en-US" i="0" sz="1568">
                          <a:latin typeface="Cambria Math"/>
                        </a:rPr>
                        <m:t>,</m:t>
                      </m:r>
                      <m:r>
                        <m:rPr>
                          <m:sty m:val="p"/>
                        </m:rPr>
                        <a:rPr lang="en-US" i="0" sz="1568">
                          <a:latin typeface="Cambria Math"/>
                        </a:rPr>
                        <m:t>±</m:t>
                      </m:r>
                      <m:r>
                        <m:rPr>
                          <m:sty m:val="p"/>
                        </m:rPr>
                        <a:rPr lang="en-US" i="0" sz="1568">
                          <a:latin typeface="Cambria Math"/>
                        </a:rPr>
                        <m:t>1</m:t>
                      </m:r>
                      <m:r>
                        <m:rPr>
                          <m:sty m:val="p"/>
                        </m:rPr>
                        <a:rPr lang="en-US" i="0" sz="1568">
                          <a:latin typeface="Cambria Math"/>
                        </a:rPr>
                        <m:t>,</m:t>
                      </m:r>
                      <m:r>
                        <m:rPr>
                          <m:sty m:val="p"/>
                        </m:rPr>
                        <a:rPr lang="en-US" i="0" sz="1568">
                          <a:latin typeface="Cambria Math"/>
                        </a:rPr>
                        <m:t>±</m:t>
                      </m:r>
                      <m:r>
                        <m:rPr>
                          <m:sty m:val="p"/>
                        </m:rPr>
                        <a:rPr lang="en-US" i="0" sz="1568">
                          <a:latin typeface="Cambria Math"/>
                        </a:rPr>
                        <m:t>2</m:t>
                      </m:r>
                      <m:r>
                        <m:rPr>
                          <m:sty m:val="p"/>
                        </m:rPr>
                        <a:rPr lang="en-US" i="0" sz="1568">
                          <a:latin typeface="Cambria Math"/>
                        </a:rPr>
                        <m:t>,</m:t>
                      </m:r>
                      <m:r>
                        <m:rPr>
                          <m:sty m:val="p"/>
                        </m:rPr>
                        <a:rPr lang="en-US" i="0" sz="1568">
                          <a:latin typeface="Cambria Math"/>
                        </a:rPr>
                        <m:t>…</m:t>
                      </m:r>
                    </m:oMath>
                  </m:oMathPara>
                </a14:m>
              </mc:Choice>
              <mc:Fallback>
                <a:r>
                  <a:rPr lang="en-US" sz="1567" i="1"/>
                  <a:t>
                    {e^{-i2\pi\hat{n}}=\hat{I}}
                    \qquad\Longrightarrow\qquad
                    e^{-i2\pi n}=1
                    \qquad\Longrightarrow\qquad
                    {n\in\mathbb{Z}},\quad n=0,\pm1,\pm2,\ldots
                    </a:t>
                </a:r>
              </mc:Fallback>
            </mc:AlternateContent>
          </a:p>
        </p:txBody>
      </p:sp>
      <p:sp>
        <p:nvSpPr>
          <p:cNvPr id="13" name="Rectangle 12"/>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5" name="TextBox 14"/>
          <p:cNvSpPr txBox="1"/>
          <p:nvPr/>
        </p:nvSpPr>
        <p:spPr>
          <a:xfrm>
            <a:off x="11228917" y="6565900"/>
            <a:ext cx="472017"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50 / 100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463815"/>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The </a:t>
            </a:r>
            <mc:AlternateContent xmlns:mc="http://schemas.openxmlformats.org/markup-compatibility/2006">
              <mc:Choice xmlns:a14="http://schemas.microsoft.com/office/drawing/2010/main" Requires="a14">
                <a14:m>
                  <m:oMath xmlns:m="http://schemas.openxmlformats.org/officeDocument/2006/math">
                    <m:r>
                      <m:rPr>
                        <m:sty m:val="p"/>
                      </m:rPr>
                      <a:rPr lang="en-US" i="0" sz="3408">
                        <a:latin typeface="Cambria Math"/>
                      </a:rPr>
                      <m:t>⟨</m:t>
                    </m:r>
                    <m:r>
                      <m:rPr>
                        <m:sty m:val="i"/>
                      </m:rPr>
                      <a:rPr lang="en-US" i="1" sz="3408">
                        <a:latin typeface="Cambria Math"/>
                      </a:rPr>
                      <m:t>φ</m:t>
                    </m:r>
                    <m:r>
                      <m:rPr>
                        <m:sty m:val="p"/>
                      </m:rPr>
                      <a:rPr lang="en-US" i="0" sz="3408">
                        <a:latin typeface="Cambria Math"/>
                      </a:rPr>
                      <m:t>|</m:t>
                    </m:r>
                    <m:r>
                      <m:rPr>
                        <m:sty m:val="i"/>
                      </m:rPr>
                      <a:rPr lang="en-US" i="1" sz="3408">
                        <a:latin typeface="Cambria Math"/>
                      </a:rPr>
                      <m:t>n</m:t>
                    </m:r>
                    <m:r>
                      <m:rPr>
                        <m:sty m:val="p"/>
                      </m:rPr>
                      <a:rPr lang="en-US" i="0" sz="3408">
                        <a:latin typeface="Cambria Math"/>
                      </a:rPr>
                      <m:t>⟩</m:t>
                    </m:r>
                  </m:oMath>
                </a14:m>
              </mc:Choice>
              <mc:Fallback>
                <a:r>
                  <a:rPr lang="en-US" sz="3408" i="1"/>
                  <a:t>\langle\varphi|n\rangle</a:t>
                </a:r>
              </mc:Fallback>
            </mc:AlternateContent>
            <a:r>
              <a:rPr sz="2870" b="1" i="0">
                <a:solidFill>
                  <a:srgbClr val="22232A"/>
                </a:solidFill>
                <a:latin typeface="Montserrat"/>
                <a:ea typeface="Montserrat"/>
                <a:cs typeface="Montserrat"/>
              </a:rPr>
              <a:t> Basis and the Meaning of </a:t>
            </a:r>
            <mc:AlternateContent xmlns:mc="http://schemas.openxmlformats.org/markup-compatibility/2006">
              <mc:Choice xmlns:a14="http://schemas.microsoft.com/office/drawing/2010/main" Requires="a14">
                <a14:m>
                  <m:oMath xmlns:m="http://schemas.openxmlformats.org/officeDocument/2006/math">
                    <m:r>
                      <m:rPr>
                        <m:sty m:val="i"/>
                      </m:rPr>
                      <a:rPr lang="en-US" i="1" sz="3408">
                        <a:latin typeface="Cambria Math"/>
                      </a:rPr>
                      <m:t>n</m:t>
                    </m:r>
                  </m:oMath>
                </a14:m>
              </mc:Choice>
              <mc:Fallback>
                <a:r>
                  <a:rPr lang="en-US" sz="3408" i="1"/>
                  <a:t>n</a:t>
                </a:r>
              </mc:Fallback>
            </mc:AlternateContent>
          </a:p>
        </p:txBody>
      </p:sp>
      <p:sp>
        <p:nvSpPr>
          <p:cNvPr id="6" name="TextBox 5"/>
          <p:cNvSpPr txBox="1"/>
          <p:nvPr/>
        </p:nvSpPr>
        <p:spPr>
          <a:xfrm>
            <a:off x="575733" y="1479815"/>
            <a:ext cx="11040533" cy="844418"/>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Projecting the number eigenvalue equation onto the phase basis, the overlap is a plane wave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r>
                      <m:rPr>
                        <m:sty m:val="i"/>
                      </m:rPr>
                      <a:rPr lang="en-US" i="1" sz="1665">
                        <a:latin typeface="Cambria Math"/>
                      </a:rPr>
                      <m:t>φ</m:t>
                    </m:r>
                    <m:r>
                      <m:rPr>
                        <m:sty m:val="p"/>
                      </m:rPr>
                      <a:rPr lang="en-US" i="0" sz="1665">
                        <a:latin typeface="Cambria Math"/>
                      </a:rPr>
                      <m:t>|</m:t>
                    </m:r>
                    <m:r>
                      <m:rPr>
                        <m:sty m:val="i"/>
                      </m:rPr>
                      <a:rPr lang="en-US" i="1" sz="1665">
                        <a:latin typeface="Cambria Math"/>
                      </a:rPr>
                      <m:t>n</m:t>
                    </m:r>
                    <m:r>
                      <m:rPr>
                        <m:sty m:val="p"/>
                      </m:rPr>
                      <a:rPr lang="en-US" i="0" sz="1665">
                        <a:latin typeface="Cambria Math"/>
                      </a:rPr>
                      <m:t>⟩</m:t>
                    </m:r>
                    <m:r>
                      <m:rPr>
                        <m:sty m:val="p"/>
                      </m:rPr>
                      <a:rPr lang="en-US" i="0" sz="1665">
                        <a:latin typeface="Cambria Math"/>
                      </a:rPr>
                      <m:t>=</m:t>
                    </m:r>
                    <m:r>
                      <m:rPr>
                        <m:sty m:val="i"/>
                      </m:rPr>
                      <a:rPr lang="en-US" i="1" sz="1665">
                        <a:latin typeface="Cambria Math"/>
                      </a:rPr>
                      <m:t>A</m:t>
                    </m:r>
                    <m:sSup>
                      <m:e>
                        <m:r>
                          <m:rPr>
                            <m:sty m:val="i"/>
                          </m:rPr>
                          <a:rPr lang="en-US" i="1" sz="1665">
                            <a:latin typeface="Cambria Math"/>
                          </a:rPr>
                          <m:t>e</m:t>
                        </m:r>
                      </m:e>
                      <m:sup>
                        <m:box>
                          <m:e>
                            <m:r>
                              <m:rPr>
                                <m:sty m:val="i"/>
                              </m:rPr>
                              <a:rPr lang="en-US" i="1" sz="1665">
                                <a:latin typeface="Cambria Math"/>
                              </a:rPr>
                              <m:t>i</m:t>
                            </m:r>
                            <m:r>
                              <m:rPr>
                                <m:sty m:val="i"/>
                              </m:rPr>
                              <a:rPr lang="en-US" i="1" sz="1665">
                                <a:latin typeface="Cambria Math"/>
                              </a:rPr>
                              <m:t>n</m:t>
                            </m:r>
                            <m:r>
                              <m:rPr>
                                <m:sty m:val="i"/>
                              </m:rPr>
                              <a:rPr lang="en-US" i="1" sz="1665">
                                <a:latin typeface="Cambria Math"/>
                              </a:rPr>
                              <m:t>φ</m:t>
                            </m:r>
                          </m:e>
                        </m:box>
                      </m:sup>
                    </m:sSup>
                  </m:oMath>
                </a14:m>
              </mc:Choice>
              <mc:Fallback>
                <a:r>
                  <a:rPr lang="en-US" sz="1664" i="1"/>
                  <a:t>\langle\varphi|n\rangle=Ae^{in\varphi}</a:t>
                </a:r>
              </mc:Fallback>
            </mc:AlternateContent>
            <a:r>
              <a:rPr sz="1400" b="0" i="0">
                <a:solidFill>
                  <a:srgbClr val="4F4C56"/>
                </a:solidFill>
                <a:latin typeface="Montserrat"/>
                <a:ea typeface="Montserrat"/>
                <a:cs typeface="Montserrat"/>
              </a:rPr>
              <a:t>. Periodicity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r>
                      <m:rPr>
                        <m:sty m:val="i"/>
                      </m:rPr>
                      <a:rPr lang="en-US" i="1" sz="1665">
                        <a:latin typeface="Cambria Math"/>
                      </a:rPr>
                      <m:t>φ</m:t>
                    </m:r>
                    <m:r>
                      <m:rPr>
                        <m:sty m:val="p"/>
                      </m:rPr>
                      <a:rPr lang="en-US" i="0" sz="1665">
                        <a:latin typeface="Cambria Math"/>
                      </a:rPr>
                      <m:t>+</m:t>
                    </m:r>
                    <m:r>
                      <m:rPr>
                        <m:sty m:val="p"/>
                      </m:rPr>
                      <a:rPr lang="en-US" i="0" sz="1665">
                        <a:latin typeface="Cambria Math"/>
                      </a:rPr>
                      <m:t>2</m:t>
                    </m:r>
                    <m:r>
                      <m:rPr>
                        <m:sty m:val="i"/>
                      </m:rPr>
                      <a:rPr lang="en-US" i="1" sz="1665">
                        <a:latin typeface="Cambria Math"/>
                      </a:rPr>
                      <m:t>π</m:t>
                    </m:r>
                    <m:r>
                      <m:rPr>
                        <m:sty m:val="p"/>
                      </m:rPr>
                      <a:rPr lang="en-US" i="0" sz="1665">
                        <a:latin typeface="Cambria Math"/>
                      </a:rPr>
                      <m:t>|</m:t>
                    </m:r>
                    <m:r>
                      <m:rPr>
                        <m:sty m:val="i"/>
                      </m:rPr>
                      <a:rPr lang="en-US" i="1" sz="1665">
                        <a:latin typeface="Cambria Math"/>
                      </a:rPr>
                      <m:t>n</m:t>
                    </m:r>
                    <m:r>
                      <m:rPr>
                        <m:sty m:val="p"/>
                      </m:rPr>
                      <a:rPr lang="en-US" i="0" sz="1665">
                        <a:latin typeface="Cambria Math"/>
                      </a:rPr>
                      <m:t>⟩</m:t>
                    </m:r>
                    <m:r>
                      <m:rPr>
                        <m:sty m:val="p"/>
                      </m:rPr>
                      <a:rPr lang="en-US" i="0" sz="1665">
                        <a:latin typeface="Cambria Math"/>
                      </a:rPr>
                      <m:t>=</m:t>
                    </m:r>
                    <m:r>
                      <m:rPr>
                        <m:sty m:val="p"/>
                      </m:rPr>
                      <a:rPr lang="en-US" i="0" sz="1665">
                        <a:latin typeface="Cambria Math"/>
                      </a:rPr>
                      <m:t>⟨</m:t>
                    </m:r>
                    <m:r>
                      <m:rPr>
                        <m:sty m:val="i"/>
                      </m:rPr>
                      <a:rPr lang="en-US" i="1" sz="1665">
                        <a:latin typeface="Cambria Math"/>
                      </a:rPr>
                      <m:t>φ</m:t>
                    </m:r>
                    <m:r>
                      <m:rPr>
                        <m:sty m:val="p"/>
                      </m:rPr>
                      <a:rPr lang="en-US" i="0" sz="1665">
                        <a:latin typeface="Cambria Math"/>
                      </a:rPr>
                      <m:t>|</m:t>
                    </m:r>
                    <m:r>
                      <m:rPr>
                        <m:sty m:val="i"/>
                      </m:rPr>
                      <a:rPr lang="en-US" i="1" sz="1665">
                        <a:latin typeface="Cambria Math"/>
                      </a:rPr>
                      <m:t>n</m:t>
                    </m:r>
                    <m:r>
                      <m:rPr>
                        <m:sty m:val="p"/>
                      </m:rPr>
                      <a:rPr lang="en-US" i="0" sz="1665">
                        <a:latin typeface="Cambria Math"/>
                      </a:rPr>
                      <m:t>⟩</m:t>
                    </m:r>
                  </m:oMath>
                </a14:m>
              </mc:Choice>
              <mc:Fallback>
                <a:r>
                  <a:rPr lang="en-US" sz="1664" i="1"/>
                  <a:t>\langle\varphi+2\pi|n\rangle=\langle\varphi|n\rangle</a:t>
                </a:r>
              </mc:Fallback>
            </mc:AlternateContent>
            <a:r>
              <a:rPr sz="1400" b="0" i="0">
                <a:solidFill>
                  <a:srgbClr val="4F4C56"/>
                </a:solidFill>
                <a:latin typeface="Montserrat"/>
                <a:ea typeface="Montserrat"/>
                <a:cs typeface="Montserrat"/>
              </a:rPr>
              <a:t> gives </a:t>
            </a:r>
            <mc:AlternateContent xmlns:mc="http://schemas.openxmlformats.org/markup-compatibility/2006">
              <mc:Choice xmlns:a14="http://schemas.microsoft.com/office/drawing/2010/main" Requires="a14">
                <a14:m>
                  <m:oMath xmlns:m="http://schemas.openxmlformats.org/officeDocument/2006/math">
                    <m:sSup>
                      <m:e>
                        <m:r>
                          <m:rPr>
                            <m:sty m:val="i"/>
                          </m:rPr>
                          <a:rPr lang="en-US" i="1" sz="1665">
                            <a:latin typeface="Cambria Math"/>
                          </a:rPr>
                          <m:t>e</m:t>
                        </m:r>
                      </m:e>
                      <m:sup>
                        <m:box>
                          <m:e>
                            <m:r>
                              <m:rPr>
                                <m:sty m:val="i"/>
                              </m:rPr>
                              <a:rPr lang="en-US" i="1" sz="1665">
                                <a:latin typeface="Cambria Math"/>
                              </a:rPr>
                              <m:t>i</m:t>
                            </m:r>
                            <m:r>
                              <m:rPr>
                                <m:sty m:val="p"/>
                              </m:rPr>
                              <a:rPr lang="en-US" i="0" sz="1665">
                                <a:latin typeface="Cambria Math"/>
                              </a:rPr>
                              <m:t>2</m:t>
                            </m:r>
                            <m:r>
                              <m:rPr>
                                <m:sty m:val="i"/>
                              </m:rPr>
                              <a:rPr lang="en-US" i="1" sz="1665">
                                <a:latin typeface="Cambria Math"/>
                              </a:rPr>
                              <m:t>π</m:t>
                            </m:r>
                            <m:r>
                              <m:rPr>
                                <m:sty m:val="i"/>
                              </m:rPr>
                              <a:rPr lang="en-US" i="1" sz="1665">
                                <a:latin typeface="Cambria Math"/>
                              </a:rPr>
                              <m:t>n</m:t>
                            </m:r>
                          </m:e>
                        </m:box>
                      </m:sup>
                    </m:sSup>
                    <m:r>
                      <m:rPr>
                        <m:sty m:val="p"/>
                      </m:rPr>
                      <a:rPr lang="en-US" i="0" sz="1665">
                        <a:latin typeface="Cambria Math"/>
                      </a:rPr>
                      <m:t>=</m:t>
                    </m:r>
                    <m:r>
                      <m:rPr>
                        <m:sty m:val="p"/>
                      </m:rPr>
                      <a:rPr lang="en-US" i="0" sz="1665">
                        <a:latin typeface="Cambria Math"/>
                      </a:rPr>
                      <m:t>1</m:t>
                    </m:r>
                  </m:oMath>
                </a14:m>
              </mc:Choice>
              <mc:Fallback>
                <a:r>
                  <a:rPr lang="en-US" sz="1664" i="1"/>
                  <a:t>e^{i2\pi n}=1</a:t>
                </a:r>
              </mc:Fallback>
            </mc:AlternateContent>
            <a:r>
              <a:rPr sz="1400" b="0" i="0">
                <a:solidFill>
                  <a:srgbClr val="4F4C56"/>
                </a:solidFill>
                <a:latin typeface="Montserrat"/>
                <a:ea typeface="Montserrat"/>
                <a:cs typeface="Montserrat"/>
              </a:rPr>
              <a:t>, and the normalization </a:t>
            </a:r>
            <mc:AlternateContent xmlns:mc="http://schemas.openxmlformats.org/markup-compatibility/2006">
              <mc:Choice xmlns:a14="http://schemas.microsoft.com/office/drawing/2010/main" Requires="a14">
                <a14:m>
                  <m:oMath xmlns:m="http://schemas.openxmlformats.org/officeDocument/2006/math">
                    <m:nary>
                      <m:naryPr>
                        <m:chr m:val="∫"/>
                        <m:limLoc m:val="subSup"/>
                      </m:naryPr>
                      <m:sub>
                        <m:r>
                          <m:rPr>
                            <m:sty m:val="p"/>
                          </m:rPr>
                          <a:rPr lang="en-US" i="0" sz="1665">
                            <a:latin typeface="Cambria Math"/>
                          </a:rPr>
                          <m:t>0</m:t>
                        </m:r>
                      </m:sub>
                      <m:sup>
                        <m:box>
                          <m:e>
                            <m:r>
                              <m:rPr>
                                <m:sty m:val="p"/>
                              </m:rPr>
                              <a:rPr lang="en-US" i="0" sz="1665">
                                <a:latin typeface="Cambria Math"/>
                              </a:rPr>
                              <m:t>2</m:t>
                            </m:r>
                            <m:r>
                              <m:rPr>
                                <m:sty m:val="i"/>
                              </m:rPr>
                              <a:rPr lang="en-US" i="1" sz="1665">
                                <a:latin typeface="Cambria Math"/>
                              </a:rPr>
                              <m:t>π</m:t>
                            </m:r>
                          </m:e>
                        </m:box>
                      </m:sup>
                      <m:e>
                        <m:r>
                          <m:rPr>
                            <m:sty m:val="p"/>
                          </m:rPr>
                          <a:rPr lang="en-US" i="0" sz="1665">
                            <a:latin typeface="Cambria Math"/>
                          </a:rPr>
                          <m:t>|</m:t>
                        </m:r>
                        <m:r>
                          <m:rPr>
                            <m:sty m:val="p"/>
                          </m:rPr>
                          <a:rPr lang="en-US" i="0" sz="1665">
                            <a:latin typeface="Cambria Math"/>
                          </a:rPr>
                          <m:t>⟨</m:t>
                        </m:r>
                        <m:r>
                          <m:rPr>
                            <m:sty m:val="i"/>
                          </m:rPr>
                          <a:rPr lang="en-US" i="1" sz="1665">
                            <a:latin typeface="Cambria Math"/>
                          </a:rPr>
                          <m:t>φ</m:t>
                        </m:r>
                        <m:r>
                          <m:rPr>
                            <m:sty m:val="p"/>
                          </m:rPr>
                          <a:rPr lang="en-US" i="0" sz="1665">
                            <a:latin typeface="Cambria Math"/>
                          </a:rPr>
                          <m:t>|</m:t>
                        </m:r>
                        <m:r>
                          <m:rPr>
                            <m:sty m:val="i"/>
                          </m:rPr>
                          <a:rPr lang="en-US" i="1" sz="1665">
                            <a:latin typeface="Cambria Math"/>
                          </a:rPr>
                          <m:t>n</m:t>
                        </m:r>
                        <m:r>
                          <m:rPr>
                            <m:sty m:val="p"/>
                          </m:rPr>
                          <a:rPr lang="en-US" i="0" sz="1665">
                            <a:latin typeface="Cambria Math"/>
                          </a:rPr>
                          <m:t>⟩</m:t>
                        </m:r>
                        <m:sSup>
                          <m:e>
                            <m:r>
                              <m:rPr>
                                <m:sty m:val="p"/>
                              </m:rPr>
                              <a:rPr lang="en-US" i="0" sz="1665">
                                <a:latin typeface="Cambria Math"/>
                              </a:rPr>
                              <m:t>|</m:t>
                            </m:r>
                          </m:e>
                          <m:sup>
                            <m:r>
                              <m:rPr>
                                <m:sty m:val="p"/>
                              </m:rPr>
                              <a:rPr lang="en-US" i="0" sz="1665">
                                <a:latin typeface="Cambria Math"/>
                              </a:rPr>
                              <m:t>2</m:t>
                            </m:r>
                          </m:sup>
                        </m:sSup>
                        <m:box>
                          <m:e>
                            <m:r>
                              <a:rPr lang="en-US" i="1" sz="1665">
                                <a:latin typeface="Cambria Math"/>
                              </a:rPr>
                              <m:t/>
                            </m:r>
                          </m:e>
                        </m:box>
                        <m:r>
                          <m:rPr>
                            <m:sty m:val="i"/>
                          </m:rPr>
                          <a:rPr lang="en-US" i="1" sz="1665">
                            <a:latin typeface="Cambria Math"/>
                          </a:rPr>
                          <m:t>d</m:t>
                        </m:r>
                        <m:r>
                          <m:rPr>
                            <m:sty m:val="i"/>
                          </m:rPr>
                          <a:rPr lang="en-US" i="1" sz="1665">
                            <a:latin typeface="Cambria Math"/>
                          </a:rPr>
                          <m:t>φ</m:t>
                        </m:r>
                        <m:r>
                          <m:rPr>
                            <m:sty m:val="p"/>
                          </m:rPr>
                          <a:rPr lang="en-US" i="0" sz="1665">
                            <a:latin typeface="Cambria Math"/>
                          </a:rPr>
                          <m:t>=</m:t>
                        </m:r>
                        <m:r>
                          <m:rPr>
                            <m:sty m:val="p"/>
                          </m:rPr>
                          <a:rPr lang="en-US" i="0" sz="1665">
                            <a:latin typeface="Cambria Math"/>
                          </a:rPr>
                          <m:t>1</m:t>
                        </m:r>
                      </m:e>
                    </m:nary>
                  </m:oMath>
                </a14:m>
              </mc:Choice>
              <mc:Fallback>
                <a:r>
                  <a:rPr lang="en-US" sz="1664" i="1"/>
                  <a:t>\int_0^{2\pi}|\langle\varphi|n\rangle|^2\,d\varphi=1</a:t>
                </a:r>
              </mc:Fallback>
            </mc:AlternateContent>
            <a:r>
              <a:rPr sz="1400" b="0" i="0">
                <a:solidFill>
                  <a:srgbClr val="4F4C56"/>
                </a:solidFill>
                <a:latin typeface="Montserrat"/>
                <a:ea typeface="Montserrat"/>
                <a:cs typeface="Montserrat"/>
              </a:rPr>
              <a:t> fixes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r>
                      <m:rPr>
                        <m:sty m:val="i"/>
                      </m:rPr>
                      <a:rPr lang="en-US" i="1" sz="1665">
                        <a:latin typeface="Cambria Math"/>
                      </a:rPr>
                      <m:t>A</m:t>
                    </m:r>
                    <m:r>
                      <m:rPr>
                        <m:sty m:val="p"/>
                      </m:rPr>
                      <a:rPr lang="en-US" i="0" sz="1665">
                        <a:latin typeface="Cambria Math"/>
                      </a:rPr>
                      <m:t>|</m:t>
                    </m:r>
                    <m:r>
                      <m:rPr>
                        <m:sty m:val="p"/>
                      </m:rPr>
                      <a:rPr lang="en-US" i="0" sz="1665">
                        <a:latin typeface="Cambria Math"/>
                      </a:rPr>
                      <m:t>=</m:t>
                    </m:r>
                    <m:r>
                      <m:rPr>
                        <m:sty m:val="p"/>
                      </m:rPr>
                      <a:rPr lang="en-US" i="0" sz="1665">
                        <a:latin typeface="Cambria Math"/>
                      </a:rPr>
                      <m:t>1</m:t>
                    </m:r>
                    <m:box>
                      <m:e>
                        <m:r>
                          <m:rPr>
                            <m:sty m:val="p"/>
                          </m:rPr>
                          <a:rPr lang="en-US" i="0" sz="1665">
                            <a:latin typeface="Cambria Math"/>
                          </a:rPr>
                          <m:t>/</m:t>
                        </m:r>
                      </m:e>
                    </m:box>
                    <m:rad>
                      <m:radPr>
                        <m:degHide m:val="1"/>
                      </m:radPr>
                      <m:deg/>
                      <m:e>
                        <m:box>
                          <m:e>
                            <m:r>
                              <m:rPr>
                                <m:sty m:val="p"/>
                              </m:rPr>
                              <a:rPr lang="en-US" i="0" sz="1665">
                                <a:latin typeface="Cambria Math"/>
                              </a:rPr>
                              <m:t>2</m:t>
                            </m:r>
                            <m:r>
                              <m:rPr>
                                <m:sty m:val="i"/>
                              </m:rPr>
                              <a:rPr lang="en-US" i="1" sz="1665">
                                <a:latin typeface="Cambria Math"/>
                              </a:rPr>
                              <m:t>π</m:t>
                            </m:r>
                          </m:e>
                        </m:box>
                      </m:e>
                    </m:rad>
                  </m:oMath>
                </a14:m>
              </mc:Choice>
              <mc:Fallback>
                <a:r>
                  <a:rPr lang="en-US" sz="1664" i="1"/>
                  <a:t>|A|=1/\sqrt{2\pi}</a:t>
                </a:r>
              </mc:Fallback>
            </mc:AlternateContent>
            <a:r>
              <a:rPr sz="1400" b="0" i="0">
                <a:solidFill>
                  <a:srgbClr val="4F4C56"/>
                </a:solidFill>
                <a:latin typeface="Montserrat"/>
                <a:ea typeface="Montserrat"/>
                <a:cs typeface="Montserrat"/>
              </a:rPr>
              <a:t>. Choosing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A</m:t>
                    </m:r>
                  </m:oMath>
                </a14:m>
              </mc:Choice>
              <mc:Fallback>
                <a:r>
                  <a:rPr lang="en-US" sz="1664" i="1"/>
                  <a:t>A</a:t>
                </a:r>
              </mc:Fallback>
            </mc:AlternateContent>
            <a:r>
              <a:rPr sz="1400" b="0" i="0">
                <a:solidFill>
                  <a:srgbClr val="4F4C56"/>
                </a:solidFill>
                <a:latin typeface="Montserrat"/>
                <a:ea typeface="Montserrat"/>
                <a:cs typeface="Montserrat"/>
              </a:rPr>
              <a:t> real and positive:</a:t>
            </a:r>
          </a:p>
        </p:txBody>
      </p:sp>
      <p:sp>
        <p:nvSpPr>
          <p:cNvPr id="7" name="Rounded Rectangle 6"/>
          <p:cNvSpPr/>
          <p:nvPr/>
        </p:nvSpPr>
        <p:spPr>
          <a:xfrm>
            <a:off x="575733" y="2459699"/>
            <a:ext cx="11040533" cy="980017"/>
          </a:xfrm>
          <a:prstGeom prst="roundRect">
            <a:avLst>
              <a:gd name="adj" fmla="val 6911"/>
            </a:avLst>
          </a:prstGeom>
          <a:solidFill>
            <a:srgbClr val="FEF9E7"/>
          </a:solidFill>
          <a:ln w="16933">
            <a:solidFill>
              <a:srgbClr val="F0C0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quation"/>
          <p:cNvSpPr txBox="1"/>
          <p:nvPr/>
        </p:nvSpPr>
        <p:spPr>
          <a:xfrm>
            <a:off x="711200" y="2713699"/>
            <a:ext cx="10769600" cy="472017"/>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r>
                            <m:rPr>
                              <m:sty m:val="p"/>
                            </m:rPr>
                            <a:rPr lang="en-US" i="0" sz="1568">
                              <a:latin typeface="Cambria Math"/>
                            </a:rPr>
                            <m:t>⟨</m:t>
                          </m:r>
                          <m:r>
                            <m:rPr>
                              <m:sty m:val="i"/>
                            </m:rPr>
                            <a:rPr lang="en-US" i="1" sz="1568">
                              <a:latin typeface="Cambria Math"/>
                            </a:rPr>
                            <m:t>φ</m:t>
                          </m:r>
                          <m:r>
                            <m:rPr>
                              <m:sty m:val="p"/>
                            </m:rPr>
                            <a:rPr lang="en-US" i="0" sz="1568">
                              <a:latin typeface="Cambria Math"/>
                            </a:rPr>
                            <m:t>|</m:t>
                          </m:r>
                          <m:r>
                            <m:rPr>
                              <m:sty m:val="i"/>
                            </m:rPr>
                            <a:rPr lang="en-US" i="1" sz="1568">
                              <a:latin typeface="Cambria Math"/>
                            </a:rPr>
                            <m:t>n</m:t>
                          </m:r>
                          <m:r>
                            <m:rPr>
                              <m:sty m:val="p"/>
                            </m:rPr>
                            <a:rPr lang="en-US" i="0" sz="1568">
                              <a:latin typeface="Cambria Math"/>
                            </a:rPr>
                            <m:t>⟩</m:t>
                          </m:r>
                          <m:r>
                            <m:rPr>
                              <m:sty m:val="p"/>
                            </m:rPr>
                            <a:rPr lang="en-US" i="0" sz="1568">
                              <a:latin typeface="Cambria Math"/>
                            </a:rPr>
                            <m:t>=</m:t>
                          </m:r>
                          <m:f>
                            <m:num>
                              <m:r>
                                <m:rPr>
                                  <m:sty m:val="p"/>
                                </m:rPr>
                                <a:rPr lang="en-US" i="0" sz="1568">
                                  <a:latin typeface="Cambria Math"/>
                                </a:rPr>
                                <m:t>1</m:t>
                              </m:r>
                            </m:num>
                            <m:den>
                              <m:rad>
                                <m:radPr>
                                  <m:degHide m:val="1"/>
                                </m:radPr>
                                <m:deg/>
                                <m:e>
                                  <m:box>
                                    <m:e>
                                      <m:r>
                                        <m:rPr>
                                          <m:sty m:val="p"/>
                                        </m:rPr>
                                        <a:rPr lang="en-US" i="0" sz="1568">
                                          <a:latin typeface="Cambria Math"/>
                                        </a:rPr>
                                        <m:t>2</m:t>
                                      </m:r>
                                      <m:r>
                                        <m:rPr>
                                          <m:sty m:val="i"/>
                                        </m:rPr>
                                        <a:rPr lang="en-US" i="1" sz="1568">
                                          <a:latin typeface="Cambria Math"/>
                                        </a:rPr>
                                        <m:t>π</m:t>
                                      </m:r>
                                    </m:e>
                                  </m:box>
                                </m:e>
                              </m:rad>
                            </m:den>
                          </m:f>
                          <m:sSup>
                            <m:e>
                              <m:r>
                                <m:rPr>
                                  <m:sty m:val="i"/>
                                </m:rPr>
                                <a:rPr lang="en-US" i="1" sz="1568">
                                  <a:latin typeface="Cambria Math"/>
                                </a:rPr>
                                <m:t>e</m:t>
                              </m:r>
                            </m:e>
                            <m:sup>
                              <m:box>
                                <m:e>
                                  <m:r>
                                    <m:rPr>
                                      <m:sty m:val="i"/>
                                    </m:rPr>
                                    <a:rPr lang="en-US" i="1" sz="1568">
                                      <a:latin typeface="Cambria Math"/>
                                    </a:rPr>
                                    <m:t>i</m:t>
                                  </m:r>
                                  <m:r>
                                    <m:rPr>
                                      <m:sty m:val="i"/>
                                    </m:rPr>
                                    <a:rPr lang="en-US" i="1" sz="1568">
                                      <a:latin typeface="Cambria Math"/>
                                    </a:rPr>
                                    <m:t>n</m:t>
                                  </m:r>
                                  <m:r>
                                    <m:rPr>
                                      <m:sty m:val="i"/>
                                    </m:rPr>
                                    <a:rPr lang="en-US" i="1" sz="1568">
                                      <a:latin typeface="Cambria Math"/>
                                    </a:rPr>
                                    <m:t>φ</m:t>
                                  </m:r>
                                </m:e>
                              </m:box>
                            </m:sup>
                          </m:sSup>
                        </m:e>
                      </m:box>
                      <m:r>
                        <m:rPr>
                          <m:sty m:val="p"/>
                        </m:rPr>
                        <a:rPr lang="en-US" i="0" sz="1568">
                          <a:latin typeface="Cambria Math"/>
                        </a:rPr>
                        <m:t>,</m:t>
                      </m:r>
                      <m:box>
                        <m:e>
                          <m:r>
                            <a:rPr lang="en-US" i="1" sz="1568">
                              <a:latin typeface="Cambria Math"/>
                            </a:rPr>
                            <m:t/>
                          </m:r>
                        </m:e>
                      </m:box>
                      <m:r>
                        <m:rPr>
                          <m:sty m:val="i"/>
                        </m:rPr>
                        <a:rPr lang="en-US" i="1" sz="1568">
                          <a:latin typeface="Cambria Math"/>
                        </a:rPr>
                        <m:t>n</m:t>
                      </m:r>
                      <m:r>
                        <m:rPr>
                          <m:sty m:val="p"/>
                        </m:rPr>
                        <a:rPr lang="en-US" i="0" sz="1568">
                          <a:latin typeface="Cambria Math"/>
                        </a:rPr>
                        <m:t>∈</m:t>
                      </m:r>
                      <m:box>
                        <m:e>
                          <m:r>
                            <m:rPr>
                              <m:scr m:val="double-struck"/>
                              <m:sty m:val="i"/>
                            </m:rPr>
                            <a:rPr lang="en-US" i="1" sz="1568">
                              <a:latin typeface="Cambria Math"/>
                            </a:rPr>
                            <m:t>Z</m:t>
                          </m:r>
                        </m:e>
                      </m:box>
                      <m:r>
                        <m:rPr>
                          <m:sty m:val="p"/>
                        </m:rPr>
                        <a:rPr lang="en-US" i="0" sz="1568">
                          <a:latin typeface="Cambria Math"/>
                        </a:rPr>
                        <m:t>.</m:t>
                      </m:r>
                    </m:oMath>
                  </m:oMathPara>
                </a14:m>
              </mc:Choice>
              <mc:Fallback>
                <a:r>
                  <a:rPr lang="en-US" sz="1567" i="1"/>
                  <a:t>
                    {\langle\varphi|n\rangle=\frac{1}{\sqrt{2\pi}}e^{in\varphi}},
                    \qquad n\in\mathbb{Z}.
                    </a:t>
                </a:r>
              </mc:Fallback>
            </mc:AlternateContent>
          </a:p>
        </p:txBody>
      </p:sp>
      <p:sp>
        <p:nvSpPr>
          <p:cNvPr id="9" name="TextBox 8"/>
          <p:cNvSpPr txBox="1"/>
          <p:nvPr/>
        </p:nvSpPr>
        <p:spPr>
          <a:xfrm>
            <a:off x="575733" y="3541316"/>
            <a:ext cx="11040533" cy="580496"/>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The charge operator is </a:t>
            </a:r>
            <mc:AlternateContent xmlns:mc="http://schemas.openxmlformats.org/markup-compatibility/2006">
              <mc:Choice xmlns:a14="http://schemas.microsoft.com/office/drawing/2010/main" Requires="a14">
                <a14:m>
                  <m:oMath xmlns:m="http://schemas.openxmlformats.org/officeDocument/2006/math">
                    <m:box>
                      <m:e>
                        <m:limUpp>
                          <m:e>
                            <m:r>
                              <m:rPr>
                                <m:sty m:val="i"/>
                              </m:rPr>
                              <a:rPr lang="en-US" i="1" sz="1665">
                                <a:latin typeface="Cambria Math"/>
                              </a:rPr>
                              <m:t>Q</m:t>
                            </m:r>
                          </m:e>
                          <m:lim>
                            <m:r>
                              <m:rPr>
                                <m:sty m:val="p"/>
                              </m:rPr>
                              <a:rPr lang="en-US" i="0" sz="1665">
                                <a:latin typeface="Cambria Math"/>
                              </a:rPr>
                              <m:t>^</m:t>
                            </m:r>
                          </m:lim>
                        </m:limUpp>
                      </m:e>
                    </m:box>
                    <m:r>
                      <m:rPr>
                        <m:sty m:val="p"/>
                      </m:rPr>
                      <a:rPr lang="en-US" i="0" sz="1665">
                        <a:latin typeface="Cambria Math"/>
                      </a:rPr>
                      <m:t>=</m:t>
                    </m:r>
                    <m:r>
                      <m:rPr>
                        <m:sty m:val="p"/>
                      </m:rPr>
                      <a:rPr lang="en-US" i="0" sz="1665">
                        <a:latin typeface="Cambria Math"/>
                      </a:rPr>
                      <m:t>2</m:t>
                    </m:r>
                    <m:r>
                      <m:rPr>
                        <m:sty m:val="i"/>
                      </m:rPr>
                      <a:rPr lang="en-US" i="1" sz="1665">
                        <a:latin typeface="Cambria Math"/>
                      </a:rPr>
                      <m:t>e</m:t>
                    </m:r>
                    <m:box>
                      <m:e>
                        <m:limUpp>
                          <m:e>
                            <m:r>
                              <m:rPr>
                                <m:sty m:val="i"/>
                              </m:rPr>
                              <a:rPr lang="en-US" i="1" sz="1665">
                                <a:latin typeface="Cambria Math"/>
                              </a:rPr>
                              <m:t>n</m:t>
                            </m:r>
                          </m:e>
                          <m:lim>
                            <m:r>
                              <m:rPr>
                                <m:sty m:val="p"/>
                              </m:rPr>
                              <a:rPr lang="en-US" i="0" sz="1665">
                                <a:latin typeface="Cambria Math"/>
                              </a:rPr>
                              <m:t>^</m:t>
                            </m:r>
                          </m:lim>
                        </m:limUpp>
                      </m:e>
                    </m:box>
                  </m:oMath>
                </a14:m>
              </mc:Choice>
              <mc:Fallback>
                <a:r>
                  <a:rPr lang="en-US" sz="1664" i="1"/>
                  <a:t>\hat{Q}=2e\hat{n}</a:t>
                </a:r>
              </mc:Fallback>
            </mc:AlternateContent>
            <a:r>
              <a:rPr sz="1400" b="0" i="0">
                <a:solidFill>
                  <a:srgbClr val="4F4C56"/>
                </a:solidFill>
                <a:latin typeface="Montserrat"/>
                <a:ea typeface="Montserrat"/>
                <a:cs typeface="Montserrat"/>
              </a:rPr>
              <a:t>. Acting on a number eigenstate, </a:t>
            </a:r>
            <mc:AlternateContent xmlns:mc="http://schemas.openxmlformats.org/markup-compatibility/2006">
              <mc:Choice xmlns:a14="http://schemas.microsoft.com/office/drawing/2010/main" Requires="a14">
                <a14:m>
                  <m:oMath xmlns:m="http://schemas.openxmlformats.org/officeDocument/2006/math">
                    <m:box>
                      <m:e>
                        <m:limUpp>
                          <m:e>
                            <m:r>
                              <m:rPr>
                                <m:sty m:val="i"/>
                              </m:rPr>
                              <a:rPr lang="en-US" i="1" sz="1665">
                                <a:latin typeface="Cambria Math"/>
                              </a:rPr>
                              <m:t>Q</m:t>
                            </m:r>
                          </m:e>
                          <m:lim>
                            <m:r>
                              <m:rPr>
                                <m:sty m:val="p"/>
                              </m:rPr>
                              <a:rPr lang="en-US" i="0" sz="1665">
                                <a:latin typeface="Cambria Math"/>
                              </a:rPr>
                              <m:t>^</m:t>
                            </m:r>
                          </m:lim>
                        </m:limUpp>
                      </m:e>
                    </m:box>
                    <m:r>
                      <m:rPr>
                        <m:sty m:val="p"/>
                      </m:rPr>
                      <a:rPr lang="en-US" i="0" sz="1665">
                        <a:latin typeface="Cambria Math"/>
                      </a:rPr>
                      <m:t>|</m:t>
                    </m:r>
                    <m:r>
                      <m:rPr>
                        <m:sty m:val="i"/>
                      </m:rPr>
                      <a:rPr lang="en-US" i="1" sz="1665">
                        <a:latin typeface="Cambria Math"/>
                      </a:rPr>
                      <m:t>n</m:t>
                    </m:r>
                    <m:r>
                      <m:rPr>
                        <m:sty m:val="p"/>
                      </m:rPr>
                      <a:rPr lang="en-US" i="0" sz="1665">
                        <a:latin typeface="Cambria Math"/>
                      </a:rPr>
                      <m:t>⟩</m:t>
                    </m:r>
                    <m:r>
                      <m:rPr>
                        <m:sty m:val="p"/>
                      </m:rPr>
                      <a:rPr lang="en-US" i="0" sz="1665">
                        <a:latin typeface="Cambria Math"/>
                      </a:rPr>
                      <m:t>=</m:t>
                    </m:r>
                    <m:r>
                      <m:rPr>
                        <m:sty m:val="p"/>
                      </m:rPr>
                      <a:rPr lang="en-US" i="0" sz="1665">
                        <a:latin typeface="Cambria Math"/>
                      </a:rPr>
                      <m:t>2</m:t>
                    </m:r>
                    <m:r>
                      <m:rPr>
                        <m:sty m:val="i"/>
                      </m:rPr>
                      <a:rPr lang="en-US" i="1" sz="1665">
                        <a:latin typeface="Cambria Math"/>
                      </a:rPr>
                      <m:t>e</m:t>
                    </m:r>
                    <m:r>
                      <m:rPr>
                        <m:sty m:val="i"/>
                      </m:rPr>
                      <a:rPr lang="en-US" i="1" sz="1665">
                        <a:latin typeface="Cambria Math"/>
                      </a:rPr>
                      <m:t>n</m:t>
                    </m:r>
                    <m:r>
                      <m:rPr>
                        <m:sty m:val="p"/>
                      </m:rPr>
                      <a:rPr lang="en-US" i="0" sz="1665">
                        <a:latin typeface="Cambria Math"/>
                      </a:rPr>
                      <m:t>|</m:t>
                    </m:r>
                    <m:r>
                      <m:rPr>
                        <m:sty m:val="i"/>
                      </m:rPr>
                      <a:rPr lang="en-US" i="1" sz="1665">
                        <a:latin typeface="Cambria Math"/>
                      </a:rPr>
                      <m:t>n</m:t>
                    </m:r>
                    <m:r>
                      <m:rPr>
                        <m:sty m:val="p"/>
                      </m:rPr>
                      <a:rPr lang="en-US" i="0" sz="1665">
                        <a:latin typeface="Cambria Math"/>
                      </a:rPr>
                      <m:t>⟩</m:t>
                    </m:r>
                  </m:oMath>
                </a14:m>
              </mc:Choice>
              <mc:Fallback>
                <a:r>
                  <a:rPr lang="en-US" sz="1664" i="1"/>
                  <a:t>\hat{Q}|n\rangle=2en|n\rangle</a:t>
                </a:r>
              </mc:Fallback>
            </mc:AlternateContent>
            <a:r>
              <a:rPr sz="1400" b="0" i="0">
                <a:solidFill>
                  <a:srgbClr val="4F4C56"/>
                </a:solidFill>
                <a:latin typeface="Montserrat"/>
                <a:ea typeface="Montserrat"/>
                <a:cs typeface="Montserrat"/>
              </a:rPr>
              <a:t>, so the charge eigenvalue is </a:t>
            </a:r>
            <mc:AlternateContent xmlns:mc="http://schemas.openxmlformats.org/markup-compatibility/2006">
              <mc:Choice xmlns:a14="http://schemas.microsoft.com/office/drawing/2010/main" Requires="a14">
                <a14:m>
                  <m:oMath xmlns:m="http://schemas.openxmlformats.org/officeDocument/2006/math">
                    <m:box>
                      <m:e>
                        <m:sSub>
                          <m:e>
                            <m:r>
                              <m:rPr>
                                <m:sty m:val="i"/>
                              </m:rPr>
                              <a:rPr lang="en-US" i="1" sz="1665">
                                <a:latin typeface="Cambria Math"/>
                              </a:rPr>
                              <m:t>Q</m:t>
                            </m:r>
                          </m:e>
                          <m:sub>
                            <m:r>
                              <m:rPr>
                                <m:sty m:val="i"/>
                              </m:rPr>
                              <a:rPr lang="en-US" i="1" sz="1665">
                                <a:latin typeface="Cambria Math"/>
                              </a:rPr>
                              <m:t>n</m:t>
                            </m:r>
                          </m:sub>
                        </m:sSub>
                        <m:r>
                          <m:rPr>
                            <m:sty m:val="p"/>
                          </m:rPr>
                          <a:rPr lang="en-US" i="0" sz="1665">
                            <a:latin typeface="Cambria Math"/>
                          </a:rPr>
                          <m:t>=</m:t>
                        </m:r>
                        <m:r>
                          <m:rPr>
                            <m:sty m:val="p"/>
                          </m:rPr>
                          <a:rPr lang="en-US" i="0" sz="1665">
                            <a:latin typeface="Cambria Math"/>
                          </a:rPr>
                          <m:t>2</m:t>
                        </m:r>
                        <m:r>
                          <m:rPr>
                            <m:sty m:val="i"/>
                          </m:rPr>
                          <a:rPr lang="en-US" i="1" sz="1665">
                            <a:latin typeface="Cambria Math"/>
                          </a:rPr>
                          <m:t>e</m:t>
                        </m:r>
                        <m:r>
                          <m:rPr>
                            <m:sty m:val="i"/>
                          </m:rPr>
                          <a:rPr lang="en-US" i="1" sz="1665">
                            <a:latin typeface="Cambria Math"/>
                          </a:rPr>
                          <m:t>n</m:t>
                        </m:r>
                      </m:e>
                    </m:box>
                  </m:oMath>
                </a14:m>
              </mc:Choice>
              <mc:Fallback>
                <a:r>
                  <a:rPr lang="en-US" sz="1664" i="1"/>
                  <a:t>{Q_n=2en}</a:t>
                </a:r>
              </mc:Fallback>
            </mc:AlternateContent>
            <a:r>
              <a:rPr sz="1400" b="0" i="0">
                <a:solidFill>
                  <a:srgbClr val="4F4C56"/>
                </a:solidFill>
                <a:latin typeface="Montserrat"/>
                <a:ea typeface="Montserrat"/>
                <a:cs typeface="Montserrat"/>
              </a:rPr>
              <a:t>. Changing the Cooper-pair number by one,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n</m:t>
                    </m:r>
                    <m:r>
                      <m:rPr>
                        <m:sty m:val="p"/>
                      </m:rPr>
                      <a:rPr lang="en-US" i="0" sz="1665">
                        <a:latin typeface="Cambria Math"/>
                      </a:rPr>
                      <m:t>→</m:t>
                    </m:r>
                    <m:r>
                      <m:rPr>
                        <m:sty m:val="i"/>
                      </m:rPr>
                      <a:rPr lang="en-US" i="1" sz="1665">
                        <a:latin typeface="Cambria Math"/>
                      </a:rPr>
                      <m:t>n</m:t>
                    </m:r>
                    <m:r>
                      <m:rPr>
                        <m:sty m:val="p"/>
                      </m:rPr>
                      <a:rPr lang="en-US" i="0" sz="1665">
                        <a:latin typeface="Cambria Math"/>
                      </a:rPr>
                      <m:t>±</m:t>
                    </m:r>
                    <m:r>
                      <m:rPr>
                        <m:sty m:val="p"/>
                      </m:rPr>
                      <a:rPr lang="en-US" i="0" sz="1665">
                        <a:latin typeface="Cambria Math"/>
                      </a:rPr>
                      <m:t>1</m:t>
                    </m:r>
                  </m:oMath>
                </a14:m>
              </mc:Choice>
              <mc:Fallback>
                <a:r>
                  <a:rPr lang="en-US" sz="1664" i="1"/>
                  <a:t>n\to n\pm1</a:t>
                </a:r>
              </mc:Fallback>
            </mc:AlternateContent>
            <a:r>
              <a:rPr sz="1400" b="0" i="0">
                <a:solidFill>
                  <a:srgbClr val="4F4C56"/>
                </a:solidFill>
                <a:latin typeface="Montserrat"/>
                <a:ea typeface="Montserrat"/>
                <a:cs typeface="Montserrat"/>
              </a:rPr>
              <a:t>, changes the charge by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Δ</m:t>
                    </m:r>
                    <m:r>
                      <m:rPr>
                        <m:sty m:val="i"/>
                      </m:rPr>
                      <a:rPr lang="en-US" i="1" sz="1665">
                        <a:latin typeface="Cambria Math"/>
                      </a:rPr>
                      <m:t>Q</m:t>
                    </m:r>
                    <m:r>
                      <m:rPr>
                        <m:sty m:val="p"/>
                      </m:rPr>
                      <a:rPr lang="en-US" i="0" sz="1665">
                        <a:latin typeface="Cambria Math"/>
                      </a:rPr>
                      <m:t>=</m:t>
                    </m:r>
                    <m:r>
                      <m:rPr>
                        <m:sty m:val="p"/>
                      </m:rPr>
                      <a:rPr lang="en-US" i="0" sz="1665">
                        <a:latin typeface="Cambria Math"/>
                      </a:rPr>
                      <m:t>±</m:t>
                    </m:r>
                    <m:r>
                      <m:rPr>
                        <m:sty m:val="p"/>
                      </m:rPr>
                      <a:rPr lang="en-US" i="0" sz="1665">
                        <a:latin typeface="Cambria Math"/>
                      </a:rPr>
                      <m:t>2</m:t>
                    </m:r>
                    <m:r>
                      <m:rPr>
                        <m:sty m:val="i"/>
                      </m:rPr>
                      <a:rPr lang="en-US" i="1" sz="1665">
                        <a:latin typeface="Cambria Math"/>
                      </a:rPr>
                      <m:t>e</m:t>
                    </m:r>
                  </m:oMath>
                </a14:m>
              </mc:Choice>
              <mc:Fallback>
                <a:r>
                  <a:rPr lang="en-US" sz="1664" i="1"/>
                  <a:t>\Delta Q=\pm2e</a:t>
                </a:r>
              </mc:Fallback>
            </mc:AlternateContent>
            <a:r>
              <a:rPr sz="1400" b="0" i="0">
                <a:solidFill>
                  <a:srgbClr val="4F4C56"/>
                </a:solidFill>
                <a:latin typeface="Montserrat"/>
                <a:ea typeface="Montserrat"/>
                <a:cs typeface="Montserrat"/>
              </a:rPr>
              <a:t>.</a:t>
            </a:r>
          </a:p>
        </p:txBody>
      </p:sp>
      <p:sp>
        <p:nvSpPr>
          <p:cNvPr id="10" name="Rectangle 9"/>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2" name="TextBox 11"/>
          <p:cNvSpPr txBox="1"/>
          <p:nvPr/>
        </p:nvSpPr>
        <p:spPr>
          <a:xfrm>
            <a:off x="11262916" y="6565900"/>
            <a:ext cx="438018"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51 / 100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Fourier Series and the Josephson Coupling</a:t>
            </a:r>
          </a:p>
        </p:txBody>
      </p:sp>
      <p:sp>
        <p:nvSpPr>
          <p:cNvPr id="6" name="TextBox 5"/>
          <p:cNvSpPr txBox="1"/>
          <p:nvPr/>
        </p:nvSpPr>
        <p:spPr>
          <a:xfrm>
            <a:off x="575733" y="1452827"/>
            <a:ext cx="11040533" cy="575998"/>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The charge eigenstates are complete, </a:t>
            </a:r>
            <mc:AlternateContent xmlns:mc="http://schemas.openxmlformats.org/markup-compatibility/2006">
              <mc:Choice xmlns:a14="http://schemas.microsoft.com/office/drawing/2010/main" Requires="a14">
                <a14:m>
                  <m:oMath xmlns:m="http://schemas.openxmlformats.org/officeDocument/2006/math">
                    <m:nary>
                      <m:naryPr>
                        <m:chr m:val="∑"/>
                        <m:limLoc m:val="undOvr"/>
                      </m:naryPr>
                      <m:sub>
                        <m:box>
                          <m:e>
                            <m:r>
                              <m:rPr>
                                <m:sty m:val="i"/>
                              </m:rPr>
                              <a:rPr lang="en-US" i="1" sz="1665">
                                <a:latin typeface="Cambria Math"/>
                              </a:rPr>
                              <m:t>n</m:t>
                            </m:r>
                            <m:r>
                              <m:rPr>
                                <m:sty m:val="p"/>
                              </m:rPr>
                              <a:rPr lang="en-US" i="0" sz="1665">
                                <a:latin typeface="Cambria Math"/>
                              </a:rPr>
                              <m:t>∈</m:t>
                            </m:r>
                            <m:box>
                              <m:e>
                                <m:r>
                                  <m:rPr>
                                    <m:scr m:val="double-struck"/>
                                    <m:sty m:val="i"/>
                                  </m:rPr>
                                  <a:rPr lang="en-US" i="1" sz="1665">
                                    <a:latin typeface="Cambria Math"/>
                                  </a:rPr>
                                  <m:t>Z</m:t>
                                </m:r>
                              </m:e>
                            </m:box>
                          </m:e>
                        </m:box>
                      </m:sub>
                      <m:sup/>
                      <m:e>
                        <m:r>
                          <m:rPr>
                            <m:sty m:val="p"/>
                          </m:rPr>
                          <a:rPr lang="en-US" i="0" sz="1665">
                            <a:latin typeface="Cambria Math"/>
                          </a:rPr>
                          <m:t>|</m:t>
                        </m:r>
                        <m:r>
                          <m:rPr>
                            <m:sty m:val="i"/>
                          </m:rPr>
                          <a:rPr lang="en-US" i="1" sz="1665">
                            <a:latin typeface="Cambria Math"/>
                          </a:rPr>
                          <m:t>n</m:t>
                        </m:r>
                        <m:r>
                          <m:rPr>
                            <m:sty m:val="p"/>
                          </m:rPr>
                          <a:rPr lang="en-US" i="0" sz="1665">
                            <a:latin typeface="Cambria Math"/>
                          </a:rPr>
                          <m:t>⟩</m:t>
                        </m:r>
                        <m:r>
                          <m:rPr>
                            <m:sty m:val="p"/>
                          </m:rPr>
                          <a:rPr lang="en-US" i="0" sz="1665">
                            <a:latin typeface="Cambria Math"/>
                          </a:rPr>
                          <m:t>⟨</m:t>
                        </m:r>
                        <m:r>
                          <m:rPr>
                            <m:sty m:val="i"/>
                          </m:rPr>
                          <a:rPr lang="en-US" i="1" sz="1665">
                            <a:latin typeface="Cambria Math"/>
                          </a:rPr>
                          <m:t>n</m:t>
                        </m:r>
                        <m:r>
                          <m:rPr>
                            <m:sty m:val="p"/>
                          </m:rPr>
                          <a:rPr lang="en-US" i="0" sz="1665">
                            <a:latin typeface="Cambria Math"/>
                          </a:rPr>
                          <m:t>|</m:t>
                        </m:r>
                        <m:r>
                          <m:rPr>
                            <m:sty m:val="p"/>
                          </m:rPr>
                          <a:rPr lang="en-US" i="0" sz="1665">
                            <a:latin typeface="Cambria Math"/>
                          </a:rPr>
                          <m:t>=</m:t>
                        </m:r>
                        <m:box>
                          <m:e>
                            <m:limUpp>
                              <m:e>
                                <m:r>
                                  <m:rPr>
                                    <m:sty m:val="i"/>
                                  </m:rPr>
                                  <a:rPr lang="en-US" i="1" sz="1665">
                                    <a:latin typeface="Cambria Math"/>
                                  </a:rPr>
                                  <m:t>I</m:t>
                                </m:r>
                              </m:e>
                              <m:lim>
                                <m:r>
                                  <m:rPr>
                                    <m:sty m:val="p"/>
                                  </m:rPr>
                                  <a:rPr lang="en-US" i="0" sz="1665">
                                    <a:latin typeface="Cambria Math"/>
                                  </a:rPr>
                                  <m:t>^</m:t>
                                </m:r>
                              </m:lim>
                            </m:limUpp>
                          </m:e>
                        </m:box>
                      </m:e>
                    </m:nary>
                  </m:oMath>
                </a14:m>
              </mc:Choice>
              <mc:Fallback>
                <a:r>
                  <a:rPr lang="en-US" sz="1664" i="1"/>
                  <a:t>\sum_{n\in\mathbb{Z}}|n\rangle\langle n|=\hat{I}</a:t>
                </a:r>
              </mc:Fallback>
            </mc:AlternateContent>
            <a:r>
              <a:rPr sz="1400" b="0" i="0">
                <a:solidFill>
                  <a:srgbClr val="4F4C56"/>
                </a:solidFill>
                <a:latin typeface="Montserrat"/>
                <a:ea typeface="Montserrat"/>
                <a:cs typeface="Montserrat"/>
              </a:rPr>
              <a:t>, so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r>
                      <m:rPr>
                        <m:sty m:val="p"/>
                      </m:rPr>
                      <a:rPr lang="en-US" i="0" sz="1665">
                        <a:latin typeface="Cambria Math"/>
                      </a:rPr>
                      <m:t>Ψ</m:t>
                    </m:r>
                    <m:r>
                      <m:rPr>
                        <m:sty m:val="p"/>
                      </m:rPr>
                      <a:rPr lang="en-US" i="0" sz="1665">
                        <a:latin typeface="Cambria Math"/>
                      </a:rPr>
                      <m:t>⟩</m:t>
                    </m:r>
                    <m:r>
                      <m:rPr>
                        <m:sty m:val="p"/>
                      </m:rPr>
                      <a:rPr lang="en-US" i="0" sz="1665">
                        <a:latin typeface="Cambria Math"/>
                      </a:rPr>
                      <m:t>=</m:t>
                    </m:r>
                    <m:nary>
                      <m:naryPr>
                        <m:chr m:val="∑"/>
                        <m:limLoc m:val="undOvr"/>
                      </m:naryPr>
                      <m:sub>
                        <m:box>
                          <m:e>
                            <m:r>
                              <m:rPr>
                                <m:sty m:val="i"/>
                              </m:rPr>
                              <a:rPr lang="en-US" i="1" sz="1665">
                                <a:latin typeface="Cambria Math"/>
                              </a:rPr>
                              <m:t>n</m:t>
                            </m:r>
                            <m:r>
                              <m:rPr>
                                <m:sty m:val="p"/>
                              </m:rPr>
                              <a:rPr lang="en-US" i="0" sz="1665">
                                <a:latin typeface="Cambria Math"/>
                              </a:rPr>
                              <m:t>∈</m:t>
                            </m:r>
                            <m:box>
                              <m:e>
                                <m:r>
                                  <m:rPr>
                                    <m:scr m:val="double-struck"/>
                                    <m:sty m:val="i"/>
                                  </m:rPr>
                                  <a:rPr lang="en-US" i="1" sz="1665">
                                    <a:latin typeface="Cambria Math"/>
                                  </a:rPr>
                                  <m:t>Z</m:t>
                                </m:r>
                              </m:e>
                            </m:box>
                          </m:e>
                        </m:box>
                      </m:sub>
                      <m:sup/>
                      <m:e>
                        <m:sSub>
                          <m:e>
                            <m:r>
                              <m:rPr>
                                <m:sty m:val="i"/>
                              </m:rPr>
                              <a:rPr lang="en-US" i="1" sz="1665">
                                <a:latin typeface="Cambria Math"/>
                              </a:rPr>
                              <m:t>c</m:t>
                            </m:r>
                          </m:e>
                          <m:sub>
                            <m:r>
                              <m:rPr>
                                <m:sty m:val="i"/>
                              </m:rPr>
                              <a:rPr lang="en-US" i="1" sz="1665">
                                <a:latin typeface="Cambria Math"/>
                              </a:rPr>
                              <m:t>n</m:t>
                            </m:r>
                          </m:sub>
                        </m:sSub>
                        <m:r>
                          <m:rPr>
                            <m:sty m:val="p"/>
                          </m:rPr>
                          <a:rPr lang="en-US" i="0" sz="1665">
                            <a:latin typeface="Cambria Math"/>
                          </a:rPr>
                          <m:t>|</m:t>
                        </m:r>
                        <m:r>
                          <m:rPr>
                            <m:sty m:val="i"/>
                          </m:rPr>
                          <a:rPr lang="en-US" i="1" sz="1665">
                            <a:latin typeface="Cambria Math"/>
                          </a:rPr>
                          <m:t>n</m:t>
                        </m:r>
                        <m:r>
                          <m:rPr>
                            <m:sty m:val="p"/>
                          </m:rPr>
                          <a:rPr lang="en-US" i="0" sz="1665">
                            <a:latin typeface="Cambria Math"/>
                          </a:rPr>
                          <m:t>⟩</m:t>
                        </m:r>
                      </m:e>
                    </m:nary>
                  </m:oMath>
                </a14:m>
              </mc:Choice>
              <mc:Fallback>
                <a:r>
                  <a:rPr lang="en-US" sz="1664" i="1"/>
                  <a:t>|\Psi\rangle=\sum_{n\in\mathbb{Z}}c_n|n\rangle</a:t>
                </a:r>
              </mc:Fallback>
            </mc:AlternateContent>
            <a:r>
              <a:rPr sz="1400" b="0" i="0">
                <a:solidFill>
                  <a:srgbClr val="4F4C56"/>
                </a:solidFill>
                <a:latin typeface="Montserrat"/>
                <a:ea typeface="Montserrat"/>
                <a:cs typeface="Montserrat"/>
              </a:rPr>
              <a:t>. Projecting onto the phase basis relates the two bases by a Fourier series:</a:t>
            </a:r>
          </a:p>
        </p:txBody>
      </p:sp>
      <p:sp>
        <p:nvSpPr>
          <p:cNvPr id="7" name="Rounded Rectangle 6"/>
          <p:cNvSpPr/>
          <p:nvPr/>
        </p:nvSpPr>
        <p:spPr>
          <a:xfrm>
            <a:off x="575733" y="2164292"/>
            <a:ext cx="11040533" cy="1019175"/>
          </a:xfrm>
          <a:prstGeom prst="roundRect">
            <a:avLst>
              <a:gd name="adj" fmla="val 6645"/>
            </a:avLst>
          </a:prstGeom>
          <a:solidFill>
            <a:srgbClr val="FEF9E7"/>
          </a:solidFill>
          <a:ln w="16933">
            <a:solidFill>
              <a:srgbClr val="F0C0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quation"/>
          <p:cNvSpPr txBox="1"/>
          <p:nvPr/>
        </p:nvSpPr>
        <p:spPr>
          <a:xfrm>
            <a:off x="711200" y="2418292"/>
            <a:ext cx="10769600" cy="511175"/>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568">
                          <a:latin typeface="Cambria Math"/>
                        </a:rPr>
                        <m:t>⟨</m:t>
                      </m:r>
                      <m:r>
                        <m:rPr>
                          <m:sty m:val="i"/>
                        </m:rPr>
                        <a:rPr lang="en-US" i="1" sz="1568">
                          <a:latin typeface="Cambria Math"/>
                        </a:rPr>
                        <m:t>φ</m:t>
                      </m:r>
                      <m:r>
                        <m:rPr>
                          <m:sty m:val="p"/>
                        </m:rPr>
                        <a:rPr lang="en-US" i="0" sz="1568">
                          <a:latin typeface="Cambria Math"/>
                        </a:rPr>
                        <m:t>|</m:t>
                      </m:r>
                      <m:r>
                        <m:rPr>
                          <m:sty m:val="p"/>
                        </m:rPr>
                        <a:rPr lang="en-US" i="0" sz="1568">
                          <a:latin typeface="Cambria Math"/>
                        </a:rPr>
                        <m:t>Ψ</m:t>
                      </m:r>
                      <m:r>
                        <m:rPr>
                          <m:sty m:val="p"/>
                        </m:rPr>
                        <a:rPr lang="en-US" i="0" sz="1568">
                          <a:latin typeface="Cambria Math"/>
                        </a:rPr>
                        <m:t>⟩</m:t>
                      </m:r>
                      <m:r>
                        <m:rPr>
                          <m:sty m:val="p"/>
                        </m:rPr>
                        <a:rPr lang="en-US" i="0" sz="1568">
                          <a:latin typeface="Cambria Math"/>
                        </a:rPr>
                        <m:t>=</m:t>
                      </m:r>
                      <m:nary>
                        <m:naryPr>
                          <m:chr m:val="∑"/>
                          <m:limLoc m:val="undOvr"/>
                        </m:naryPr>
                        <m:sub>
                          <m:box>
                            <m:e>
                              <m:r>
                                <m:rPr>
                                  <m:sty m:val="i"/>
                                </m:rPr>
                                <a:rPr lang="en-US" i="1" sz="1568">
                                  <a:latin typeface="Cambria Math"/>
                                </a:rPr>
                                <m:t>n</m:t>
                              </m:r>
                              <m:r>
                                <m:rPr>
                                  <m:sty m:val="p"/>
                                </m:rPr>
                                <a:rPr lang="en-US" i="0" sz="1568">
                                  <a:latin typeface="Cambria Math"/>
                                </a:rPr>
                                <m:t>∈</m:t>
                              </m:r>
                              <m:box>
                                <m:e>
                                  <m:r>
                                    <m:rPr>
                                      <m:scr m:val="double-struck"/>
                                      <m:sty m:val="i"/>
                                    </m:rPr>
                                    <a:rPr lang="en-US" i="1" sz="1568">
                                      <a:latin typeface="Cambria Math"/>
                                    </a:rPr>
                                    <m:t>Z</m:t>
                                  </m:r>
                                </m:e>
                              </m:box>
                            </m:e>
                          </m:box>
                        </m:sub>
                        <m:sup/>
                        <m:e>
                          <m:sSub>
                            <m:e>
                              <m:r>
                                <m:rPr>
                                  <m:sty m:val="i"/>
                                </m:rPr>
                                <a:rPr lang="en-US" i="1" sz="1568">
                                  <a:latin typeface="Cambria Math"/>
                                </a:rPr>
                                <m:t>c</m:t>
                              </m:r>
                            </m:e>
                            <m:sub>
                              <m:r>
                                <m:rPr>
                                  <m:sty m:val="i"/>
                                </m:rPr>
                                <a:rPr lang="en-US" i="1" sz="1568">
                                  <a:latin typeface="Cambria Math"/>
                                </a:rPr>
                                <m:t>n</m:t>
                              </m:r>
                            </m:sub>
                          </m:sSub>
                          <m:r>
                            <m:rPr>
                              <m:sty m:val="p"/>
                            </m:rPr>
                            <a:rPr lang="en-US" i="0" sz="1568">
                              <a:latin typeface="Cambria Math"/>
                            </a:rPr>
                            <m:t>⟨</m:t>
                          </m:r>
                          <m:r>
                            <m:rPr>
                              <m:sty m:val="i"/>
                            </m:rPr>
                            <a:rPr lang="en-US" i="1" sz="1568">
                              <a:latin typeface="Cambria Math"/>
                            </a:rPr>
                            <m:t>φ</m:t>
                          </m:r>
                          <m:r>
                            <m:rPr>
                              <m:sty m:val="p"/>
                            </m:rPr>
                            <a:rPr lang="en-US" i="0" sz="1568">
                              <a:latin typeface="Cambria Math"/>
                            </a:rPr>
                            <m:t>|</m:t>
                          </m:r>
                          <m:r>
                            <m:rPr>
                              <m:sty m:val="i"/>
                            </m:rPr>
                            <a:rPr lang="en-US" i="1" sz="1568">
                              <a:latin typeface="Cambria Math"/>
                            </a:rPr>
                            <m:t>n</m:t>
                          </m:r>
                          <m:r>
                            <m:rPr>
                              <m:sty m:val="p"/>
                            </m:rPr>
                            <a:rPr lang="en-US" i="0" sz="1568">
                              <a:latin typeface="Cambria Math"/>
                            </a:rPr>
                            <m:t>⟩</m:t>
                          </m:r>
                          <m:r>
                            <m:rPr>
                              <m:sty m:val="p"/>
                            </m:rPr>
                            <a:rPr lang="en-US" i="0" sz="1568">
                              <a:latin typeface="Cambria Math"/>
                            </a:rPr>
                            <m:t>=</m:t>
                          </m:r>
                          <m:box>
                            <m:e>
                              <m:f>
                                <m:num>
                                  <m:r>
                                    <m:rPr>
                                      <m:sty m:val="p"/>
                                    </m:rPr>
                                    <a:rPr lang="en-US" i="0" sz="1568">
                                      <a:latin typeface="Cambria Math"/>
                                    </a:rPr>
                                    <m:t>1</m:t>
                                  </m:r>
                                </m:num>
                                <m:den>
                                  <m:rad>
                                    <m:radPr>
                                      <m:degHide m:val="1"/>
                                    </m:radPr>
                                    <m:deg/>
                                    <m:e>
                                      <m:box>
                                        <m:e>
                                          <m:r>
                                            <m:rPr>
                                              <m:sty m:val="p"/>
                                            </m:rPr>
                                            <a:rPr lang="en-US" i="0" sz="1568">
                                              <a:latin typeface="Cambria Math"/>
                                            </a:rPr>
                                            <m:t>2</m:t>
                                          </m:r>
                                          <m:r>
                                            <m:rPr>
                                              <m:sty m:val="i"/>
                                            </m:rPr>
                                            <a:rPr lang="en-US" i="1" sz="1568">
                                              <a:latin typeface="Cambria Math"/>
                                            </a:rPr>
                                            <m:t>π</m:t>
                                          </m:r>
                                        </m:e>
                                      </m:box>
                                    </m:e>
                                  </m:rad>
                                </m:den>
                              </m:f>
                              <m:nary>
                                <m:naryPr>
                                  <m:chr m:val="∑"/>
                                  <m:limLoc m:val="undOvr"/>
                                </m:naryPr>
                                <m:sub>
                                  <m:box>
                                    <m:e>
                                      <m:r>
                                        <m:rPr>
                                          <m:sty m:val="i"/>
                                        </m:rPr>
                                        <a:rPr lang="en-US" i="1" sz="1568">
                                          <a:latin typeface="Cambria Math"/>
                                        </a:rPr>
                                        <m:t>n</m:t>
                                      </m:r>
                                      <m:r>
                                        <m:rPr>
                                          <m:sty m:val="p"/>
                                        </m:rPr>
                                        <a:rPr lang="en-US" i="0" sz="1568">
                                          <a:latin typeface="Cambria Math"/>
                                        </a:rPr>
                                        <m:t>∈</m:t>
                                      </m:r>
                                      <m:box>
                                        <m:e>
                                          <m:r>
                                            <m:rPr>
                                              <m:scr m:val="double-struck"/>
                                              <m:sty m:val="i"/>
                                            </m:rPr>
                                            <a:rPr lang="en-US" i="1" sz="1568">
                                              <a:latin typeface="Cambria Math"/>
                                            </a:rPr>
                                            <m:t>Z</m:t>
                                          </m:r>
                                        </m:e>
                                      </m:box>
                                    </m:e>
                                  </m:box>
                                </m:sub>
                                <m:sup/>
                                <m:e>
                                  <m:sSub>
                                    <m:e>
                                      <m:r>
                                        <m:rPr>
                                          <m:sty m:val="i"/>
                                        </m:rPr>
                                        <a:rPr lang="en-US" i="1" sz="1568">
                                          <a:latin typeface="Cambria Math"/>
                                        </a:rPr>
                                        <m:t>c</m:t>
                                      </m:r>
                                    </m:e>
                                    <m:sub>
                                      <m:r>
                                        <m:rPr>
                                          <m:sty m:val="i"/>
                                        </m:rPr>
                                        <a:rPr lang="en-US" i="1" sz="1568">
                                          <a:latin typeface="Cambria Math"/>
                                        </a:rPr>
                                        <m:t>n</m:t>
                                      </m:r>
                                    </m:sub>
                                  </m:sSub>
                                  <m:sSup>
                                    <m:e>
                                      <m:r>
                                        <m:rPr>
                                          <m:sty m:val="i"/>
                                        </m:rPr>
                                        <a:rPr lang="en-US" i="1" sz="1568">
                                          <a:latin typeface="Cambria Math"/>
                                        </a:rPr>
                                        <m:t>e</m:t>
                                      </m:r>
                                    </m:e>
                                    <m:sup>
                                      <m:box>
                                        <m:e>
                                          <m:r>
                                            <m:rPr>
                                              <m:sty m:val="i"/>
                                            </m:rPr>
                                            <a:rPr lang="en-US" i="1" sz="1568">
                                              <a:latin typeface="Cambria Math"/>
                                            </a:rPr>
                                            <m:t>i</m:t>
                                          </m:r>
                                          <m:r>
                                            <m:rPr>
                                              <m:sty m:val="i"/>
                                            </m:rPr>
                                            <a:rPr lang="en-US" i="1" sz="1568">
                                              <a:latin typeface="Cambria Math"/>
                                            </a:rPr>
                                            <m:t>n</m:t>
                                          </m:r>
                                          <m:r>
                                            <m:rPr>
                                              <m:sty m:val="i"/>
                                            </m:rPr>
                                            <a:rPr lang="en-US" i="1" sz="1568">
                                              <a:latin typeface="Cambria Math"/>
                                            </a:rPr>
                                            <m:t>φ</m:t>
                                          </m:r>
                                        </m:e>
                                      </m:box>
                                    </m:sup>
                                  </m:sSup>
                                </m:e>
                              </m:nary>
                            </m:e>
                          </m:box>
                          <m:r>
                            <m:rPr>
                              <m:sty m:val="p"/>
                            </m:rPr>
                            <a:rPr lang="en-US" i="0" sz="1568">
                              <a:latin typeface="Cambria Math"/>
                            </a:rPr>
                            <m:t>.</m:t>
                          </m:r>
                        </m:e>
                      </m:nary>
                    </m:oMath>
                  </m:oMathPara>
                </a14:m>
              </mc:Choice>
              <mc:Fallback>
                <a:r>
                  <a:rPr lang="en-US" sz="1567" i="1"/>
                  <a:t>
                    \langle\varphi|\Psi\rangle
                    =\sum_{n\in\mathbb{Z}}c_n\langle\varphi|n\rangle
                    ={\frac{1}{\sqrt{2\pi}}\sum_{n\in\mathbb{Z}}c_n e^{in\varphi}}.
                    </a:t>
                </a:r>
              </mc:Fallback>
            </mc:AlternateContent>
          </a:p>
        </p:txBody>
      </p:sp>
      <p:sp>
        <p:nvSpPr>
          <p:cNvPr id="9" name="TextBox 8"/>
          <p:cNvSpPr txBox="1"/>
          <p:nvPr/>
        </p:nvSpPr>
        <p:spPr>
          <a:xfrm>
            <a:off x="575733" y="3285067"/>
            <a:ext cx="11040533" cy="678656"/>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The Josephson term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sSub>
                      <m:e>
                        <m:r>
                          <m:rPr>
                            <m:sty m:val="i"/>
                          </m:rPr>
                          <a:rPr lang="en-US" i="1" sz="1665">
                            <a:latin typeface="Cambria Math"/>
                          </a:rPr>
                          <m:t>E</m:t>
                        </m:r>
                      </m:e>
                      <m:sub>
                        <m:r>
                          <m:rPr>
                            <m:sty m:val="i"/>
                          </m:rPr>
                          <a:rPr lang="en-US" i="1" sz="1665">
                            <a:latin typeface="Cambria Math"/>
                          </a:rPr>
                          <m:t>J</m:t>
                        </m:r>
                      </m:sub>
                    </m:sSub>
                    <m:r>
                      <m:rPr>
                        <m:sty m:val="p"/>
                      </m:rPr>
                      <a:rPr lang="en-US" i="0" sz="1665">
                        <a:latin typeface="Cambria Math"/>
                      </a:rPr>
                      <m:t>cos</m:t>
                    </m:r>
                    <m:r>
                      <m:rPr>
                        <m:sty m:val="p"/>
                      </m:rPr>
                      <a:rPr lang="en-US" i="0" sz="1665">
                        <a:latin typeface="Cambria Math"/>
                      </a:rPr>
                      <m:t/>
                    </m:r>
                    <m:box>
                      <m:e>
                        <m:limUpp>
                          <m:e>
                            <m:r>
                              <m:rPr>
                                <m:sty m:val="i"/>
                              </m:rPr>
                              <a:rPr lang="en-US" i="1" sz="1665">
                                <a:latin typeface="Cambria Math"/>
                              </a:rPr>
                              <m:t>φ</m:t>
                            </m:r>
                          </m:e>
                          <m:lim>
                            <m:r>
                              <m:rPr>
                                <m:sty m:val="p"/>
                              </m:rPr>
                              <a:rPr lang="en-US" i="0" sz="1665">
                                <a:latin typeface="Cambria Math"/>
                              </a:rPr>
                              <m:t>^</m:t>
                            </m:r>
                          </m:lim>
                        </m:limUpp>
                      </m:e>
                    </m:box>
                    <m:r>
                      <m:rPr>
                        <m:sty m:val="p"/>
                      </m:rPr>
                      <a:rPr lang="en-US" i="0" sz="1665">
                        <a:latin typeface="Cambria Math"/>
                      </a:rPr>
                      <m:t>=</m:t>
                    </m:r>
                    <m:r>
                      <m:rPr>
                        <m:sty m:val="p"/>
                      </m:rPr>
                      <a:rPr lang="en-US" i="0" sz="1665">
                        <a:latin typeface="Cambria Math"/>
                      </a:rPr>
                      <m:t>−</m:t>
                    </m:r>
                    <m:f>
                      <m:num>
                        <m:sSub>
                          <m:e>
                            <m:r>
                              <m:rPr>
                                <m:sty m:val="i"/>
                              </m:rPr>
                              <a:rPr lang="en-US" i="1" sz="1665">
                                <a:latin typeface="Cambria Math"/>
                              </a:rPr>
                              <m:t>E</m:t>
                            </m:r>
                          </m:e>
                          <m:sub>
                            <m:r>
                              <m:rPr>
                                <m:sty m:val="i"/>
                              </m:rPr>
                              <a:rPr lang="en-US" i="1" sz="1665">
                                <a:latin typeface="Cambria Math"/>
                              </a:rPr>
                              <m:t>J</m:t>
                            </m:r>
                          </m:sub>
                        </m:sSub>
                      </m:num>
                      <m:den>
                        <m:r>
                          <m:rPr>
                            <m:sty m:val="p"/>
                          </m:rPr>
                          <a:rPr lang="en-US" i="0" sz="1665">
                            <a:latin typeface="Cambria Math"/>
                          </a:rPr>
                          <m:t>2</m:t>
                        </m:r>
                      </m:den>
                    </m:f>
                    <m:box>
                      <m:e>
                        <m:d>
                          <m:dPr>
                            <m:begChr m:val="("/>
                            <m:endChr m:val=")"/>
                          </m:dPr>
                          <m:e>
                            <m:box>
                              <m:e>
                                <m:sSup>
                                  <m:e>
                                    <m:r>
                                      <m:rPr>
                                        <m:sty m:val="i"/>
                                      </m:rPr>
                                      <a:rPr lang="en-US" i="1" sz="1665">
                                        <a:latin typeface="Cambria Math"/>
                                      </a:rPr>
                                      <m:t>e</m:t>
                                    </m:r>
                                  </m:e>
                                  <m:sup>
                                    <m:box>
                                      <m:e>
                                        <m:r>
                                          <m:rPr>
                                            <m:sty m:val="i"/>
                                          </m:rPr>
                                          <a:rPr lang="en-US" i="1" sz="1665">
                                            <a:latin typeface="Cambria Math"/>
                                          </a:rPr>
                                          <m:t>i</m:t>
                                        </m:r>
                                        <m:box>
                                          <m:e>
                                            <m:limUpp>
                                              <m:e>
                                                <m:r>
                                                  <m:rPr>
                                                    <m:sty m:val="i"/>
                                                  </m:rPr>
                                                  <a:rPr lang="en-US" i="1" sz="1665">
                                                    <a:latin typeface="Cambria Math"/>
                                                  </a:rPr>
                                                  <m:t>φ</m:t>
                                                </m:r>
                                              </m:e>
                                              <m:lim>
                                                <m:r>
                                                  <m:rPr>
                                                    <m:sty m:val="p"/>
                                                  </m:rPr>
                                                  <a:rPr lang="en-US" i="0" sz="1665">
                                                    <a:latin typeface="Cambria Math"/>
                                                  </a:rPr>
                                                  <m:t>^</m:t>
                                                </m:r>
                                              </m:lim>
                                            </m:limUpp>
                                          </m:e>
                                        </m:box>
                                      </m:e>
                                    </m:box>
                                  </m:sup>
                                </m:sSup>
                                <m:r>
                                  <m:rPr>
                                    <m:sty m:val="p"/>
                                  </m:rPr>
                                  <a:rPr lang="en-US" i="0" sz="1665">
                                    <a:latin typeface="Cambria Math"/>
                                  </a:rPr>
                                  <m:t>+</m:t>
                                </m:r>
                                <m:sSup>
                                  <m:e>
                                    <m:r>
                                      <m:rPr>
                                        <m:sty m:val="i"/>
                                      </m:rPr>
                                      <a:rPr lang="en-US" i="1" sz="1665">
                                        <a:latin typeface="Cambria Math"/>
                                      </a:rPr>
                                      <m:t>e</m:t>
                                    </m:r>
                                  </m:e>
                                  <m:sup>
                                    <m:box>
                                      <m:e>
                                        <m:r>
                                          <m:rPr>
                                            <m:sty m:val="p"/>
                                          </m:rPr>
                                          <a:rPr lang="en-US" i="0" sz="1665">
                                            <a:latin typeface="Cambria Math"/>
                                          </a:rPr>
                                          <m:t>−</m:t>
                                        </m:r>
                                        <m:r>
                                          <m:rPr>
                                            <m:sty m:val="i"/>
                                          </m:rPr>
                                          <a:rPr lang="en-US" i="1" sz="1665">
                                            <a:latin typeface="Cambria Math"/>
                                          </a:rPr>
                                          <m:t>i</m:t>
                                        </m:r>
                                        <m:box>
                                          <m:e>
                                            <m:limUpp>
                                              <m:e>
                                                <m:r>
                                                  <m:rPr>
                                                    <m:sty m:val="i"/>
                                                  </m:rPr>
                                                  <a:rPr lang="en-US" i="1" sz="1665">
                                                    <a:latin typeface="Cambria Math"/>
                                                  </a:rPr>
                                                  <m:t>φ</m:t>
                                                </m:r>
                                              </m:e>
                                              <m:lim>
                                                <m:r>
                                                  <m:rPr>
                                                    <m:sty m:val="p"/>
                                                  </m:rPr>
                                                  <a:rPr lang="en-US" i="0" sz="1665">
                                                    <a:latin typeface="Cambria Math"/>
                                                  </a:rPr>
                                                  <m:t>^</m:t>
                                                </m:r>
                                              </m:lim>
                                            </m:limUpp>
                                          </m:e>
                                        </m:box>
                                      </m:e>
                                    </m:box>
                                  </m:sup>
                                </m:sSup>
                              </m:e>
                            </m:box>
                          </m:e>
                        </m:d>
                      </m:e>
                    </m:box>
                  </m:oMath>
                </a14:m>
              </mc:Choice>
              <mc:Fallback>
                <a:r>
                  <a:rPr lang="en-US" sz="1664" i="1"/>
                  <a:t>-E_J\cos\hat{\varphi}=-\frac{E_J}{2}\left(e^{i\hat{\varphi}}+e^{-i\hat{\varphi}}\right)</a:t>
                </a:r>
              </mc:Fallback>
            </mc:AlternateContent>
            <a:r>
              <a:rPr sz="1400" b="0" i="0">
                <a:solidFill>
                  <a:srgbClr val="4F4C56"/>
                </a:solidFill>
                <a:latin typeface="Montserrat"/>
                <a:ea typeface="Montserrat"/>
                <a:cs typeface="Montserrat"/>
              </a:rPr>
              <a:t> acts on a charge eigenstate by shifting it, because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r>
                      <m:rPr>
                        <m:sty m:val="i"/>
                      </m:rPr>
                      <a:rPr lang="en-US" i="1" sz="1665">
                        <a:latin typeface="Cambria Math"/>
                      </a:rPr>
                      <m:t>φ</m:t>
                    </m:r>
                    <m:r>
                      <m:rPr>
                        <m:sty m:val="p"/>
                      </m:rPr>
                      <a:rPr lang="en-US" i="0" sz="1665">
                        <a:latin typeface="Cambria Math"/>
                      </a:rPr>
                      <m:t>|</m:t>
                    </m:r>
                    <m:sSup>
                      <m:e>
                        <m:r>
                          <m:rPr>
                            <m:sty m:val="i"/>
                          </m:rPr>
                          <a:rPr lang="en-US" i="1" sz="1665">
                            <a:latin typeface="Cambria Math"/>
                          </a:rPr>
                          <m:t>e</m:t>
                        </m:r>
                      </m:e>
                      <m:sup>
                        <m:box>
                          <m:e>
                            <m:r>
                              <m:rPr>
                                <m:sty m:val="p"/>
                              </m:rPr>
                              <a:rPr lang="en-US" i="0" sz="1665">
                                <a:latin typeface="Cambria Math"/>
                              </a:rPr>
                              <m:t>±</m:t>
                            </m:r>
                            <m:r>
                              <m:rPr>
                                <m:sty m:val="i"/>
                              </m:rPr>
                              <a:rPr lang="en-US" i="1" sz="1665">
                                <a:latin typeface="Cambria Math"/>
                              </a:rPr>
                              <m:t>i</m:t>
                            </m:r>
                            <m:box>
                              <m:e>
                                <m:limUpp>
                                  <m:e>
                                    <m:r>
                                      <m:rPr>
                                        <m:sty m:val="i"/>
                                      </m:rPr>
                                      <a:rPr lang="en-US" i="1" sz="1665">
                                        <a:latin typeface="Cambria Math"/>
                                      </a:rPr>
                                      <m:t>φ</m:t>
                                    </m:r>
                                  </m:e>
                                  <m:lim>
                                    <m:r>
                                      <m:rPr>
                                        <m:sty m:val="p"/>
                                      </m:rPr>
                                      <a:rPr lang="en-US" i="0" sz="1665">
                                        <a:latin typeface="Cambria Math"/>
                                      </a:rPr>
                                      <m:t>^</m:t>
                                    </m:r>
                                  </m:lim>
                                </m:limUpp>
                              </m:e>
                            </m:box>
                          </m:e>
                        </m:box>
                      </m:sup>
                    </m:sSup>
                    <m:r>
                      <m:rPr>
                        <m:sty m:val="p"/>
                      </m:rPr>
                      <a:rPr lang="en-US" i="0" sz="1665">
                        <a:latin typeface="Cambria Math"/>
                      </a:rPr>
                      <m:t>|</m:t>
                    </m:r>
                    <m:r>
                      <m:rPr>
                        <m:sty m:val="i"/>
                      </m:rPr>
                      <a:rPr lang="en-US" i="1" sz="1665">
                        <a:latin typeface="Cambria Math"/>
                      </a:rPr>
                      <m:t>n</m:t>
                    </m:r>
                    <m:r>
                      <m:rPr>
                        <m:sty m:val="p"/>
                      </m:rPr>
                      <a:rPr lang="en-US" i="0" sz="1665">
                        <a:latin typeface="Cambria Math"/>
                      </a:rPr>
                      <m:t>⟩</m:t>
                    </m:r>
                    <m:r>
                      <m:rPr>
                        <m:sty m:val="p"/>
                      </m:rPr>
                      <a:rPr lang="en-US" i="0" sz="1665">
                        <a:latin typeface="Cambria Math"/>
                      </a:rPr>
                      <m:t>=</m:t>
                    </m:r>
                    <m:r>
                      <m:rPr>
                        <m:sty m:val="p"/>
                      </m:rPr>
                      <a:rPr lang="en-US" i="0" sz="1665">
                        <a:latin typeface="Cambria Math"/>
                      </a:rPr>
                      <m:t>⟨</m:t>
                    </m:r>
                    <m:r>
                      <m:rPr>
                        <m:sty m:val="i"/>
                      </m:rPr>
                      <a:rPr lang="en-US" i="1" sz="1665">
                        <a:latin typeface="Cambria Math"/>
                      </a:rPr>
                      <m:t>φ</m:t>
                    </m:r>
                    <m:r>
                      <m:rPr>
                        <m:sty m:val="p"/>
                      </m:rPr>
                      <a:rPr lang="en-US" i="0" sz="1665">
                        <a:latin typeface="Cambria Math"/>
                      </a:rPr>
                      <m:t>|</m:t>
                    </m:r>
                    <m:r>
                      <m:rPr>
                        <m:sty m:val="i"/>
                      </m:rPr>
                      <a:rPr lang="en-US" i="1" sz="1665">
                        <a:latin typeface="Cambria Math"/>
                      </a:rPr>
                      <m:t>n</m:t>
                    </m:r>
                    <m:r>
                      <m:rPr>
                        <m:sty m:val="p"/>
                      </m:rPr>
                      <a:rPr lang="en-US" i="0" sz="1665">
                        <a:latin typeface="Cambria Math"/>
                      </a:rPr>
                      <m:t>±</m:t>
                    </m:r>
                    <m:r>
                      <m:rPr>
                        <m:sty m:val="p"/>
                      </m:rPr>
                      <a:rPr lang="en-US" i="0" sz="1665">
                        <a:latin typeface="Cambria Math"/>
                      </a:rPr>
                      <m:t>1</m:t>
                    </m:r>
                    <m:r>
                      <m:rPr>
                        <m:sty m:val="p"/>
                      </m:rPr>
                      <a:rPr lang="en-US" i="0" sz="1665">
                        <a:latin typeface="Cambria Math"/>
                      </a:rPr>
                      <m:t>⟩</m:t>
                    </m:r>
                  </m:oMath>
                </a14:m>
              </mc:Choice>
              <mc:Fallback>
                <a:r>
                  <a:rPr lang="en-US" sz="1664" i="1"/>
                  <a:t>\langle\varphi|e^{\pm i\hat{\varphi}}|n\rangle=\langle\varphi|n\pm1\rangle</a:t>
                </a:r>
              </mc:Fallback>
            </mc:AlternateContent>
            <a:r>
              <a:rPr sz="1400" b="0" i="0">
                <a:solidFill>
                  <a:srgbClr val="4F4C56"/>
                </a:solidFill>
                <a:latin typeface="Montserrat"/>
                <a:ea typeface="Montserrat"/>
                <a:cs typeface="Montserrat"/>
              </a:rPr>
              <a:t>:</a:t>
            </a:r>
          </a:p>
        </p:txBody>
      </p:sp>
      <p:sp>
        <p:nvSpPr>
          <p:cNvPr id="10" name="Rounded Rectangle 9"/>
          <p:cNvSpPr/>
          <p:nvPr/>
        </p:nvSpPr>
        <p:spPr>
          <a:xfrm>
            <a:off x="575733" y="4099190"/>
            <a:ext cx="11040533" cy="753666"/>
          </a:xfrm>
          <a:prstGeom prst="roundRect">
            <a:avLst>
              <a:gd name="adj" fmla="val 8987"/>
            </a:avLst>
          </a:prstGeom>
          <a:solidFill>
            <a:srgbClr val="FEF9E7"/>
          </a:solidFill>
          <a:ln w="16933">
            <a:solidFill>
              <a:srgbClr val="F0C0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quation"/>
          <p:cNvSpPr txBox="1"/>
          <p:nvPr/>
        </p:nvSpPr>
        <p:spPr>
          <a:xfrm>
            <a:off x="711200" y="4353190"/>
            <a:ext cx="10769600" cy="245666"/>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sSup>
                            <m:e>
                              <m:r>
                                <m:rPr>
                                  <m:sty m:val="i"/>
                                </m:rPr>
                                <a:rPr lang="en-US" i="1" sz="1568">
                                  <a:latin typeface="Cambria Math"/>
                                </a:rPr>
                                <m:t>e</m:t>
                              </m:r>
                            </m:e>
                            <m:sup>
                              <m:box>
                                <m:e>
                                  <m:r>
                                    <m:rPr>
                                      <m:sty m:val="p"/>
                                    </m:rPr>
                                    <a:rPr lang="en-US" i="0" sz="1568">
                                      <a:latin typeface="Cambria Math"/>
                                    </a:rPr>
                                    <m:t>±</m:t>
                                  </m:r>
                                  <m:r>
                                    <m:rPr>
                                      <m:sty m:val="i"/>
                                    </m:rPr>
                                    <a:rPr lang="en-US" i="1" sz="1568">
                                      <a:latin typeface="Cambria Math"/>
                                    </a:rPr>
                                    <m:t>i</m:t>
                                  </m:r>
                                  <m:box>
                                    <m:e>
                                      <m:limUpp>
                                        <m:e>
                                          <m:r>
                                            <m:rPr>
                                              <m:sty m:val="i"/>
                                            </m:rPr>
                                            <a:rPr lang="en-US" i="1" sz="1568">
                                              <a:latin typeface="Cambria Math"/>
                                            </a:rPr>
                                            <m:t>φ</m:t>
                                          </m:r>
                                        </m:e>
                                        <m:lim>
                                          <m:r>
                                            <m:rPr>
                                              <m:sty m:val="p"/>
                                            </m:rPr>
                                            <a:rPr lang="en-US" i="0" sz="1568">
                                              <a:latin typeface="Cambria Math"/>
                                            </a:rPr>
                                            <m:t>^</m:t>
                                          </m:r>
                                        </m:lim>
                                      </m:limUpp>
                                    </m:e>
                                  </m:box>
                                </m:e>
                              </m:box>
                            </m:sup>
                          </m:sSup>
                          <m:r>
                            <m:rPr>
                              <m:sty m:val="p"/>
                            </m:rPr>
                            <a:rPr lang="en-US" i="0" sz="1568">
                              <a:latin typeface="Cambria Math"/>
                            </a:rPr>
                            <m:t>|</m:t>
                          </m:r>
                          <m:r>
                            <m:rPr>
                              <m:sty m:val="i"/>
                            </m:rPr>
                            <a:rPr lang="en-US" i="1" sz="1568">
                              <a:latin typeface="Cambria Math"/>
                            </a:rPr>
                            <m:t>n</m:t>
                          </m:r>
                          <m:r>
                            <m:rPr>
                              <m:sty m:val="p"/>
                            </m:rPr>
                            <a:rPr lang="en-US" i="0" sz="1568">
                              <a:latin typeface="Cambria Math"/>
                            </a:rPr>
                            <m:t>⟩</m:t>
                          </m:r>
                          <m:r>
                            <m:rPr>
                              <m:sty m:val="p"/>
                            </m:rPr>
                            <a:rPr lang="en-US" i="0" sz="1568">
                              <a:latin typeface="Cambria Math"/>
                            </a:rPr>
                            <m:t>=</m:t>
                          </m:r>
                          <m:r>
                            <m:rPr>
                              <m:sty m:val="p"/>
                            </m:rPr>
                            <a:rPr lang="en-US" i="0" sz="1568">
                              <a:latin typeface="Cambria Math"/>
                            </a:rPr>
                            <m:t>|</m:t>
                          </m:r>
                          <m:r>
                            <m:rPr>
                              <m:sty m:val="i"/>
                            </m:rPr>
                            <a:rPr lang="en-US" i="1" sz="1568">
                              <a:latin typeface="Cambria Math"/>
                            </a:rPr>
                            <m:t>n</m:t>
                          </m:r>
                          <m:r>
                            <m:rPr>
                              <m:sty m:val="p"/>
                            </m:rPr>
                            <a:rPr lang="en-US" i="0" sz="1568">
                              <a:latin typeface="Cambria Math"/>
                            </a:rPr>
                            <m:t>±</m:t>
                          </m:r>
                          <m:r>
                            <m:rPr>
                              <m:sty m:val="p"/>
                            </m:rPr>
                            <a:rPr lang="en-US" i="0" sz="1568">
                              <a:latin typeface="Cambria Math"/>
                            </a:rPr>
                            <m:t>1</m:t>
                          </m:r>
                          <m:r>
                            <m:rPr>
                              <m:sty m:val="p"/>
                            </m:rPr>
                            <a:rPr lang="en-US" i="0" sz="1568">
                              <a:latin typeface="Cambria Math"/>
                            </a:rPr>
                            <m:t>⟩</m:t>
                          </m:r>
                        </m:e>
                      </m:box>
                      <m:r>
                        <m:rPr>
                          <m:sty m:val="p"/>
                        </m:rPr>
                        <a:rPr lang="en-US" i="0" sz="1568">
                          <a:latin typeface="Cambria Math"/>
                        </a:rPr>
                        <m:t>.</m:t>
                      </m:r>
                    </m:oMath>
                  </m:oMathPara>
                </a14:m>
              </mc:Choice>
              <mc:Fallback>
                <a:r>
                  <a:rPr lang="en-US" sz="1567" i="1"/>
                  <a:t>
                    {e^{\pm i\hat{\varphi}}|n\rangle=|n\pm1\rangle}.
                    </a:t>
                </a:r>
              </mc:Fallback>
            </mc:AlternateContent>
          </a:p>
        </p:txBody>
      </p:sp>
      <p:sp>
        <p:nvSpPr>
          <p:cNvPr id="12" name="Rectangle 11"/>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4" name="TextBox 13"/>
          <p:cNvSpPr txBox="1"/>
          <p:nvPr/>
        </p:nvSpPr>
        <p:spPr>
          <a:xfrm>
            <a:off x="11240029" y="6565900"/>
            <a:ext cx="460904"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52 / 100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The Hamiltonian in the Charge Basis</a:t>
            </a:r>
          </a:p>
        </p:txBody>
      </p:sp>
      <p:sp>
        <p:nvSpPr>
          <p:cNvPr id="6" name="TextBox 5"/>
          <p:cNvSpPr txBox="1"/>
          <p:nvPr/>
        </p:nvSpPr>
        <p:spPr>
          <a:xfrm>
            <a:off x="575733" y="1452827"/>
            <a:ext cx="11040533" cy="551656"/>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Thus </a:t>
            </a:r>
            <mc:AlternateContent xmlns:mc="http://schemas.openxmlformats.org/markup-compatibility/2006">
              <mc:Choice xmlns:a14="http://schemas.microsoft.com/office/drawing/2010/main" Requires="a14">
                <a14:m>
                  <m:oMath xmlns:m="http://schemas.openxmlformats.org/officeDocument/2006/math">
                    <m:sSup>
                      <m:e>
                        <m:r>
                          <m:rPr>
                            <m:sty m:val="i"/>
                          </m:rPr>
                          <a:rPr lang="en-US" i="1" sz="1665">
                            <a:latin typeface="Cambria Math"/>
                          </a:rPr>
                          <m:t>e</m:t>
                        </m:r>
                      </m:e>
                      <m:sup>
                        <m:box>
                          <m:e>
                            <m:r>
                              <m:rPr>
                                <m:sty m:val="p"/>
                              </m:rPr>
                              <a:rPr lang="en-US" i="0" sz="1665">
                                <a:latin typeface="Cambria Math"/>
                              </a:rPr>
                              <m:t>±</m:t>
                            </m:r>
                            <m:r>
                              <m:rPr>
                                <m:sty m:val="i"/>
                              </m:rPr>
                              <a:rPr lang="en-US" i="1" sz="1665">
                                <a:latin typeface="Cambria Math"/>
                              </a:rPr>
                              <m:t>i</m:t>
                            </m:r>
                            <m:box>
                              <m:e>
                                <m:limUpp>
                                  <m:e>
                                    <m:r>
                                      <m:rPr>
                                        <m:sty m:val="i"/>
                                      </m:rPr>
                                      <a:rPr lang="en-US" i="1" sz="1665">
                                        <a:latin typeface="Cambria Math"/>
                                      </a:rPr>
                                      <m:t>φ</m:t>
                                    </m:r>
                                  </m:e>
                                  <m:lim>
                                    <m:r>
                                      <m:rPr>
                                        <m:sty m:val="p"/>
                                      </m:rPr>
                                      <a:rPr lang="en-US" i="0" sz="1665">
                                        <a:latin typeface="Cambria Math"/>
                                      </a:rPr>
                                      <m:t>^</m:t>
                                    </m:r>
                                  </m:lim>
                                </m:limUpp>
                              </m:e>
                            </m:box>
                          </m:e>
                        </m:box>
                      </m:sup>
                    </m:sSup>
                  </m:oMath>
                </a14:m>
              </mc:Choice>
              <mc:Fallback>
                <a:r>
                  <a:rPr lang="en-US" sz="1664" i="1"/>
                  <a:t>e^{\pm i\hat{\varphi}}</a:t>
                </a:r>
              </mc:Fallback>
            </mc:AlternateContent>
            <a:r>
              <a:rPr sz="1400" b="0" i="0">
                <a:solidFill>
                  <a:srgbClr val="4F4C56"/>
                </a:solidFill>
                <a:latin typeface="Montserrat"/>
                <a:ea typeface="Montserrat"/>
                <a:cs typeface="Montserrat"/>
              </a:rPr>
              <a:t> transfers one Cooper pair across the junction. Combining the charging and Josephson terms, the full Hamiltonian in the charge basis is:</a:t>
            </a:r>
          </a:p>
        </p:txBody>
      </p:sp>
      <p:sp>
        <p:nvSpPr>
          <p:cNvPr id="7" name="Rounded Rectangle 6"/>
          <p:cNvSpPr/>
          <p:nvPr/>
        </p:nvSpPr>
        <p:spPr>
          <a:xfrm>
            <a:off x="575733" y="2139950"/>
            <a:ext cx="11040533" cy="1021953"/>
          </a:xfrm>
          <a:prstGeom prst="roundRect">
            <a:avLst>
              <a:gd name="adj" fmla="val 6627"/>
            </a:avLst>
          </a:prstGeom>
          <a:solidFill>
            <a:srgbClr val="FEF9E7"/>
          </a:solidFill>
          <a:ln w="16933">
            <a:solidFill>
              <a:srgbClr val="F0C0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quation"/>
          <p:cNvSpPr txBox="1"/>
          <p:nvPr/>
        </p:nvSpPr>
        <p:spPr>
          <a:xfrm>
            <a:off x="711200" y="2393950"/>
            <a:ext cx="10769600" cy="513953"/>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box>
                            <m:e>
                              <m:limUpp>
                                <m:e>
                                  <m:r>
                                    <m:rPr>
                                      <m:sty m:val="i"/>
                                    </m:rPr>
                                    <a:rPr lang="en-US" i="1" sz="1568">
                                      <a:latin typeface="Cambria Math"/>
                                    </a:rPr>
                                    <m:t>H</m:t>
                                  </m:r>
                                </m:e>
                                <m:lim>
                                  <m:r>
                                    <m:rPr>
                                      <m:sty m:val="p"/>
                                    </m:rPr>
                                    <a:rPr lang="en-US" i="0" sz="1568">
                                      <a:latin typeface="Cambria Math"/>
                                    </a:rPr>
                                    <m:t>^</m:t>
                                  </m:r>
                                </m:lim>
                              </m:limUpp>
                            </m:e>
                          </m:box>
                          <m:r>
                            <m:rPr>
                              <m:sty m:val="p"/>
                            </m:rPr>
                            <a:rPr lang="en-US" i="0" sz="1568">
                              <a:latin typeface="Cambria Math"/>
                            </a:rPr>
                            <m:t>=</m:t>
                          </m:r>
                          <m:r>
                            <m:rPr>
                              <m:sty m:val="p"/>
                            </m:rPr>
                            <a:rPr lang="en-US" i="0" sz="1568">
                              <a:latin typeface="Cambria Math"/>
                            </a:rPr>
                            <m:t>4</m:t>
                          </m:r>
                          <m:sSub>
                            <m:e>
                              <m:r>
                                <m:rPr>
                                  <m:sty m:val="i"/>
                                </m:rPr>
                                <a:rPr lang="en-US" i="1" sz="1568">
                                  <a:latin typeface="Cambria Math"/>
                                </a:rPr>
                                <m:t>E</m:t>
                              </m:r>
                            </m:e>
                            <m:sub>
                              <m:r>
                                <m:rPr>
                                  <m:sty m:val="i"/>
                                </m:rPr>
                                <a:rPr lang="en-US" i="1" sz="1568">
                                  <a:latin typeface="Cambria Math"/>
                                </a:rPr>
                                <m:t>C</m:t>
                              </m:r>
                            </m:sub>
                          </m:sSub>
                          <m:nary>
                            <m:naryPr>
                              <m:chr m:val="∑"/>
                              <m:limLoc m:val="undOvr"/>
                            </m:naryPr>
                            <m:sub>
                              <m:box>
                                <m:e>
                                  <m:r>
                                    <m:rPr>
                                      <m:sty m:val="i"/>
                                    </m:rPr>
                                    <a:rPr lang="en-US" i="1" sz="1568">
                                      <a:latin typeface="Cambria Math"/>
                                    </a:rPr>
                                    <m:t>n</m:t>
                                  </m:r>
                                  <m:r>
                                    <m:rPr>
                                      <m:sty m:val="p"/>
                                    </m:rPr>
                                    <a:rPr lang="en-US" i="0" sz="1568">
                                      <a:latin typeface="Cambria Math"/>
                                    </a:rPr>
                                    <m:t>∈</m:t>
                                  </m:r>
                                  <m:box>
                                    <m:e>
                                      <m:r>
                                        <m:rPr>
                                          <m:scr m:val="double-struck"/>
                                          <m:sty m:val="i"/>
                                        </m:rPr>
                                        <a:rPr lang="en-US" i="1" sz="1568">
                                          <a:latin typeface="Cambria Math"/>
                                        </a:rPr>
                                        <m:t>Z</m:t>
                                      </m:r>
                                    </m:e>
                                  </m:box>
                                </m:e>
                              </m:box>
                            </m:sub>
                            <m:sup/>
                            <m:e>
                              <m:sSup>
                                <m:e>
                                  <m:r>
                                    <m:rPr>
                                      <m:sty m:val="i"/>
                                    </m:rPr>
                                    <a:rPr lang="en-US" i="1" sz="1568">
                                      <a:latin typeface="Cambria Math"/>
                                    </a:rPr>
                                    <m:t>n</m:t>
                                  </m:r>
                                </m:e>
                                <m:sup>
                                  <m:r>
                                    <m:rPr>
                                      <m:sty m:val="p"/>
                                    </m:rPr>
                                    <a:rPr lang="en-US" i="0" sz="1568">
                                      <a:latin typeface="Cambria Math"/>
                                    </a:rPr>
                                    <m:t>2</m:t>
                                  </m:r>
                                </m:sup>
                              </m:sSup>
                              <m:r>
                                <m:rPr>
                                  <m:sty m:val="p"/>
                                </m:rPr>
                                <a:rPr lang="en-US" i="0" sz="1568">
                                  <a:latin typeface="Cambria Math"/>
                                </a:rPr>
                                <m:t>|</m:t>
                              </m:r>
                              <m:r>
                                <m:rPr>
                                  <m:sty m:val="i"/>
                                </m:rPr>
                                <a:rPr lang="en-US" i="1" sz="1568">
                                  <a:latin typeface="Cambria Math"/>
                                </a:rPr>
                                <m:t>n</m:t>
                              </m:r>
                              <m:r>
                                <m:rPr>
                                  <m:sty m:val="p"/>
                                </m:rPr>
                                <a:rPr lang="en-US" i="0" sz="1568">
                                  <a:latin typeface="Cambria Math"/>
                                </a:rPr>
                                <m:t>⟩</m:t>
                              </m:r>
                              <m:r>
                                <m:rPr>
                                  <m:sty m:val="p"/>
                                </m:rPr>
                                <a:rPr lang="en-US" i="0" sz="1568">
                                  <a:latin typeface="Cambria Math"/>
                                </a:rPr>
                                <m:t>⟨</m:t>
                              </m:r>
                              <m:r>
                                <m:rPr>
                                  <m:sty m:val="i"/>
                                </m:rPr>
                                <a:rPr lang="en-US" i="1" sz="1568">
                                  <a:latin typeface="Cambria Math"/>
                                </a:rPr>
                                <m:t>n</m:t>
                              </m:r>
                              <m:r>
                                <m:rPr>
                                  <m:sty m:val="p"/>
                                </m:rPr>
                                <a:rPr lang="en-US" i="0" sz="1568">
                                  <a:latin typeface="Cambria Math"/>
                                </a:rPr>
                                <m:t>|</m:t>
                              </m:r>
                              <m:r>
                                <m:rPr>
                                  <m:sty m:val="p"/>
                                </m:rPr>
                                <a:rPr lang="en-US" i="0" sz="1568">
                                  <a:latin typeface="Cambria Math"/>
                                </a:rPr>
                                <m:t>−</m:t>
                              </m:r>
                              <m:f>
                                <m:num>
                                  <m:sSub>
                                    <m:e>
                                      <m:r>
                                        <m:rPr>
                                          <m:sty m:val="i"/>
                                        </m:rPr>
                                        <a:rPr lang="en-US" i="1" sz="1568">
                                          <a:latin typeface="Cambria Math"/>
                                        </a:rPr>
                                        <m:t>E</m:t>
                                      </m:r>
                                    </m:e>
                                    <m:sub>
                                      <m:r>
                                        <m:rPr>
                                          <m:sty m:val="i"/>
                                        </m:rPr>
                                        <a:rPr lang="en-US" i="1" sz="1568">
                                          <a:latin typeface="Cambria Math"/>
                                        </a:rPr>
                                        <m:t>J</m:t>
                                      </m:r>
                                    </m:sub>
                                  </m:sSub>
                                </m:num>
                                <m:den>
                                  <m:r>
                                    <m:rPr>
                                      <m:sty m:val="p"/>
                                    </m:rPr>
                                    <a:rPr lang="en-US" i="0" sz="1568">
                                      <a:latin typeface="Cambria Math"/>
                                    </a:rPr>
                                    <m:t>2</m:t>
                                  </m:r>
                                </m:den>
                              </m:f>
                              <m:nary>
                                <m:naryPr>
                                  <m:chr m:val="∑"/>
                                  <m:limLoc m:val="undOvr"/>
                                </m:naryPr>
                                <m:sub>
                                  <m:box>
                                    <m:e>
                                      <m:r>
                                        <m:rPr>
                                          <m:sty m:val="i"/>
                                        </m:rPr>
                                        <a:rPr lang="en-US" i="1" sz="1568">
                                          <a:latin typeface="Cambria Math"/>
                                        </a:rPr>
                                        <m:t>n</m:t>
                                      </m:r>
                                      <m:r>
                                        <m:rPr>
                                          <m:sty m:val="p"/>
                                        </m:rPr>
                                        <a:rPr lang="en-US" i="0" sz="1568">
                                          <a:latin typeface="Cambria Math"/>
                                        </a:rPr>
                                        <m:t>∈</m:t>
                                      </m:r>
                                      <m:box>
                                        <m:e>
                                          <m:r>
                                            <m:rPr>
                                              <m:scr m:val="double-struck"/>
                                              <m:sty m:val="i"/>
                                            </m:rPr>
                                            <a:rPr lang="en-US" i="1" sz="1568">
                                              <a:latin typeface="Cambria Math"/>
                                            </a:rPr>
                                            <m:t>Z</m:t>
                                          </m:r>
                                        </m:e>
                                      </m:box>
                                    </m:e>
                                  </m:box>
                                </m:sub>
                                <m:sup/>
                                <m:e>
                                  <m:box>
                                    <m:e>
                                      <m:d>
                                        <m:dPr>
                                          <m:begChr m:val="("/>
                                          <m:endChr m:val=")"/>
                                        </m:dPr>
                                        <m:e>
                                          <m:box>
                                            <m:e>
                                              <m:r>
                                                <m:rPr>
                                                  <m:sty m:val="p"/>
                                                </m:rPr>
                                                <a:rPr lang="en-US" i="0" sz="1568">
                                                  <a:latin typeface="Cambria Math"/>
                                                </a:rPr>
                                                <m:t>|</m:t>
                                              </m:r>
                                              <m:r>
                                                <m:rPr>
                                                  <m:sty m:val="i"/>
                                                </m:rPr>
                                                <a:rPr lang="en-US" i="1" sz="1568">
                                                  <a:latin typeface="Cambria Math"/>
                                                </a:rPr>
                                                <m:t>n</m:t>
                                              </m:r>
                                              <m:r>
                                                <m:rPr>
                                                  <m:sty m:val="p"/>
                                                </m:rPr>
                                                <a:rPr lang="en-US" i="0" sz="1568">
                                                  <a:latin typeface="Cambria Math"/>
                                                </a:rPr>
                                                <m:t>+</m:t>
                                              </m:r>
                                              <m:r>
                                                <m:rPr>
                                                  <m:sty m:val="p"/>
                                                </m:rPr>
                                                <a:rPr lang="en-US" i="0" sz="1568">
                                                  <a:latin typeface="Cambria Math"/>
                                                </a:rPr>
                                                <m:t>1</m:t>
                                              </m:r>
                                              <m:r>
                                                <m:rPr>
                                                  <m:sty m:val="p"/>
                                                </m:rPr>
                                                <a:rPr lang="en-US" i="0" sz="1568">
                                                  <a:latin typeface="Cambria Math"/>
                                                </a:rPr>
                                                <m:t>⟩</m:t>
                                              </m:r>
                                              <m:r>
                                                <m:rPr>
                                                  <m:sty m:val="p"/>
                                                </m:rPr>
                                                <a:rPr lang="en-US" i="0" sz="1568">
                                                  <a:latin typeface="Cambria Math"/>
                                                </a:rPr>
                                                <m:t>⟨</m:t>
                                              </m:r>
                                              <m:r>
                                                <m:rPr>
                                                  <m:sty m:val="i"/>
                                                </m:rPr>
                                                <a:rPr lang="en-US" i="1" sz="1568">
                                                  <a:latin typeface="Cambria Math"/>
                                                </a:rPr>
                                                <m:t>n</m:t>
                                              </m:r>
                                              <m:r>
                                                <m:rPr>
                                                  <m:sty m:val="p"/>
                                                </m:rPr>
                                                <a:rPr lang="en-US" i="0" sz="1568">
                                                  <a:latin typeface="Cambria Math"/>
                                                </a:rPr>
                                                <m:t>|</m:t>
                                              </m:r>
                                              <m:r>
                                                <m:rPr>
                                                  <m:sty m:val="p"/>
                                                </m:rPr>
                                                <a:rPr lang="en-US" i="0" sz="1568">
                                                  <a:latin typeface="Cambria Math"/>
                                                </a:rPr>
                                                <m:t>+</m:t>
                                              </m:r>
                                              <m:r>
                                                <m:rPr>
                                                  <m:sty m:val="p"/>
                                                </m:rPr>
                                                <a:rPr lang="en-US" i="0" sz="1568">
                                                  <a:latin typeface="Cambria Math"/>
                                                </a:rPr>
                                                <m:t>|</m:t>
                                              </m:r>
                                              <m:r>
                                                <m:rPr>
                                                  <m:sty m:val="i"/>
                                                </m:rPr>
                                                <a:rPr lang="en-US" i="1" sz="1568">
                                                  <a:latin typeface="Cambria Math"/>
                                                </a:rPr>
                                                <m:t>n</m:t>
                                              </m:r>
                                              <m:r>
                                                <m:rPr>
                                                  <m:sty m:val="p"/>
                                                </m:rPr>
                                                <a:rPr lang="en-US" i="0" sz="1568">
                                                  <a:latin typeface="Cambria Math"/>
                                                </a:rPr>
                                                <m:t>⟩</m:t>
                                              </m:r>
                                              <m:r>
                                                <m:rPr>
                                                  <m:sty m:val="p"/>
                                                </m:rPr>
                                                <a:rPr lang="en-US" i="0" sz="1568">
                                                  <a:latin typeface="Cambria Math"/>
                                                </a:rPr>
                                                <m:t>⟨</m:t>
                                              </m:r>
                                              <m:r>
                                                <m:rPr>
                                                  <m:sty m:val="i"/>
                                                </m:rPr>
                                                <a:rPr lang="en-US" i="1" sz="1568">
                                                  <a:latin typeface="Cambria Math"/>
                                                </a:rPr>
                                                <m:t>n</m:t>
                                              </m:r>
                                              <m:r>
                                                <m:rPr>
                                                  <m:sty m:val="p"/>
                                                </m:rPr>
                                                <a:rPr lang="en-US" i="0" sz="1568">
                                                  <a:latin typeface="Cambria Math"/>
                                                </a:rPr>
                                                <m:t>+</m:t>
                                              </m:r>
                                              <m:r>
                                                <m:rPr>
                                                  <m:sty m:val="p"/>
                                                </m:rPr>
                                                <a:rPr lang="en-US" i="0" sz="1568">
                                                  <a:latin typeface="Cambria Math"/>
                                                </a:rPr>
                                                <m:t>1</m:t>
                                              </m:r>
                                              <m:r>
                                                <m:rPr>
                                                  <m:sty m:val="p"/>
                                                </m:rPr>
                                                <a:rPr lang="en-US" i="0" sz="1568">
                                                  <a:latin typeface="Cambria Math"/>
                                                </a:rPr>
                                                <m:t>|</m:t>
                                              </m:r>
                                            </m:e>
                                          </m:box>
                                        </m:e>
                                      </m:d>
                                    </m:e>
                                  </m:box>
                                </m:e>
                              </m:nary>
                            </m:e>
                          </m:nary>
                        </m:e>
                      </m:box>
                      <m:r>
                        <m:rPr>
                          <m:sty m:val="p"/>
                        </m:rPr>
                        <a:rPr lang="en-US" i="0" sz="1568">
                          <a:latin typeface="Cambria Math"/>
                        </a:rPr>
                        <m:t>.</m:t>
                      </m:r>
                    </m:oMath>
                  </m:oMathPara>
                </a14:m>
              </mc:Choice>
              <mc:Fallback>
                <a:r>
                  <a:rPr lang="en-US" sz="1567" i="1"/>
                  <a:t>
                    {\hat{H}
                    =4E_C\sum_{n\in\mathbb{Z}}n^2|n\rangle\langle n|
                    -\frac{E_J}{2}\sum_{n\in\mathbb{Z}}
                    \left(|n+1\rangle\langle n|+|n\rangle\langle n+1|\right)}.
                    </a:t>
                </a:r>
              </mc:Fallback>
            </mc:AlternateContent>
          </a:p>
        </p:txBody>
      </p:sp>
      <p:sp>
        <p:nvSpPr>
          <p:cNvPr id="9" name="Rectangle 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1" name="TextBox 10"/>
          <p:cNvSpPr txBox="1"/>
          <p:nvPr/>
        </p:nvSpPr>
        <p:spPr>
          <a:xfrm>
            <a:off x="11239765" y="6565900"/>
            <a:ext cx="461169"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53 / 100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449924"/>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When Is </a:t>
            </a:r>
            <mc:AlternateContent xmlns:mc="http://schemas.openxmlformats.org/markup-compatibility/2006">
              <mc:Choice xmlns:a14="http://schemas.microsoft.com/office/drawing/2010/main" Requires="a14">
                <a14:m>
                  <m:oMath xmlns:m="http://schemas.openxmlformats.org/officeDocument/2006/math">
                    <m:r>
                      <m:rPr>
                        <m:sty m:val="i"/>
                      </m:rPr>
                      <a:rPr lang="en-US" i="1" sz="3408">
                        <a:latin typeface="Cambria Math"/>
                      </a:rPr>
                      <m:t>φ</m:t>
                    </m:r>
                    <m:r>
                      <m:rPr>
                        <m:sty m:val="p"/>
                      </m:rPr>
                      <a:rPr lang="en-US" i="0" sz="3408">
                        <a:latin typeface="Cambria Math"/>
                      </a:rPr>
                      <m:t>≡</m:t>
                    </m:r>
                    <m:r>
                      <m:rPr>
                        <m:sty m:val="i"/>
                      </m:rPr>
                      <a:rPr lang="en-US" i="1" sz="3408">
                        <a:latin typeface="Cambria Math"/>
                      </a:rPr>
                      <m:t>φ</m:t>
                    </m:r>
                    <m:r>
                      <m:rPr>
                        <m:sty m:val="p"/>
                      </m:rPr>
                      <a:rPr lang="en-US" i="0" sz="3408">
                        <a:latin typeface="Cambria Math"/>
                      </a:rPr>
                      <m:t>+</m:t>
                    </m:r>
                    <m:r>
                      <m:rPr>
                        <m:sty m:val="p"/>
                      </m:rPr>
                      <a:rPr lang="en-US" i="0" sz="3408">
                        <a:latin typeface="Cambria Math"/>
                      </a:rPr>
                      <m:t>2</m:t>
                    </m:r>
                    <m:r>
                      <m:rPr>
                        <m:sty m:val="i"/>
                      </m:rPr>
                      <a:rPr lang="en-US" i="1" sz="3408">
                        <a:latin typeface="Cambria Math"/>
                      </a:rPr>
                      <m:t>π</m:t>
                    </m:r>
                  </m:oMath>
                </a14:m>
              </mc:Choice>
              <mc:Fallback>
                <a:r>
                  <a:rPr lang="en-US" sz="3408" i="1"/>
                  <a:t>\varphi\equiv\varphi+2\pi</a:t>
                </a:r>
              </mc:Fallback>
            </mc:AlternateContent>
            <a:r>
              <a:rPr sz="2870" b="1" i="0">
                <a:solidFill>
                  <a:srgbClr val="22232A"/>
                </a:solidFill>
                <a:latin typeface="Montserrat"/>
                <a:ea typeface="Montserrat"/>
                <a:cs typeface="Montserrat"/>
              </a:rPr>
              <a:t> the Right Statement?</a:t>
            </a:r>
          </a:p>
        </p:txBody>
      </p:sp>
      <p:sp>
        <p:nvSpPr>
          <p:cNvPr id="6" name="Rounded Rectangle 5"/>
          <p:cNvSpPr/>
          <p:nvPr/>
        </p:nvSpPr>
        <p:spPr>
          <a:xfrm>
            <a:off x="575733" y="1465924"/>
            <a:ext cx="5461000" cy="1848379"/>
          </a:xfrm>
          <a:prstGeom prst="roundRect">
            <a:avLst>
              <a:gd name="adj" fmla="val 4580"/>
            </a:avLst>
          </a:prstGeom>
          <a:solidFill>
            <a:srgbClr val="FB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75733" y="1465924"/>
            <a:ext cx="5461000" cy="33867"/>
          </a:xfrm>
          <a:prstGeom prst="rect">
            <a:avLst/>
          </a:prstGeom>
          <a:solidFill>
            <a:srgbClr val="5F4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28267" y="1465924"/>
            <a:ext cx="8467" cy="1848379"/>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5733" y="3305836"/>
            <a:ext cx="5461000" cy="8467"/>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5733" y="1465924"/>
            <a:ext cx="8467" cy="1848379"/>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9667" y="1618324"/>
            <a:ext cx="5173133" cy="226483"/>
          </a:xfrm>
          <a:prstGeom prst="rect">
            <a:avLst/>
          </a:prstGeom>
          <a:noFill/>
        </p:spPr>
        <p:txBody>
          <a:bodyPr wrap="none" lIns="0" rIns="0" tIns="0" bIns="0" anchor="t">
            <a:noAutofit/>
          </a:bodyPr>
          <a:lstStyle/>
          <a:p>
            <a:pPr algn="l">
              <a:lnSpc>
                <a:spcPts val="1780"/>
              </a:lnSpc>
            </a:pPr>
            <a:r>
              <a:rPr sz="1370" b="0" i="0">
                <a:solidFill>
                  <a:srgbClr val="302840"/>
                </a:solidFill>
                <a:latin typeface="Montserrat"/>
                <a:ea typeface="Montserrat"/>
                <a:cs typeface="Montserrat"/>
              </a:rPr>
              <a:t>Josephson element: observables are periodic</a:t>
            </a:r>
          </a:p>
        </p:txBody>
      </p:sp>
      <p:sp>
        <p:nvSpPr>
          <p:cNvPr id="12" name="equation"/>
          <p:cNvSpPr txBox="1"/>
          <p:nvPr/>
        </p:nvSpPr>
        <p:spPr>
          <a:xfrm>
            <a:off x="719667" y="1997207"/>
            <a:ext cx="5173133" cy="163116"/>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286">
                          <a:latin typeface="Cambria Math"/>
                        </a:rPr>
                        <m:t>I</m:t>
                      </m:r>
                      <m:r>
                        <m:rPr>
                          <m:sty m:val="p"/>
                        </m:rPr>
                        <a:rPr lang="en-US" i="0" sz="1286">
                          <a:latin typeface="Cambria Math"/>
                        </a:rPr>
                        <m:t>(</m:t>
                      </m:r>
                      <m:r>
                        <m:rPr>
                          <m:sty m:val="i"/>
                        </m:rPr>
                        <a:rPr lang="en-US" i="1" sz="1286">
                          <a:latin typeface="Cambria Math"/>
                        </a:rPr>
                        <m:t>φ</m:t>
                      </m:r>
                      <m:r>
                        <m:rPr>
                          <m:sty m:val="p"/>
                        </m:rPr>
                        <a:rPr lang="en-US" i="0" sz="1286">
                          <a:latin typeface="Cambria Math"/>
                        </a:rPr>
                        <m:t>)</m:t>
                      </m:r>
                      <m:r>
                        <m:rPr>
                          <m:sty m:val="p"/>
                        </m:rPr>
                        <a:rPr lang="en-US" i="0" sz="1286">
                          <a:latin typeface="Cambria Math"/>
                        </a:rPr>
                        <m:t>=</m:t>
                      </m:r>
                      <m:sSub>
                        <m:e>
                          <m:r>
                            <m:rPr>
                              <m:sty m:val="i"/>
                            </m:rPr>
                            <a:rPr lang="en-US" i="1" sz="1286">
                              <a:latin typeface="Cambria Math"/>
                            </a:rPr>
                            <m:t>I</m:t>
                          </m:r>
                        </m:e>
                        <m:sub>
                          <m:r>
                            <m:rPr>
                              <m:sty m:val="i"/>
                            </m:rPr>
                            <a:rPr lang="en-US" i="1" sz="1286">
                              <a:latin typeface="Cambria Math"/>
                            </a:rPr>
                            <m:t>c</m:t>
                          </m:r>
                        </m:sub>
                      </m:sSub>
                      <m:r>
                        <m:rPr>
                          <m:sty m:val="p"/>
                        </m:rPr>
                        <a:rPr lang="en-US" i="0" sz="1286">
                          <a:latin typeface="Cambria Math"/>
                        </a:rPr>
                        <m:t>sin</m:t>
                      </m:r>
                      <m:r>
                        <m:rPr>
                          <m:sty m:val="p"/>
                        </m:rPr>
                        <a:rPr lang="en-US" i="0" sz="1286">
                          <a:latin typeface="Cambria Math"/>
                        </a:rPr>
                        <m:t/>
                      </m:r>
                      <m:r>
                        <m:rPr>
                          <m:sty m:val="i"/>
                        </m:rPr>
                        <a:rPr lang="en-US" i="1" sz="1286">
                          <a:latin typeface="Cambria Math"/>
                        </a:rPr>
                        <m:t>φ</m:t>
                      </m:r>
                      <m:r>
                        <m:rPr>
                          <m:sty m:val="p"/>
                        </m:rPr>
                        <a:rPr lang="en-US" i="0" sz="1286">
                          <a:latin typeface="Cambria Math"/>
                        </a:rPr>
                        <m:t>,</m:t>
                      </m:r>
                      <m:box>
                        <m:e>
                          <m:r>
                            <a:rPr lang="en-US" i="1" sz="1286">
                              <a:latin typeface="Cambria Math"/>
                            </a:rPr>
                            <m:t/>
                          </m:r>
                        </m:e>
                      </m:box>
                      <m:sSub>
                        <m:e>
                          <m:r>
                            <m:rPr>
                              <m:sty m:val="i"/>
                            </m:rPr>
                            <a:rPr lang="en-US" i="1" sz="1286">
                              <a:latin typeface="Cambria Math"/>
                            </a:rPr>
                            <m:t>U</m:t>
                          </m:r>
                        </m:e>
                        <m:sub>
                          <m:r>
                            <m:rPr>
                              <m:sty m:val="i"/>
                            </m:rPr>
                            <a:rPr lang="en-US" i="1" sz="1286">
                              <a:latin typeface="Cambria Math"/>
                            </a:rPr>
                            <m:t>J</m:t>
                          </m:r>
                        </m:sub>
                      </m:sSub>
                      <m:r>
                        <m:rPr>
                          <m:sty m:val="p"/>
                        </m:rPr>
                        <a:rPr lang="en-US" i="0" sz="1286">
                          <a:latin typeface="Cambria Math"/>
                        </a:rPr>
                        <m:t>(</m:t>
                      </m:r>
                      <m:r>
                        <m:rPr>
                          <m:sty m:val="i"/>
                        </m:rPr>
                        <a:rPr lang="en-US" i="1" sz="1286">
                          <a:latin typeface="Cambria Math"/>
                        </a:rPr>
                        <m:t>φ</m:t>
                      </m:r>
                      <m:r>
                        <m:rPr>
                          <m:sty m:val="p"/>
                        </m:rPr>
                        <a:rPr lang="en-US" i="0" sz="1286">
                          <a:latin typeface="Cambria Math"/>
                        </a:rPr>
                        <m:t>)</m:t>
                      </m:r>
                      <m:r>
                        <m:rPr>
                          <m:sty m:val="p"/>
                        </m:rPr>
                        <a:rPr lang="en-US" i="0" sz="1286">
                          <a:latin typeface="Cambria Math"/>
                        </a:rPr>
                        <m:t>=</m:t>
                      </m:r>
                      <m:r>
                        <m:rPr>
                          <m:sty m:val="p"/>
                        </m:rPr>
                        <a:rPr lang="en-US" i="0" sz="1286">
                          <a:latin typeface="Cambria Math"/>
                        </a:rPr>
                        <m:t>−</m:t>
                      </m:r>
                      <m:sSub>
                        <m:e>
                          <m:r>
                            <m:rPr>
                              <m:sty m:val="i"/>
                            </m:rPr>
                            <a:rPr lang="en-US" i="1" sz="1286">
                              <a:latin typeface="Cambria Math"/>
                            </a:rPr>
                            <m:t>E</m:t>
                          </m:r>
                        </m:e>
                        <m:sub>
                          <m:r>
                            <m:rPr>
                              <m:sty m:val="i"/>
                            </m:rPr>
                            <a:rPr lang="en-US" i="1" sz="1286">
                              <a:latin typeface="Cambria Math"/>
                            </a:rPr>
                            <m:t>J</m:t>
                          </m:r>
                        </m:sub>
                      </m:sSub>
                      <m:r>
                        <m:rPr>
                          <m:sty m:val="p"/>
                        </m:rPr>
                        <a:rPr lang="en-US" i="0" sz="1286">
                          <a:latin typeface="Cambria Math"/>
                        </a:rPr>
                        <m:t>cos</m:t>
                      </m:r>
                      <m:r>
                        <m:rPr>
                          <m:sty m:val="p"/>
                        </m:rPr>
                        <a:rPr lang="en-US" i="0" sz="1286">
                          <a:latin typeface="Cambria Math"/>
                        </a:rPr>
                        <m:t/>
                      </m:r>
                      <m:r>
                        <m:rPr>
                          <m:sty m:val="i"/>
                        </m:rPr>
                        <a:rPr lang="en-US" i="1" sz="1286">
                          <a:latin typeface="Cambria Math"/>
                        </a:rPr>
                        <m:t>φ</m:t>
                      </m:r>
                      <m:r>
                        <m:rPr>
                          <m:sty m:val="p"/>
                        </m:rPr>
                        <a:rPr lang="en-US" i="0" sz="1286">
                          <a:latin typeface="Cambria Math"/>
                        </a:rPr>
                        <m:t>,</m:t>
                      </m:r>
                      <m:box>
                        <m:e>
                          <m:r>
                            <a:rPr lang="en-US" i="1" sz="1286">
                              <a:latin typeface="Cambria Math"/>
                            </a:rPr>
                            <m:t/>
                          </m:r>
                        </m:e>
                      </m:box>
                      <m:sSub>
                        <m:e>
                          <m:r>
                            <m:rPr>
                              <m:sty m:val="i"/>
                            </m:rPr>
                            <a:rPr lang="en-US" i="1" sz="1286">
                              <a:latin typeface="Cambria Math"/>
                            </a:rPr>
                            <m:t>U</m:t>
                          </m:r>
                        </m:e>
                        <m:sub>
                          <m:r>
                            <m:rPr>
                              <m:sty m:val="i"/>
                            </m:rPr>
                            <a:rPr lang="en-US" i="1" sz="1286">
                              <a:latin typeface="Cambria Math"/>
                            </a:rPr>
                            <m:t>J</m:t>
                          </m:r>
                        </m:sub>
                      </m:sSub>
                      <m:r>
                        <m:rPr>
                          <m:sty m:val="p"/>
                        </m:rPr>
                        <a:rPr lang="en-US" i="0" sz="1286">
                          <a:latin typeface="Cambria Math"/>
                        </a:rPr>
                        <m:t>(</m:t>
                      </m:r>
                      <m:r>
                        <m:rPr>
                          <m:sty m:val="i"/>
                        </m:rPr>
                        <a:rPr lang="en-US" i="1" sz="1286">
                          <a:latin typeface="Cambria Math"/>
                        </a:rPr>
                        <m:t>φ</m:t>
                      </m:r>
                      <m:r>
                        <m:rPr>
                          <m:sty m:val="p"/>
                        </m:rPr>
                        <a:rPr lang="en-US" i="0" sz="1286">
                          <a:latin typeface="Cambria Math"/>
                        </a:rPr>
                        <m:t>+</m:t>
                      </m:r>
                      <m:r>
                        <m:rPr>
                          <m:sty m:val="p"/>
                        </m:rPr>
                        <a:rPr lang="en-US" i="0" sz="1286">
                          <a:latin typeface="Cambria Math"/>
                        </a:rPr>
                        <m:t>2</m:t>
                      </m:r>
                      <m:r>
                        <m:rPr>
                          <m:sty m:val="i"/>
                        </m:rPr>
                        <a:rPr lang="en-US" i="1" sz="1286">
                          <a:latin typeface="Cambria Math"/>
                        </a:rPr>
                        <m:t>π</m:t>
                      </m:r>
                      <m:r>
                        <m:rPr>
                          <m:sty m:val="p"/>
                        </m:rPr>
                        <a:rPr lang="en-US" i="0" sz="1286">
                          <a:latin typeface="Cambria Math"/>
                        </a:rPr>
                        <m:t>)</m:t>
                      </m:r>
                      <m:r>
                        <m:rPr>
                          <m:sty m:val="p"/>
                        </m:rPr>
                        <a:rPr lang="en-US" i="0" sz="1286">
                          <a:latin typeface="Cambria Math"/>
                        </a:rPr>
                        <m:t>=</m:t>
                      </m:r>
                      <m:sSub>
                        <m:e>
                          <m:r>
                            <m:rPr>
                              <m:sty m:val="i"/>
                            </m:rPr>
                            <a:rPr lang="en-US" i="1" sz="1286">
                              <a:latin typeface="Cambria Math"/>
                            </a:rPr>
                            <m:t>U</m:t>
                          </m:r>
                        </m:e>
                        <m:sub>
                          <m:r>
                            <m:rPr>
                              <m:sty m:val="i"/>
                            </m:rPr>
                            <a:rPr lang="en-US" i="1" sz="1286">
                              <a:latin typeface="Cambria Math"/>
                            </a:rPr>
                            <m:t>J</m:t>
                          </m:r>
                        </m:sub>
                      </m:sSub>
                      <m:r>
                        <m:rPr>
                          <m:sty m:val="p"/>
                        </m:rPr>
                        <a:rPr lang="en-US" i="0" sz="1286">
                          <a:latin typeface="Cambria Math"/>
                        </a:rPr>
                        <m:t>(</m:t>
                      </m:r>
                      <m:r>
                        <m:rPr>
                          <m:sty m:val="i"/>
                        </m:rPr>
                        <a:rPr lang="en-US" i="1" sz="1286">
                          <a:latin typeface="Cambria Math"/>
                        </a:rPr>
                        <m:t>φ</m:t>
                      </m:r>
                      <m:r>
                        <m:rPr>
                          <m:sty m:val="p"/>
                        </m:rPr>
                        <a:rPr lang="en-US" i="0" sz="1286">
                          <a:latin typeface="Cambria Math"/>
                        </a:rPr>
                        <m:t>)</m:t>
                      </m:r>
                      <m:r>
                        <m:rPr>
                          <m:sty m:val="p"/>
                        </m:rPr>
                        <a:rPr lang="en-US" i="0" sz="1286">
                          <a:latin typeface="Cambria Math"/>
                        </a:rPr>
                        <m:t>.</m:t>
                      </m:r>
                    </m:oMath>
                  </m:oMathPara>
                </a14:m>
              </mc:Choice>
              <mc:Fallback>
                <a:r>
                  <a:rPr lang="en-US" sz="1285" i="1"/>
                  <a:t>
                        I(\varphi)=I_c\sin\varphi,\qquad U_J(\varphi)=-E_J\cos\varphi,
                        \qquad U_J(\varphi+2\pi)=U_J(\varphi).
                        </a:t>
                </a:r>
              </mc:Fallback>
            </mc:AlternateContent>
          </a:p>
        </p:txBody>
      </p:sp>
      <p:sp>
        <p:nvSpPr>
          <p:cNvPr id="13" name="TextBox 12"/>
          <p:cNvSpPr txBox="1"/>
          <p:nvPr/>
        </p:nvSpPr>
        <p:spPr>
          <a:xfrm>
            <a:off x="719667" y="2312723"/>
            <a:ext cx="5173133" cy="393435"/>
          </a:xfrm>
          <a:prstGeom prst="rect">
            <a:avLst/>
          </a:prstGeom>
          <a:noFill/>
        </p:spPr>
        <p:txBody>
          <a:bodyPr wrap="square" lIns="0" rIns="0" tIns="0" bIns="0" anchor="t">
            <a:noAutofit/>
          </a:bodyPr>
          <a:lstStyle/>
          <a:p>
            <a:pPr algn="l">
              <a:lnSpc>
                <a:spcPts val="1550"/>
              </a:lnSpc>
            </a:pPr>
            <a:r>
              <a:rPr sz="1150" b="0" i="0">
                <a:solidFill>
                  <a:srgbClr val="4F4C56"/>
                </a:solidFill>
                <a:latin typeface="Montserrat"/>
                <a:ea typeface="Montserrat"/>
                <a:cs typeface="Montserrat"/>
              </a:rPr>
              <a:t>The relative condensate phase is angular. A phase advance by </a:t>
            </a:r>
            <mc:AlternateContent xmlns:mc="http://schemas.openxmlformats.org/markup-compatibility/2006">
              <mc:Choice xmlns:a14="http://schemas.microsoft.com/office/drawing/2010/main" Requires="a14">
                <a14:m>
                  <m:oMath xmlns:m="http://schemas.openxmlformats.org/officeDocument/2006/math">
                    <m:r>
                      <m:rPr>
                        <m:sty m:val="p"/>
                      </m:rPr>
                      <a:rPr lang="en-US" i="0" sz="1365">
                        <a:latin typeface="Cambria Math"/>
                      </a:rPr>
                      <m:t>2</m:t>
                    </m:r>
                    <m:r>
                      <m:rPr>
                        <m:sty m:val="i"/>
                      </m:rPr>
                      <a:rPr lang="en-US" i="1" sz="1365">
                        <a:latin typeface="Cambria Math"/>
                      </a:rPr>
                      <m:t>π</m:t>
                    </m:r>
                  </m:oMath>
                </a14:m>
              </mc:Choice>
              <mc:Fallback>
                <a:r>
                  <a:rPr lang="en-US" sz="1364" i="1"/>
                  <a:t>2\pi</a:t>
                </a:r>
              </mc:Fallback>
            </mc:AlternateContent>
            <a:r>
              <a:rPr sz="1150" b="0" i="0">
                <a:solidFill>
                  <a:srgbClr val="4F4C56"/>
                </a:solidFill>
                <a:latin typeface="Montserrat"/>
                <a:ea typeface="Montserrat"/>
                <a:cs typeface="Montserrat"/>
              </a:rPr>
              <a:t> returns the local Josephson energy and current to the same value.</a:t>
            </a:r>
          </a:p>
        </p:txBody>
      </p:sp>
      <p:sp>
        <p:nvSpPr>
          <p:cNvPr id="14" name="Rounded Rectangle 13"/>
          <p:cNvSpPr/>
          <p:nvPr/>
        </p:nvSpPr>
        <p:spPr>
          <a:xfrm>
            <a:off x="6155267" y="1465924"/>
            <a:ext cx="5461000" cy="1848379"/>
          </a:xfrm>
          <a:prstGeom prst="roundRect">
            <a:avLst>
              <a:gd name="adj" fmla="val 4580"/>
            </a:avLst>
          </a:prstGeom>
          <a:solidFill>
            <a:srgbClr val="FB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155267" y="1465924"/>
            <a:ext cx="5461000" cy="33867"/>
          </a:xfrm>
          <a:prstGeom prst="rect">
            <a:avLst/>
          </a:prstGeom>
          <a:solidFill>
            <a:srgbClr val="5F4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607800" y="1465924"/>
            <a:ext cx="8467" cy="1848379"/>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55267" y="3305836"/>
            <a:ext cx="5461000" cy="8467"/>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55267" y="1465924"/>
            <a:ext cx="8467" cy="1848379"/>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99200" y="1618324"/>
            <a:ext cx="5173133" cy="226483"/>
          </a:xfrm>
          <a:prstGeom prst="rect">
            <a:avLst/>
          </a:prstGeom>
          <a:noFill/>
        </p:spPr>
        <p:txBody>
          <a:bodyPr wrap="none" lIns="0" rIns="0" tIns="0" bIns="0" anchor="t">
            <a:noAutofit/>
          </a:bodyPr>
          <a:lstStyle/>
          <a:p>
            <a:pPr algn="l">
              <a:lnSpc>
                <a:spcPts val="1780"/>
              </a:lnSpc>
            </a:pPr>
            <a:r>
              <a:rPr sz="1370" b="0" i="0">
                <a:solidFill>
                  <a:srgbClr val="302840"/>
                </a:solidFill>
                <a:latin typeface="Montserrat"/>
                <a:ea typeface="Montserrat"/>
                <a:cs typeface="Montserrat"/>
              </a:rPr>
              <a:t>Isolated island: compact configuration space</a:t>
            </a:r>
          </a:p>
        </p:txBody>
      </p:sp>
      <p:sp>
        <p:nvSpPr>
          <p:cNvPr id="20" name="TextBox 19"/>
          <p:cNvSpPr txBox="1"/>
          <p:nvPr/>
        </p:nvSpPr>
        <p:spPr>
          <a:xfrm>
            <a:off x="6299200" y="1895607"/>
            <a:ext cx="5173133" cy="393435"/>
          </a:xfrm>
          <a:prstGeom prst="rect">
            <a:avLst/>
          </a:prstGeom>
          <a:noFill/>
        </p:spPr>
        <p:txBody>
          <a:bodyPr wrap="square" lIns="0" rIns="0" tIns="0" bIns="0" anchor="t">
            <a:noAutofit/>
          </a:bodyPr>
          <a:lstStyle/>
          <a:p>
            <a:pPr algn="l">
              <a:lnSpc>
                <a:spcPts val="1550"/>
              </a:lnSpc>
            </a:pPr>
            <a:r>
              <a:rPr sz="1150" b="0" i="0">
                <a:solidFill>
                  <a:srgbClr val="4F4C56"/>
                </a:solidFill>
                <a:latin typeface="Montserrat"/>
                <a:ea typeface="Montserrat"/>
                <a:cs typeface="Montserrat"/>
              </a:rPr>
              <a:t>For a Cooper-pair box or transmon, wavefunctions obey a twisted boundary condition</a:t>
            </a:r>
          </a:p>
        </p:txBody>
      </p:sp>
      <p:sp>
        <p:nvSpPr>
          <p:cNvPr id="21" name="equation"/>
          <p:cNvSpPr txBox="1"/>
          <p:nvPr/>
        </p:nvSpPr>
        <p:spPr>
          <a:xfrm>
            <a:off x="6299200" y="2441443"/>
            <a:ext cx="5173133" cy="184944"/>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286">
                          <a:latin typeface="Cambria Math"/>
                        </a:rPr>
                        <m:t>ψ</m:t>
                      </m:r>
                      <m:r>
                        <m:rPr>
                          <m:sty m:val="p"/>
                        </m:rPr>
                        <a:rPr lang="en-US" i="0" sz="1286">
                          <a:latin typeface="Cambria Math"/>
                        </a:rPr>
                        <m:t>(</m:t>
                      </m:r>
                      <m:r>
                        <m:rPr>
                          <m:sty m:val="i"/>
                        </m:rPr>
                        <a:rPr lang="en-US" i="1" sz="1286">
                          <a:latin typeface="Cambria Math"/>
                        </a:rPr>
                        <m:t>φ</m:t>
                      </m:r>
                      <m:r>
                        <m:rPr>
                          <m:sty m:val="p"/>
                        </m:rPr>
                        <a:rPr lang="en-US" i="0" sz="1286">
                          <a:latin typeface="Cambria Math"/>
                        </a:rPr>
                        <m:t>+</m:t>
                      </m:r>
                      <m:r>
                        <m:rPr>
                          <m:sty m:val="p"/>
                        </m:rPr>
                        <a:rPr lang="en-US" i="0" sz="1286">
                          <a:latin typeface="Cambria Math"/>
                        </a:rPr>
                        <m:t>2</m:t>
                      </m:r>
                      <m:r>
                        <m:rPr>
                          <m:sty m:val="i"/>
                        </m:rPr>
                        <a:rPr lang="en-US" i="1" sz="1286">
                          <a:latin typeface="Cambria Math"/>
                        </a:rPr>
                        <m:t>π</m:t>
                      </m:r>
                      <m:r>
                        <m:rPr>
                          <m:sty m:val="p"/>
                        </m:rPr>
                        <a:rPr lang="en-US" i="0" sz="1286">
                          <a:latin typeface="Cambria Math"/>
                        </a:rPr>
                        <m:t>)</m:t>
                      </m:r>
                      <m:r>
                        <m:rPr>
                          <m:sty m:val="p"/>
                        </m:rPr>
                        <a:rPr lang="en-US" i="0" sz="1286">
                          <a:latin typeface="Cambria Math"/>
                        </a:rPr>
                        <m:t>=</m:t>
                      </m:r>
                      <m:sSup>
                        <m:e>
                          <m:r>
                            <m:rPr>
                              <m:sty m:val="i"/>
                            </m:rPr>
                            <a:rPr lang="en-US" i="1" sz="1286">
                              <a:latin typeface="Cambria Math"/>
                            </a:rPr>
                            <m:t>e</m:t>
                          </m:r>
                        </m:e>
                        <m:sup>
                          <m:box>
                            <m:e>
                              <m:r>
                                <m:rPr>
                                  <m:sty m:val="i"/>
                                </m:rPr>
                                <a:rPr lang="en-US" i="1" sz="1286">
                                  <a:latin typeface="Cambria Math"/>
                                </a:rPr>
                                <m:t>i</m:t>
                              </m:r>
                              <m:r>
                                <m:rPr>
                                  <m:sty m:val="p"/>
                                </m:rPr>
                                <a:rPr lang="en-US" i="0" sz="1286">
                                  <a:latin typeface="Cambria Math"/>
                                </a:rPr>
                                <m:t>2</m:t>
                              </m:r>
                              <m:r>
                                <m:rPr>
                                  <m:sty m:val="i"/>
                                </m:rPr>
                                <a:rPr lang="en-US" i="1" sz="1286">
                                  <a:latin typeface="Cambria Math"/>
                                </a:rPr>
                                <m:t>π</m:t>
                              </m:r>
                              <m:sSub>
                                <m:e>
                                  <m:r>
                                    <m:rPr>
                                      <m:sty m:val="i"/>
                                    </m:rPr>
                                    <a:rPr lang="en-US" i="1" sz="1286">
                                      <a:latin typeface="Cambria Math"/>
                                    </a:rPr>
                                    <m:t>n</m:t>
                                  </m:r>
                                </m:e>
                                <m:sub>
                                  <m:r>
                                    <m:rPr>
                                      <m:sty m:val="i"/>
                                    </m:rPr>
                                    <a:rPr lang="en-US" i="1" sz="1286">
                                      <a:latin typeface="Cambria Math"/>
                                    </a:rPr>
                                    <m:t>g</m:t>
                                  </m:r>
                                </m:sub>
                              </m:sSub>
                            </m:e>
                          </m:box>
                        </m:sup>
                      </m:sSup>
                      <m:r>
                        <m:rPr>
                          <m:sty m:val="i"/>
                        </m:rPr>
                        <a:rPr lang="en-US" i="1" sz="1286">
                          <a:latin typeface="Cambria Math"/>
                        </a:rPr>
                        <m:t>ψ</m:t>
                      </m:r>
                      <m:r>
                        <m:rPr>
                          <m:sty m:val="p"/>
                        </m:rPr>
                        <a:rPr lang="en-US" i="0" sz="1286">
                          <a:latin typeface="Cambria Math"/>
                        </a:rPr>
                        <m:t>(</m:t>
                      </m:r>
                      <m:r>
                        <m:rPr>
                          <m:sty m:val="i"/>
                        </m:rPr>
                        <a:rPr lang="en-US" i="1" sz="1286">
                          <a:latin typeface="Cambria Math"/>
                        </a:rPr>
                        <m:t>φ</m:t>
                      </m:r>
                      <m:r>
                        <m:rPr>
                          <m:sty m:val="p"/>
                        </m:rPr>
                        <a:rPr lang="en-US" i="0" sz="1286">
                          <a:latin typeface="Cambria Math"/>
                        </a:rPr>
                        <m:t>)</m:t>
                      </m:r>
                      <m:r>
                        <m:rPr>
                          <m:sty m:val="p"/>
                        </m:rPr>
                        <a:rPr lang="en-US" i="0" sz="1286">
                          <a:latin typeface="Cambria Math"/>
                        </a:rPr>
                        <m:t>,</m:t>
                      </m:r>
                    </m:oMath>
                  </m:oMathPara>
                </a14:m>
              </mc:Choice>
              <mc:Fallback>
                <a:r>
                  <a:rPr lang="en-US" sz="1285" i="1"/>
                  <a:t>
                        \psi(\varphi+2\pi)=e^{i2\pi n_g}\psi(\varphi),
                        </a:t>
                </a:r>
              </mc:Fallback>
            </mc:AlternateContent>
          </a:p>
        </p:txBody>
      </p:sp>
      <p:sp>
        <p:nvSpPr>
          <p:cNvPr id="22" name="TextBox 21"/>
          <p:cNvSpPr txBox="1"/>
          <p:nvPr/>
        </p:nvSpPr>
        <p:spPr>
          <a:xfrm>
            <a:off x="6299200" y="2778786"/>
            <a:ext cx="5173133" cy="408517"/>
          </a:xfrm>
          <a:prstGeom prst="rect">
            <a:avLst/>
          </a:prstGeom>
          <a:noFill/>
        </p:spPr>
        <p:txBody>
          <a:bodyPr wrap="square" lIns="0" rIns="0" tIns="0" bIns="0" anchor="t">
            <a:noAutofit/>
          </a:bodyPr>
          <a:lstStyle/>
          <a:p>
            <a:pPr algn="l">
              <a:lnSpc>
                <a:spcPts val="1550"/>
              </a:lnSpc>
            </a:pPr>
            <a:r>
              <a:rPr sz="1150" b="0" i="0">
                <a:solidFill>
                  <a:srgbClr val="4F4C56"/>
                </a:solidFill>
                <a:latin typeface="Montserrat"/>
                <a:ea typeface="Montserrat"/>
                <a:cs typeface="Montserrat"/>
              </a:rPr>
              <a:t>equivalent to an integer charge spectrum </a:t>
            </a:r>
            <mc:AlternateContent xmlns:mc="http://schemas.openxmlformats.org/markup-compatibility/2006">
              <mc:Choice xmlns:a14="http://schemas.microsoft.com/office/drawing/2010/main" Requires="a14">
                <a14:m>
                  <m:oMath xmlns:m="http://schemas.openxmlformats.org/officeDocument/2006/math">
                    <m:r>
                      <m:rPr>
                        <m:sty m:val="i"/>
                      </m:rPr>
                      <a:rPr lang="en-US" i="1" sz="1365">
                        <a:latin typeface="Cambria Math"/>
                      </a:rPr>
                      <m:t>n</m:t>
                    </m:r>
                  </m:oMath>
                </a14:m>
              </mc:Choice>
              <mc:Fallback>
                <a:r>
                  <a:rPr lang="en-US" sz="1364" i="1"/>
                  <a:t>n</a:t>
                </a:r>
              </mc:Fallback>
            </mc:AlternateContent>
            <a:r>
              <a:rPr sz="1150" b="0" i="0">
                <a:solidFill>
                  <a:srgbClr val="4F4C56"/>
                </a:solidFill>
                <a:latin typeface="Montserrat"/>
                <a:ea typeface="Montserrat"/>
                <a:cs typeface="Montserrat"/>
              </a:rPr>
              <a:t> with offset charge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365">
                            <a:latin typeface="Cambria Math"/>
                          </a:rPr>
                          <m:t>n</m:t>
                        </m:r>
                      </m:e>
                      <m:sub>
                        <m:r>
                          <m:rPr>
                            <m:sty m:val="i"/>
                          </m:rPr>
                          <a:rPr lang="en-US" i="1" sz="1365">
                            <a:latin typeface="Cambria Math"/>
                          </a:rPr>
                          <m:t>g</m:t>
                        </m:r>
                      </m:sub>
                    </m:sSub>
                  </m:oMath>
                </a14:m>
              </mc:Choice>
              <mc:Fallback>
                <a:r>
                  <a:rPr lang="en-US" sz="1364" i="1"/>
                  <a:t>n_g</a:t>
                </a:r>
              </mc:Fallback>
            </mc:AlternateContent>
            <a:r>
              <a:rPr sz="1150" b="0" i="0">
                <a:solidFill>
                  <a:srgbClr val="4F4C56"/>
                </a:solidFill>
                <a:latin typeface="Montserrat"/>
                <a:ea typeface="Montserrat"/>
                <a:cs typeface="Montserrat"/>
              </a:rPr>
              <a:t>. Compactness and charge quantisation are Fourier-dual statements.</a:t>
            </a:r>
          </a:p>
        </p:txBody>
      </p:sp>
      <p:sp>
        <p:nvSpPr>
          <p:cNvPr id="23" name="Rounded Rectangle 22"/>
          <p:cNvSpPr/>
          <p:nvPr/>
        </p:nvSpPr>
        <p:spPr>
          <a:xfrm>
            <a:off x="575733" y="3415903"/>
            <a:ext cx="5461000" cy="1343554"/>
          </a:xfrm>
          <a:prstGeom prst="roundRect">
            <a:avLst>
              <a:gd name="adj" fmla="val 6301"/>
            </a:avLst>
          </a:prstGeom>
          <a:solidFill>
            <a:srgbClr val="FB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75733" y="3415903"/>
            <a:ext cx="5461000" cy="33867"/>
          </a:xfrm>
          <a:prstGeom prst="rect">
            <a:avLst/>
          </a:prstGeom>
          <a:solidFill>
            <a:srgbClr val="5F4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28267" y="3415903"/>
            <a:ext cx="8467" cy="1343554"/>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75733" y="4750991"/>
            <a:ext cx="5461000" cy="8467"/>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75733" y="3415903"/>
            <a:ext cx="8467" cy="1343554"/>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9667" y="3568303"/>
            <a:ext cx="5173133" cy="226483"/>
          </a:xfrm>
          <a:prstGeom prst="rect">
            <a:avLst/>
          </a:prstGeom>
          <a:noFill/>
        </p:spPr>
        <p:txBody>
          <a:bodyPr wrap="none" lIns="0" rIns="0" tIns="0" bIns="0" anchor="t">
            <a:noAutofit/>
          </a:bodyPr>
          <a:lstStyle/>
          <a:p>
            <a:pPr algn="l">
              <a:lnSpc>
                <a:spcPts val="1780"/>
              </a:lnSpc>
            </a:pPr>
            <a:r>
              <a:rPr sz="1370" b="0" i="0">
                <a:solidFill>
                  <a:srgbClr val="302840"/>
                </a:solidFill>
                <a:latin typeface="Montserrat"/>
                <a:ea typeface="Montserrat"/>
                <a:cs typeface="Montserrat"/>
              </a:rPr>
              <a:t>Inductive shunt: unwrap the phase</a:t>
            </a:r>
          </a:p>
        </p:txBody>
      </p:sp>
      <p:sp>
        <p:nvSpPr>
          <p:cNvPr id="29" name="TextBox 28"/>
          <p:cNvSpPr txBox="1"/>
          <p:nvPr/>
        </p:nvSpPr>
        <p:spPr>
          <a:xfrm>
            <a:off x="719667" y="3845586"/>
            <a:ext cx="5173133" cy="621506"/>
          </a:xfrm>
          <a:prstGeom prst="rect">
            <a:avLst/>
          </a:prstGeom>
          <a:noFill/>
        </p:spPr>
        <p:txBody>
          <a:bodyPr wrap="square" lIns="0" rIns="0" tIns="0" bIns="0" anchor="t">
            <a:noAutofit/>
          </a:bodyPr>
          <a:lstStyle/>
          <a:p>
            <a:pPr algn="l">
              <a:lnSpc>
                <a:spcPts val="1550"/>
              </a:lnSpc>
            </a:pPr>
            <a:r>
              <a:rPr sz="1150" b="0" i="0">
                <a:solidFill>
                  <a:srgbClr val="4F4C56"/>
                </a:solidFill>
                <a:latin typeface="Montserrat"/>
                <a:ea typeface="Montserrat"/>
                <a:cs typeface="Montserrat"/>
              </a:rPr>
              <a:t>Adding </a:t>
            </a:r>
            <mc:AlternateContent xmlns:mc="http://schemas.openxmlformats.org/markup-compatibility/2006">
              <mc:Choice xmlns:a14="http://schemas.microsoft.com/office/drawing/2010/main" Requires="a14">
                <a14:m>
                  <m:oMath xmlns:m="http://schemas.openxmlformats.org/officeDocument/2006/math">
                    <m:box>
                      <m:e>
                        <m:f>
                          <m:num>
                            <m:r>
                              <m:rPr>
                                <m:sty m:val="p"/>
                              </m:rPr>
                              <a:rPr lang="en-US" i="0" sz="1365">
                                <a:latin typeface="Cambria Math"/>
                              </a:rPr>
                              <m:t>1</m:t>
                            </m:r>
                          </m:num>
                          <m:den>
                            <m:r>
                              <m:rPr>
                                <m:sty m:val="p"/>
                              </m:rPr>
                              <a:rPr lang="en-US" i="0" sz="1365">
                                <a:latin typeface="Cambria Math"/>
                              </a:rPr>
                              <m:t>2</m:t>
                            </m:r>
                          </m:den>
                        </m:f>
                      </m:e>
                    </m:box>
                    <m:sSub>
                      <m:e>
                        <m:r>
                          <m:rPr>
                            <m:sty m:val="i"/>
                          </m:rPr>
                          <a:rPr lang="en-US" i="1" sz="1365">
                            <a:latin typeface="Cambria Math"/>
                          </a:rPr>
                          <m:t>E</m:t>
                        </m:r>
                      </m:e>
                      <m:sub>
                        <m:r>
                          <m:rPr>
                            <m:sty m:val="i"/>
                          </m:rPr>
                          <a:rPr lang="en-US" i="1" sz="1365">
                            <a:latin typeface="Cambria Math"/>
                          </a:rPr>
                          <m:t>L</m:t>
                        </m:r>
                      </m:sub>
                    </m:sSub>
                    <m:r>
                      <m:rPr>
                        <m:sty m:val="p"/>
                      </m:rPr>
                      <a:rPr lang="en-US" i="0" sz="1365">
                        <a:latin typeface="Cambria Math"/>
                      </a:rPr>
                      <m:t>(</m:t>
                    </m:r>
                    <m:r>
                      <m:rPr>
                        <m:sty m:val="i"/>
                      </m:rPr>
                      <a:rPr lang="en-US" i="1" sz="1365">
                        <a:latin typeface="Cambria Math"/>
                      </a:rPr>
                      <m:t>φ</m:t>
                    </m:r>
                    <m:r>
                      <m:rPr>
                        <m:sty m:val="p"/>
                      </m:rPr>
                      <a:rPr lang="en-US" i="0" sz="1365">
                        <a:latin typeface="Cambria Math"/>
                      </a:rPr>
                      <m:t>−</m:t>
                    </m:r>
                    <m:sSub>
                      <m:e>
                        <m:r>
                          <m:rPr>
                            <m:sty m:val="i"/>
                          </m:rPr>
                          <a:rPr lang="en-US" i="1" sz="1365">
                            <a:latin typeface="Cambria Math"/>
                          </a:rPr>
                          <m:t>φ</m:t>
                        </m:r>
                      </m:e>
                      <m:sub>
                        <m:box>
                          <m:e>
                            <m:r>
                              <m:rPr>
                                <m:sty m:val="p"/>
                              </m:rPr>
                              <a:rPr lang="en-US" i="0" sz="1365">
                                <a:latin typeface="Cambria Math"/>
                              </a:rPr>
                              <m:t>e</m:t>
                            </m:r>
                            <m:r>
                              <m:rPr>
                                <m:sty m:val="p"/>
                              </m:rPr>
                              <a:rPr lang="en-US" i="0" sz="1365">
                                <a:latin typeface="Cambria Math"/>
                              </a:rPr>
                              <m:t>x</m:t>
                            </m:r>
                            <m:r>
                              <m:rPr>
                                <m:sty m:val="p"/>
                              </m:rPr>
                              <a:rPr lang="en-US" i="0" sz="1365">
                                <a:latin typeface="Cambria Math"/>
                              </a:rPr>
                              <m:t>t</m:t>
                            </m:r>
                          </m:e>
                        </m:box>
                      </m:sub>
                    </m:sSub>
                    <m:sSup>
                      <m:e>
                        <m:r>
                          <m:rPr>
                            <m:sty m:val="p"/>
                          </m:rPr>
                          <a:rPr lang="en-US" i="0" sz="1365">
                            <a:latin typeface="Cambria Math"/>
                          </a:rPr>
                          <m:t>)</m:t>
                        </m:r>
                      </m:e>
                      <m:sup>
                        <m:r>
                          <m:rPr>
                            <m:sty m:val="p"/>
                          </m:rPr>
                          <a:rPr lang="en-US" i="0" sz="1365">
                            <a:latin typeface="Cambria Math"/>
                          </a:rPr>
                          <m:t>2</m:t>
                        </m:r>
                      </m:sup>
                    </m:sSup>
                  </m:oMath>
                </a14:m>
              </mc:Choice>
              <mc:Fallback>
                <a:r>
                  <a:rPr lang="en-US" sz="1364" i="1"/>
                  <a:t>\tfrac12E_L(\varphi-\varphi_{\rm ext})^2</a:t>
                </a:r>
              </mc:Fallback>
            </mc:AlternateContent>
            <a:r>
              <a:rPr sz="1150" b="0" i="0">
                <a:solidFill>
                  <a:srgbClr val="4F4C56"/>
                </a:solidFill>
                <a:latin typeface="Montserrat"/>
                <a:ea typeface="Montserrat"/>
                <a:cs typeface="Montserrat"/>
              </a:rPr>
              <a:t> distinguishes neighbouring Josephson wells. For fluxonium and related circuits, </a:t>
            </a:r>
            <mc:AlternateContent xmlns:mc="http://schemas.openxmlformats.org/markup-compatibility/2006">
              <mc:Choice xmlns:a14="http://schemas.microsoft.com/office/drawing/2010/main" Requires="a14">
                <a14:m>
                  <m:oMath xmlns:m="http://schemas.openxmlformats.org/officeDocument/2006/math">
                    <m:r>
                      <m:rPr>
                        <m:sty m:val="i"/>
                      </m:rPr>
                      <a:rPr lang="en-US" i="1" sz="1365">
                        <a:latin typeface="Cambria Math"/>
                      </a:rPr>
                      <m:t>φ</m:t>
                    </m:r>
                    <m:r>
                      <m:rPr>
                        <m:sty m:val="p"/>
                      </m:rPr>
                      <a:rPr lang="en-US" i="0" sz="1365">
                        <a:latin typeface="Cambria Math"/>
                      </a:rPr>
                      <m:t>∈</m:t>
                    </m:r>
                    <m:box>
                      <m:e>
                        <m:r>
                          <m:rPr>
                            <m:scr m:val="double-struck"/>
                            <m:sty m:val="i"/>
                          </m:rPr>
                          <a:rPr lang="en-US" i="1" sz="1365">
                            <a:latin typeface="Cambria Math"/>
                          </a:rPr>
                          <m:t>R</m:t>
                        </m:r>
                      </m:e>
                    </m:box>
                  </m:oMath>
                </a14:m>
              </mc:Choice>
              <mc:Fallback>
                <a:r>
                  <a:rPr lang="en-US" sz="1364" i="1"/>
                  <a:t>\varphi\in\mathbb R</a:t>
                </a:r>
              </mc:Fallback>
            </mc:AlternateContent>
            <a:r>
              <a:rPr sz="1150" b="0" i="0">
                <a:solidFill>
                  <a:srgbClr val="4F4C56"/>
                </a:solidFill>
                <a:latin typeface="Montserrat"/>
                <a:ea typeface="Montserrat"/>
                <a:cs typeface="Montserrat"/>
              </a:rPr>
              <a:t> is normally treated as an </a:t>
            </a:r>
            <a:r>
              <a:rPr sz="1150" b="1" i="0">
                <a:solidFill>
                  <a:srgbClr val="4F4C56"/>
                </a:solidFill>
                <a:latin typeface="Montserrat"/>
                <a:ea typeface="Montserrat"/>
                <a:cs typeface="Montserrat"/>
              </a:rPr>
              <a:t>extended flux coordinate</a:t>
            </a:r>
            <a:r>
              <a:rPr sz="1150" b="0" i="0">
                <a:solidFill>
                  <a:srgbClr val="4F4C56"/>
                </a:solidFill>
                <a:latin typeface="Montserrat"/>
                <a:ea typeface="Montserrat"/>
                <a:cs typeface="Montserrat"/>
              </a:rPr>
              <a:t>. </a:t>
            </a:r>
          </a:p>
        </p:txBody>
      </p:sp>
      <p:sp>
        <p:nvSpPr>
          <p:cNvPr id="30" name="Rounded Rectangle 29"/>
          <p:cNvSpPr/>
          <p:nvPr/>
        </p:nvSpPr>
        <p:spPr>
          <a:xfrm>
            <a:off x="6155267" y="3415903"/>
            <a:ext cx="5461000" cy="1343554"/>
          </a:xfrm>
          <a:prstGeom prst="roundRect">
            <a:avLst>
              <a:gd name="adj" fmla="val 6301"/>
            </a:avLst>
          </a:prstGeom>
          <a:solidFill>
            <a:srgbClr val="FB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155267" y="3415903"/>
            <a:ext cx="5461000" cy="33867"/>
          </a:xfrm>
          <a:prstGeom prst="rect">
            <a:avLst/>
          </a:prstGeom>
          <a:solidFill>
            <a:srgbClr val="5F4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1607800" y="3415903"/>
            <a:ext cx="8467" cy="1343554"/>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55267" y="4750991"/>
            <a:ext cx="5461000" cy="8467"/>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55267" y="3415903"/>
            <a:ext cx="8467" cy="1343554"/>
          </a:xfrm>
          <a:prstGeom prst="rect">
            <a:avLst/>
          </a:prstGeom>
          <a:solidFill>
            <a:srgbClr val="D9D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99200" y="3568303"/>
            <a:ext cx="5173133" cy="226483"/>
          </a:xfrm>
          <a:prstGeom prst="rect">
            <a:avLst/>
          </a:prstGeom>
          <a:noFill/>
        </p:spPr>
        <p:txBody>
          <a:bodyPr wrap="none" lIns="0" rIns="0" tIns="0" bIns="0" anchor="t">
            <a:noAutofit/>
          </a:bodyPr>
          <a:lstStyle/>
          <a:p>
            <a:pPr algn="l">
              <a:lnSpc>
                <a:spcPts val="1780"/>
              </a:lnSpc>
            </a:pPr>
            <a:r>
              <a:rPr sz="1370" b="0" i="0">
                <a:solidFill>
                  <a:srgbClr val="302840"/>
                </a:solidFill>
                <a:latin typeface="Montserrat"/>
                <a:ea typeface="Montserrat"/>
                <a:cs typeface="Montserrat"/>
              </a:rPr>
              <a:t>What stays quantised?</a:t>
            </a:r>
          </a:p>
        </p:txBody>
      </p:sp>
      <p:sp>
        <p:nvSpPr>
          <p:cNvPr id="36" name="TextBox 35"/>
          <p:cNvSpPr txBox="1"/>
          <p:nvPr/>
        </p:nvSpPr>
        <p:spPr>
          <a:xfrm>
            <a:off x="6299200" y="3845586"/>
            <a:ext cx="5173133" cy="786871"/>
          </a:xfrm>
          <a:prstGeom prst="rect">
            <a:avLst/>
          </a:prstGeom>
          <a:noFill/>
        </p:spPr>
        <p:txBody>
          <a:bodyPr wrap="square" lIns="0" rIns="0" tIns="0" bIns="0" anchor="t">
            <a:noAutofit/>
          </a:bodyPr>
          <a:lstStyle/>
          <a:p>
            <a:pPr algn="l">
              <a:lnSpc>
                <a:spcPts val="1550"/>
              </a:lnSpc>
            </a:pPr>
            <a:r>
              <a:rPr sz="1150" b="0" i="0">
                <a:solidFill>
                  <a:srgbClr val="4F4C56"/>
                </a:solidFill>
                <a:latin typeface="Montserrat"/>
                <a:ea typeface="Montserrat"/>
                <a:cs typeface="Montserrat"/>
              </a:rPr>
              <a:t>Fluxoid quantisation constrains phase winding around superconducting loops, while the node-flux coordinate used in circuit quantisation can span many </a:t>
            </a:r>
            <mc:AlternateContent xmlns:mc="http://schemas.openxmlformats.org/markup-compatibility/2006">
              <mc:Choice xmlns:a14="http://schemas.microsoft.com/office/drawing/2010/main" Requires="a14">
                <a14:m>
                  <m:oMath xmlns:m="http://schemas.openxmlformats.org/officeDocument/2006/math">
                    <m:r>
                      <m:rPr>
                        <m:sty m:val="p"/>
                      </m:rPr>
                      <a:rPr lang="en-US" i="0" sz="1365">
                        <a:latin typeface="Cambria Math"/>
                      </a:rPr>
                      <m:t>2</m:t>
                    </m:r>
                    <m:r>
                      <m:rPr>
                        <m:sty m:val="i"/>
                      </m:rPr>
                      <a:rPr lang="en-US" i="1" sz="1365">
                        <a:latin typeface="Cambria Math"/>
                      </a:rPr>
                      <m:t>π</m:t>
                    </m:r>
                  </m:oMath>
                </a14:m>
              </mc:Choice>
              <mc:Fallback>
                <a:r>
                  <a:rPr lang="en-US" sz="1364" i="1"/>
                  <a:t>2\pi</a:t>
                </a:r>
              </mc:Fallback>
            </mc:AlternateContent>
            <a:r>
              <a:rPr sz="1150" b="0" i="0">
                <a:solidFill>
                  <a:srgbClr val="4F4C56"/>
                </a:solidFill>
                <a:latin typeface="Montserrat"/>
                <a:ea typeface="Montserrat"/>
                <a:cs typeface="Montserrat"/>
              </a:rPr>
              <a:t> wells. The circuit topology decides the boundary condition.</a:t>
            </a:r>
          </a:p>
        </p:txBody>
      </p:sp>
      <p:sp>
        <p:nvSpPr>
          <p:cNvPr id="37" name="Rectangle 36"/>
          <p:cNvSpPr/>
          <p:nvPr/>
        </p:nvSpPr>
        <p:spPr>
          <a:xfrm>
            <a:off x="575733" y="4894924"/>
            <a:ext cx="11040533" cy="980546"/>
          </a:xfrm>
          <a:prstGeom prst="rect">
            <a:avLst/>
          </a:prstGeom>
          <a:solidFill>
            <a:srgbClr val="EFE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75733" y="4894924"/>
            <a:ext cx="42333" cy="980546"/>
          </a:xfrm>
          <a:prstGeom prst="rect">
            <a:avLst/>
          </a:prstGeom>
          <a:solidFill>
            <a:srgbClr val="5F4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5867" y="5047324"/>
            <a:ext cx="10642600" cy="540279"/>
          </a:xfrm>
          <a:prstGeom prst="rect">
            <a:avLst/>
          </a:prstGeom>
          <a:noFill/>
        </p:spPr>
        <p:txBody>
          <a:bodyPr wrap="square" lIns="0" rIns="0" tIns="0" bIns="0" anchor="t">
            <a:noAutofit/>
          </a:bodyPr>
          <a:lstStyle/>
          <a:p>
            <a:pPr algn="l">
              <a:lnSpc>
                <a:spcPts val="2130"/>
              </a:lnSpc>
            </a:pPr>
            <a:r>
              <a:rPr sz="1400" b="1" i="0">
                <a:solidFill>
                  <a:srgbClr val="4F4C56"/>
                </a:solidFill>
                <a:latin typeface="Montserrat"/>
                <a:ea typeface="Montserrat"/>
                <a:cs typeface="Montserrat"/>
              </a:rPr>
              <a:t>Safe statement:</a:t>
            </a:r>
            <a:r>
              <a:rPr sz="1400" b="0" i="0">
                <a:solidFill>
                  <a:srgbClr val="4F4C56"/>
                </a:solidFill>
                <a:latin typeface="Montserrat"/>
                <a:ea typeface="Montserrat"/>
                <a:cs typeface="Montserrat"/>
              </a:rPr>
              <a:t> the Josephson potential is always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2</m:t>
                    </m:r>
                    <m:r>
                      <m:rPr>
                        <m:sty m:val="i"/>
                      </m:rPr>
                      <a:rPr lang="en-US" i="1" sz="1665">
                        <a:latin typeface="Cambria Math"/>
                      </a:rPr>
                      <m:t>π</m:t>
                    </m:r>
                  </m:oMath>
                </a14:m>
              </mc:Choice>
              <mc:Fallback>
                <a:r>
                  <a:rPr lang="en-US" sz="1664" i="1"/>
                  <a:t>2\pi</a:t>
                </a:r>
              </mc:Fallback>
            </mc:AlternateContent>
            <a:r>
              <a:rPr sz="1400" b="0" i="0">
                <a:solidFill>
                  <a:srgbClr val="4F4C56"/>
                </a:solidFill>
                <a:latin typeface="Montserrat"/>
                <a:ea typeface="Montserrat"/>
                <a:cs typeface="Montserrat"/>
              </a:rPr>
              <a:t>-periodic; the quantum coordinate is compact only when the circuit topology and boundary conditions make it so. </a:t>
            </a:r>
          </a:p>
        </p:txBody>
      </p:sp>
      <p:sp>
        <p:nvSpPr>
          <p:cNvPr id="40" name="Rectangle 39"/>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42" name="TextBox 41"/>
          <p:cNvSpPr txBox="1"/>
          <p:nvPr/>
        </p:nvSpPr>
        <p:spPr>
          <a:xfrm>
            <a:off x="11227726" y="6565900"/>
            <a:ext cx="473207"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54 / 100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865115" y="324115"/>
            <a:ext cx="835819"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LC Circuit (II)</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LC Circuit: Lagrangian and Hamiltonian</a:t>
            </a:r>
          </a:p>
        </p:txBody>
      </p:sp>
      <p:sp>
        <p:nvSpPr>
          <p:cNvPr id="6" name="equation"/>
          <p:cNvSpPr txBox="1"/>
          <p:nvPr/>
        </p:nvSpPr>
        <p:spPr>
          <a:xfrm>
            <a:off x="575733" y="1486694"/>
            <a:ext cx="7099168" cy="1037299"/>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d>
                            <m:dPr>
                              <m:begChr m:val="{"/>
                              <m:endChr m:val=""/>
                            </m:dPr>
                            <m:e>
                              <m:box>
                                <m:e>
                                  <m:m>
                                    <m:mr>
                                      <m:e>
                                        <m:box>
                                          <m:e>
                                            <m:r>
                                              <m:rPr>
                                                <m:nor/>
                                              </m:rPr>
                                              <a:rPr lang="en-US" i="0" sz="1568">
                                                <a:latin typeface="Cambria Math"/>
                                              </a:rPr>
                                              <m:t>Capacitor: </m:t>
                                            </m:r>
                                            <m:sSub>
                                              <m:e>
                                                <m:r>
                                                  <m:rPr>
                                                    <m:sty m:val="i"/>
                                                  </m:rPr>
                                                  <a:rPr lang="en-US" i="1" sz="1568">
                                                    <a:latin typeface="Cambria Math"/>
                                                  </a:rPr>
                                                  <m:t>I</m:t>
                                                </m:r>
                                              </m:e>
                                              <m:sub>
                                                <m:r>
                                                  <m:rPr>
                                                    <m:sty m:val="i"/>
                                                  </m:rPr>
                                                  <a:rPr lang="en-US" i="1" sz="1568">
                                                    <a:latin typeface="Cambria Math"/>
                                                  </a:rPr>
                                                  <m:t>C</m:t>
                                                </m:r>
                                              </m:sub>
                                            </m:sSub>
                                            <m:r>
                                              <m:rPr>
                                                <m:sty m:val="p"/>
                                              </m:rPr>
                                              <a:rPr lang="en-US" i="0" sz="1568">
                                                <a:latin typeface="Cambria Math"/>
                                              </a:rPr>
                                              <m:t>=</m:t>
                                            </m:r>
                                            <m:r>
                                              <m:rPr>
                                                <m:sty m:val="i"/>
                                              </m:rPr>
                                              <a:rPr lang="en-US" i="1" sz="1568">
                                                <a:latin typeface="Cambria Math"/>
                                              </a:rPr>
                                              <m:t>C</m:t>
                                            </m:r>
                                            <m:box>
                                              <m:e>
                                                <m:r>
                                                  <a:rPr lang="en-US" i="1" sz="1568">
                                                    <a:latin typeface="Cambria Math"/>
                                                  </a:rPr>
                                                  <m:t/>
                                                </m:r>
                                              </m:e>
                                            </m:box>
                                            <m:box>
                                              <m:e>
                                                <m:f>
                                                  <m:num>
                                                    <m:box>
                                                      <m:e>
                                                        <m:r>
                                                          <m:rPr>
                                                            <m:sty m:val="i"/>
                                                          </m:rPr>
                                                          <a:rPr lang="en-US" i="1" sz="1568">
                                                            <a:latin typeface="Cambria Math"/>
                                                          </a:rPr>
                                                          <m:t>d</m:t>
                                                        </m:r>
                                                        <m:sSub>
                                                          <m:e>
                                                            <m:r>
                                                              <m:rPr>
                                                                <m:sty m:val="i"/>
                                                              </m:rPr>
                                                              <a:rPr lang="en-US" i="1" sz="1568">
                                                                <a:latin typeface="Cambria Math"/>
                                                              </a:rPr>
                                                              <m:t>V</m:t>
                                                            </m:r>
                                                          </m:e>
                                                          <m:sub>
                                                            <m:r>
                                                              <m:rPr>
                                                                <m:sty m:val="i"/>
                                                              </m:rPr>
                                                              <a:rPr lang="en-US" i="1" sz="1568">
                                                                <a:latin typeface="Cambria Math"/>
                                                              </a:rPr>
                                                              <m:t>C</m:t>
                                                            </m:r>
                                                          </m:sub>
                                                        </m:sSub>
                                                      </m:e>
                                                    </m:box>
                                                  </m:num>
                                                  <m:den>
                                                    <m:box>
                                                      <m:e>
                                                        <m:r>
                                                          <m:rPr>
                                                            <m:sty m:val="i"/>
                                                          </m:rPr>
                                                          <a:rPr lang="en-US" i="1" sz="1568">
                                                            <a:latin typeface="Cambria Math"/>
                                                          </a:rPr>
                                                          <m:t>d</m:t>
                                                        </m:r>
                                                        <m:r>
                                                          <m:rPr>
                                                            <m:sty m:val="i"/>
                                                          </m:rPr>
                                                          <a:rPr lang="en-US" i="1" sz="1568">
                                                            <a:latin typeface="Cambria Math"/>
                                                          </a:rPr>
                                                          <m:t>t</m:t>
                                                        </m:r>
                                                      </m:e>
                                                    </m:box>
                                                  </m:den>
                                                </m:f>
                                              </m:e>
                                            </m:box>
                                          </m:e>
                                        </m:box>
                                      </m:e>
                                    </m:mr>
                                    <m:mr>
                                      <m:e>
                                        <m:box>
                                          <m:e>
                                            <m:r>
                                              <m:rPr>
                                                <m:nor/>
                                              </m:rPr>
                                              <a:rPr lang="en-US" i="0" sz="1568">
                                                <a:latin typeface="Cambria Math"/>
                                              </a:rPr>
                                              <m:t>Inductor: </m:t>
                                            </m:r>
                                            <m:sSub>
                                              <m:e>
                                                <m:r>
                                                  <m:rPr>
                                                    <m:sty m:val="i"/>
                                                  </m:rPr>
                                                  <a:rPr lang="en-US" i="1" sz="1568">
                                                    <a:latin typeface="Cambria Math"/>
                                                  </a:rPr>
                                                  <m:t>V</m:t>
                                                </m:r>
                                              </m:e>
                                              <m:sub>
                                                <m:r>
                                                  <m:rPr>
                                                    <m:sty m:val="i"/>
                                                  </m:rPr>
                                                  <a:rPr lang="en-US" i="1" sz="1568">
                                                    <a:latin typeface="Cambria Math"/>
                                                  </a:rPr>
                                                  <m:t>L</m:t>
                                                </m:r>
                                              </m:sub>
                                            </m:sSub>
                                            <m:r>
                                              <m:rPr>
                                                <m:sty m:val="p"/>
                                              </m:rPr>
                                              <a:rPr lang="en-US" i="0" sz="1568">
                                                <a:latin typeface="Cambria Math"/>
                                              </a:rPr>
                                              <m:t>=</m:t>
                                            </m:r>
                                            <m:r>
                                              <m:rPr>
                                                <m:sty m:val="i"/>
                                              </m:rPr>
                                              <a:rPr lang="en-US" i="1" sz="1568">
                                                <a:latin typeface="Cambria Math"/>
                                              </a:rPr>
                                              <m:t>L</m:t>
                                            </m:r>
                                            <m:box>
                                              <m:e>
                                                <m:r>
                                                  <a:rPr lang="en-US" i="1" sz="1568">
                                                    <a:latin typeface="Cambria Math"/>
                                                  </a:rPr>
                                                  <m:t/>
                                                </m:r>
                                              </m:e>
                                            </m:box>
                                            <m:box>
                                              <m:e>
                                                <m:f>
                                                  <m:num>
                                                    <m:box>
                                                      <m:e>
                                                        <m:r>
                                                          <m:rPr>
                                                            <m:sty m:val="i"/>
                                                          </m:rPr>
                                                          <a:rPr lang="en-US" i="1" sz="1568">
                                                            <a:latin typeface="Cambria Math"/>
                                                          </a:rPr>
                                                          <m:t>d</m:t>
                                                        </m:r>
                                                        <m:sSub>
                                                          <m:e>
                                                            <m:r>
                                                              <m:rPr>
                                                                <m:sty m:val="i"/>
                                                              </m:rPr>
                                                              <a:rPr lang="en-US" i="1" sz="1568">
                                                                <a:latin typeface="Cambria Math"/>
                                                              </a:rPr>
                                                              <m:t>I</m:t>
                                                            </m:r>
                                                          </m:e>
                                                          <m:sub>
                                                            <m:r>
                                                              <m:rPr>
                                                                <m:sty m:val="i"/>
                                                              </m:rPr>
                                                              <a:rPr lang="en-US" i="1" sz="1568">
                                                                <a:latin typeface="Cambria Math"/>
                                                              </a:rPr>
                                                              <m:t>L</m:t>
                                                            </m:r>
                                                          </m:sub>
                                                        </m:sSub>
                                                      </m:e>
                                                    </m:box>
                                                  </m:num>
                                                  <m:den>
                                                    <m:box>
                                                      <m:e>
                                                        <m:r>
                                                          <m:rPr>
                                                            <m:sty m:val="i"/>
                                                          </m:rPr>
                                                          <a:rPr lang="en-US" i="1" sz="1568">
                                                            <a:latin typeface="Cambria Math"/>
                                                          </a:rPr>
                                                          <m:t>d</m:t>
                                                        </m:r>
                                                        <m:r>
                                                          <m:rPr>
                                                            <m:sty m:val="i"/>
                                                          </m:rPr>
                                                          <a:rPr lang="en-US" i="1" sz="1568">
                                                            <a:latin typeface="Cambria Math"/>
                                                          </a:rPr>
                                                          <m:t>t</m:t>
                                                        </m:r>
                                                      </m:e>
                                                    </m:box>
                                                  </m:den>
                                                </m:f>
                                              </m:e>
                                            </m:box>
                                          </m:e>
                                        </m:box>
                                      </m:e>
                                    </m:mr>
                                  </m:m>
                                </m:e>
                              </m:box>
                            </m:e>
                          </m:d>
                        </m:e>
                      </m:box>
                      <m:r>
                        <m:rPr>
                          <m:nor/>
                        </m:rPr>
                        <a:rPr lang="en-US" i="0" sz="1568">
                          <a:latin typeface="Cambria Math"/>
                        </a:rPr>
                        <m:t> </m:t>
                      </m:r>
                      <m:r>
                        <m:rPr>
                          <m:sty m:val="p"/>
                        </m:rPr>
                        <a:rPr lang="en-US" i="0" sz="1568">
                          <a:latin typeface="Cambria Math"/>
                        </a:rPr>
                        <m:t>→</m:t>
                      </m:r>
                      <m:r>
                        <m:rPr>
                          <m:nor/>
                        </m:rPr>
                        <a:rPr lang="en-US" i="0" sz="1568">
                          <a:latin typeface="Cambria Math"/>
                        </a:rPr>
                        <m:t> </m:t>
                      </m:r>
                      <m:r>
                        <m:rPr>
                          <m:sty m:val="i"/>
                        </m:rPr>
                        <a:rPr lang="en-US" i="1" sz="1568">
                          <a:latin typeface="Cambria Math"/>
                        </a:rPr>
                        <m:t>E</m:t>
                      </m:r>
                      <m:r>
                        <m:rPr>
                          <m:sty m:val="p"/>
                        </m:rPr>
                        <a:rPr lang="en-US" i="0" sz="1568">
                          <a:latin typeface="Cambria Math"/>
                        </a:rPr>
                        <m:t>=</m:t>
                      </m:r>
                      <m:nary>
                        <m:naryPr>
                          <m:chr m:val="∫"/>
                          <m:limLoc m:val="subSup"/>
                        </m:naryPr>
                        <m:sub>
                          <m:r>
                            <m:rPr>
                              <m:sty m:val="p"/>
                            </m:rPr>
                            <a:rPr lang="en-US" i="0" sz="1568">
                              <a:latin typeface="Cambria Math"/>
                            </a:rPr>
                            <m:t>0</m:t>
                          </m:r>
                        </m:sub>
                        <m:sup>
                          <m:r>
                            <m:rPr>
                              <m:sty m:val="i"/>
                            </m:rPr>
                            <a:rPr lang="en-US" i="1" sz="1568">
                              <a:latin typeface="Cambria Math"/>
                            </a:rPr>
                            <m:t>t</m:t>
                          </m:r>
                        </m:sup>
                        <m:e>
                          <m:r>
                            <m:rPr>
                              <m:sty m:val="i"/>
                            </m:rPr>
                            <a:rPr lang="en-US" i="1" sz="1568">
                              <a:latin typeface="Cambria Math"/>
                            </a:rPr>
                            <m:t>I</m:t>
                          </m:r>
                          <m:r>
                            <m:rPr>
                              <m:sty m:val="i"/>
                            </m:rPr>
                            <a:rPr lang="en-US" i="1" sz="1568">
                              <a:latin typeface="Cambria Math"/>
                            </a:rPr>
                            <m:t>V</m:t>
                          </m:r>
                          <m:box>
                            <m:e>
                              <m:r>
                                <a:rPr lang="en-US" i="1" sz="1568">
                                  <a:latin typeface="Cambria Math"/>
                                </a:rPr>
                                <m:t/>
                              </m:r>
                            </m:e>
                          </m:box>
                          <m:r>
                            <m:rPr>
                              <m:sty m:val="i"/>
                            </m:rPr>
                            <a:rPr lang="en-US" i="1" sz="1568">
                              <a:latin typeface="Cambria Math"/>
                            </a:rPr>
                            <m:t>d</m:t>
                          </m:r>
                          <m:r>
                            <m:rPr>
                              <m:sty m:val="i"/>
                            </m:rPr>
                            <a:rPr lang="en-US" i="1" sz="1568">
                              <a:latin typeface="Cambria Math"/>
                            </a:rPr>
                            <m:t>t</m:t>
                          </m:r>
                          <m:r>
                            <m:rPr>
                              <m:nor/>
                            </m:rPr>
                            <a:rPr lang="en-US" i="0" sz="1568">
                              <a:latin typeface="Cambria Math"/>
                            </a:rPr>
                            <m:t> </m:t>
                          </m:r>
                          <m:r>
                            <m:rPr>
                              <m:sty m:val="p"/>
                            </m:rPr>
                            <a:rPr lang="en-US" i="0" sz="1568">
                              <a:latin typeface="Cambria Math"/>
                            </a:rPr>
                            <m:t>→</m:t>
                          </m:r>
                          <m:r>
                            <m:rPr>
                              <m:nor/>
                            </m:rPr>
                            <a:rPr lang="en-US" i="0" sz="1568">
                              <a:latin typeface="Cambria Math"/>
                            </a:rPr>
                            <m:t> </m:t>
                          </m:r>
                          <m:box>
                            <m:e>
                              <m:d>
                                <m:dPr>
                                  <m:begChr m:val="{"/>
                                  <m:endChr m:val=""/>
                                </m:dPr>
                                <m:e>
                                  <m:box>
                                    <m:e>
                                      <m:m>
                                        <m:mr>
                                          <m:e>
                                            <m:box>
                                              <m:e>
                                                <m:sSub>
                                                  <m:e>
                                                    <m:r>
                                                      <m:rPr>
                                                        <m:sty m:val="i"/>
                                                      </m:rPr>
                                                      <a:rPr lang="en-US" i="1" sz="1568">
                                                        <a:latin typeface="Cambria Math"/>
                                                      </a:rPr>
                                                      <m:t>E</m:t>
                                                    </m:r>
                                                  </m:e>
                                                  <m:sub>
                                                    <m:r>
                                                      <m:rPr>
                                                        <m:sty m:val="i"/>
                                                      </m:rPr>
                                                      <a:rPr lang="en-US" i="1" sz="1568">
                                                        <a:latin typeface="Cambria Math"/>
                                                      </a:rPr>
                                                      <m:t>C</m:t>
                                                    </m:r>
                                                  </m:sub>
                                                </m:sSub>
                                                <m:r>
                                                  <m:rPr>
                                                    <m:sty m:val="p"/>
                                                  </m:rPr>
                                                  <a:rPr lang="en-US" i="0" sz="1568">
                                                    <a:latin typeface="Cambria Math"/>
                                                  </a:rPr>
                                                  <m:t>=</m:t>
                                                </m:r>
                                                <m:box>
                                                  <m:e>
                                                    <m:f>
                                                      <m:num>
                                                        <m:sSup>
                                                          <m:e>
                                                            <m:r>
                                                              <m:rPr>
                                                                <m:sty m:val="i"/>
                                                              </m:rPr>
                                                              <a:rPr lang="en-US" i="1" sz="1568">
                                                                <a:latin typeface="Cambria Math"/>
                                                              </a:rPr>
                                                              <m:t>Q</m:t>
                                                            </m:r>
                                                          </m:e>
                                                          <m:sup>
                                                            <m:r>
                                                              <m:rPr>
                                                                <m:sty m:val="p"/>
                                                              </m:rPr>
                                                              <a:rPr lang="en-US" i="0" sz="1568">
                                                                <a:latin typeface="Cambria Math"/>
                                                              </a:rPr>
                                                              <m:t>2</m:t>
                                                            </m:r>
                                                          </m:sup>
                                                        </m:sSup>
                                                      </m:num>
                                                      <m:den>
                                                        <m:box>
                                                          <m:e>
                                                            <m:r>
                                                              <m:rPr>
                                                                <m:sty m:val="p"/>
                                                              </m:rPr>
                                                              <a:rPr lang="en-US" i="0" sz="1568">
                                                                <a:latin typeface="Cambria Math"/>
                                                              </a:rPr>
                                                              <m:t>2</m:t>
                                                            </m:r>
                                                            <m:r>
                                                              <m:rPr>
                                                                <m:sty m:val="i"/>
                                                              </m:rPr>
                                                              <a:rPr lang="en-US" i="1" sz="1568">
                                                                <a:latin typeface="Cambria Math"/>
                                                              </a:rPr>
                                                              <m:t>C</m:t>
                                                            </m:r>
                                                          </m:e>
                                                        </m:box>
                                                      </m:den>
                                                    </m:f>
                                                  </m:e>
                                                </m:box>
                                              </m:e>
                                            </m:box>
                                          </m:e>
                                        </m:mr>
                                        <m:mr>
                                          <m:e>
                                            <m:box>
                                              <m:e>
                                                <m:sSub>
                                                  <m:e>
                                                    <m:r>
                                                      <m:rPr>
                                                        <m:sty m:val="i"/>
                                                      </m:rPr>
                                                      <a:rPr lang="en-US" i="1" sz="1568">
                                                        <a:latin typeface="Cambria Math"/>
                                                      </a:rPr>
                                                      <m:t>E</m:t>
                                                    </m:r>
                                                  </m:e>
                                                  <m:sub>
                                                    <m:r>
                                                      <m:rPr>
                                                        <m:sty m:val="i"/>
                                                      </m:rPr>
                                                      <a:rPr lang="en-US" i="1" sz="1568">
                                                        <a:latin typeface="Cambria Math"/>
                                                      </a:rPr>
                                                      <m:t>L</m:t>
                                                    </m:r>
                                                  </m:sub>
                                                </m:sSub>
                                                <m:r>
                                                  <m:rPr>
                                                    <m:sty m:val="p"/>
                                                  </m:rPr>
                                                  <a:rPr lang="en-US" i="0" sz="1568">
                                                    <a:latin typeface="Cambria Math"/>
                                                  </a:rPr>
                                                  <m:t>=</m:t>
                                                </m:r>
                                                <m:box>
                                                  <m:e>
                                                    <m:f>
                                                      <m:num>
                                                        <m:box>
                                                          <m:e>
                                                            <m:r>
                                                              <m:rPr>
                                                                <m:sty m:val="i"/>
                                                              </m:rPr>
                                                              <a:rPr lang="en-US" i="1" sz="1568">
                                                                <a:latin typeface="Cambria Math"/>
                                                              </a:rPr>
                                                              <m:t>L</m:t>
                                                            </m:r>
                                                            <m:sSup>
                                                              <m:e>
                                                                <m:box>
                                                                  <m:e>
                                                                    <m:limUpp>
                                                                      <m:e>
                                                                        <m:r>
                                                                          <m:rPr>
                                                                            <m:sty m:val="i"/>
                                                                          </m:rPr>
                                                                          <a:rPr lang="en-US" i="1" sz="1568">
                                                                            <a:latin typeface="Cambria Math"/>
                                                                          </a:rPr>
                                                                          <m:t>Q</m:t>
                                                                        </m:r>
                                                                      </m:e>
                                                                      <m:lim>
                                                                        <m:r>
                                                                          <m:rPr>
                                                                            <m:sty m:val="p"/>
                                                                          </m:rPr>
                                                                          <a:rPr lang="en-US" i="0" sz="1568">
                                                                            <a:latin typeface="Cambria Math"/>
                                                                          </a:rPr>
                                                                          <m:t>˙</m:t>
                                                                        </m:r>
                                                                      </m:lim>
                                                                    </m:limUpp>
                                                                  </m:e>
                                                                </m:box>
                                                              </m:e>
                                                              <m:sup>
                                                                <m:r>
                                                                  <m:rPr>
                                                                    <m:sty m:val="p"/>
                                                                  </m:rPr>
                                                                  <a:rPr lang="en-US" i="0" sz="1568">
                                                                    <a:latin typeface="Cambria Math"/>
                                                                  </a:rPr>
                                                                  <m:t>2</m:t>
                                                                </m:r>
                                                              </m:sup>
                                                            </m:sSup>
                                                          </m:e>
                                                        </m:box>
                                                      </m:num>
                                                      <m:den>
                                                        <m:r>
                                                          <m:rPr>
                                                            <m:sty m:val="p"/>
                                                          </m:rPr>
                                                          <a:rPr lang="en-US" i="0" sz="1568">
                                                            <a:latin typeface="Cambria Math"/>
                                                          </a:rPr>
                                                          <m:t>2</m:t>
                                                        </m:r>
                                                      </m:den>
                                                    </m:f>
                                                  </m:e>
                                                </m:box>
                                              </m:e>
                                            </m:box>
                                          </m:e>
                                        </m:mr>
                                      </m:m>
                                    </m:e>
                                  </m:box>
                                </m:e>
                              </m:d>
                            </m:e>
                          </m:box>
                          <m:r>
                            <m:rPr>
                              <m:nor/>
                            </m:rPr>
                            <a:rPr lang="en-US" i="0" sz="1568">
                              <a:latin typeface="Cambria Math"/>
                            </a:rPr>
                            <m:t> </m:t>
                          </m:r>
                          <m:r>
                            <m:rPr>
                              <m:sty m:val="p"/>
                            </m:rPr>
                            <a:rPr lang="en-US" i="0" sz="1568">
                              <a:latin typeface="Cambria Math"/>
                            </a:rPr>
                            <m:t>↔</m:t>
                          </m:r>
                          <m:r>
                            <m:rPr>
                              <m:nor/>
                            </m:rPr>
                            <a:rPr lang="en-US" i="0" sz="1568">
                              <a:latin typeface="Cambria Math"/>
                            </a:rPr>
                            <m:t> </m:t>
                          </m:r>
                          <m:box>
                            <m:e>
                              <m:d>
                                <m:dPr>
                                  <m:begChr m:val="{"/>
                                  <m:endChr m:val=""/>
                                </m:dPr>
                                <m:e>
                                  <m:box>
                                    <m:e>
                                      <m:m>
                                        <m:mr>
                                          <m:e>
                                            <m:box>
                                              <m:e>
                                                <m:r>
                                                  <m:rPr>
                                                    <m:sty m:val="i"/>
                                                  </m:rPr>
                                                  <a:rPr lang="en-US" i="1" sz="1568">
                                                    <a:latin typeface="Cambria Math"/>
                                                  </a:rPr>
                                                  <m:t>V</m:t>
                                                </m:r>
                                                <m:r>
                                                  <m:rPr>
                                                    <m:sty m:val="p"/>
                                                  </m:rPr>
                                                  <a:rPr lang="en-US" i="0" sz="1568">
                                                    <a:latin typeface="Cambria Math"/>
                                                  </a:rPr>
                                                  <m:t>=</m:t>
                                                </m:r>
                                                <m:box>
                                                  <m:e>
                                                    <m:f>
                                                      <m:num>
                                                        <m:r>
                                                          <m:rPr>
                                                            <m:sty m:val="p"/>
                                                          </m:rPr>
                                                          <a:rPr lang="en-US" i="0" sz="1568">
                                                            <a:latin typeface="Cambria Math"/>
                                                          </a:rPr>
                                                          <m:t>1</m:t>
                                                        </m:r>
                                                      </m:num>
                                                      <m:den>
                                                        <m:r>
                                                          <m:rPr>
                                                            <m:sty m:val="p"/>
                                                          </m:rPr>
                                                          <a:rPr lang="en-US" i="0" sz="1568">
                                                            <a:latin typeface="Cambria Math"/>
                                                          </a:rPr>
                                                          <m:t>2</m:t>
                                                        </m:r>
                                                      </m:den>
                                                    </m:f>
                                                  </m:e>
                                                </m:box>
                                                <m:r>
                                                  <m:rPr>
                                                    <m:sty m:val="i"/>
                                                  </m:rPr>
                                                  <a:rPr lang="en-US" i="1" sz="1568">
                                                    <a:latin typeface="Cambria Math"/>
                                                  </a:rPr>
                                                  <m:t>K</m:t>
                                                </m:r>
                                                <m:sSup>
                                                  <m:e>
                                                    <m:r>
                                                      <m:rPr>
                                                        <m:sty m:val="i"/>
                                                      </m:rPr>
                                                      <a:rPr lang="en-US" i="1" sz="1568">
                                                        <a:latin typeface="Cambria Math"/>
                                                      </a:rPr>
                                                      <m:t>x</m:t>
                                                    </m:r>
                                                  </m:e>
                                                  <m:sup>
                                                    <m:r>
                                                      <m:rPr>
                                                        <m:sty m:val="p"/>
                                                      </m:rPr>
                                                      <a:rPr lang="en-US" i="0" sz="1568">
                                                        <a:latin typeface="Cambria Math"/>
                                                      </a:rPr>
                                                      <m:t>2</m:t>
                                                    </m:r>
                                                  </m:sup>
                                                </m:sSup>
                                              </m:e>
                                            </m:box>
                                          </m:e>
                                        </m:mr>
                                        <m:mr>
                                          <m:e>
                                            <m:box>
                                              <m:e>
                                                <m:r>
                                                  <m:rPr>
                                                    <m:sty m:val="i"/>
                                                  </m:rPr>
                                                  <a:rPr lang="en-US" i="1" sz="1568">
                                                    <a:latin typeface="Cambria Math"/>
                                                  </a:rPr>
                                                  <m:t>T</m:t>
                                                </m:r>
                                                <m:r>
                                                  <m:rPr>
                                                    <m:sty m:val="p"/>
                                                  </m:rPr>
                                                  <a:rPr lang="en-US" i="0" sz="1568">
                                                    <a:latin typeface="Cambria Math"/>
                                                  </a:rPr>
                                                  <m:t>=</m:t>
                                                </m:r>
                                                <m:box>
                                                  <m:e>
                                                    <m:f>
                                                      <m:num>
                                                        <m:r>
                                                          <m:rPr>
                                                            <m:sty m:val="p"/>
                                                          </m:rPr>
                                                          <a:rPr lang="en-US" i="0" sz="1568">
                                                            <a:latin typeface="Cambria Math"/>
                                                          </a:rPr>
                                                          <m:t>1</m:t>
                                                        </m:r>
                                                      </m:num>
                                                      <m:den>
                                                        <m:r>
                                                          <m:rPr>
                                                            <m:sty m:val="p"/>
                                                          </m:rPr>
                                                          <a:rPr lang="en-US" i="0" sz="1568">
                                                            <a:latin typeface="Cambria Math"/>
                                                          </a:rPr>
                                                          <m:t>2</m:t>
                                                        </m:r>
                                                      </m:den>
                                                    </m:f>
                                                  </m:e>
                                                </m:box>
                                                <m:r>
                                                  <m:rPr>
                                                    <m:sty m:val="i"/>
                                                  </m:rPr>
                                                  <a:rPr lang="en-US" i="1" sz="1568">
                                                    <a:latin typeface="Cambria Math"/>
                                                  </a:rPr>
                                                  <m:t>m</m:t>
                                                </m:r>
                                                <m:sSup>
                                                  <m:e>
                                                    <m:box>
                                                      <m:e>
                                                        <m:limUpp>
                                                          <m:e>
                                                            <m:r>
                                                              <m:rPr>
                                                                <m:sty m:val="i"/>
                                                              </m:rPr>
                                                              <a:rPr lang="en-US" i="1" sz="1568">
                                                                <a:latin typeface="Cambria Math"/>
                                                              </a:rPr>
                                                              <m:t>x</m:t>
                                                            </m:r>
                                                          </m:e>
                                                          <m:lim>
                                                            <m:r>
                                                              <m:rPr>
                                                                <m:sty m:val="p"/>
                                                              </m:rPr>
                                                              <a:rPr lang="en-US" i="0" sz="1568">
                                                                <a:latin typeface="Cambria Math"/>
                                                              </a:rPr>
                                                              <m:t>˙</m:t>
                                                            </m:r>
                                                          </m:lim>
                                                        </m:limUpp>
                                                      </m:e>
                                                    </m:box>
                                                  </m:e>
                                                  <m:sup>
                                                    <m:r>
                                                      <m:rPr>
                                                        <m:sty m:val="p"/>
                                                      </m:rPr>
                                                      <a:rPr lang="en-US" i="0" sz="1568">
                                                        <a:latin typeface="Cambria Math"/>
                                                      </a:rPr>
                                                      <m:t>2</m:t>
                                                    </m:r>
                                                  </m:sup>
                                                </m:sSup>
                                              </m:e>
                                            </m:box>
                                          </m:e>
                                        </m:mr>
                                      </m:m>
                                    </m:e>
                                  </m:box>
                                </m:e>
                              </m:d>
                            </m:e>
                          </m:box>
                        </m:e>
                      </m:nary>
                    </m:oMath>
                  </m:oMathPara>
                </a14:m>
              </mc:Choice>
              <mc:Fallback>
                <a:r>
                  <a:rPr lang="en-US" sz="1567" i="1"/>
                  <a:t>\begin{cases}\text{Capacitor: } I_C=C\,\dfrac{dV_C}{dt}\\[4pt]\text{Inductor:
                        } V_L=L\,\dfrac{dI_L}{dt}\end{cases}
                        \ \to\ E=\int_0^t IV\,dt\ \to\ \begin{cases}E_C=\dfrac{Q^2}{2C}\\[4pt]E_L=\dfrac{L\dot
                        Q^2}{2}\end{cases}
                        \ \leftrightarrow\ \begin{cases}V=\tfrac12Kx^2\\[4pt]T=\tfrac12m\dot x^2\end{cases}</a:t>
                </a:r>
              </mc:Fallback>
            </mc:AlternateContent>
          </a:p>
        </p:txBody>
      </p:sp>
      <p:sp>
        <p:nvSpPr>
          <p:cNvPr id="7" name="equation"/>
          <p:cNvSpPr txBox="1"/>
          <p:nvPr/>
        </p:nvSpPr>
        <p:spPr>
          <a:xfrm>
            <a:off x="575733" y="2557859"/>
            <a:ext cx="7099168" cy="486040"/>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box>
                            <m:e>
                              <m:r>
                                <m:rPr>
                                  <m:sty m:val="p"/>
                                </m:rPr>
                                <a:rPr lang="en-US" i="0" sz="1568">
                                  <a:latin typeface="Cambria Math"/>
                                </a:rPr>
                                <m:t>Φ</m:t>
                              </m:r>
                              <m:r>
                                <m:rPr>
                                  <m:sty m:val="p"/>
                                </m:rPr>
                                <a:rPr lang="en-US" i="0" sz="1568">
                                  <a:latin typeface="Cambria Math"/>
                                </a:rPr>
                                <m:t>≡</m:t>
                              </m:r>
                              <m:nary>
                                <m:naryPr>
                                  <m:chr m:val="∫"/>
                                  <m:limLoc m:val="subSup"/>
                                </m:naryPr>
                                <m:sub>
                                  <m:r>
                                    <m:rPr>
                                      <m:sty m:val="p"/>
                                    </m:rPr>
                                    <a:rPr lang="en-US" i="0" sz="1568">
                                      <a:latin typeface="Cambria Math"/>
                                    </a:rPr>
                                    <m:t>0</m:t>
                                  </m:r>
                                </m:sub>
                                <m:sup>
                                  <m:r>
                                    <m:rPr>
                                      <m:sty m:val="i"/>
                                    </m:rPr>
                                    <a:rPr lang="en-US" i="1" sz="1568">
                                      <a:latin typeface="Cambria Math"/>
                                    </a:rPr>
                                    <m:t>t</m:t>
                                  </m:r>
                                </m:sup>
                                <m:e>
                                  <m:sSub>
                                    <m:e>
                                      <m:r>
                                        <m:rPr>
                                          <m:sty m:val="i"/>
                                        </m:rPr>
                                        <a:rPr lang="en-US" i="1" sz="1568">
                                          <a:latin typeface="Cambria Math"/>
                                        </a:rPr>
                                        <m:t>V</m:t>
                                      </m:r>
                                    </m:e>
                                    <m:sub>
                                      <m:r>
                                        <m:rPr>
                                          <m:sty m:val="i"/>
                                        </m:rPr>
                                        <a:rPr lang="en-US" i="1" sz="1568">
                                          <a:latin typeface="Cambria Math"/>
                                        </a:rPr>
                                        <m:t>L</m:t>
                                      </m:r>
                                    </m:sub>
                                  </m:sSub>
                                  <m:box>
                                    <m:e>
                                      <m:r>
                                        <a:rPr lang="en-US" i="1" sz="1568">
                                          <a:latin typeface="Cambria Math"/>
                                        </a:rPr>
                                        <m:t/>
                                      </m:r>
                                    </m:e>
                                  </m:box>
                                  <m:r>
                                    <m:rPr>
                                      <m:sty m:val="i"/>
                                    </m:rPr>
                                    <a:rPr lang="en-US" i="1" sz="1568">
                                      <a:latin typeface="Cambria Math"/>
                                    </a:rPr>
                                    <m:t>d</m:t>
                                  </m:r>
                                  <m:r>
                                    <m:rPr>
                                      <m:sty m:val="i"/>
                                    </m:rPr>
                                    <a:rPr lang="en-US" i="1" sz="1568">
                                      <a:latin typeface="Cambria Math"/>
                                    </a:rPr>
                                    <m:t>t</m:t>
                                  </m:r>
                                  <m:r>
                                    <m:rPr>
                                      <m:sty m:val="p"/>
                                    </m:rPr>
                                    <a:rPr lang="en-US" i="0" sz="1568">
                                      <a:latin typeface="Cambria Math"/>
                                    </a:rPr>
                                    <m:t>=</m:t>
                                  </m:r>
                                  <m:nary>
                                    <m:naryPr>
                                      <m:chr m:val="∫"/>
                                      <m:limLoc m:val="subSup"/>
                                    </m:naryPr>
                                    <m:sub>
                                      <m:r>
                                        <m:rPr>
                                          <m:sty m:val="p"/>
                                        </m:rPr>
                                        <a:rPr lang="en-US" i="0" sz="1568">
                                          <a:latin typeface="Cambria Math"/>
                                        </a:rPr>
                                        <m:t>0</m:t>
                                      </m:r>
                                    </m:sub>
                                    <m:sup>
                                      <m:r>
                                        <m:rPr>
                                          <m:sty m:val="i"/>
                                        </m:rPr>
                                        <a:rPr lang="en-US" i="1" sz="1568">
                                          <a:latin typeface="Cambria Math"/>
                                        </a:rPr>
                                        <m:t>t</m:t>
                                      </m:r>
                                    </m:sup>
                                    <m:e>
                                      <m:r>
                                        <m:rPr>
                                          <m:sty m:val="i"/>
                                        </m:rPr>
                                        <a:rPr lang="en-US" i="1" sz="1568">
                                          <a:latin typeface="Cambria Math"/>
                                        </a:rPr>
                                        <m:t>L</m:t>
                                      </m:r>
                                      <m:f>
                                        <m:num>
                                          <m:box>
                                            <m:e>
                                              <m:r>
                                                <m:rPr>
                                                  <m:sty m:val="i"/>
                                                </m:rPr>
                                                <a:rPr lang="en-US" i="1" sz="1568">
                                                  <a:latin typeface="Cambria Math"/>
                                                </a:rPr>
                                                <m:t>d</m:t>
                                              </m:r>
                                              <m:sSub>
                                                <m:e>
                                                  <m:r>
                                                    <m:rPr>
                                                      <m:sty m:val="i"/>
                                                    </m:rPr>
                                                    <a:rPr lang="en-US" i="1" sz="1568">
                                                      <a:latin typeface="Cambria Math"/>
                                                    </a:rPr>
                                                    <m:t>I</m:t>
                                                  </m:r>
                                                </m:e>
                                                <m:sub>
                                                  <m:r>
                                                    <m:rPr>
                                                      <m:sty m:val="i"/>
                                                    </m:rPr>
                                                    <a:rPr lang="en-US" i="1" sz="1568">
                                                      <a:latin typeface="Cambria Math"/>
                                                    </a:rPr>
                                                    <m:t>L</m:t>
                                                  </m:r>
                                                </m:sub>
                                              </m:sSub>
                                            </m:e>
                                          </m:box>
                                        </m:num>
                                        <m:den>
                                          <m:box>
                                            <m:e>
                                              <m:r>
                                                <m:rPr>
                                                  <m:sty m:val="i"/>
                                                </m:rPr>
                                                <a:rPr lang="en-US" i="1" sz="1568">
                                                  <a:latin typeface="Cambria Math"/>
                                                </a:rPr>
                                                <m:t>d</m:t>
                                              </m:r>
                                              <m:r>
                                                <m:rPr>
                                                  <m:sty m:val="i"/>
                                                </m:rPr>
                                                <a:rPr lang="en-US" i="1" sz="1568">
                                                  <a:latin typeface="Cambria Math"/>
                                                </a:rPr>
                                                <m:t>t</m:t>
                                              </m:r>
                                            </m:e>
                                          </m:box>
                                        </m:den>
                                      </m:f>
                                      <m:box>
                                        <m:e>
                                          <m:r>
                                            <a:rPr lang="en-US" i="1" sz="1568">
                                              <a:latin typeface="Cambria Math"/>
                                            </a:rPr>
                                            <m:t/>
                                          </m:r>
                                        </m:e>
                                      </m:box>
                                      <m:r>
                                        <m:rPr>
                                          <m:sty m:val="i"/>
                                        </m:rPr>
                                        <a:rPr lang="en-US" i="1" sz="1568">
                                          <a:latin typeface="Cambria Math"/>
                                        </a:rPr>
                                        <m:t>d</m:t>
                                      </m:r>
                                      <m:r>
                                        <m:rPr>
                                          <m:sty m:val="i"/>
                                        </m:rPr>
                                        <a:rPr lang="en-US" i="1" sz="1568">
                                          <a:latin typeface="Cambria Math"/>
                                        </a:rPr>
                                        <m:t>t</m:t>
                                      </m:r>
                                      <m:r>
                                        <m:rPr>
                                          <m:sty m:val="p"/>
                                        </m:rPr>
                                        <a:rPr lang="en-US" i="0" sz="1568">
                                          <a:latin typeface="Cambria Math"/>
                                        </a:rPr>
                                        <m:t>=</m:t>
                                      </m:r>
                                      <m:r>
                                        <m:rPr>
                                          <m:sty m:val="i"/>
                                        </m:rPr>
                                        <a:rPr lang="en-US" i="1" sz="1568">
                                          <a:latin typeface="Cambria Math"/>
                                        </a:rPr>
                                        <m:t>L</m:t>
                                      </m:r>
                                      <m:box>
                                        <m:e>
                                          <m:limUpp>
                                            <m:e>
                                              <m:r>
                                                <m:rPr>
                                                  <m:sty m:val="i"/>
                                                </m:rPr>
                                                <a:rPr lang="en-US" i="1" sz="1568">
                                                  <a:latin typeface="Cambria Math"/>
                                                </a:rPr>
                                                <m:t>Q</m:t>
                                              </m:r>
                                            </m:e>
                                            <m:lim>
                                              <m:r>
                                                <m:rPr>
                                                  <m:sty m:val="p"/>
                                                </m:rPr>
                                                <a:rPr lang="en-US" i="0" sz="1568">
                                                  <a:latin typeface="Cambria Math"/>
                                                </a:rPr>
                                                <m:t>˙</m:t>
                                              </m:r>
                                            </m:lim>
                                          </m:limUpp>
                                        </m:e>
                                      </m:box>
                                      <m:r>
                                        <m:rPr>
                                          <m:sty m:val="p"/>
                                        </m:rPr>
                                        <a:rPr lang="en-US" i="0" sz="1568">
                                          <a:latin typeface="Cambria Math"/>
                                        </a:rPr>
                                        <m:t>,</m:t>
                                      </m:r>
                                      <m:box>
                                        <m:e>
                                          <m:r>
                                            <a:rPr lang="en-US" i="1" sz="1568">
                                              <a:latin typeface="Cambria Math"/>
                                            </a:rPr>
                                            <m:t/>
                                          </m:r>
                                        </m:e>
                                      </m:box>
                                      <m:f>
                                        <m:num>
                                          <m:box>
                                            <m:e>
                                              <m:r>
                                                <m:rPr>
                                                  <m:sty m:val="i"/>
                                                </m:rPr>
                                                <a:rPr lang="en-US" i="1" sz="1568">
                                                  <a:latin typeface="Cambria Math"/>
                                                </a:rPr>
                                                <m:t>d</m:t>
                                              </m:r>
                                              <m:r>
                                                <m:rPr>
                                                  <m:sty m:val="p"/>
                                                </m:rPr>
                                                <a:rPr lang="en-US" i="0" sz="1568">
                                                  <a:latin typeface="Cambria Math"/>
                                                </a:rPr>
                                                <m:t>Φ</m:t>
                                              </m:r>
                                            </m:e>
                                          </m:box>
                                        </m:num>
                                        <m:den>
                                          <m:box>
                                            <m:e>
                                              <m:r>
                                                <m:rPr>
                                                  <m:sty m:val="i"/>
                                                </m:rPr>
                                                <a:rPr lang="en-US" i="1" sz="1568">
                                                  <a:latin typeface="Cambria Math"/>
                                                </a:rPr>
                                                <m:t>d</m:t>
                                              </m:r>
                                              <m:r>
                                                <m:rPr>
                                                  <m:sty m:val="i"/>
                                                </m:rPr>
                                                <a:rPr lang="en-US" i="1" sz="1568">
                                                  <a:latin typeface="Cambria Math"/>
                                                </a:rPr>
                                                <m:t>t</m:t>
                                              </m:r>
                                            </m:e>
                                          </m:box>
                                        </m:den>
                                      </m:f>
                                      <m:r>
                                        <m:rPr>
                                          <m:sty m:val="p"/>
                                        </m:rPr>
                                        <a:rPr lang="en-US" i="0" sz="1568">
                                          <a:latin typeface="Cambria Math"/>
                                        </a:rPr>
                                        <m:t>=</m:t>
                                      </m:r>
                                      <m:sSub>
                                        <m:e>
                                          <m:r>
                                            <m:rPr>
                                              <m:sty m:val="i"/>
                                            </m:rPr>
                                            <a:rPr lang="en-US" i="1" sz="1568">
                                              <a:latin typeface="Cambria Math"/>
                                            </a:rPr>
                                            <m:t>V</m:t>
                                          </m:r>
                                        </m:e>
                                        <m:sub>
                                          <m:r>
                                            <m:rPr>
                                              <m:sty m:val="i"/>
                                            </m:rPr>
                                            <a:rPr lang="en-US" i="1" sz="1568">
                                              <a:latin typeface="Cambria Math"/>
                                            </a:rPr>
                                            <m:t>L</m:t>
                                          </m:r>
                                        </m:sub>
                                      </m:sSub>
                                      <m:r>
                                        <m:rPr>
                                          <m:sty m:val="p"/>
                                        </m:rPr>
                                        <a:rPr lang="en-US" i="0" sz="1568">
                                          <a:latin typeface="Cambria Math"/>
                                        </a:rPr>
                                        <m:t>=</m:t>
                                      </m:r>
                                      <m:sSub>
                                        <m:e>
                                          <m:r>
                                            <m:rPr>
                                              <m:sty m:val="i"/>
                                            </m:rPr>
                                            <a:rPr lang="en-US" i="1" sz="1568">
                                              <a:latin typeface="Cambria Math"/>
                                            </a:rPr>
                                            <m:t>V</m:t>
                                          </m:r>
                                        </m:e>
                                        <m:sub>
                                          <m:r>
                                            <m:rPr>
                                              <m:sty m:val="i"/>
                                            </m:rPr>
                                            <a:rPr lang="en-US" i="1" sz="1568">
                                              <a:latin typeface="Cambria Math"/>
                                            </a:rPr>
                                            <m:t>C</m:t>
                                          </m:r>
                                        </m:sub>
                                      </m:sSub>
                                      <m:r>
                                        <m:rPr>
                                          <m:sty m:val="p"/>
                                        </m:rPr>
                                        <a:rPr lang="en-US" i="0" sz="1568">
                                          <a:latin typeface="Cambria Math"/>
                                        </a:rPr>
                                        <m:t>=</m:t>
                                      </m:r>
                                      <m:f>
                                        <m:num>
                                          <m:r>
                                            <m:rPr>
                                              <m:sty m:val="i"/>
                                            </m:rPr>
                                            <a:rPr lang="en-US" i="1" sz="1568">
                                              <a:latin typeface="Cambria Math"/>
                                            </a:rPr>
                                            <m:t>Q</m:t>
                                          </m:r>
                                        </m:num>
                                        <m:den>
                                          <m:r>
                                            <m:rPr>
                                              <m:sty m:val="i"/>
                                            </m:rPr>
                                            <a:rPr lang="en-US" i="1" sz="1568">
                                              <a:latin typeface="Cambria Math"/>
                                            </a:rPr>
                                            <m:t>C</m:t>
                                          </m:r>
                                        </m:den>
                                      </m:f>
                                      <m:r>
                                        <m:rPr>
                                          <m:nor/>
                                        </m:rPr>
                                        <a:rPr lang="en-US" i="0" sz="1568">
                                          <a:latin typeface="Cambria Math"/>
                                        </a:rPr>
                                        <m:t> </m:t>
                                      </m:r>
                                      <m:r>
                                        <m:rPr>
                                          <m:sty m:val="p"/>
                                        </m:rPr>
                                        <a:rPr lang="en-US" i="0" sz="1568">
                                          <a:latin typeface="Cambria Math"/>
                                        </a:rPr>
                                        <m:t>→</m:t>
                                      </m:r>
                                      <m:r>
                                        <m:rPr>
                                          <m:nor/>
                                        </m:rPr>
                                        <a:rPr lang="en-US" i="0" sz="1568">
                                          <a:latin typeface="Cambria Math"/>
                                        </a:rPr>
                                        <m:t> </m:t>
                                      </m:r>
                                      <m:r>
                                        <m:rPr>
                                          <m:sty m:val="i"/>
                                        </m:rPr>
                                        <a:rPr lang="en-US" i="1" sz="1568">
                                          <a:latin typeface="Cambria Math"/>
                                        </a:rPr>
                                        <m:t>Q</m:t>
                                      </m:r>
                                      <m:r>
                                        <m:rPr>
                                          <m:sty m:val="p"/>
                                        </m:rPr>
                                        <a:rPr lang="en-US" i="0" sz="1568">
                                          <a:latin typeface="Cambria Math"/>
                                        </a:rPr>
                                        <m:t>=</m:t>
                                      </m:r>
                                      <m:r>
                                        <m:rPr>
                                          <m:sty m:val="i"/>
                                        </m:rPr>
                                        <a:rPr lang="en-US" i="1" sz="1568">
                                          <a:latin typeface="Cambria Math"/>
                                        </a:rPr>
                                        <m:t>C</m:t>
                                      </m:r>
                                      <m:box>
                                        <m:e>
                                          <m:limUpp>
                                            <m:e>
                                              <m:r>
                                                <m:rPr>
                                                  <m:sty m:val="p"/>
                                                </m:rPr>
                                                <a:rPr lang="en-US" i="0" sz="1568">
                                                  <a:latin typeface="Cambria Math"/>
                                                </a:rPr>
                                                <m:t>Φ</m:t>
                                              </m:r>
                                            </m:e>
                                            <m:lim>
                                              <m:r>
                                                <m:rPr>
                                                  <m:sty m:val="p"/>
                                                </m:rPr>
                                                <a:rPr lang="en-US" i="0" sz="1568">
                                                  <a:latin typeface="Cambria Math"/>
                                                </a:rPr>
                                                <m:t>˙</m:t>
                                              </m:r>
                                            </m:lim>
                                          </m:limUpp>
                                        </m:e>
                                      </m:box>
                                    </m:e>
                                  </m:nary>
                                </m:e>
                              </m:nary>
                            </m:e>
                          </m:box>
                        </m:e>
                      </m:box>
                    </m:oMath>
                  </m:oMathPara>
                </a14:m>
              </mc:Choice>
              <mc:Fallback>
                <a:r>
                  <a:rPr lang="en-US" sz="1567" i="1"/>
                  <a:t>\color{#355c9a}{\Phi\equiv\int_0^t V_L\,dt=\int_0^t
                        L\frac{dI_L}{dt}\,dt=L\dot Q,\qquad
                        \frac{d\Phi}{dt}=V_L=V_C=\frac{Q}{C}\ \to\ Q=C\dot\Phi}</a:t>
                </a:r>
              </mc:Fallback>
            </mc:AlternateContent>
          </a:p>
        </p:txBody>
      </p:sp>
      <p:sp>
        <p:nvSpPr>
          <p:cNvPr id="8" name="equation"/>
          <p:cNvSpPr txBox="1"/>
          <p:nvPr/>
        </p:nvSpPr>
        <p:spPr>
          <a:xfrm>
            <a:off x="575733" y="3077766"/>
            <a:ext cx="7099168" cy="471620"/>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box>
                            <m:e>
                              <m:r>
                                <m:rPr>
                                  <m:sty m:val="p"/>
                                </m:rPr>
                                <a:rPr lang="en-US" i="0" sz="1568">
                                  <a:latin typeface="Cambria Math"/>
                                </a:rPr>
                                <m:t>→</m:t>
                              </m:r>
                              <m:r>
                                <m:rPr>
                                  <m:nor/>
                                </m:rPr>
                                <a:rPr lang="en-US" i="0" sz="1568">
                                  <a:latin typeface="Cambria Math"/>
                                </a:rPr>
                                <m:t> </m:t>
                              </m:r>
                              <m:sSub>
                                <m:e>
                                  <m:r>
                                    <m:rPr>
                                      <m:sty m:val="i"/>
                                    </m:rPr>
                                    <a:rPr lang="en-US" i="1" sz="1568">
                                      <a:latin typeface="Cambria Math"/>
                                    </a:rPr>
                                    <m:t>E</m:t>
                                  </m:r>
                                </m:e>
                                <m:sub>
                                  <m:r>
                                    <m:rPr>
                                      <m:sty m:val="i"/>
                                    </m:rPr>
                                    <a:rPr lang="en-US" i="1" sz="1568">
                                      <a:latin typeface="Cambria Math"/>
                                    </a:rPr>
                                    <m:t>C</m:t>
                                  </m:r>
                                </m:sub>
                              </m:sSub>
                              <m:r>
                                <m:rPr>
                                  <m:sty m:val="p"/>
                                </m:rPr>
                                <a:rPr lang="en-US" i="0" sz="1568">
                                  <a:latin typeface="Cambria Math"/>
                                </a:rPr>
                                <m:t>=</m:t>
                              </m:r>
                              <m:f>
                                <m:num>
                                  <m:box>
                                    <m:e>
                                      <m:r>
                                        <m:rPr>
                                          <m:sty m:val="i"/>
                                        </m:rPr>
                                        <a:rPr lang="en-US" i="1" sz="1568">
                                          <a:latin typeface="Cambria Math"/>
                                        </a:rPr>
                                        <m:t>C</m:t>
                                      </m:r>
                                      <m:sSup>
                                        <m:e>
                                          <m:box>
                                            <m:e>
                                              <m:limUpp>
                                                <m:e>
                                                  <m:r>
                                                    <m:rPr>
                                                      <m:sty m:val="p"/>
                                                    </m:rPr>
                                                    <a:rPr lang="en-US" i="0" sz="1568">
                                                      <a:latin typeface="Cambria Math"/>
                                                    </a:rPr>
                                                    <m:t>Φ</m:t>
                                                  </m:r>
                                                </m:e>
                                                <m:lim>
                                                  <m:r>
                                                    <m:rPr>
                                                      <m:sty m:val="p"/>
                                                    </m:rPr>
                                                    <a:rPr lang="en-US" i="0" sz="1568">
                                                      <a:latin typeface="Cambria Math"/>
                                                    </a:rPr>
                                                    <m:t>˙</m:t>
                                                  </m:r>
                                                </m:lim>
                                              </m:limUpp>
                                            </m:e>
                                          </m:box>
                                        </m:e>
                                        <m:sup>
                                          <m:r>
                                            <m:rPr>
                                              <m:sty m:val="p"/>
                                            </m:rPr>
                                            <a:rPr lang="en-US" i="0" sz="1568">
                                              <a:latin typeface="Cambria Math"/>
                                            </a:rPr>
                                            <m:t>2</m:t>
                                          </m:r>
                                        </m:sup>
                                      </m:sSup>
                                    </m:e>
                                  </m:box>
                                </m:num>
                                <m:den>
                                  <m:r>
                                    <m:rPr>
                                      <m:sty m:val="p"/>
                                    </m:rPr>
                                    <a:rPr lang="en-US" i="0" sz="1568">
                                      <a:latin typeface="Cambria Math"/>
                                    </a:rPr>
                                    <m:t>2</m:t>
                                  </m:r>
                                </m:den>
                              </m:f>
                              <m:r>
                                <m:rPr>
                                  <m:sty m:val="p"/>
                                </m:rPr>
                                <a:rPr lang="en-US" i="0" sz="1568">
                                  <a:latin typeface="Cambria Math"/>
                                </a:rPr>
                                <m:t>,</m:t>
                              </m:r>
                              <m:box>
                                <m:e>
                                  <m:r>
                                    <a:rPr lang="en-US" i="1" sz="1568">
                                      <a:latin typeface="Cambria Math"/>
                                    </a:rPr>
                                    <m:t/>
                                  </m:r>
                                </m:e>
                              </m:box>
                              <m:sSub>
                                <m:e>
                                  <m:r>
                                    <m:rPr>
                                      <m:sty m:val="i"/>
                                    </m:rPr>
                                    <a:rPr lang="en-US" i="1" sz="1568">
                                      <a:latin typeface="Cambria Math"/>
                                    </a:rPr>
                                    <m:t>E</m:t>
                                  </m:r>
                                </m:e>
                                <m:sub>
                                  <m:r>
                                    <m:rPr>
                                      <m:sty m:val="i"/>
                                    </m:rPr>
                                    <a:rPr lang="en-US" i="1" sz="1568">
                                      <a:latin typeface="Cambria Math"/>
                                    </a:rPr>
                                    <m:t>L</m:t>
                                  </m:r>
                                </m:sub>
                              </m:sSub>
                              <m:r>
                                <m:rPr>
                                  <m:sty m:val="p"/>
                                </m:rPr>
                                <a:rPr lang="en-US" i="0" sz="1568">
                                  <a:latin typeface="Cambria Math"/>
                                </a:rPr>
                                <m:t>=</m:t>
                              </m:r>
                              <m:f>
                                <m:num>
                                  <m:sSup>
                                    <m:e>
                                      <m:r>
                                        <m:rPr>
                                          <m:sty m:val="p"/>
                                        </m:rPr>
                                        <a:rPr lang="en-US" i="0" sz="1568">
                                          <a:latin typeface="Cambria Math"/>
                                        </a:rPr>
                                        <m:t>Φ</m:t>
                                      </m:r>
                                    </m:e>
                                    <m:sup>
                                      <m:r>
                                        <m:rPr>
                                          <m:sty m:val="p"/>
                                        </m:rPr>
                                        <a:rPr lang="en-US" i="0" sz="1568">
                                          <a:latin typeface="Cambria Math"/>
                                        </a:rPr>
                                        <m:t>2</m:t>
                                      </m:r>
                                    </m:sup>
                                  </m:sSup>
                                </m:num>
                                <m:den>
                                  <m:box>
                                    <m:e>
                                      <m:r>
                                        <m:rPr>
                                          <m:sty m:val="p"/>
                                        </m:rPr>
                                        <a:rPr lang="en-US" i="0" sz="1568">
                                          <a:latin typeface="Cambria Math"/>
                                        </a:rPr>
                                        <m:t>2</m:t>
                                      </m:r>
                                      <m:r>
                                        <m:rPr>
                                          <m:sty m:val="i"/>
                                        </m:rPr>
                                        <a:rPr lang="en-US" i="1" sz="1568">
                                          <a:latin typeface="Cambria Math"/>
                                        </a:rPr>
                                        <m:t>L</m:t>
                                      </m:r>
                                    </m:e>
                                  </m:box>
                                </m:den>
                              </m:f>
                            </m:e>
                          </m:box>
                        </m:e>
                      </m:box>
                    </m:oMath>
                  </m:oMathPara>
                </a14:m>
              </mc:Choice>
              <mc:Fallback>
                <a:r>
                  <a:rPr lang="en-US" sz="1567" i="1"/>
                  <a:t>\color{#355c9a}{\to\ E_C=\frac{C\dot\Phi^2}{2},\qquad E_L=\frac{\Phi^2}{2L}}</a:t>
                </a:r>
              </mc:Fallback>
            </mc:AlternateContent>
          </a:p>
        </p:txBody>
      </p:sp>
      <p:sp>
        <p:nvSpPr>
          <p:cNvPr id="9" name="equation"/>
          <p:cNvSpPr txBox="1"/>
          <p:nvPr/>
        </p:nvSpPr>
        <p:spPr>
          <a:xfrm>
            <a:off x="575733" y="3583252"/>
            <a:ext cx="7099168" cy="532209"/>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box>
                            <m:e>
                              <m:r>
                                <m:rPr>
                                  <m:nor/>
                                </m:rPr>
                                <a:rPr lang="en-US" i="0" sz="1568">
                                  <a:latin typeface="Cambria Math"/>
                                </a:rPr>
                                <m:t>Lagrangian </m:t>
                              </m:r>
                              <m:box>
                                <m:e>
                                  <m:r>
                                    <m:rPr>
                                      <m:scr m:val="script"/>
                                      <m:sty m:val="i"/>
                                    </m:rPr>
                                    <a:rPr lang="en-US" i="1" sz="1568">
                                      <a:latin typeface="Cambria Math"/>
                                    </a:rPr>
                                    <m:t>L</m:t>
                                  </m:r>
                                </m:e>
                              </m:box>
                              <m:r>
                                <m:rPr>
                                  <m:sty m:val="p"/>
                                </m:rPr>
                                <a:rPr lang="en-US" i="0" sz="1568">
                                  <a:latin typeface="Cambria Math"/>
                                </a:rPr>
                                <m:t>=</m:t>
                              </m:r>
                              <m:f>
                                <m:num>
                                  <m:box>
                                    <m:e>
                                      <m:r>
                                        <m:rPr>
                                          <m:sty m:val="i"/>
                                        </m:rPr>
                                        <a:rPr lang="en-US" i="1" sz="1568">
                                          <a:latin typeface="Cambria Math"/>
                                        </a:rPr>
                                        <m:t>C</m:t>
                                      </m:r>
                                      <m:sSup>
                                        <m:e>
                                          <m:box>
                                            <m:e>
                                              <m:limUpp>
                                                <m:e>
                                                  <m:r>
                                                    <m:rPr>
                                                      <m:sty m:val="p"/>
                                                    </m:rPr>
                                                    <a:rPr lang="en-US" i="0" sz="1568">
                                                      <a:latin typeface="Cambria Math"/>
                                                    </a:rPr>
                                                    <m:t>Φ</m:t>
                                                  </m:r>
                                                </m:e>
                                                <m:lim>
                                                  <m:r>
                                                    <m:rPr>
                                                      <m:sty m:val="p"/>
                                                    </m:rPr>
                                                    <a:rPr lang="en-US" i="0" sz="1568">
                                                      <a:latin typeface="Cambria Math"/>
                                                    </a:rPr>
                                                    <m:t>˙</m:t>
                                                  </m:r>
                                                </m:lim>
                                              </m:limUpp>
                                            </m:e>
                                          </m:box>
                                        </m:e>
                                        <m:sup>
                                          <m:r>
                                            <m:rPr>
                                              <m:sty m:val="p"/>
                                            </m:rPr>
                                            <a:rPr lang="en-US" i="0" sz="1568">
                                              <a:latin typeface="Cambria Math"/>
                                            </a:rPr>
                                            <m:t>2</m:t>
                                          </m:r>
                                        </m:sup>
                                      </m:sSup>
                                    </m:e>
                                  </m:box>
                                </m:num>
                                <m:den>
                                  <m:r>
                                    <m:rPr>
                                      <m:sty m:val="p"/>
                                    </m:rPr>
                                    <a:rPr lang="en-US" i="0" sz="1568">
                                      <a:latin typeface="Cambria Math"/>
                                    </a:rPr>
                                    <m:t>2</m:t>
                                  </m:r>
                                </m:den>
                              </m:f>
                              <m:r>
                                <m:rPr>
                                  <m:sty m:val="p"/>
                                </m:rPr>
                                <a:rPr lang="en-US" i="0" sz="1568">
                                  <a:latin typeface="Cambria Math"/>
                                </a:rPr>
                                <m:t>−</m:t>
                              </m:r>
                              <m:f>
                                <m:num>
                                  <m:sSup>
                                    <m:e>
                                      <m:r>
                                        <m:rPr>
                                          <m:sty m:val="p"/>
                                        </m:rPr>
                                        <a:rPr lang="en-US" i="0" sz="1568">
                                          <a:latin typeface="Cambria Math"/>
                                        </a:rPr>
                                        <m:t>Φ</m:t>
                                      </m:r>
                                    </m:e>
                                    <m:sup>
                                      <m:r>
                                        <m:rPr>
                                          <m:sty m:val="p"/>
                                        </m:rPr>
                                        <a:rPr lang="en-US" i="0" sz="1568">
                                          <a:latin typeface="Cambria Math"/>
                                        </a:rPr>
                                        <m:t>2</m:t>
                                      </m:r>
                                    </m:sup>
                                  </m:sSup>
                                </m:num>
                                <m:den>
                                  <m:box>
                                    <m:e>
                                      <m:r>
                                        <m:rPr>
                                          <m:sty m:val="p"/>
                                        </m:rPr>
                                        <a:rPr lang="en-US" i="0" sz="1568">
                                          <a:latin typeface="Cambria Math"/>
                                        </a:rPr>
                                        <m:t>2</m:t>
                                      </m:r>
                                      <m:r>
                                        <m:rPr>
                                          <m:sty m:val="i"/>
                                        </m:rPr>
                                        <a:rPr lang="en-US" i="1" sz="1568">
                                          <a:latin typeface="Cambria Math"/>
                                        </a:rPr>
                                        <m:t>L</m:t>
                                      </m:r>
                                    </m:e>
                                  </m:box>
                                </m:den>
                              </m:f>
                              <m:r>
                                <m:rPr>
                                  <m:sty m:val="p"/>
                                </m:rPr>
                                <a:rPr lang="en-US" i="0" sz="1568">
                                  <a:latin typeface="Cambria Math"/>
                                </a:rPr>
                                <m:t>,</m:t>
                              </m:r>
                              <m:box>
                                <m:e>
                                  <m:r>
                                    <a:rPr lang="en-US" i="1" sz="1568">
                                      <a:latin typeface="Cambria Math"/>
                                    </a:rPr>
                                    <m:t/>
                                  </m:r>
                                </m:e>
                              </m:box>
                              <m:r>
                                <m:rPr>
                                  <m:nor/>
                                </m:rPr>
                                <a:rPr lang="en-US" i="0" sz="1568">
                                  <a:latin typeface="Cambria Math"/>
                                </a:rPr>
                                <m:t>conjugate momentum </m:t>
                              </m:r>
                              <m:r>
                                <m:rPr>
                                  <m:sty m:val="p"/>
                                </m:rPr>
                                <a:rPr lang="en-US" i="0" sz="1568">
                                  <a:latin typeface="Cambria Math"/>
                                </a:rPr>
                                <m:t>Π</m:t>
                              </m:r>
                              <m:r>
                                <m:rPr>
                                  <m:sty m:val="p"/>
                                </m:rPr>
                                <a:rPr lang="en-US" i="0" sz="1568">
                                  <a:latin typeface="Cambria Math"/>
                                </a:rPr>
                                <m:t>=</m:t>
                              </m:r>
                              <m:f>
                                <m:num>
                                  <m:box>
                                    <m:e>
                                      <m:r>
                                        <m:rPr>
                                          <m:sty m:val="i"/>
                                        </m:rPr>
                                        <a:rPr lang="en-US" i="1" sz="1568">
                                          <a:latin typeface="Cambria Math"/>
                                        </a:rPr>
                                        <m:t>∂</m:t>
                                      </m:r>
                                      <m:box>
                                        <m:e>
                                          <m:r>
                                            <m:rPr>
                                              <m:scr m:val="script"/>
                                              <m:sty m:val="i"/>
                                            </m:rPr>
                                            <a:rPr lang="en-US" i="1" sz="1568">
                                              <a:latin typeface="Cambria Math"/>
                                            </a:rPr>
                                            <m:t>L</m:t>
                                          </m:r>
                                        </m:e>
                                      </m:box>
                                    </m:e>
                                  </m:box>
                                </m:num>
                                <m:den>
                                  <m:box>
                                    <m:e>
                                      <m:r>
                                        <m:rPr>
                                          <m:sty m:val="i"/>
                                        </m:rPr>
                                        <a:rPr lang="en-US" i="1" sz="1568">
                                          <a:latin typeface="Cambria Math"/>
                                        </a:rPr>
                                        <m:t>∂</m:t>
                                      </m:r>
                                      <m:box>
                                        <m:e>
                                          <m:limUpp>
                                            <m:e>
                                              <m:r>
                                                <m:rPr>
                                                  <m:sty m:val="p"/>
                                                </m:rPr>
                                                <a:rPr lang="en-US" i="0" sz="1568">
                                                  <a:latin typeface="Cambria Math"/>
                                                </a:rPr>
                                                <m:t>Φ</m:t>
                                              </m:r>
                                            </m:e>
                                            <m:lim>
                                              <m:r>
                                                <m:rPr>
                                                  <m:sty m:val="p"/>
                                                </m:rPr>
                                                <a:rPr lang="en-US" i="0" sz="1568">
                                                  <a:latin typeface="Cambria Math"/>
                                                </a:rPr>
                                                <m:t>˙</m:t>
                                              </m:r>
                                            </m:lim>
                                          </m:limUpp>
                                        </m:e>
                                      </m:box>
                                    </m:e>
                                  </m:box>
                                </m:den>
                              </m:f>
                              <m:r>
                                <m:rPr>
                                  <m:sty m:val="p"/>
                                </m:rPr>
                                <a:rPr lang="en-US" i="0" sz="1568">
                                  <a:latin typeface="Cambria Math"/>
                                </a:rPr>
                                <m:t>=</m:t>
                              </m:r>
                              <m:r>
                                <m:rPr>
                                  <m:sty m:val="i"/>
                                </m:rPr>
                                <a:rPr lang="en-US" i="1" sz="1568">
                                  <a:latin typeface="Cambria Math"/>
                                </a:rPr>
                                <m:t>C</m:t>
                              </m:r>
                              <m:box>
                                <m:e>
                                  <m:limUpp>
                                    <m:e>
                                      <m:r>
                                        <m:rPr>
                                          <m:sty m:val="p"/>
                                        </m:rPr>
                                        <a:rPr lang="en-US" i="0" sz="1568">
                                          <a:latin typeface="Cambria Math"/>
                                        </a:rPr>
                                        <m:t>Φ</m:t>
                                      </m:r>
                                    </m:e>
                                    <m:lim>
                                      <m:r>
                                        <m:rPr>
                                          <m:sty m:val="p"/>
                                        </m:rPr>
                                        <a:rPr lang="en-US" i="0" sz="1568">
                                          <a:latin typeface="Cambria Math"/>
                                        </a:rPr>
                                        <m:t>˙</m:t>
                                      </m:r>
                                    </m:lim>
                                  </m:limUpp>
                                </m:e>
                              </m:box>
                              <m:r>
                                <m:rPr>
                                  <m:sty m:val="p"/>
                                </m:rPr>
                                <a:rPr lang="en-US" i="0" sz="1568">
                                  <a:latin typeface="Cambria Math"/>
                                </a:rPr>
                                <m:t>=</m:t>
                              </m:r>
                              <m:r>
                                <m:rPr>
                                  <m:sty m:val="i"/>
                                </m:rPr>
                                <a:rPr lang="en-US" i="1" sz="1568">
                                  <a:latin typeface="Cambria Math"/>
                                </a:rPr>
                                <m:t>Q</m:t>
                              </m:r>
                            </m:e>
                          </m:box>
                        </m:e>
                      </m:box>
                    </m:oMath>
                  </m:oMathPara>
                </a14:m>
              </mc:Choice>
              <mc:Fallback>
                <a:r>
                  <a:rPr lang="en-US" sz="1567" i="1"/>
                  <a:t>\color{#355c9a}{\text{Lagrangian } \mathcal
                        L=\frac{C\dot\Phi^2}{2}-\frac{\Phi^2}{2L},\qquad
                        \text{conjugate momentum } \Pi=\frac{\partial\mathcal L}{\partial\dot\Phi}=C\dot\Phi=Q}</a:t>
                </a:r>
              </mc:Fallback>
            </mc:AlternateContent>
          </a:p>
        </p:txBody>
      </p:sp>
      <p:sp>
        <p:nvSpPr>
          <p:cNvPr id="10" name="equation"/>
          <p:cNvSpPr txBox="1"/>
          <p:nvPr/>
        </p:nvSpPr>
        <p:spPr>
          <a:xfrm>
            <a:off x="575733" y="4149328"/>
            <a:ext cx="7099168" cy="441193"/>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box>
                            <m:e>
                              <m:r>
                                <m:rPr>
                                  <m:nor/>
                                </m:rPr>
                                <a:rPr lang="en-US" i="0" sz="1568">
                                  <a:latin typeface="Cambria Math"/>
                                </a:rPr>
                                <m:t>Hamiltonian </m:t>
                              </m:r>
                              <m:box>
                                <m:e>
                                  <m:r>
                                    <m:rPr>
                                      <m:scr m:val="script"/>
                                      <m:sty m:val="i"/>
                                    </m:rPr>
                                    <a:rPr lang="en-US" i="1" sz="1568">
                                      <a:latin typeface="Cambria Math"/>
                                    </a:rPr>
                                    <m:t>H</m:t>
                                  </m:r>
                                </m:e>
                              </m:box>
                              <m:r>
                                <m:rPr>
                                  <m:sty m:val="p"/>
                                </m:rPr>
                                <a:rPr lang="en-US" i="0" sz="1568">
                                  <a:latin typeface="Cambria Math"/>
                                </a:rPr>
                                <m:t>=</m:t>
                              </m:r>
                              <m:r>
                                <m:rPr>
                                  <m:sty m:val="p"/>
                                </m:rPr>
                                <a:rPr lang="en-US" i="0" sz="1568">
                                  <a:latin typeface="Cambria Math"/>
                                </a:rPr>
                                <m:t>Π</m:t>
                              </m:r>
                              <m:box>
                                <m:e>
                                  <m:limUpp>
                                    <m:e>
                                      <m:r>
                                        <m:rPr>
                                          <m:sty m:val="p"/>
                                        </m:rPr>
                                        <a:rPr lang="en-US" i="0" sz="1568">
                                          <a:latin typeface="Cambria Math"/>
                                        </a:rPr>
                                        <m:t>Φ</m:t>
                                      </m:r>
                                    </m:e>
                                    <m:lim>
                                      <m:r>
                                        <m:rPr>
                                          <m:sty m:val="p"/>
                                        </m:rPr>
                                        <a:rPr lang="en-US" i="0" sz="1568">
                                          <a:latin typeface="Cambria Math"/>
                                        </a:rPr>
                                        <m:t>˙</m:t>
                                      </m:r>
                                    </m:lim>
                                  </m:limUpp>
                                </m:e>
                              </m:box>
                              <m:r>
                                <m:rPr>
                                  <m:sty m:val="p"/>
                                </m:rPr>
                                <a:rPr lang="en-US" i="0" sz="1568">
                                  <a:latin typeface="Cambria Math"/>
                                </a:rPr>
                                <m:t>−</m:t>
                              </m:r>
                              <m:box>
                                <m:e>
                                  <m:r>
                                    <m:rPr>
                                      <m:scr m:val="script"/>
                                      <m:sty m:val="i"/>
                                    </m:rPr>
                                    <a:rPr lang="en-US" i="1" sz="1568">
                                      <a:latin typeface="Cambria Math"/>
                                    </a:rPr>
                                    <m:t>L</m:t>
                                  </m:r>
                                </m:e>
                              </m:box>
                              <m:r>
                                <m:rPr>
                                  <m:sty m:val="p"/>
                                </m:rPr>
                                <a:rPr lang="en-US" i="0" sz="1568">
                                  <a:latin typeface="Cambria Math"/>
                                </a:rPr>
                                <m:t>=</m:t>
                              </m:r>
                              <m:f>
                                <m:num>
                                  <m:sSup>
                                    <m:e>
                                      <m:r>
                                        <m:rPr>
                                          <m:sty m:val="i"/>
                                        </m:rPr>
                                        <a:rPr lang="en-US" i="1" sz="1568">
                                          <a:latin typeface="Cambria Math"/>
                                        </a:rPr>
                                        <m:t>Q</m:t>
                                      </m:r>
                                    </m:e>
                                    <m:sup>
                                      <m:r>
                                        <m:rPr>
                                          <m:sty m:val="p"/>
                                        </m:rPr>
                                        <a:rPr lang="en-US" i="0" sz="1568">
                                          <a:latin typeface="Cambria Math"/>
                                        </a:rPr>
                                        <m:t>2</m:t>
                                      </m:r>
                                    </m:sup>
                                  </m:sSup>
                                </m:num>
                                <m:den>
                                  <m:box>
                                    <m:e>
                                      <m:r>
                                        <m:rPr>
                                          <m:sty m:val="p"/>
                                        </m:rPr>
                                        <a:rPr lang="en-US" i="0" sz="1568">
                                          <a:latin typeface="Cambria Math"/>
                                        </a:rPr>
                                        <m:t>2</m:t>
                                      </m:r>
                                      <m:r>
                                        <m:rPr>
                                          <m:sty m:val="i"/>
                                        </m:rPr>
                                        <a:rPr lang="en-US" i="1" sz="1568">
                                          <a:latin typeface="Cambria Math"/>
                                        </a:rPr>
                                        <m:t>C</m:t>
                                      </m:r>
                                    </m:e>
                                  </m:box>
                                </m:den>
                              </m:f>
                              <m:r>
                                <m:rPr>
                                  <m:sty m:val="p"/>
                                </m:rPr>
                                <a:rPr lang="en-US" i="0" sz="1568">
                                  <a:latin typeface="Cambria Math"/>
                                </a:rPr>
                                <m:t>+</m:t>
                              </m:r>
                              <m:f>
                                <m:num>
                                  <m:sSup>
                                    <m:e>
                                      <m:r>
                                        <m:rPr>
                                          <m:sty m:val="p"/>
                                        </m:rPr>
                                        <a:rPr lang="en-US" i="0" sz="1568">
                                          <a:latin typeface="Cambria Math"/>
                                        </a:rPr>
                                        <m:t>Φ</m:t>
                                      </m:r>
                                    </m:e>
                                    <m:sup>
                                      <m:r>
                                        <m:rPr>
                                          <m:sty m:val="p"/>
                                        </m:rPr>
                                        <a:rPr lang="en-US" i="0" sz="1568">
                                          <a:latin typeface="Cambria Math"/>
                                        </a:rPr>
                                        <m:t>2</m:t>
                                      </m:r>
                                    </m:sup>
                                  </m:sSup>
                                </m:num>
                                <m:den>
                                  <m:box>
                                    <m:e>
                                      <m:r>
                                        <m:rPr>
                                          <m:sty m:val="p"/>
                                        </m:rPr>
                                        <a:rPr lang="en-US" i="0" sz="1568">
                                          <a:latin typeface="Cambria Math"/>
                                        </a:rPr>
                                        <m:t>2</m:t>
                                      </m:r>
                                      <m:r>
                                        <m:rPr>
                                          <m:sty m:val="i"/>
                                        </m:rPr>
                                        <a:rPr lang="en-US" i="1" sz="1568">
                                          <a:latin typeface="Cambria Math"/>
                                        </a:rPr>
                                        <m:t>L</m:t>
                                      </m:r>
                                    </m:e>
                                  </m:box>
                                </m:den>
                              </m:f>
                            </m:e>
                          </m:box>
                        </m:e>
                      </m:box>
                    </m:oMath>
                  </m:oMathPara>
                </a14:m>
              </mc:Choice>
              <mc:Fallback>
                <a:r>
                  <a:rPr lang="en-US" sz="1567" i="1"/>
                  <a:t>\color{#355c9a}{\text{Hamiltonian } \mathcal H=\Pi\dot\Phi-\mathcal
                        L=\frac{Q^2}{2C}+\frac{\Phi^2}{2L}}</a:t>
                </a:r>
              </mc:Fallback>
            </mc:AlternateContent>
          </a:p>
        </p:txBody>
      </p:sp>
      <p:sp>
        <p:nvSpPr>
          <p:cNvPr id="11" name="Rounded Rectangle 10"/>
          <p:cNvSpPr/>
          <p:nvPr/>
        </p:nvSpPr>
        <p:spPr>
          <a:xfrm>
            <a:off x="575733" y="4624388"/>
            <a:ext cx="7099168" cy="533929"/>
          </a:xfrm>
          <a:prstGeom prst="roundRect">
            <a:avLst>
              <a:gd name="adj" fmla="val 12685"/>
            </a:avLst>
          </a:prstGeom>
          <a:solidFill>
            <a:srgbClr val="FEF9E7"/>
          </a:solidFill>
          <a:ln w="16933">
            <a:solidFill>
              <a:srgbClr val="F0C0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quation"/>
          <p:cNvSpPr txBox="1"/>
          <p:nvPr/>
        </p:nvSpPr>
        <p:spPr>
          <a:xfrm>
            <a:off x="711200" y="4759854"/>
            <a:ext cx="6828234" cy="262996"/>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box>
                            <m:e>
                              <m:r>
                                <m:rPr>
                                  <m:nor/>
                                </m:rPr>
                                <a:rPr lang="en-US" i="0" sz="1568">
                                  <a:latin typeface="Cambria Math"/>
                                </a:rPr>
                                <m:t>Canonical quantization: </m:t>
                              </m:r>
                              <m:r>
                                <m:rPr>
                                  <m:sty m:val="p"/>
                                </m:rPr>
                                <a:rPr lang="en-US" i="0" sz="1568">
                                  <a:latin typeface="Cambria Math"/>
                                </a:rPr>
                                <m:t>[</m:t>
                              </m:r>
                              <m:box>
                                <m:e>
                                  <m:limUpp>
                                    <m:e>
                                      <m:r>
                                        <m:rPr>
                                          <m:sty m:val="p"/>
                                        </m:rPr>
                                        <a:rPr lang="en-US" i="0" sz="1568">
                                          <a:latin typeface="Cambria Math"/>
                                        </a:rPr>
                                        <m:t>Φ</m:t>
                                      </m:r>
                                    </m:e>
                                    <m:lim>
                                      <m:r>
                                        <m:rPr>
                                          <m:sty m:val="p"/>
                                        </m:rPr>
                                        <a:rPr lang="en-US" i="0" sz="1568">
                                          <a:latin typeface="Cambria Math"/>
                                        </a:rPr>
                                        <m:t>^</m:t>
                                      </m:r>
                                    </m:lim>
                                  </m:limUpp>
                                </m:e>
                              </m:box>
                              <m:r>
                                <m:rPr>
                                  <m:sty m:val="p"/>
                                </m:rPr>
                                <a:rPr lang="en-US" i="0" sz="1568">
                                  <a:latin typeface="Cambria Math"/>
                                </a:rPr>
                                <m:t>,</m:t>
                              </m:r>
                              <m:box>
                                <m:e>
                                  <m:limUpp>
                                    <m:e>
                                      <m:r>
                                        <m:rPr>
                                          <m:sty m:val="i"/>
                                        </m:rPr>
                                        <a:rPr lang="en-US" i="1" sz="1568">
                                          <a:latin typeface="Cambria Math"/>
                                        </a:rPr>
                                        <m:t>Q</m:t>
                                      </m:r>
                                    </m:e>
                                    <m:lim>
                                      <m:r>
                                        <m:rPr>
                                          <m:sty m:val="p"/>
                                        </m:rPr>
                                        <a:rPr lang="en-US" i="0" sz="1568">
                                          <a:latin typeface="Cambria Math"/>
                                        </a:rPr>
                                        <m:t>^</m:t>
                                      </m:r>
                                    </m:lim>
                                  </m:limUpp>
                                </m:e>
                              </m:box>
                              <m:r>
                                <m:rPr>
                                  <m:sty m:val="p"/>
                                </m:rPr>
                                <a:rPr lang="en-US" i="0" sz="1568">
                                  <a:latin typeface="Cambria Math"/>
                                </a:rPr>
                                <m:t>]</m:t>
                              </m:r>
                              <m:r>
                                <m:rPr>
                                  <m:sty m:val="p"/>
                                </m:rPr>
                                <a:rPr lang="en-US" i="0" sz="1568">
                                  <a:latin typeface="Cambria Math"/>
                                </a:rPr>
                                <m:t>=</m:t>
                              </m:r>
                              <m:r>
                                <m:rPr>
                                  <m:sty m:val="i"/>
                                </m:rPr>
                                <a:rPr lang="en-US" i="1" sz="1568">
                                  <a:latin typeface="Cambria Math"/>
                                </a:rPr>
                                <m:t>i</m:t>
                              </m:r>
                              <m:r>
                                <m:rPr>
                                  <m:sty m:val="i"/>
                                </m:rPr>
                                <a:rPr lang="en-US" i="1" sz="1568">
                                  <a:latin typeface="Cambria Math"/>
                                </a:rPr>
                                <m:t>ℏ</m:t>
                              </m:r>
                              <m:r>
                                <m:rPr>
                                  <m:nor/>
                                </m:rPr>
                                <a:rPr lang="en-US" i="0" sz="1568">
                                  <a:latin typeface="Cambria Math"/>
                                </a:rPr>
                                <m:t> </m:t>
                              </m:r>
                              <m:r>
                                <m:rPr>
                                  <m:sty m:val="p"/>
                                </m:rPr>
                                <a:rPr lang="en-US" i="0" sz="1568">
                                  <a:latin typeface="Cambria Math"/>
                                </a:rPr>
                                <m:t>↔</m:t>
                              </m:r>
                              <m:r>
                                <m:rPr>
                                  <m:nor/>
                                </m:rPr>
                                <a:rPr lang="en-US" i="0" sz="1568">
                                  <a:latin typeface="Cambria Math"/>
                                </a:rPr>
                                <m:t> </m:t>
                              </m:r>
                              <m:r>
                                <m:rPr>
                                  <m:sty m:val="p"/>
                                </m:rPr>
                                <a:rPr lang="en-US" i="0" sz="1568">
                                  <a:latin typeface="Cambria Math"/>
                                </a:rPr>
                                <m:t>[</m:t>
                              </m:r>
                              <m:r>
                                <m:rPr>
                                  <m:sty m:val="i"/>
                                </m:rPr>
                                <a:rPr lang="en-US" i="1" sz="1568">
                                  <a:latin typeface="Cambria Math"/>
                                </a:rPr>
                                <m:t>x</m:t>
                              </m:r>
                              <m:r>
                                <m:rPr>
                                  <m:sty m:val="p"/>
                                </m:rPr>
                                <a:rPr lang="en-US" i="0" sz="1568">
                                  <a:latin typeface="Cambria Math"/>
                                </a:rPr>
                                <m:t>,</m:t>
                              </m:r>
                              <m:r>
                                <m:rPr>
                                  <m:sty m:val="i"/>
                                </m:rPr>
                                <a:rPr lang="en-US" i="1" sz="1568">
                                  <a:latin typeface="Cambria Math"/>
                                </a:rPr>
                                <m:t>p</m:t>
                              </m:r>
                              <m:r>
                                <m:rPr>
                                  <m:sty m:val="p"/>
                                </m:rPr>
                                <a:rPr lang="en-US" i="0" sz="1568">
                                  <a:latin typeface="Cambria Math"/>
                                </a:rPr>
                                <m:t>]</m:t>
                              </m:r>
                              <m:r>
                                <m:rPr>
                                  <m:sty m:val="p"/>
                                </m:rPr>
                                <a:rPr lang="en-US" i="0" sz="1568">
                                  <a:latin typeface="Cambria Math"/>
                                </a:rPr>
                                <m:t>=</m:t>
                              </m:r>
                              <m:r>
                                <m:rPr>
                                  <m:sty m:val="i"/>
                                </m:rPr>
                                <a:rPr lang="en-US" i="1" sz="1568">
                                  <a:latin typeface="Cambria Math"/>
                                </a:rPr>
                                <m:t>i</m:t>
                              </m:r>
                              <m:r>
                                <m:rPr>
                                  <m:sty m:val="i"/>
                                </m:rPr>
                                <a:rPr lang="en-US" i="1" sz="1568">
                                  <a:latin typeface="Cambria Math"/>
                                </a:rPr>
                                <m:t>ℏ</m:t>
                              </m:r>
                            </m:e>
                          </m:box>
                        </m:e>
                      </m:box>
                    </m:oMath>
                  </m:oMathPara>
                </a14:m>
              </mc:Choice>
              <mc:Fallback>
                <a:r>
                  <a:rPr lang="en-US" sz="1567" i="1"/>
                  <a:t>\color{#c0392b}{\text{Canonical quantization: } [\hat\Phi,\hat
                        Q]=i\hbar\ \leftrightarrow\ [x,p]=i\hbar}</a:t>
                </a:r>
              </mc:Fallback>
            </mc:AlternateContent>
          </a:p>
        </p:txBody>
      </p:sp>
      <p:pic>
        <p:nvPicPr>
          <p:cNvPr id="13" name="svg-diagram" descr="el-x7.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7793434" y="1452827"/>
            <a:ext cx="3822700" cy="1524000"/>
          </a:xfrm>
          <a:prstGeom prst="rect">
            <a:avLst/>
          </a:prstGeom>
        </p:spPr>
      </p:pic>
      <p:pic>
        <p:nvPicPr>
          <p:cNvPr id="14" name="svg-diagram" descr="el-x8.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7793434" y="3061494"/>
            <a:ext cx="1947333" cy="1019969"/>
          </a:xfrm>
          <a:prstGeom prst="rect">
            <a:avLst/>
          </a:prstGeom>
        </p:spPr>
      </p:pic>
      <p:sp>
        <p:nvSpPr>
          <p:cNvPr id="15" name="Rectangle 14"/>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7" name="TextBox 16"/>
          <p:cNvSpPr txBox="1"/>
          <p:nvPr/>
        </p:nvSpPr>
        <p:spPr>
          <a:xfrm>
            <a:off x="11239500" y="6565900"/>
            <a:ext cx="461433"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55 / 100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824633" y="324115"/>
            <a:ext cx="876300"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LC Circuit (III)</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LC Circuit: Ladder Operators</a:t>
            </a:r>
          </a:p>
        </p:txBody>
      </p:sp>
      <p:sp>
        <p:nvSpPr>
          <p:cNvPr id="6" name="equation"/>
          <p:cNvSpPr txBox="1"/>
          <p:nvPr/>
        </p:nvSpPr>
        <p:spPr>
          <a:xfrm>
            <a:off x="575733" y="1605227"/>
            <a:ext cx="6280150" cy="488553"/>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box>
                            <m:e>
                              <m:box>
                                <m:e>
                                  <m:limUpp>
                                    <m:e>
                                      <m:box>
                                        <m:e>
                                          <m:r>
                                            <m:rPr>
                                              <m:scr m:val="script"/>
                                              <m:sty m:val="i"/>
                                            </m:rPr>
                                            <a:rPr lang="en-US" i="1" sz="1568">
                                              <a:latin typeface="Cambria Math"/>
                                            </a:rPr>
                                            <m:t>H</m:t>
                                          </m:r>
                                        </m:e>
                                      </m:box>
                                    </m:e>
                                    <m:lim>
                                      <m:r>
                                        <m:rPr>
                                          <m:sty m:val="p"/>
                                        </m:rPr>
                                        <a:rPr lang="en-US" i="0" sz="1568">
                                          <a:latin typeface="Cambria Math"/>
                                        </a:rPr>
                                        <m:t>^</m:t>
                                      </m:r>
                                    </m:lim>
                                  </m:limUpp>
                                </m:e>
                              </m:box>
                              <m:r>
                                <m:rPr>
                                  <m:sty m:val="p"/>
                                </m:rPr>
                                <a:rPr lang="en-US" i="0" sz="1568">
                                  <a:latin typeface="Cambria Math"/>
                                </a:rPr>
                                <m:t>=</m:t>
                              </m:r>
                              <m:f>
                                <m:num>
                                  <m:sSup>
                                    <m:e>
                                      <m:box>
                                        <m:e>
                                          <m:limUpp>
                                            <m:e>
                                              <m:r>
                                                <m:rPr>
                                                  <m:sty m:val="i"/>
                                                </m:rPr>
                                                <a:rPr lang="en-US" i="1" sz="1568">
                                                  <a:latin typeface="Cambria Math"/>
                                                </a:rPr>
                                                <m:t>Q</m:t>
                                              </m:r>
                                            </m:e>
                                            <m:lim>
                                              <m:r>
                                                <m:rPr>
                                                  <m:sty m:val="p"/>
                                                </m:rPr>
                                                <a:rPr lang="en-US" i="0" sz="1568">
                                                  <a:latin typeface="Cambria Math"/>
                                                </a:rPr>
                                                <m:t>^</m:t>
                                              </m:r>
                                            </m:lim>
                                          </m:limUpp>
                                        </m:e>
                                      </m:box>
                                    </m:e>
                                    <m:sup>
                                      <m:r>
                                        <m:rPr>
                                          <m:sty m:val="p"/>
                                        </m:rPr>
                                        <a:rPr lang="en-US" i="0" sz="1568">
                                          <a:latin typeface="Cambria Math"/>
                                        </a:rPr>
                                        <m:t>2</m:t>
                                      </m:r>
                                    </m:sup>
                                  </m:sSup>
                                </m:num>
                                <m:den>
                                  <m:box>
                                    <m:e>
                                      <m:r>
                                        <m:rPr>
                                          <m:sty m:val="p"/>
                                        </m:rPr>
                                        <a:rPr lang="en-US" i="0" sz="1568">
                                          <a:latin typeface="Cambria Math"/>
                                        </a:rPr>
                                        <m:t>2</m:t>
                                      </m:r>
                                      <m:r>
                                        <m:rPr>
                                          <m:sty m:val="i"/>
                                        </m:rPr>
                                        <a:rPr lang="en-US" i="1" sz="1568">
                                          <a:latin typeface="Cambria Math"/>
                                        </a:rPr>
                                        <m:t>C</m:t>
                                      </m:r>
                                    </m:e>
                                  </m:box>
                                </m:den>
                              </m:f>
                              <m:r>
                                <m:rPr>
                                  <m:sty m:val="p"/>
                                </m:rPr>
                                <a:rPr lang="en-US" i="0" sz="1568">
                                  <a:latin typeface="Cambria Math"/>
                                </a:rPr>
                                <m:t>+</m:t>
                              </m:r>
                              <m:f>
                                <m:num>
                                  <m:sSup>
                                    <m:e>
                                      <m:box>
                                        <m:e>
                                          <m:limUpp>
                                            <m:e>
                                              <m:r>
                                                <m:rPr>
                                                  <m:sty m:val="p"/>
                                                </m:rPr>
                                                <a:rPr lang="en-US" i="0" sz="1568">
                                                  <a:latin typeface="Cambria Math"/>
                                                </a:rPr>
                                                <m:t>Φ</m:t>
                                              </m:r>
                                            </m:e>
                                            <m:lim>
                                              <m:r>
                                                <m:rPr>
                                                  <m:sty m:val="p"/>
                                                </m:rPr>
                                                <a:rPr lang="en-US" i="0" sz="1568">
                                                  <a:latin typeface="Cambria Math"/>
                                                </a:rPr>
                                                <m:t>^</m:t>
                                              </m:r>
                                            </m:lim>
                                          </m:limUpp>
                                        </m:e>
                                      </m:box>
                                    </m:e>
                                    <m:sup>
                                      <m:r>
                                        <m:rPr>
                                          <m:sty m:val="p"/>
                                        </m:rPr>
                                        <a:rPr lang="en-US" i="0" sz="1568">
                                          <a:latin typeface="Cambria Math"/>
                                        </a:rPr>
                                        <m:t>2</m:t>
                                      </m:r>
                                    </m:sup>
                                  </m:sSup>
                                </m:num>
                                <m:den>
                                  <m:box>
                                    <m:e>
                                      <m:r>
                                        <m:rPr>
                                          <m:sty m:val="p"/>
                                        </m:rPr>
                                        <a:rPr lang="en-US" i="0" sz="1568">
                                          <a:latin typeface="Cambria Math"/>
                                        </a:rPr>
                                        <m:t>2</m:t>
                                      </m:r>
                                      <m:r>
                                        <m:rPr>
                                          <m:sty m:val="i"/>
                                        </m:rPr>
                                        <a:rPr lang="en-US" i="1" sz="1568">
                                          <a:latin typeface="Cambria Math"/>
                                        </a:rPr>
                                        <m:t>L</m:t>
                                      </m:r>
                                    </m:e>
                                  </m:box>
                                </m:den>
                              </m:f>
                            </m:e>
                          </m:box>
                          <m:r>
                            <m:rPr>
                              <m:sty m:val="p"/>
                            </m:rPr>
                            <a:rPr lang="en-US" i="0" sz="1568">
                              <a:latin typeface="Cambria Math"/>
                            </a:rPr>
                            <m:t>,</m:t>
                          </m:r>
                          <m:box>
                            <m:e>
                              <m:r>
                                <a:rPr lang="en-US" i="1" sz="1568">
                                  <a:latin typeface="Cambria Math"/>
                                </a:rPr>
                                <m:t/>
                              </m:r>
                            </m:e>
                          </m:box>
                          <m:box>
                            <m:e>
                              <m:box>
                                <m:e>
                                  <m:r>
                                    <m:rPr>
                                      <m:sty m:val="p"/>
                                    </m:rPr>
                                    <a:rPr lang="en-US" i="0" sz="1568">
                                      <a:latin typeface="Cambria Math"/>
                                    </a:rPr>
                                    <m:t>[</m:t>
                                  </m:r>
                                  <m:box>
                                    <m:e>
                                      <m:limUpp>
                                        <m:e>
                                          <m:r>
                                            <m:rPr>
                                              <m:sty m:val="p"/>
                                            </m:rPr>
                                            <a:rPr lang="en-US" i="0" sz="1568">
                                              <a:latin typeface="Cambria Math"/>
                                            </a:rPr>
                                            <m:t>Φ</m:t>
                                          </m:r>
                                        </m:e>
                                        <m:lim>
                                          <m:r>
                                            <m:rPr>
                                              <m:sty m:val="p"/>
                                            </m:rPr>
                                            <a:rPr lang="en-US" i="0" sz="1568">
                                              <a:latin typeface="Cambria Math"/>
                                            </a:rPr>
                                            <m:t>^</m:t>
                                          </m:r>
                                        </m:lim>
                                      </m:limUpp>
                                    </m:e>
                                  </m:box>
                                  <m:r>
                                    <m:rPr>
                                      <m:sty m:val="p"/>
                                    </m:rPr>
                                    <a:rPr lang="en-US" i="0" sz="1568">
                                      <a:latin typeface="Cambria Math"/>
                                    </a:rPr>
                                    <m:t>,</m:t>
                                  </m:r>
                                  <m:box>
                                    <m:e>
                                      <m:limUpp>
                                        <m:e>
                                          <m:r>
                                            <m:rPr>
                                              <m:sty m:val="i"/>
                                            </m:rPr>
                                            <a:rPr lang="en-US" i="1" sz="1568">
                                              <a:latin typeface="Cambria Math"/>
                                            </a:rPr>
                                            <m:t>Q</m:t>
                                          </m:r>
                                        </m:e>
                                        <m:lim>
                                          <m:r>
                                            <m:rPr>
                                              <m:sty m:val="p"/>
                                            </m:rPr>
                                            <a:rPr lang="en-US" i="0" sz="1568">
                                              <a:latin typeface="Cambria Math"/>
                                            </a:rPr>
                                            <m:t>^</m:t>
                                          </m:r>
                                        </m:lim>
                                      </m:limUpp>
                                    </m:e>
                                  </m:box>
                                  <m:r>
                                    <m:rPr>
                                      <m:sty m:val="p"/>
                                    </m:rPr>
                                    <a:rPr lang="en-US" i="0" sz="1568">
                                      <a:latin typeface="Cambria Math"/>
                                    </a:rPr>
                                    <m:t>]</m:t>
                                  </m:r>
                                  <m:r>
                                    <m:rPr>
                                      <m:sty m:val="p"/>
                                    </m:rPr>
                                    <a:rPr lang="en-US" i="0" sz="1568">
                                      <a:latin typeface="Cambria Math"/>
                                    </a:rPr>
                                    <m:t>=</m:t>
                                  </m:r>
                                  <m:r>
                                    <m:rPr>
                                      <m:sty m:val="i"/>
                                    </m:rPr>
                                    <a:rPr lang="en-US" i="1" sz="1568">
                                      <a:latin typeface="Cambria Math"/>
                                    </a:rPr>
                                    <m:t>i</m:t>
                                  </m:r>
                                  <m:r>
                                    <m:rPr>
                                      <m:sty m:val="i"/>
                                    </m:rPr>
                                    <a:rPr lang="en-US" i="1" sz="1568">
                                      <a:latin typeface="Cambria Math"/>
                                    </a:rPr>
                                    <m:t>ℏ</m:t>
                                  </m:r>
                                </m:e>
                              </m:box>
                            </m:e>
                          </m:box>
                        </m:e>
                      </m:box>
                    </m:oMath>
                  </m:oMathPara>
                </a14:m>
              </mc:Choice>
              <mc:Fallback>
                <a:r>
                  <a:rPr lang="en-US" sz="1567" i="1"/>
                  <a:t>\color{#355c9a}{\hat{\mathcal H}=\frac{\hat Q^2}{2C}+\frac{\hat\Phi^2}{2L}},\qquad
                    \color{#c0392b}{[\hat\Phi,\hat Q]=i\hbar}</a:t>
                </a:r>
              </mc:Fallback>
            </mc:AlternateContent>
          </a:p>
        </p:txBody>
      </p:sp>
      <p:sp>
        <p:nvSpPr>
          <p:cNvPr id="7" name="equation"/>
          <p:cNvSpPr txBox="1"/>
          <p:nvPr/>
        </p:nvSpPr>
        <p:spPr>
          <a:xfrm>
            <a:off x="575733" y="2246180"/>
            <a:ext cx="6280150" cy="1593056"/>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d>
                            <m:dPr>
                              <m:begChr m:val="{"/>
                              <m:endChr m:val=""/>
                            </m:dPr>
                            <m:e>
                              <m:box>
                                <m:e>
                                  <m:m>
                                    <m:mr>
                                      <m:e>
                                        <m:box>
                                          <m:e>
                                            <m:box>
                                              <m:e>
                                                <m:limUpp>
                                                  <m:e>
                                                    <m:r>
                                                      <m:rPr>
                                                        <m:sty m:val="i"/>
                                                      </m:rPr>
                                                      <a:rPr lang="en-US" i="1" sz="1568">
                                                        <a:latin typeface="Cambria Math"/>
                                                      </a:rPr>
                                                      <m:t>a</m:t>
                                                    </m:r>
                                                  </m:e>
                                                  <m:lim>
                                                    <m:r>
                                                      <m:rPr>
                                                        <m:sty m:val="p"/>
                                                      </m:rPr>
                                                      <a:rPr lang="en-US" i="0" sz="1568">
                                                        <a:latin typeface="Cambria Math"/>
                                                      </a:rPr>
                                                      <m:t>^</m:t>
                                                    </m:r>
                                                  </m:lim>
                                                </m:limUpp>
                                              </m:e>
                                            </m:box>
                                            <m:r>
                                              <m:rPr>
                                                <m:sty m:val="p"/>
                                              </m:rPr>
                                              <a:rPr lang="en-US" i="0" sz="1568">
                                                <a:latin typeface="Cambria Math"/>
                                              </a:rPr>
                                              <m:t>=</m:t>
                                            </m:r>
                                            <m:rad>
                                              <m:radPr>
                                                <m:degHide m:val="1"/>
                                              </m:radPr>
                                              <m:deg/>
                                              <m:e>
                                                <m:box>
                                                  <m:e>
                                                    <m:box>
                                                      <m:e>
                                                        <m:f>
                                                          <m:num>
                                                            <m:r>
                                                              <m:rPr>
                                                                <m:sty m:val="p"/>
                                                              </m:rPr>
                                                              <a:rPr lang="en-US" i="0" sz="1568">
                                                                <a:latin typeface="Cambria Math"/>
                                                              </a:rPr>
                                                              <m:t>1</m:t>
                                                            </m:r>
                                                          </m:num>
                                                          <m:den>
                                                            <m:box>
                                                              <m:e>
                                                                <m:r>
                                                                  <m:rPr>
                                                                    <m:sty m:val="p"/>
                                                                  </m:rPr>
                                                                  <a:rPr lang="en-US" i="0" sz="1568">
                                                                    <a:latin typeface="Cambria Math"/>
                                                                  </a:rPr>
                                                                  <m:t>2</m:t>
                                                                </m:r>
                                                                <m:r>
                                                                  <m:rPr>
                                                                    <m:sty m:val="i"/>
                                                                  </m:rPr>
                                                                  <a:rPr lang="en-US" i="1" sz="1568">
                                                                    <a:latin typeface="Cambria Math"/>
                                                                  </a:rPr>
                                                                  <m:t>ℏ</m:t>
                                                                </m:r>
                                                              </m:e>
                                                            </m:box>
                                                          </m:den>
                                                        </m:f>
                                                      </m:e>
                                                    </m:box>
                                                    <m:rad>
                                                      <m:radPr>
                                                        <m:degHide m:val="1"/>
                                                      </m:radPr>
                                                      <m:deg/>
                                                      <m:e>
                                                        <m:box>
                                                          <m:e>
                                                            <m:box>
                                                              <m:e>
                                                                <m:f>
                                                                  <m:num>
                                                                    <m:r>
                                                                      <m:rPr>
                                                                        <m:sty m:val="i"/>
                                                                      </m:rPr>
                                                                      <a:rPr lang="en-US" i="1" sz="1568">
                                                                        <a:latin typeface="Cambria Math"/>
                                                                      </a:rPr>
                                                                      <m:t>L</m:t>
                                                                    </m:r>
                                                                  </m:num>
                                                                  <m:den>
                                                                    <m:r>
                                                                      <m:rPr>
                                                                        <m:sty m:val="i"/>
                                                                      </m:rPr>
                                                                      <a:rPr lang="en-US" i="1" sz="1568">
                                                                        <a:latin typeface="Cambria Math"/>
                                                                      </a:rPr>
                                                                      <m:t>C</m:t>
                                                                    </m:r>
                                                                  </m:den>
                                                                </m:f>
                                                              </m:e>
                                                            </m:box>
                                                          </m:e>
                                                        </m:box>
                                                      </m:e>
                                                    </m:rad>
                                                  </m:e>
                                                </m:box>
                                              </m:e>
                                            </m:rad>
                                            <m:box>
                                              <m:e>
                                                <m:d>
                                                  <m:dPr>
                                                    <m:begChr m:val="("/>
                                                    <m:endChr m:val=")"/>
                                                  </m:dPr>
                                                  <m:e>
                                                    <m:box>
                                                      <m:e>
                                                        <m:rad>
                                                          <m:radPr>
                                                            <m:degHide m:val="1"/>
                                                          </m:radPr>
                                                          <m:deg/>
                                                          <m:e>
                                                            <m:box>
                                                              <m:e>
                                                                <m:box>
                                                                  <m:e>
                                                                    <m:f>
                                                                      <m:num>
                                                                        <m:r>
                                                                          <m:rPr>
                                                                            <m:sty m:val="i"/>
                                                                          </m:rPr>
                                                                          <a:rPr lang="en-US" i="1" sz="1568">
                                                                            <a:latin typeface="Cambria Math"/>
                                                                          </a:rPr>
                                                                          <m:t>C</m:t>
                                                                        </m:r>
                                                                      </m:num>
                                                                      <m:den>
                                                                        <m:r>
                                                                          <m:rPr>
                                                                            <m:sty m:val="i"/>
                                                                          </m:rPr>
                                                                          <a:rPr lang="en-US" i="1" sz="1568">
                                                                            <a:latin typeface="Cambria Math"/>
                                                                          </a:rPr>
                                                                          <m:t>L</m:t>
                                                                        </m:r>
                                                                      </m:den>
                                                                    </m:f>
                                                                  </m:e>
                                                                </m:box>
                                                              </m:e>
                                                            </m:box>
                                                          </m:e>
                                                        </m:rad>
                                                        <m:box>
                                                          <m:e>
                                                            <m:r>
                                                              <a:rPr lang="en-US" i="1" sz="1568">
                                                                <a:latin typeface="Cambria Math"/>
                                                              </a:rPr>
                                                              <m:t/>
                                                            </m:r>
                                                          </m:e>
                                                        </m:box>
                                                        <m:box>
                                                          <m:e>
                                                            <m:limUpp>
                                                              <m:e>
                                                                <m:r>
                                                                  <m:rPr>
                                                                    <m:sty m:val="p"/>
                                                                  </m:rPr>
                                                                  <a:rPr lang="en-US" i="0" sz="1568">
                                                                    <a:latin typeface="Cambria Math"/>
                                                                  </a:rPr>
                                                                  <m:t>Φ</m:t>
                                                                </m:r>
                                                              </m:e>
                                                              <m:lim>
                                                                <m:r>
                                                                  <m:rPr>
                                                                    <m:sty m:val="p"/>
                                                                  </m:rPr>
                                                                  <a:rPr lang="en-US" i="0" sz="1568">
                                                                    <a:latin typeface="Cambria Math"/>
                                                                  </a:rPr>
                                                                  <m:t>^</m:t>
                                                                </m:r>
                                                              </m:lim>
                                                            </m:limUpp>
                                                          </m:e>
                                                        </m:box>
                                                        <m:r>
                                                          <m:rPr>
                                                            <m:sty m:val="p"/>
                                                          </m:rPr>
                                                          <a:rPr lang="en-US" i="0" sz="1568">
                                                            <a:latin typeface="Cambria Math"/>
                                                          </a:rPr>
                                                          <m:t>+</m:t>
                                                        </m:r>
                                                        <m:r>
                                                          <m:rPr>
                                                            <m:sty m:val="i"/>
                                                          </m:rPr>
                                                          <a:rPr lang="en-US" i="1" sz="1568">
                                                            <a:latin typeface="Cambria Math"/>
                                                          </a:rPr>
                                                          <m:t>i</m:t>
                                                        </m:r>
                                                        <m:box>
                                                          <m:e>
                                                            <m:limUpp>
                                                              <m:e>
                                                                <m:r>
                                                                  <m:rPr>
                                                                    <m:sty m:val="i"/>
                                                                  </m:rPr>
                                                                  <a:rPr lang="en-US" i="1" sz="1568">
                                                                    <a:latin typeface="Cambria Math"/>
                                                                  </a:rPr>
                                                                  <m:t>Q</m:t>
                                                                </m:r>
                                                              </m:e>
                                                              <m:lim>
                                                                <m:r>
                                                                  <m:rPr>
                                                                    <m:sty m:val="p"/>
                                                                  </m:rPr>
                                                                  <a:rPr lang="en-US" i="0" sz="1568">
                                                                    <a:latin typeface="Cambria Math"/>
                                                                  </a:rPr>
                                                                  <m:t>^</m:t>
                                                                </m:r>
                                                              </m:lim>
                                                            </m:limUpp>
                                                          </m:e>
                                                        </m:box>
                                                      </m:e>
                                                    </m:box>
                                                  </m:e>
                                                </m:d>
                                              </m:e>
                                            </m:box>
                                          </m:e>
                                        </m:box>
                                      </m:e>
                                    </m:mr>
                                    <m:mr>
                                      <m:e>
                                        <m:box>
                                          <m:e>
                                            <m:sSup>
                                              <m:e>
                                                <m:box>
                                                  <m:e>
                                                    <m:limUpp>
                                                      <m:e>
                                                        <m:r>
                                                          <m:rPr>
                                                            <m:sty m:val="i"/>
                                                          </m:rPr>
                                                          <a:rPr lang="en-US" i="1" sz="1568">
                                                            <a:latin typeface="Cambria Math"/>
                                                          </a:rPr>
                                                          <m:t>a</m:t>
                                                        </m:r>
                                                      </m:e>
                                                      <m:lim>
                                                        <m:r>
                                                          <m:rPr>
                                                            <m:sty m:val="p"/>
                                                          </m:rPr>
                                                          <a:rPr lang="en-US" i="0" sz="1568">
                                                            <a:latin typeface="Cambria Math"/>
                                                          </a:rPr>
                                                          <m:t>^</m:t>
                                                        </m:r>
                                                      </m:lim>
                                                    </m:limUpp>
                                                  </m:e>
                                                </m:box>
                                              </m:e>
                                              <m:sup>
                                                <m:r>
                                                  <m:rPr>
                                                    <m:sty m:val="p"/>
                                                  </m:rPr>
                                                  <a:rPr lang="en-US" i="0" sz="1568">
                                                    <a:latin typeface="Cambria Math"/>
                                                  </a:rPr>
                                                  <m:t>†</m:t>
                                                </m:r>
                                              </m:sup>
                                            </m:sSup>
                                            <m:r>
                                              <m:rPr>
                                                <m:sty m:val="p"/>
                                              </m:rPr>
                                              <a:rPr lang="en-US" i="0" sz="1568">
                                                <a:latin typeface="Cambria Math"/>
                                              </a:rPr>
                                              <m:t>=</m:t>
                                            </m:r>
                                            <m:rad>
                                              <m:radPr>
                                                <m:degHide m:val="1"/>
                                              </m:radPr>
                                              <m:deg/>
                                              <m:e>
                                                <m:box>
                                                  <m:e>
                                                    <m:box>
                                                      <m:e>
                                                        <m:f>
                                                          <m:num>
                                                            <m:r>
                                                              <m:rPr>
                                                                <m:sty m:val="p"/>
                                                              </m:rPr>
                                                              <a:rPr lang="en-US" i="0" sz="1568">
                                                                <a:latin typeface="Cambria Math"/>
                                                              </a:rPr>
                                                              <m:t>1</m:t>
                                                            </m:r>
                                                          </m:num>
                                                          <m:den>
                                                            <m:box>
                                                              <m:e>
                                                                <m:r>
                                                                  <m:rPr>
                                                                    <m:sty m:val="p"/>
                                                                  </m:rPr>
                                                                  <a:rPr lang="en-US" i="0" sz="1568">
                                                                    <a:latin typeface="Cambria Math"/>
                                                                  </a:rPr>
                                                                  <m:t>2</m:t>
                                                                </m:r>
                                                                <m:r>
                                                                  <m:rPr>
                                                                    <m:sty m:val="i"/>
                                                                  </m:rPr>
                                                                  <a:rPr lang="en-US" i="1" sz="1568">
                                                                    <a:latin typeface="Cambria Math"/>
                                                                  </a:rPr>
                                                                  <m:t>ℏ</m:t>
                                                                </m:r>
                                                              </m:e>
                                                            </m:box>
                                                          </m:den>
                                                        </m:f>
                                                      </m:e>
                                                    </m:box>
                                                    <m:rad>
                                                      <m:radPr>
                                                        <m:degHide m:val="1"/>
                                                      </m:radPr>
                                                      <m:deg/>
                                                      <m:e>
                                                        <m:box>
                                                          <m:e>
                                                            <m:box>
                                                              <m:e>
                                                                <m:f>
                                                                  <m:num>
                                                                    <m:r>
                                                                      <m:rPr>
                                                                        <m:sty m:val="i"/>
                                                                      </m:rPr>
                                                                      <a:rPr lang="en-US" i="1" sz="1568">
                                                                        <a:latin typeface="Cambria Math"/>
                                                                      </a:rPr>
                                                                      <m:t>L</m:t>
                                                                    </m:r>
                                                                  </m:num>
                                                                  <m:den>
                                                                    <m:r>
                                                                      <m:rPr>
                                                                        <m:sty m:val="i"/>
                                                                      </m:rPr>
                                                                      <a:rPr lang="en-US" i="1" sz="1568">
                                                                        <a:latin typeface="Cambria Math"/>
                                                                      </a:rPr>
                                                                      <m:t>C</m:t>
                                                                    </m:r>
                                                                  </m:den>
                                                                </m:f>
                                                              </m:e>
                                                            </m:box>
                                                          </m:e>
                                                        </m:box>
                                                      </m:e>
                                                    </m:rad>
                                                  </m:e>
                                                </m:box>
                                              </m:e>
                                            </m:rad>
                                            <m:box>
                                              <m:e>
                                                <m:d>
                                                  <m:dPr>
                                                    <m:begChr m:val="("/>
                                                    <m:endChr m:val=")"/>
                                                  </m:dPr>
                                                  <m:e>
                                                    <m:box>
                                                      <m:e>
                                                        <m:rad>
                                                          <m:radPr>
                                                            <m:degHide m:val="1"/>
                                                          </m:radPr>
                                                          <m:deg/>
                                                          <m:e>
                                                            <m:box>
                                                              <m:e>
                                                                <m:box>
                                                                  <m:e>
                                                                    <m:f>
                                                                      <m:num>
                                                                        <m:r>
                                                                          <m:rPr>
                                                                            <m:sty m:val="i"/>
                                                                          </m:rPr>
                                                                          <a:rPr lang="en-US" i="1" sz="1568">
                                                                            <a:latin typeface="Cambria Math"/>
                                                                          </a:rPr>
                                                                          <m:t>C</m:t>
                                                                        </m:r>
                                                                      </m:num>
                                                                      <m:den>
                                                                        <m:r>
                                                                          <m:rPr>
                                                                            <m:sty m:val="i"/>
                                                                          </m:rPr>
                                                                          <a:rPr lang="en-US" i="1" sz="1568">
                                                                            <a:latin typeface="Cambria Math"/>
                                                                          </a:rPr>
                                                                          <m:t>L</m:t>
                                                                        </m:r>
                                                                      </m:den>
                                                                    </m:f>
                                                                  </m:e>
                                                                </m:box>
                                                              </m:e>
                                                            </m:box>
                                                          </m:e>
                                                        </m:rad>
                                                        <m:box>
                                                          <m:e>
                                                            <m:r>
                                                              <a:rPr lang="en-US" i="1" sz="1568">
                                                                <a:latin typeface="Cambria Math"/>
                                                              </a:rPr>
                                                              <m:t/>
                                                            </m:r>
                                                          </m:e>
                                                        </m:box>
                                                        <m:box>
                                                          <m:e>
                                                            <m:limUpp>
                                                              <m:e>
                                                                <m:r>
                                                                  <m:rPr>
                                                                    <m:sty m:val="p"/>
                                                                  </m:rPr>
                                                                  <a:rPr lang="en-US" i="0" sz="1568">
                                                                    <a:latin typeface="Cambria Math"/>
                                                                  </a:rPr>
                                                                  <m:t>Φ</m:t>
                                                                </m:r>
                                                              </m:e>
                                                              <m:lim>
                                                                <m:r>
                                                                  <m:rPr>
                                                                    <m:sty m:val="p"/>
                                                                  </m:rPr>
                                                                  <a:rPr lang="en-US" i="0" sz="1568">
                                                                    <a:latin typeface="Cambria Math"/>
                                                                  </a:rPr>
                                                                  <m:t>^</m:t>
                                                                </m:r>
                                                              </m:lim>
                                                            </m:limUpp>
                                                          </m:e>
                                                        </m:box>
                                                        <m:r>
                                                          <m:rPr>
                                                            <m:sty m:val="p"/>
                                                          </m:rPr>
                                                          <a:rPr lang="en-US" i="0" sz="1568">
                                                            <a:latin typeface="Cambria Math"/>
                                                          </a:rPr>
                                                          <m:t>−</m:t>
                                                        </m:r>
                                                        <m:r>
                                                          <m:rPr>
                                                            <m:sty m:val="i"/>
                                                          </m:rPr>
                                                          <a:rPr lang="en-US" i="1" sz="1568">
                                                            <a:latin typeface="Cambria Math"/>
                                                          </a:rPr>
                                                          <m:t>i</m:t>
                                                        </m:r>
                                                        <m:box>
                                                          <m:e>
                                                            <m:limUpp>
                                                              <m:e>
                                                                <m:r>
                                                                  <m:rPr>
                                                                    <m:sty m:val="i"/>
                                                                  </m:rPr>
                                                                  <a:rPr lang="en-US" i="1" sz="1568">
                                                                    <a:latin typeface="Cambria Math"/>
                                                                  </a:rPr>
                                                                  <m:t>Q</m:t>
                                                                </m:r>
                                                              </m:e>
                                                              <m:lim>
                                                                <m:r>
                                                                  <m:rPr>
                                                                    <m:sty m:val="p"/>
                                                                  </m:rPr>
                                                                  <a:rPr lang="en-US" i="0" sz="1568">
                                                                    <a:latin typeface="Cambria Math"/>
                                                                  </a:rPr>
                                                                  <m:t>^</m:t>
                                                                </m:r>
                                                              </m:lim>
                                                            </m:limUpp>
                                                          </m:e>
                                                        </m:box>
                                                      </m:e>
                                                    </m:box>
                                                  </m:e>
                                                </m:d>
                                              </m:e>
                                            </m:box>
                                          </m:e>
                                        </m:box>
                                      </m:e>
                                    </m:mr>
                                  </m:m>
                                </m:e>
                              </m:box>
                            </m:e>
                          </m:d>
                        </m:e>
                      </m:box>
                    </m:oMath>
                  </m:oMathPara>
                </a14:m>
              </mc:Choice>
              <mc:Fallback>
                <a:r>
                  <a:rPr lang="en-US" sz="1567" i="1"/>
                  <a:t>\begin{cases}\hat
                    a=\sqrt{\dfrac{1}{2\hbar}\sqrt{\dfrac{L}{C}}}\left(\sqrt{\dfrac{C}{L}}\,\hat\Phi+i\hat
                    Q\right)\\[12pt]
                    \hat a^\dagger=\sqrt{\dfrac{1}{2\hbar}\sqrt{\dfrac{L}{C}}}\left(\sqrt{\dfrac{C}{L}}\,\hat\Phi-i\hat
                    Q\right)\end{cases}</a:t>
                </a:r>
              </mc:Fallback>
            </mc:AlternateContent>
          </a:p>
        </p:txBody>
      </p:sp>
      <p:sp>
        <p:nvSpPr>
          <p:cNvPr id="8" name="Rounded Rectangle 7"/>
          <p:cNvSpPr/>
          <p:nvPr/>
        </p:nvSpPr>
        <p:spPr>
          <a:xfrm>
            <a:off x="575733" y="3991636"/>
            <a:ext cx="6280150" cy="1001712"/>
          </a:xfrm>
          <a:prstGeom prst="roundRect">
            <a:avLst>
              <a:gd name="adj" fmla="val 6761"/>
            </a:avLst>
          </a:prstGeom>
          <a:solidFill>
            <a:srgbClr val="FEF9E7"/>
          </a:solidFill>
          <a:ln w="16933">
            <a:solidFill>
              <a:srgbClr val="F0C0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equation"/>
          <p:cNvSpPr txBox="1"/>
          <p:nvPr/>
        </p:nvSpPr>
        <p:spPr>
          <a:xfrm>
            <a:off x="711200" y="4245636"/>
            <a:ext cx="6009217" cy="493712"/>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limUpp>
                            <m:e>
                              <m:box>
                                <m:e>
                                  <m:r>
                                    <m:rPr>
                                      <m:scr m:val="script"/>
                                      <m:sty m:val="i"/>
                                    </m:rPr>
                                    <a:rPr lang="en-US" i="1" sz="1568">
                                      <a:latin typeface="Cambria Math"/>
                                    </a:rPr>
                                    <m:t>H</m:t>
                                  </m:r>
                                </m:e>
                              </m:box>
                            </m:e>
                            <m:lim>
                              <m:r>
                                <m:rPr>
                                  <m:sty m:val="p"/>
                                </m:rPr>
                                <a:rPr lang="en-US" i="0" sz="1568">
                                  <a:latin typeface="Cambria Math"/>
                                </a:rPr>
                                <m:t>^</m:t>
                              </m:r>
                            </m:lim>
                          </m:limUpp>
                        </m:e>
                      </m:box>
                      <m:r>
                        <m:rPr>
                          <m:sty m:val="p"/>
                        </m:rPr>
                        <a:rPr lang="en-US" i="0" sz="1568">
                          <a:latin typeface="Cambria Math"/>
                        </a:rPr>
                        <m:t>=</m:t>
                      </m:r>
                      <m:r>
                        <m:rPr>
                          <m:sty m:val="i"/>
                        </m:rPr>
                        <a:rPr lang="en-US" i="1" sz="1568">
                          <a:latin typeface="Cambria Math"/>
                        </a:rPr>
                        <m:t>ℏ</m:t>
                      </m:r>
                      <m:r>
                        <m:rPr>
                          <m:sty m:val="i"/>
                        </m:rPr>
                        <a:rPr lang="en-US" i="1" sz="1568">
                          <a:latin typeface="Cambria Math"/>
                        </a:rPr>
                        <m:t>ω</m:t>
                      </m:r>
                      <m:box>
                        <m:e>
                          <m:d>
                            <m:dPr>
                              <m:begChr m:val="("/>
                              <m:endChr m:val=")"/>
                            </m:dPr>
                            <m:e>
                              <m:box>
                                <m:e>
                                  <m:sSup>
                                    <m:e>
                                      <m:box>
                                        <m:e>
                                          <m:limUpp>
                                            <m:e>
                                              <m:r>
                                                <m:rPr>
                                                  <m:sty m:val="i"/>
                                                </m:rPr>
                                                <a:rPr lang="en-US" i="1" sz="1568">
                                                  <a:latin typeface="Cambria Math"/>
                                                </a:rPr>
                                                <m:t>a</m:t>
                                              </m:r>
                                            </m:e>
                                            <m:lim>
                                              <m:r>
                                                <m:rPr>
                                                  <m:sty m:val="p"/>
                                                </m:rPr>
                                                <a:rPr lang="en-US" i="0" sz="1568">
                                                  <a:latin typeface="Cambria Math"/>
                                                </a:rPr>
                                                <m:t>^</m:t>
                                              </m:r>
                                            </m:lim>
                                          </m:limUpp>
                                        </m:e>
                                      </m:box>
                                    </m:e>
                                    <m:sup>
                                      <m:r>
                                        <m:rPr>
                                          <m:sty m:val="p"/>
                                        </m:rPr>
                                        <a:rPr lang="en-US" i="0" sz="1568">
                                          <a:latin typeface="Cambria Math"/>
                                        </a:rPr>
                                        <m:t>†</m:t>
                                      </m:r>
                                    </m:sup>
                                  </m:sSup>
                                  <m:box>
                                    <m:e>
                                      <m:limUpp>
                                        <m:e>
                                          <m:r>
                                            <m:rPr>
                                              <m:sty m:val="i"/>
                                            </m:rPr>
                                            <a:rPr lang="en-US" i="1" sz="1568">
                                              <a:latin typeface="Cambria Math"/>
                                            </a:rPr>
                                            <m:t>a</m:t>
                                          </m:r>
                                        </m:e>
                                        <m:lim>
                                          <m:r>
                                            <m:rPr>
                                              <m:sty m:val="p"/>
                                            </m:rPr>
                                            <a:rPr lang="en-US" i="0" sz="1568">
                                              <a:latin typeface="Cambria Math"/>
                                            </a:rPr>
                                            <m:t>^</m:t>
                                          </m:r>
                                        </m:lim>
                                      </m:limUpp>
                                    </m:e>
                                  </m:box>
                                  <m:r>
                                    <m:rPr>
                                      <m:sty m:val="p"/>
                                    </m:rPr>
                                    <a:rPr lang="en-US" i="0" sz="1568">
                                      <a:latin typeface="Cambria Math"/>
                                    </a:rPr>
                                    <m:t>+</m:t>
                                  </m:r>
                                  <m:f>
                                    <m:num>
                                      <m:r>
                                        <m:rPr>
                                          <m:sty m:val="p"/>
                                        </m:rPr>
                                        <a:rPr lang="en-US" i="0" sz="1568">
                                          <a:latin typeface="Cambria Math"/>
                                        </a:rPr>
                                        <m:t>1</m:t>
                                      </m:r>
                                    </m:num>
                                    <m:den>
                                      <m:r>
                                        <m:rPr>
                                          <m:sty m:val="p"/>
                                        </m:rPr>
                                        <a:rPr lang="en-US" i="0" sz="1568">
                                          <a:latin typeface="Cambria Math"/>
                                        </a:rPr>
                                        <m:t>2</m:t>
                                      </m:r>
                                    </m:den>
                                  </m:f>
                                </m:e>
                              </m:box>
                            </m:e>
                          </m:d>
                        </m:e>
                      </m:box>
                      <m:r>
                        <m:rPr>
                          <m:sty m:val="p"/>
                        </m:rPr>
                        <a:rPr lang="en-US" i="0" sz="1568">
                          <a:latin typeface="Cambria Math"/>
                        </a:rPr>
                        <m:t>,</m:t>
                      </m:r>
                      <m:box>
                        <m:e>
                          <m:r>
                            <a:rPr lang="en-US" i="1" sz="1568">
                              <a:latin typeface="Cambria Math"/>
                            </a:rPr>
                            <m:t/>
                          </m:r>
                        </m:e>
                      </m:box>
                      <m:r>
                        <m:rPr>
                          <m:sty m:val="i"/>
                        </m:rPr>
                        <a:rPr lang="en-US" i="1" sz="1568">
                          <a:latin typeface="Cambria Math"/>
                        </a:rPr>
                        <m:t>ω</m:t>
                      </m:r>
                      <m:r>
                        <m:rPr>
                          <m:sty m:val="p"/>
                        </m:rPr>
                        <a:rPr lang="en-US" i="0" sz="1568">
                          <a:latin typeface="Cambria Math"/>
                        </a:rPr>
                        <m:t>=</m:t>
                      </m:r>
                      <m:f>
                        <m:num>
                          <m:r>
                            <m:rPr>
                              <m:sty m:val="p"/>
                            </m:rPr>
                            <a:rPr lang="en-US" i="0" sz="1568">
                              <a:latin typeface="Cambria Math"/>
                            </a:rPr>
                            <m:t>1</m:t>
                          </m:r>
                        </m:num>
                        <m:den>
                          <m:rad>
                            <m:radPr>
                              <m:degHide m:val="1"/>
                            </m:radPr>
                            <m:deg/>
                            <m:e>
                              <m:box>
                                <m:e>
                                  <m:r>
                                    <m:rPr>
                                      <m:sty m:val="i"/>
                                    </m:rPr>
                                    <a:rPr lang="en-US" i="1" sz="1568">
                                      <a:latin typeface="Cambria Math"/>
                                    </a:rPr>
                                    <m:t>L</m:t>
                                  </m:r>
                                  <m:r>
                                    <m:rPr>
                                      <m:sty m:val="i"/>
                                    </m:rPr>
                                    <a:rPr lang="en-US" i="1" sz="1568">
                                      <a:latin typeface="Cambria Math"/>
                                    </a:rPr>
                                    <m:t>C</m:t>
                                  </m:r>
                                </m:e>
                              </m:box>
                            </m:e>
                          </m:rad>
                        </m:den>
                      </m:f>
                    </m:oMath>
                  </m:oMathPara>
                </a14:m>
              </mc:Choice>
              <mc:Fallback>
                <a:r>
                  <a:rPr lang="en-US" sz="1567" i="1"/>
                  <a:t>\hat{\mathcal H}=\hbar\omega\left(\hat a^\dagger\hat
                        a+\frac12\right),\qquad \omega=\frac{1}{\sqrt{LC}}</a:t>
                </a:r>
              </mc:Fallback>
            </mc:AlternateContent>
          </a:p>
        </p:txBody>
      </p:sp>
      <p:pic>
        <p:nvPicPr>
          <p:cNvPr id="10" name="svg-diagram" descr="el-x9.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6974417" y="1452827"/>
            <a:ext cx="4641850" cy="1947333"/>
          </a:xfrm>
          <a:prstGeom prst="rect">
            <a:avLst/>
          </a:prstGeom>
        </p:spPr>
      </p:pic>
      <p:pic>
        <p:nvPicPr>
          <p:cNvPr id="11" name="LC resonator and its equally spaced harmonic-oscillator levels" descr="s20-krantz-2019-fig1-qho.jpg"/>
          <p:cNvPicPr>
            <a:picLocks noChangeAspect="1"/>
          </p:cNvPicPr>
          <p:nvPr/>
        </p:nvPicPr>
        <p:blipFill>
          <a:blip r:embed="rId4"/>
          <a:stretch>
            <a:fillRect/>
          </a:stretch>
        </p:blipFill>
        <p:spPr>
          <a:xfrm>
            <a:off x="8614569" y="3484859"/>
            <a:ext cx="1361546" cy="2031937"/>
          </a:xfrm>
          <a:prstGeom prst="rect">
            <a:avLst/>
          </a:prstGeom>
        </p:spPr>
      </p:pic>
      <p:sp>
        <p:nvSpPr>
          <p:cNvPr id="12" name="TextBox 11"/>
          <p:cNvSpPr txBox="1"/>
          <p:nvPr/>
        </p:nvSpPr>
        <p:spPr>
          <a:xfrm>
            <a:off x="6974417" y="5576094"/>
            <a:ext cx="4641850" cy="350308"/>
          </a:xfrm>
          <a:prstGeom prst="rect">
            <a:avLst/>
          </a:prstGeom>
          <a:noFill/>
        </p:spPr>
        <p:txBody>
          <a:bodyPr wrap="square" lIns="0" rIns="0" tIns="0" bIns="0" anchor="t">
            <a:noAutofit/>
          </a:bodyPr>
          <a:lstStyle/>
          <a:p>
            <a:pPr algn="l">
              <a:lnSpc>
                <a:spcPts val="1380"/>
              </a:lnSpc>
            </a:pPr>
            <a:r>
              <a:rPr sz="1080" b="1" i="0">
                <a:solidFill>
                  <a:srgbClr val="302840"/>
                </a:solidFill>
                <a:latin typeface="Montserrat"/>
                <a:ea typeface="Montserrat"/>
                <a:cs typeface="Montserrat"/>
              </a:rPr>
              <a:t>Quantum harmonic oscillator:</a:t>
            </a:r>
            <a:r>
              <a:rPr sz="1080" b="0" i="0">
                <a:solidFill>
                  <a:srgbClr val="5F5865"/>
                </a:solidFill>
                <a:latin typeface="Montserrat"/>
                <a:ea typeface="Montserrat"/>
                <a:cs typeface="Montserrat"/>
              </a:rPr>
              <a:t> equally spaced levels </a:t>
            </a:r>
            <mc:AlternateContent xmlns:mc="http://schemas.openxmlformats.org/markup-compatibility/2006">
              <mc:Choice xmlns:a14="http://schemas.microsoft.com/office/drawing/2010/main" Requires="a14">
                <a14:m>
                  <m:oMath xmlns:m="http://schemas.openxmlformats.org/officeDocument/2006/math">
                    <m:r>
                      <m:rPr>
                        <m:sty m:val="i"/>
                      </m:rPr>
                      <a:rPr lang="en-US" i="1" sz="1282">
                        <a:latin typeface="Cambria Math"/>
                      </a:rPr>
                      <m:t>ℏ</m:t>
                    </m:r>
                    <m:sSub>
                      <m:e>
                        <m:r>
                          <m:rPr>
                            <m:sty m:val="i"/>
                          </m:rPr>
                          <a:rPr lang="en-US" i="1" sz="1282">
                            <a:latin typeface="Cambria Math"/>
                          </a:rPr>
                          <m:t>ω</m:t>
                        </m:r>
                      </m:e>
                      <m:sub>
                        <m:r>
                          <m:rPr>
                            <m:sty m:val="i"/>
                          </m:rPr>
                          <a:rPr lang="en-US" i="1" sz="1282">
                            <a:latin typeface="Cambria Math"/>
                          </a:rPr>
                          <m:t>r</m:t>
                        </m:r>
                      </m:sub>
                    </m:sSub>
                  </m:oMath>
                </a14:m>
              </mc:Choice>
              <mc:Fallback>
                <a:r>
                  <a:rPr lang="en-US" sz="1281" i="1"/>
                  <a:t>\hbar\omega_r</a:t>
                </a:r>
              </mc:Fallback>
            </mc:AlternateContent>
            <a:r>
              <a:rPr sz="1080" b="0" i="0">
                <a:solidFill>
                  <a:srgbClr val="5F5865"/>
                </a:solidFill>
                <a:latin typeface="Montserrat"/>
                <a:ea typeface="Montserrat"/>
                <a:cs typeface="Montserrat"/>
              </a:rPr>
              <a:t> — no isolated two-level system yet. Ref. </a:t>
            </a:r>
            <a:r>
              <a:rPr sz="1080" b="0" i="0">
                <a:solidFill>
                  <a:srgbClr val="355C9A"/>
                </a:solidFill>
                <a:latin typeface="Montserrat"/>
                <a:ea typeface="Montserrat"/>
                <a:cs typeface="Montserrat"/>
                <a:hlinkClick r:id="rId5"/>
              </a:rPr>
              <a:t>[2]</a:t>
            </a:r>
            <a:r>
              <a:rPr sz="1080" b="0" i="0">
                <a:solidFill>
                  <a:srgbClr val="5F5865"/>
                </a:solidFill>
                <a:latin typeface="Montserrat"/>
                <a:ea typeface="Montserrat"/>
                <a:cs typeface="Montserrat"/>
              </a:rPr>
              <a:t> </a:t>
            </a:r>
          </a:p>
        </p:txBody>
      </p:sp>
      <p:sp>
        <p:nvSpPr>
          <p:cNvPr id="13" name="Rectangle 12"/>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5" name="TextBox 14"/>
          <p:cNvSpPr txBox="1"/>
          <p:nvPr/>
        </p:nvSpPr>
        <p:spPr>
          <a:xfrm>
            <a:off x="11233811" y="6565900"/>
            <a:ext cx="467122"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56 / 100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equation"/>
          <p:cNvSpPr txBox="1"/>
          <p:nvPr/>
        </p:nvSpPr>
        <p:spPr>
          <a:xfrm>
            <a:off x="575733" y="1016000"/>
            <a:ext cx="11040533" cy="456671"/>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limUpp>
                            <m:e>
                              <m:r>
                                <m:rPr>
                                  <m:sty m:val="i"/>
                                </m:rPr>
                                <a:rPr lang="en-US" i="1" sz="1568">
                                  <a:latin typeface="Cambria Math"/>
                                </a:rPr>
                                <m:t>n</m:t>
                              </m:r>
                            </m:e>
                            <m:lim>
                              <m:r>
                                <m:rPr>
                                  <m:sty m:val="p"/>
                                </m:rPr>
                                <a:rPr lang="en-US" i="0" sz="1568">
                                  <a:latin typeface="Cambria Math"/>
                                </a:rPr>
                                <m:t>^</m:t>
                              </m:r>
                            </m:lim>
                          </m:limUpp>
                        </m:e>
                      </m:box>
                      <m:r>
                        <m:rPr>
                          <m:sty m:val="p"/>
                        </m:rPr>
                        <a:rPr lang="en-US" i="0" sz="1568">
                          <a:latin typeface="Cambria Math"/>
                        </a:rPr>
                        <m:t>=</m:t>
                      </m:r>
                      <m:r>
                        <m:rPr>
                          <m:sty m:val="p"/>
                        </m:rPr>
                        <a:rPr lang="en-US" i="0" sz="1568">
                          <a:latin typeface="Cambria Math"/>
                        </a:rPr>
                        <m:t>−</m:t>
                      </m:r>
                      <m:r>
                        <m:rPr>
                          <m:sty m:val="i"/>
                        </m:rPr>
                        <a:rPr lang="en-US" i="1" sz="1568">
                          <a:latin typeface="Cambria Math"/>
                        </a:rPr>
                        <m:t>i</m:t>
                      </m:r>
                      <m:f>
                        <m:num>
                          <m:r>
                            <m:rPr>
                              <m:sty m:val="i"/>
                            </m:rPr>
                            <a:rPr lang="en-US" i="1" sz="1568">
                              <a:latin typeface="Cambria Math"/>
                            </a:rPr>
                            <m:t>∂</m:t>
                          </m:r>
                        </m:num>
                        <m:den>
                          <m:box>
                            <m:e>
                              <m:r>
                                <m:rPr>
                                  <m:sty m:val="i"/>
                                </m:rPr>
                                <a:rPr lang="en-US" i="1" sz="1568">
                                  <a:latin typeface="Cambria Math"/>
                                </a:rPr>
                                <m:t>∂</m:t>
                              </m:r>
                              <m:r>
                                <m:rPr>
                                  <m:sty m:val="i"/>
                                </m:rPr>
                                <a:rPr lang="en-US" i="1" sz="1568">
                                  <a:latin typeface="Cambria Math"/>
                                </a:rPr>
                                <m:t>φ</m:t>
                              </m:r>
                            </m:e>
                          </m:box>
                        </m:den>
                      </m:f>
                      <m:r>
                        <m:rPr>
                          <m:sty m:val="p"/>
                        </m:rPr>
                        <a:rPr lang="en-US" i="0" sz="1568">
                          <a:latin typeface="Cambria Math"/>
                        </a:rPr>
                        <m:t>,</m:t>
                      </m:r>
                      <m:box>
                        <m:e>
                          <m:r>
                            <a:rPr lang="en-US" i="1" sz="1568">
                              <a:latin typeface="Cambria Math"/>
                            </a:rPr>
                            <m:t/>
                          </m:r>
                        </m:e>
                      </m:box>
                      <m:sSup>
                        <m:e>
                          <m:r>
                            <m:rPr>
                              <m:sty m:val="i"/>
                            </m:rPr>
                            <a:rPr lang="en-US" i="1" sz="1568">
                              <a:latin typeface="Cambria Math"/>
                            </a:rPr>
                            <m:t>e</m:t>
                          </m:r>
                        </m:e>
                        <m:sup>
                          <m:box>
                            <m:e>
                              <m:r>
                                <m:rPr>
                                  <m:sty m:val="p"/>
                                </m:rPr>
                                <a:rPr lang="en-US" i="0" sz="1568">
                                  <a:latin typeface="Cambria Math"/>
                                </a:rPr>
                                <m:t>±</m:t>
                              </m:r>
                              <m:r>
                                <m:rPr>
                                  <m:sty m:val="i"/>
                                </m:rPr>
                                <a:rPr lang="en-US" i="1" sz="1568">
                                  <a:latin typeface="Cambria Math"/>
                                </a:rPr>
                                <m:t>i</m:t>
                              </m:r>
                              <m:box>
                                <m:e>
                                  <m:limUpp>
                                    <m:e>
                                      <m:r>
                                        <m:rPr>
                                          <m:sty m:val="i"/>
                                        </m:rPr>
                                        <a:rPr lang="en-US" i="1" sz="1568">
                                          <a:latin typeface="Cambria Math"/>
                                        </a:rPr>
                                        <m:t>φ</m:t>
                                      </m:r>
                                    </m:e>
                                    <m:lim>
                                      <m:r>
                                        <m:rPr>
                                          <m:sty m:val="p"/>
                                        </m:rPr>
                                        <a:rPr lang="en-US" i="0" sz="1568">
                                          <a:latin typeface="Cambria Math"/>
                                        </a:rPr>
                                        <m:t>^</m:t>
                                      </m:r>
                                    </m:lim>
                                  </m:limUpp>
                                </m:e>
                              </m:box>
                            </m:e>
                          </m:box>
                        </m:sup>
                      </m:sSup>
                      <m:box>
                        <m:e>
                          <m:r>
                            <m:rPr>
                              <m:sty m:val="p"/>
                            </m:rPr>
                            <a:rPr lang="en-US" i="0" sz="1568">
                              <a:latin typeface="Cambria Math"/>
                            </a:rPr>
                            <m:t>|</m:t>
                          </m:r>
                          <m:box>
                            <m:e>
                              <m:r>
                                <m:rPr>
                                  <m:sty m:val="i"/>
                                </m:rPr>
                                <a:rPr lang="en-US" i="1" sz="1568">
                                  <a:latin typeface="Cambria Math"/>
                                </a:rPr>
                                <m:t>n</m:t>
                              </m:r>
                            </m:e>
                          </m:box>
                          <m:r>
                            <m:rPr>
                              <m:sty m:val="p"/>
                            </m:rPr>
                            <a:rPr lang="en-US" i="0" sz="1568">
                              <a:latin typeface="Cambria Math"/>
                            </a:rPr>
                            <m:t>⟩</m:t>
                          </m:r>
                        </m:e>
                      </m:box>
                      <m:r>
                        <m:rPr>
                          <m:sty m:val="p"/>
                        </m:rPr>
                        <a:rPr lang="en-US" i="0" sz="1568">
                          <a:latin typeface="Cambria Math"/>
                        </a:rPr>
                        <m:t>=</m:t>
                      </m:r>
                      <m:box>
                        <m:e>
                          <m:r>
                            <m:rPr>
                              <m:sty m:val="p"/>
                            </m:rPr>
                            <a:rPr lang="en-US" i="0" sz="1568">
                              <a:latin typeface="Cambria Math"/>
                            </a:rPr>
                            <m:t>|</m:t>
                          </m:r>
                          <m:box>
                            <m:e>
                              <m:r>
                                <m:rPr>
                                  <m:sty m:val="i"/>
                                </m:rPr>
                                <a:rPr lang="en-US" i="1" sz="1568">
                                  <a:latin typeface="Cambria Math"/>
                                </a:rPr>
                                <m:t>n</m:t>
                              </m:r>
                              <m:r>
                                <m:rPr>
                                  <m:sty m:val="p"/>
                                </m:rPr>
                                <a:rPr lang="en-US" i="0" sz="1568">
                                  <a:latin typeface="Cambria Math"/>
                                </a:rPr>
                                <m:t>±</m:t>
                              </m:r>
                              <m:r>
                                <m:rPr>
                                  <m:sty m:val="p"/>
                                </m:rPr>
                                <a:rPr lang="en-US" i="0" sz="1568">
                                  <a:latin typeface="Cambria Math"/>
                                </a:rPr>
                                <m:t>1</m:t>
                              </m:r>
                            </m:e>
                          </m:box>
                          <m:r>
                            <m:rPr>
                              <m:sty m:val="p"/>
                            </m:rPr>
                            <a:rPr lang="en-US" i="0" sz="1568">
                              <a:latin typeface="Cambria Math"/>
                            </a:rPr>
                            <m:t>⟩</m:t>
                          </m:r>
                        </m:e>
                      </m:box>
                      <m:r>
                        <m:rPr>
                          <m:sty m:val="p"/>
                        </m:rPr>
                        <a:rPr lang="en-US" i="0" sz="1568">
                          <a:latin typeface="Cambria Math"/>
                        </a:rPr>
                        <m:t>.</m:t>
                      </m:r>
                    </m:oMath>
                  </m:oMathPara>
                </a14:m>
              </mc:Choice>
              <mc:Fallback>
                <a:r>
                  <a:rPr lang="en-US" sz="1567" i="1"/>
                  <a:t>
                \hat n=-i\frac{\partial}{\partial\varphi},
                \qquad
                e^{\pm i\hat\varphi}\ket n=\ket{n\pm1}.
                </a:t>
                </a:r>
              </mc:Fallback>
            </mc:AlternateContent>
          </a:p>
        </p:txBody>
      </p:sp>
      <p:sp>
        <p:nvSpPr>
          <p:cNvPr id="6" name="TextBox 5"/>
          <p:cNvSpPr txBox="1"/>
          <p:nvPr/>
        </p:nvSpPr>
        <p:spPr>
          <a:xfrm>
            <a:off x="575733" y="1625071"/>
            <a:ext cx="11040533" cy="551656"/>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The final expression makes the physical relation between phase and charge explicit: </a:t>
            </a:r>
            <mc:AlternateContent xmlns:mc="http://schemas.openxmlformats.org/markup-compatibility/2006">
              <mc:Choice xmlns:a14="http://schemas.microsoft.com/office/drawing/2010/main" Requires="a14">
                <a14:m>
                  <m:oMath xmlns:m="http://schemas.openxmlformats.org/officeDocument/2006/math">
                    <m:sSup>
                      <m:e>
                        <m:r>
                          <m:rPr>
                            <m:sty m:val="i"/>
                          </m:rPr>
                          <a:rPr lang="en-US" i="1" sz="1665">
                            <a:latin typeface="Cambria Math"/>
                          </a:rPr>
                          <m:t>e</m:t>
                        </m:r>
                      </m:e>
                      <m:sup>
                        <m:box>
                          <m:e>
                            <m:r>
                              <m:rPr>
                                <m:sty m:val="p"/>
                              </m:rPr>
                              <a:rPr lang="en-US" i="0" sz="1665">
                                <a:latin typeface="Cambria Math"/>
                              </a:rPr>
                              <m:t>±</m:t>
                            </m:r>
                            <m:r>
                              <m:rPr>
                                <m:sty m:val="i"/>
                              </m:rPr>
                              <a:rPr lang="en-US" i="1" sz="1665">
                                <a:latin typeface="Cambria Math"/>
                              </a:rPr>
                              <m:t>i</m:t>
                            </m:r>
                            <m:box>
                              <m:e>
                                <m:limUpp>
                                  <m:e>
                                    <m:r>
                                      <m:rPr>
                                        <m:sty m:val="i"/>
                                      </m:rPr>
                                      <a:rPr lang="en-US" i="1" sz="1665">
                                        <a:latin typeface="Cambria Math"/>
                                      </a:rPr>
                                      <m:t>φ</m:t>
                                    </m:r>
                                  </m:e>
                                  <m:lim>
                                    <m:r>
                                      <m:rPr>
                                        <m:sty m:val="p"/>
                                      </m:rPr>
                                      <a:rPr lang="en-US" i="0" sz="1665">
                                        <a:latin typeface="Cambria Math"/>
                                      </a:rPr>
                                      <m:t>^</m:t>
                                    </m:r>
                                  </m:lim>
                                </m:limUpp>
                              </m:e>
                            </m:box>
                          </m:e>
                        </m:box>
                      </m:sup>
                    </m:sSup>
                  </m:oMath>
                </a14:m>
              </mc:Choice>
              <mc:Fallback>
                <a:r>
                  <a:rPr lang="en-US" sz="1664" i="1"/>
                  <a:t>e^{\pm
                i\hat\varphi}</a:t>
                </a:r>
              </mc:Fallback>
            </mc:AlternateContent>
            <a:r>
              <a:rPr sz="1400" b="0" i="0">
                <a:solidFill>
                  <a:srgbClr val="4F4C56"/>
                </a:solidFill>
                <a:latin typeface="Montserrat"/>
                <a:ea typeface="Montserrat"/>
                <a:cs typeface="Montserrat"/>
              </a:rPr>
              <a:t> changes the Cooper-pair number on the island by one. The Josephson term can therefore also be written as </a:t>
            </a:r>
          </a:p>
        </p:txBody>
      </p:sp>
      <p:sp>
        <p:nvSpPr>
          <p:cNvPr id="7" name="equation"/>
          <p:cNvSpPr txBox="1"/>
          <p:nvPr/>
        </p:nvSpPr>
        <p:spPr>
          <a:xfrm>
            <a:off x="575733" y="2329127"/>
            <a:ext cx="11040533" cy="406268"/>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J</m:t>
                          </m:r>
                        </m:sub>
                      </m:sSub>
                      <m:r>
                        <m:rPr>
                          <m:sty m:val="p"/>
                        </m:rPr>
                        <a:rPr lang="en-US" i="0" sz="1568">
                          <a:latin typeface="Cambria Math"/>
                        </a:rPr>
                        <m:t>cos</m:t>
                      </m:r>
                      <m:r>
                        <m:rPr>
                          <m:sty m:val="p"/>
                        </m:rPr>
                        <a:rPr lang="en-US" i="0" sz="1568">
                          <a:latin typeface="Cambria Math"/>
                        </a:rPr>
                        <m:t/>
                      </m:r>
                      <m:box>
                        <m:e>
                          <m:limUpp>
                            <m:e>
                              <m:r>
                                <m:rPr>
                                  <m:sty m:val="i"/>
                                </m:rPr>
                                <a:rPr lang="en-US" i="1" sz="1568">
                                  <a:latin typeface="Cambria Math"/>
                                </a:rPr>
                                <m:t>φ</m:t>
                              </m:r>
                            </m:e>
                            <m:lim>
                              <m:r>
                                <m:rPr>
                                  <m:sty m:val="p"/>
                                </m:rPr>
                                <a:rPr lang="en-US" i="0" sz="1568">
                                  <a:latin typeface="Cambria Math"/>
                                </a:rPr>
                                <m:t>^</m:t>
                              </m:r>
                            </m:lim>
                          </m:limUpp>
                        </m:e>
                      </m:box>
                      <m:r>
                        <m:rPr>
                          <m:sty m:val="p"/>
                        </m:rPr>
                        <a:rPr lang="en-US" i="0" sz="1568">
                          <a:latin typeface="Cambria Math"/>
                        </a:rPr>
                        <m:t>=</m:t>
                      </m:r>
                      <m:r>
                        <m:rPr>
                          <m:sty m:val="p"/>
                        </m:rPr>
                        <a:rPr lang="en-US" i="0" sz="1568">
                          <a:latin typeface="Cambria Math"/>
                        </a:rPr>
                        <m:t>−</m:t>
                      </m:r>
                      <m:f>
                        <m:num>
                          <m:sSub>
                            <m:e>
                              <m:r>
                                <m:rPr>
                                  <m:sty m:val="i"/>
                                </m:rPr>
                                <a:rPr lang="en-US" i="1" sz="1568">
                                  <a:latin typeface="Cambria Math"/>
                                </a:rPr>
                                <m:t>E</m:t>
                              </m:r>
                            </m:e>
                            <m:sub>
                              <m:r>
                                <m:rPr>
                                  <m:sty m:val="i"/>
                                </m:rPr>
                                <a:rPr lang="en-US" i="1" sz="1568">
                                  <a:latin typeface="Cambria Math"/>
                                </a:rPr>
                                <m:t>J</m:t>
                              </m:r>
                            </m:sub>
                          </m:sSub>
                        </m:num>
                        <m:den>
                          <m:r>
                            <m:rPr>
                              <m:sty m:val="p"/>
                            </m:rPr>
                            <a:rPr lang="en-US" i="0" sz="1568">
                              <a:latin typeface="Cambria Math"/>
                            </a:rPr>
                            <m:t>2</m:t>
                          </m:r>
                        </m:den>
                      </m:f>
                      <m:box>
                        <m:e>
                          <m:d>
                            <m:dPr>
                              <m:begChr m:val="("/>
                              <m:endChr m:val=")"/>
                            </m:dPr>
                            <m:e>
                              <m:box>
                                <m:e>
                                  <m:sSup>
                                    <m:e>
                                      <m:r>
                                        <m:rPr>
                                          <m:sty m:val="i"/>
                                        </m:rPr>
                                        <a:rPr lang="en-US" i="1" sz="1568">
                                          <a:latin typeface="Cambria Math"/>
                                        </a:rPr>
                                        <m:t>e</m:t>
                                      </m:r>
                                    </m:e>
                                    <m:sup>
                                      <m:box>
                                        <m:e>
                                          <m:r>
                                            <m:rPr>
                                              <m:sty m:val="i"/>
                                            </m:rPr>
                                            <a:rPr lang="en-US" i="1" sz="1568">
                                              <a:latin typeface="Cambria Math"/>
                                            </a:rPr>
                                            <m:t>i</m:t>
                                          </m:r>
                                          <m:box>
                                            <m:e>
                                              <m:limUpp>
                                                <m:e>
                                                  <m:r>
                                                    <m:rPr>
                                                      <m:sty m:val="i"/>
                                                    </m:rPr>
                                                    <a:rPr lang="en-US" i="1" sz="1568">
                                                      <a:latin typeface="Cambria Math"/>
                                                    </a:rPr>
                                                    <m:t>φ</m:t>
                                                  </m:r>
                                                </m:e>
                                                <m:lim>
                                                  <m:r>
                                                    <m:rPr>
                                                      <m:sty m:val="p"/>
                                                    </m:rPr>
                                                    <a:rPr lang="en-US" i="0" sz="1568">
                                                      <a:latin typeface="Cambria Math"/>
                                                    </a:rPr>
                                                    <m:t>^</m:t>
                                                  </m:r>
                                                </m:lim>
                                              </m:limUpp>
                                            </m:e>
                                          </m:box>
                                        </m:e>
                                      </m:box>
                                    </m:sup>
                                  </m:sSup>
                                  <m:r>
                                    <m:rPr>
                                      <m:sty m:val="p"/>
                                    </m:rPr>
                                    <a:rPr lang="en-US" i="0" sz="1568">
                                      <a:latin typeface="Cambria Math"/>
                                    </a:rPr>
                                    <m:t>+</m:t>
                                  </m:r>
                                  <m:sSup>
                                    <m:e>
                                      <m:r>
                                        <m:rPr>
                                          <m:sty m:val="i"/>
                                        </m:rPr>
                                        <a:rPr lang="en-US" i="1" sz="1568">
                                          <a:latin typeface="Cambria Math"/>
                                        </a:rPr>
                                        <m:t>e</m:t>
                                      </m:r>
                                    </m:e>
                                    <m:sup>
                                      <m:box>
                                        <m:e>
                                          <m:r>
                                            <m:rPr>
                                              <m:sty m:val="p"/>
                                            </m:rPr>
                                            <a:rPr lang="en-US" i="0" sz="1568">
                                              <a:latin typeface="Cambria Math"/>
                                            </a:rPr>
                                            <m:t>−</m:t>
                                          </m:r>
                                          <m:r>
                                            <m:rPr>
                                              <m:sty m:val="i"/>
                                            </m:rPr>
                                            <a:rPr lang="en-US" i="1" sz="1568">
                                              <a:latin typeface="Cambria Math"/>
                                            </a:rPr>
                                            <m:t>i</m:t>
                                          </m:r>
                                          <m:box>
                                            <m:e>
                                              <m:limUpp>
                                                <m:e>
                                                  <m:r>
                                                    <m:rPr>
                                                      <m:sty m:val="i"/>
                                                    </m:rPr>
                                                    <a:rPr lang="en-US" i="1" sz="1568">
                                                      <a:latin typeface="Cambria Math"/>
                                                    </a:rPr>
                                                    <m:t>φ</m:t>
                                                  </m:r>
                                                </m:e>
                                                <m:lim>
                                                  <m:r>
                                                    <m:rPr>
                                                      <m:sty m:val="p"/>
                                                    </m:rPr>
                                                    <a:rPr lang="en-US" i="0" sz="1568">
                                                      <a:latin typeface="Cambria Math"/>
                                                    </a:rPr>
                                                    <m:t>^</m:t>
                                                  </m:r>
                                                </m:lim>
                                              </m:limUpp>
                                            </m:e>
                                          </m:box>
                                        </m:e>
                                      </m:box>
                                    </m:sup>
                                  </m:sSup>
                                </m:e>
                              </m:box>
                            </m:e>
                          </m:d>
                        </m:e>
                      </m:box>
                      <m:r>
                        <m:rPr>
                          <m:sty m:val="p"/>
                        </m:rPr>
                        <a:rPr lang="en-US" i="0" sz="1568">
                          <a:latin typeface="Cambria Math"/>
                        </a:rPr>
                        <m:t>,</m:t>
                      </m:r>
                    </m:oMath>
                  </m:oMathPara>
                </a14:m>
              </mc:Choice>
              <mc:Fallback>
                <a:r>
                  <a:rPr lang="en-US" sz="1567" i="1"/>
                  <a:t>
                -E_J\cos\hat\varphi
                =-\frac{E_J}{2}\left(e^{i\hat\varphi}+e^{-i\hat\varphi}\right),
                </a:t>
                </a:r>
              </mc:Fallback>
            </mc:AlternateContent>
          </a:p>
        </p:txBody>
      </p:sp>
      <p:sp>
        <p:nvSpPr>
          <p:cNvPr id="8" name="TextBox 7"/>
          <p:cNvSpPr txBox="1"/>
          <p:nvPr/>
        </p:nvSpPr>
        <p:spPr>
          <a:xfrm>
            <a:off x="575733" y="2887795"/>
            <a:ext cx="11040533"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In the phase picture it is a cosine potential; in the charge picture it is coherent tunneling between adjacent charge states. The two pictures describe the same Hamiltonian. </a:t>
            </a:r>
          </a:p>
        </p:txBody>
      </p:sp>
      <p:sp>
        <p:nvSpPr>
          <p:cNvPr id="9" name="TextBox 8"/>
          <p:cNvSpPr txBox="1"/>
          <p:nvPr/>
        </p:nvSpPr>
        <p:spPr>
          <a:xfrm>
            <a:off x="575733" y="3563541"/>
            <a:ext cx="11040533" cy="1080558"/>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Charge and phase therefore cannot both have arbitrarily precise values. The differences among later qubit types can all be viewed as rearrangements, at different energy scales, of the fluctuations, localization, and sensitivity of this conjugate pair. A larger charging energy tends to restrict charge fluctuations; a larger Josephson energy tends to localize phase near a minimum of the cosine potential. The two cannot both be narrowed without limit. </a:t>
            </a:r>
          </a:p>
        </p:txBody>
      </p:sp>
      <p:sp>
        <p:nvSpPr>
          <p:cNvPr id="10" name="Rectangle 9"/>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2" name="TextBox 11"/>
          <p:cNvSpPr txBox="1"/>
          <p:nvPr/>
        </p:nvSpPr>
        <p:spPr>
          <a:xfrm>
            <a:off x="11237251" y="6565900"/>
            <a:ext cx="463682"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57 / 100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905596" y="324115"/>
            <a:ext cx="795338"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LC Circuit (I)</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LC Circuit: Charge or Flux as the Coordinate?</a:t>
            </a:r>
          </a:p>
        </p:txBody>
      </p:sp>
      <p:pic>
        <p:nvPicPr>
          <p:cNvPr id="6" name="svg-diagram" descr="el-x10.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465792" y="1452827"/>
            <a:ext cx="916384" cy="778933"/>
          </a:xfrm>
          <a:prstGeom prst="rect">
            <a:avLst/>
          </a:prstGeom>
        </p:spPr>
      </p:pic>
      <p:sp>
        <p:nvSpPr>
          <p:cNvPr id="7" name="Rounded Rectangle 6"/>
          <p:cNvSpPr/>
          <p:nvPr/>
        </p:nvSpPr>
        <p:spPr>
          <a:xfrm>
            <a:off x="1037960" y="2257160"/>
            <a:ext cx="1772179" cy="196189"/>
          </a:xfrm>
          <a:prstGeom prst="roundRect">
            <a:avLst>
              <a:gd name="adj" fmla="val 50000"/>
            </a:avLst>
          </a:prstGeom>
          <a:solidFill>
            <a:srgbClr val="F9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37960" y="2257160"/>
            <a:ext cx="1772179" cy="196189"/>
          </a:xfrm>
          <a:prstGeom prst="rect">
            <a:avLst/>
          </a:prstGeom>
          <a:noFill/>
        </p:spPr>
        <p:txBody>
          <a:bodyPr wrap="none" lIns="67733" rIns="67733" tIns="8467" bIns="8467" anchor="t">
            <a:noAutofit/>
          </a:bodyPr>
          <a:lstStyle/>
          <a:p>
            <a:pPr algn="ctr">
              <a:lnSpc>
                <a:spcPts val="1410"/>
              </a:lnSpc>
            </a:pPr>
            <a:r>
              <a:rPr sz="1010" b="1" i="0">
                <a:solidFill>
                  <a:srgbClr val="C0392B"/>
                </a:solidFill>
                <a:latin typeface="Montserrat"/>
                <a:ea typeface="Montserrat"/>
                <a:cs typeface="Montserrat"/>
              </a:rPr>
              <a:t>charge </a:t>
            </a:r>
            <mc:AlternateContent xmlns:mc="http://schemas.openxmlformats.org/markup-compatibility/2006">
              <mc:Choice xmlns:a14="http://schemas.microsoft.com/office/drawing/2010/main" Requires="a14">
                <a14:m>
                  <m:oMath xmlns:m="http://schemas.openxmlformats.org/officeDocument/2006/math">
                    <m:r>
                      <m:rPr>
                        <m:sty m:val="i"/>
                      </m:rPr>
                      <a:rPr lang="en-US" i="1" sz="1200">
                        <a:latin typeface="Cambria Math"/>
                      </a:rPr>
                      <m:t>Q</m:t>
                    </m:r>
                  </m:oMath>
                </a14:m>
              </mc:Choice>
              <mc:Fallback>
                <a:r>
                  <a:rPr lang="en-US" sz="1199" i="1"/>
                  <a:t>Q</a:t>
                </a:r>
              </mc:Fallback>
            </mc:AlternateContent>
            <a:r>
              <a:rPr sz="1010" b="1" i="0">
                <a:solidFill>
                  <a:srgbClr val="C0392B"/>
                </a:solidFill>
                <a:latin typeface="Montserrat"/>
                <a:ea typeface="Montserrat"/>
                <a:cs typeface="Montserrat"/>
              </a:rPr>
              <a:t> → kinetic term</a:t>
            </a:r>
          </a:p>
        </p:txBody>
      </p:sp>
      <p:pic>
        <p:nvPicPr>
          <p:cNvPr id="9" name="svg-diagram" descr="el-x11.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4247092" y="1452827"/>
            <a:ext cx="916384" cy="778933"/>
          </a:xfrm>
          <a:prstGeom prst="rect">
            <a:avLst/>
          </a:prstGeom>
        </p:spPr>
      </p:pic>
      <p:sp>
        <p:nvSpPr>
          <p:cNvPr id="10" name="Rounded Rectangle 9"/>
          <p:cNvSpPr/>
          <p:nvPr/>
        </p:nvSpPr>
        <p:spPr>
          <a:xfrm>
            <a:off x="4167849" y="2257160"/>
            <a:ext cx="1075002" cy="196189"/>
          </a:xfrm>
          <a:prstGeom prst="roundRect">
            <a:avLst>
              <a:gd name="adj" fmla="val 50000"/>
            </a:avLst>
          </a:prstGeom>
          <a:solidFill>
            <a:srgbClr val="F9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167849" y="2257160"/>
            <a:ext cx="1075002" cy="196189"/>
          </a:xfrm>
          <a:prstGeom prst="rect">
            <a:avLst/>
          </a:prstGeom>
          <a:noFill/>
        </p:spPr>
        <p:txBody>
          <a:bodyPr wrap="none" lIns="67733" rIns="67733" tIns="8467" bIns="8467" anchor="t">
            <a:noAutofit/>
          </a:bodyPr>
          <a:lstStyle/>
          <a:p>
            <a:pPr algn="ctr">
              <a:lnSpc>
                <a:spcPts val="1410"/>
              </a:lnSpc>
            </a:pPr>
            <a:r>
              <a:rPr sz="1010" b="1" i="0">
                <a:solidFill>
                  <a:srgbClr val="C0392B"/>
                </a:solidFill>
                <a:latin typeface="Montserrat"/>
                <a:ea typeface="Montserrat"/>
                <a:cs typeface="Montserrat"/>
              </a:rPr>
              <a:t>Josephson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200">
                            <a:latin typeface="Cambria Math"/>
                          </a:rPr>
                          <m:t>L</m:t>
                        </m:r>
                      </m:e>
                      <m:sub>
                        <m:r>
                          <m:rPr>
                            <m:sty m:val="i"/>
                          </m:rPr>
                          <a:rPr lang="en-US" i="1" sz="1200">
                            <a:latin typeface="Cambria Math"/>
                          </a:rPr>
                          <m:t>J</m:t>
                        </m:r>
                      </m:sub>
                    </m:sSub>
                  </m:oMath>
                </a14:m>
              </mc:Choice>
              <mc:Fallback>
                <a:r>
                  <a:rPr lang="en-US" sz="1199" i="1"/>
                  <a:t>L_J</a:t>
                </a:r>
              </mc:Fallback>
            </mc:AlternateContent>
          </a:p>
        </p:txBody>
      </p:sp>
      <p:pic>
        <p:nvPicPr>
          <p:cNvPr id="12" name="svg-diagram" descr="el-x12.png"/>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7028392" y="1452827"/>
            <a:ext cx="916384" cy="778933"/>
          </a:xfrm>
          <a:prstGeom prst="rect">
            <a:avLst/>
          </a:prstGeom>
        </p:spPr>
      </p:pic>
      <p:sp>
        <p:nvSpPr>
          <p:cNvPr id="13" name="Rounded Rectangle 12"/>
          <p:cNvSpPr/>
          <p:nvPr/>
        </p:nvSpPr>
        <p:spPr>
          <a:xfrm>
            <a:off x="6640909" y="2257160"/>
            <a:ext cx="1691349" cy="196189"/>
          </a:xfrm>
          <a:prstGeom prst="roundRect">
            <a:avLst>
              <a:gd name="adj" fmla="val 50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640909" y="2257160"/>
            <a:ext cx="1691349" cy="196189"/>
          </a:xfrm>
          <a:prstGeom prst="rect">
            <a:avLst/>
          </a:prstGeom>
          <a:noFill/>
        </p:spPr>
        <p:txBody>
          <a:bodyPr wrap="none" lIns="67733" rIns="67733" tIns="8467" bIns="8467" anchor="t">
            <a:noAutofit/>
          </a:bodyPr>
          <a:lstStyle/>
          <a:p>
            <a:pPr algn="ctr">
              <a:lnSpc>
                <a:spcPts val="1410"/>
              </a:lnSpc>
            </a:pPr>
            <a:r>
              <a:rPr sz="1010" b="1" i="0">
                <a:solidFill>
                  <a:srgbClr val="355C9A"/>
                </a:solidFill>
                <a:latin typeface="Montserrat"/>
                <a:ea typeface="Montserrat"/>
                <a:cs typeface="Montserrat"/>
              </a:rPr>
              <a:t>flux </a:t>
            </a:r>
            <mc:AlternateContent xmlns:mc="http://schemas.openxmlformats.org/markup-compatibility/2006">
              <mc:Choice xmlns:a14="http://schemas.microsoft.com/office/drawing/2010/main" Requires="a14">
                <a14:m>
                  <m:oMath xmlns:m="http://schemas.openxmlformats.org/officeDocument/2006/math">
                    <m:r>
                      <m:rPr>
                        <m:sty m:val="p"/>
                      </m:rPr>
                      <a:rPr lang="en-US" i="0" sz="1200">
                        <a:latin typeface="Cambria Math"/>
                      </a:rPr>
                      <m:t>Φ</m:t>
                    </m:r>
                  </m:oMath>
                </a14:m>
              </mc:Choice>
              <mc:Fallback>
                <a:r>
                  <a:rPr lang="en-US" sz="1199" i="1"/>
                  <a:t>\Phi</a:t>
                </a:r>
              </mc:Fallback>
            </mc:AlternateContent>
            <a:r>
              <a:rPr sz="1010" b="1" i="0">
                <a:solidFill>
                  <a:srgbClr val="355C9A"/>
                </a:solidFill>
                <a:latin typeface="Montserrat"/>
                <a:ea typeface="Montserrat"/>
                <a:cs typeface="Montserrat"/>
              </a:rPr>
              <a:t> → potential term</a:t>
            </a:r>
          </a:p>
        </p:txBody>
      </p:sp>
      <p:pic>
        <p:nvPicPr>
          <p:cNvPr id="15" name="svg-diagram" descr="el-x13.png"/>
          <p:cNvPicPr>
            <a:picLocks noChangeAspect="1"/>
          </p:cNvPicPr>
          <p:nvPr/>
        </p:nvPicPr>
        <p:blipFill>
          <a:blip r:embed="rId8">
            <a:extLst>
              <a:ext uri="{96DAC541-7B7A-43D3-8B79-37D633B846F1}">
                <ns3:svgBlip xmlns:ns3="http://schemas.microsoft.com/office/drawing/2016/SVG/main" r:embed="rId9"/>
              </a:ext>
            </a:extLst>
          </a:blip>
          <a:stretch>
            <a:fillRect/>
          </a:stretch>
        </p:blipFill>
        <p:spPr>
          <a:xfrm>
            <a:off x="9729523" y="1452827"/>
            <a:ext cx="1076722" cy="778933"/>
          </a:xfrm>
          <a:prstGeom prst="rect">
            <a:avLst/>
          </a:prstGeom>
        </p:spPr>
      </p:pic>
      <p:sp>
        <p:nvSpPr>
          <p:cNvPr id="16" name="Rounded Rectangle 15"/>
          <p:cNvSpPr/>
          <p:nvPr/>
        </p:nvSpPr>
        <p:spPr>
          <a:xfrm>
            <a:off x="9820672" y="2257160"/>
            <a:ext cx="894556" cy="196189"/>
          </a:xfrm>
          <a:prstGeom prst="roundRect">
            <a:avLst>
              <a:gd name="adj" fmla="val 50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820672" y="2257160"/>
            <a:ext cx="894556" cy="196189"/>
          </a:xfrm>
          <a:prstGeom prst="rect">
            <a:avLst/>
          </a:prstGeom>
          <a:noFill/>
        </p:spPr>
        <p:txBody>
          <a:bodyPr wrap="none" lIns="67733" rIns="67733" tIns="8467" bIns="8467" anchor="t">
            <a:noAutofit/>
          </a:bodyPr>
          <a:lstStyle/>
          <a:p>
            <a:pPr algn="ctr">
              <a:lnSpc>
                <a:spcPts val="1410"/>
              </a:lnSpc>
            </a:pPr>
            <a:r>
              <a:rPr sz="1010" b="1" i="0">
                <a:solidFill>
                  <a:srgbClr val="355C9A"/>
                </a:solidFill>
                <a:latin typeface="Montserrat"/>
                <a:ea typeface="Montserrat"/>
                <a:cs typeface="Montserrat"/>
              </a:rPr>
              <a:t>tunable </a:t>
            </a:r>
            <mc:AlternateContent xmlns:mc="http://schemas.openxmlformats.org/markup-compatibility/2006">
              <mc:Choice xmlns:a14="http://schemas.microsoft.com/office/drawing/2010/main" Requires="a14">
                <a14:m>
                  <m:oMath xmlns:m="http://schemas.openxmlformats.org/officeDocument/2006/math">
                    <m:sSub>
                      <m:e>
                        <m:r>
                          <m:rPr>
                            <m:sty m:val="p"/>
                          </m:rPr>
                          <a:rPr lang="en-US" i="0" sz="1200">
                            <a:latin typeface="Cambria Math"/>
                          </a:rPr>
                          <m:t>Φ</m:t>
                        </m:r>
                      </m:e>
                      <m:sub>
                        <m:r>
                          <m:rPr>
                            <m:sty m:val="i"/>
                          </m:rPr>
                          <a:rPr lang="en-US" i="1" sz="1200">
                            <a:latin typeface="Cambria Math"/>
                          </a:rPr>
                          <m:t>B</m:t>
                        </m:r>
                      </m:sub>
                    </m:sSub>
                  </m:oMath>
                </a14:m>
              </mc:Choice>
              <mc:Fallback>
                <a:r>
                  <a:rPr lang="en-US" sz="1199" i="1"/>
                  <a:t>\Phi_B</a:t>
                </a:r>
              </mc:Fallback>
            </mc:AlternateContent>
          </a:p>
        </p:txBody>
      </p:sp>
      <p:sp>
        <p:nvSpPr>
          <p:cNvPr id="18" name="Rounded Rectangle 17"/>
          <p:cNvSpPr/>
          <p:nvPr/>
        </p:nvSpPr>
        <p:spPr>
          <a:xfrm>
            <a:off x="575733" y="2504149"/>
            <a:ext cx="11040533" cy="501121"/>
          </a:xfrm>
          <a:prstGeom prst="roundRect">
            <a:avLst>
              <a:gd name="adj" fmla="val 15205"/>
            </a:avLst>
          </a:prstGeom>
          <a:solidFill>
            <a:srgbClr val="F6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681420" y="2581275"/>
            <a:ext cx="1360223" cy="346869"/>
          </a:xfrm>
          <a:prstGeom prst="rect">
            <a:avLst/>
          </a:prstGeom>
          <a:noFill/>
        </p:spPr>
        <p:txBody>
          <a:bodyPr wrap="none" lIns="0" rIns="0" tIns="0" bIns="0" anchor="t">
            <a:noAutofit/>
          </a:bodyPr>
          <a:lstStyle/>
          <a:p>
            <a:pPr algn="l">
              <a:lnSpc>
                <a:spcPts val="2000"/>
              </a:lnSpc>
            </a:pP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E</m:t>
                    </m:r>
                    <m:r>
                      <m:rPr>
                        <m:sty m:val="p"/>
                      </m:rPr>
                      <a:rPr lang="en-US" i="0" sz="1665">
                        <a:latin typeface="Cambria Math"/>
                      </a:rPr>
                      <m:t>=</m:t>
                    </m:r>
                    <m:box>
                      <m:e>
                        <m:f>
                          <m:num>
                            <m:sSup>
                              <m:e>
                                <m:r>
                                  <m:rPr>
                                    <m:sty m:val="i"/>
                                  </m:rPr>
                                  <a:rPr lang="en-US" i="1" sz="1665">
                                    <a:latin typeface="Cambria Math"/>
                                  </a:rPr>
                                  <m:t>Q</m:t>
                                </m:r>
                              </m:e>
                              <m:sup>
                                <m:r>
                                  <m:rPr>
                                    <m:sty m:val="p"/>
                                  </m:rPr>
                                  <a:rPr lang="en-US" i="0" sz="1665">
                                    <a:latin typeface="Cambria Math"/>
                                  </a:rPr>
                                  <m:t>2</m:t>
                                </m:r>
                              </m:sup>
                            </m:sSup>
                          </m:num>
                          <m:den>
                            <m:box>
                              <m:e>
                                <m:r>
                                  <m:rPr>
                                    <m:sty m:val="p"/>
                                  </m:rPr>
                                  <a:rPr lang="en-US" i="0" sz="1665">
                                    <a:latin typeface="Cambria Math"/>
                                  </a:rPr>
                                  <m:t>2</m:t>
                                </m:r>
                                <m:r>
                                  <m:rPr>
                                    <m:sty m:val="i"/>
                                  </m:rPr>
                                  <a:rPr lang="en-US" i="1" sz="1665">
                                    <a:latin typeface="Cambria Math"/>
                                  </a:rPr>
                                  <m:t>C</m:t>
                                </m:r>
                              </m:e>
                            </m:box>
                          </m:den>
                        </m:f>
                      </m:e>
                    </m:box>
                    <m:r>
                      <m:rPr>
                        <m:sty m:val="p"/>
                      </m:rPr>
                      <a:rPr lang="en-US" i="0" sz="1665">
                        <a:latin typeface="Cambria Math"/>
                      </a:rPr>
                      <m:t>+</m:t>
                    </m:r>
                    <m:box>
                      <m:e>
                        <m:f>
                          <m:num>
                            <m:box>
                              <m:e>
                                <m:r>
                                  <m:rPr>
                                    <m:sty m:val="i"/>
                                  </m:rPr>
                                  <a:rPr lang="en-US" i="1" sz="1665">
                                    <a:latin typeface="Cambria Math"/>
                                  </a:rPr>
                                  <m:t>L</m:t>
                                </m:r>
                                <m:sSup>
                                  <m:e>
                                    <m:box>
                                      <m:e>
                                        <m:limUpp>
                                          <m:e>
                                            <m:r>
                                              <m:rPr>
                                                <m:sty m:val="i"/>
                                              </m:rPr>
                                              <a:rPr lang="en-US" i="1" sz="1665">
                                                <a:latin typeface="Cambria Math"/>
                                              </a:rPr>
                                              <m:t>Q</m:t>
                                            </m:r>
                                          </m:e>
                                          <m:lim>
                                            <m:r>
                                              <m:rPr>
                                                <m:sty m:val="p"/>
                                              </m:rPr>
                                              <a:rPr lang="en-US" i="0" sz="1665">
                                                <a:latin typeface="Cambria Math"/>
                                              </a:rPr>
                                              <m:t>˙</m:t>
                                            </m:r>
                                          </m:lim>
                                        </m:limUpp>
                                      </m:e>
                                    </m:box>
                                  </m:e>
                                  <m:sup>
                                    <m:r>
                                      <m:rPr>
                                        <m:sty m:val="p"/>
                                      </m:rPr>
                                      <a:rPr lang="en-US" i="0" sz="1665">
                                        <a:latin typeface="Cambria Math"/>
                                      </a:rPr>
                                      <m:t>2</m:t>
                                    </m:r>
                                  </m:sup>
                                </m:sSup>
                              </m:e>
                            </m:box>
                          </m:num>
                          <m:den>
                            <m:r>
                              <m:rPr>
                                <m:sty m:val="p"/>
                              </m:rPr>
                              <a:rPr lang="en-US" i="0" sz="1665">
                                <a:latin typeface="Cambria Math"/>
                              </a:rPr>
                              <m:t>2</m:t>
                            </m:r>
                          </m:den>
                        </m:f>
                      </m:e>
                    </m:box>
                  </m:oMath>
                </a14:m>
              </mc:Choice>
              <mc:Fallback>
                <a:r>
                  <a:rPr lang="en-US" sz="1664" i="1"/>
                  <a:t>E=\tfrac{Q^2}{2C}+\tfrac{L\dot Q^2}{2}</a:t>
                </a:r>
              </mc:Fallback>
            </mc:AlternateContent>
          </a:p>
        </p:txBody>
      </p:sp>
      <p:sp>
        <p:nvSpPr>
          <p:cNvPr id="20" name="TextBox 19"/>
          <p:cNvSpPr txBox="1"/>
          <p:nvPr/>
        </p:nvSpPr>
        <p:spPr>
          <a:xfrm>
            <a:off x="4160176" y="2615009"/>
            <a:ext cx="183885" cy="279268"/>
          </a:xfrm>
          <a:prstGeom prst="rect">
            <a:avLst/>
          </a:prstGeom>
          <a:noFill/>
        </p:spPr>
        <p:txBody>
          <a:bodyPr wrap="none" lIns="0" rIns="0" tIns="0" bIns="0" anchor="t">
            <a:noAutofit/>
          </a:bodyPr>
          <a:lstStyle/>
          <a:p>
            <a:pPr algn="l">
              <a:lnSpc>
                <a:spcPts val="2200"/>
              </a:lnSpc>
            </a:pPr>
            <a:r>
              <a:rPr sz="1540" b="1" i="0">
                <a:solidFill>
                  <a:srgbClr val="70549A"/>
                </a:solidFill>
                <a:latin typeface="Montserrat"/>
                <a:ea typeface="Montserrat"/>
                <a:cs typeface="Montserrat"/>
              </a:rPr>
              <a:t>→</a:t>
            </a:r>
          </a:p>
        </p:txBody>
      </p:sp>
      <p:sp>
        <p:nvSpPr>
          <p:cNvPr id="21" name="TextBox 20"/>
          <p:cNvSpPr txBox="1"/>
          <p:nvPr/>
        </p:nvSpPr>
        <p:spPr>
          <a:xfrm>
            <a:off x="4462595" y="2593181"/>
            <a:ext cx="1349904" cy="322924"/>
          </a:xfrm>
          <a:prstGeom prst="rect">
            <a:avLst/>
          </a:prstGeom>
          <a:noFill/>
        </p:spPr>
        <p:txBody>
          <a:bodyPr wrap="none" lIns="0" rIns="0" tIns="0" bIns="0" anchor="t">
            <a:noAutofit/>
          </a:bodyPr>
          <a:lstStyle/>
          <a:p>
            <a:pPr algn="l">
              <a:lnSpc>
                <a:spcPts val="2000"/>
              </a:lnSpc>
            </a:pP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E</m:t>
                    </m:r>
                    <m:r>
                      <m:rPr>
                        <m:sty m:val="p"/>
                      </m:rPr>
                      <a:rPr lang="en-US" i="0" sz="1665">
                        <a:latin typeface="Cambria Math"/>
                      </a:rPr>
                      <m:t>=</m:t>
                    </m:r>
                    <m:box>
                      <m:e>
                        <m:f>
                          <m:num>
                            <m:box>
                              <m:e>
                                <m:r>
                                  <m:rPr>
                                    <m:sty m:val="i"/>
                                  </m:rPr>
                                  <a:rPr lang="en-US" i="1" sz="1665">
                                    <a:latin typeface="Cambria Math"/>
                                  </a:rPr>
                                  <m:t>C</m:t>
                                </m:r>
                                <m:sSup>
                                  <m:e>
                                    <m:box>
                                      <m:e>
                                        <m:limUpp>
                                          <m:e>
                                            <m:r>
                                              <m:rPr>
                                                <m:sty m:val="p"/>
                                              </m:rPr>
                                              <a:rPr lang="en-US" i="0" sz="1665">
                                                <a:latin typeface="Cambria Math"/>
                                              </a:rPr>
                                              <m:t>Φ</m:t>
                                            </m:r>
                                          </m:e>
                                          <m:lim>
                                            <m:r>
                                              <m:rPr>
                                                <m:sty m:val="p"/>
                                              </m:rPr>
                                              <a:rPr lang="en-US" i="0" sz="1665">
                                                <a:latin typeface="Cambria Math"/>
                                              </a:rPr>
                                              <m:t>˙</m:t>
                                            </m:r>
                                          </m:lim>
                                        </m:limUpp>
                                      </m:e>
                                    </m:box>
                                  </m:e>
                                  <m:sup>
                                    <m:r>
                                      <m:rPr>
                                        <m:sty m:val="p"/>
                                      </m:rPr>
                                      <a:rPr lang="en-US" i="0" sz="1665">
                                        <a:latin typeface="Cambria Math"/>
                                      </a:rPr>
                                      <m:t>2</m:t>
                                    </m:r>
                                  </m:sup>
                                </m:sSup>
                              </m:e>
                            </m:box>
                          </m:num>
                          <m:den>
                            <m:r>
                              <m:rPr>
                                <m:sty m:val="p"/>
                              </m:rPr>
                              <a:rPr lang="en-US" i="0" sz="1665">
                                <a:latin typeface="Cambria Math"/>
                              </a:rPr>
                              <m:t>2</m:t>
                            </m:r>
                          </m:den>
                        </m:f>
                      </m:e>
                    </m:box>
                    <m:r>
                      <m:rPr>
                        <m:sty m:val="p"/>
                      </m:rPr>
                      <a:rPr lang="en-US" i="0" sz="1665">
                        <a:latin typeface="Cambria Math"/>
                      </a:rPr>
                      <m:t>+</m:t>
                    </m:r>
                    <m:box>
                      <m:e>
                        <m:f>
                          <m:num>
                            <m:sSup>
                              <m:e>
                                <m:r>
                                  <m:rPr>
                                    <m:sty m:val="p"/>
                                  </m:rPr>
                                  <a:rPr lang="en-US" i="0" sz="1665">
                                    <a:latin typeface="Cambria Math"/>
                                  </a:rPr>
                                  <m:t>Φ</m:t>
                                </m:r>
                              </m:e>
                              <m:sup>
                                <m:r>
                                  <m:rPr>
                                    <m:sty m:val="p"/>
                                  </m:rPr>
                                  <a:rPr lang="en-US" i="0" sz="1665">
                                    <a:latin typeface="Cambria Math"/>
                                  </a:rPr>
                                  <m:t>2</m:t>
                                </m:r>
                              </m:sup>
                            </m:sSup>
                          </m:num>
                          <m:den>
                            <m:box>
                              <m:e>
                                <m:r>
                                  <m:rPr>
                                    <m:sty m:val="p"/>
                                  </m:rPr>
                                  <a:rPr lang="en-US" i="0" sz="1665">
                                    <a:latin typeface="Cambria Math"/>
                                  </a:rPr>
                                  <m:t>2</m:t>
                                </m:r>
                                <m:r>
                                  <m:rPr>
                                    <m:sty m:val="i"/>
                                  </m:rPr>
                                  <a:rPr lang="en-US" i="1" sz="1665">
                                    <a:latin typeface="Cambria Math"/>
                                  </a:rPr>
                                  <m:t>L</m:t>
                                </m:r>
                              </m:e>
                            </m:box>
                          </m:den>
                        </m:f>
                      </m:e>
                    </m:box>
                  </m:oMath>
                </a14:m>
              </mc:Choice>
              <mc:Fallback>
                <a:r>
                  <a:rPr lang="en-US" sz="1664" i="1"/>
                  <a:t>E=\tfrac{C\dot\Phi^2}{2}+\tfrac{\Phi^2}{2L}</a:t>
                </a:r>
              </mc:Fallback>
            </mc:AlternateContent>
          </a:p>
        </p:txBody>
      </p:sp>
      <p:sp>
        <p:nvSpPr>
          <p:cNvPr id="22" name="TextBox 21"/>
          <p:cNvSpPr txBox="1"/>
          <p:nvPr/>
        </p:nvSpPr>
        <p:spPr>
          <a:xfrm>
            <a:off x="5931032" y="2615009"/>
            <a:ext cx="183885" cy="279268"/>
          </a:xfrm>
          <a:prstGeom prst="rect">
            <a:avLst/>
          </a:prstGeom>
          <a:noFill/>
        </p:spPr>
        <p:txBody>
          <a:bodyPr wrap="none" lIns="0" rIns="0" tIns="0" bIns="0" anchor="t">
            <a:noAutofit/>
          </a:bodyPr>
          <a:lstStyle/>
          <a:p>
            <a:pPr algn="l">
              <a:lnSpc>
                <a:spcPts val="2200"/>
              </a:lnSpc>
            </a:pPr>
            <a:r>
              <a:rPr sz="1540" b="1" i="0">
                <a:solidFill>
                  <a:srgbClr val="70549A"/>
                </a:solidFill>
                <a:latin typeface="Montserrat"/>
                <a:ea typeface="Montserrat"/>
                <a:cs typeface="Montserrat"/>
              </a:rPr>
              <a:t>→</a:t>
            </a:r>
          </a:p>
        </p:txBody>
      </p:sp>
      <p:sp>
        <p:nvSpPr>
          <p:cNvPr id="23" name="TextBox 22"/>
          <p:cNvSpPr txBox="1"/>
          <p:nvPr/>
        </p:nvSpPr>
        <p:spPr>
          <a:xfrm>
            <a:off x="6233451" y="2571882"/>
            <a:ext cx="3276997" cy="365654"/>
          </a:xfrm>
          <a:prstGeom prst="rect">
            <a:avLst/>
          </a:prstGeom>
          <a:noFill/>
        </p:spPr>
        <p:txBody>
          <a:bodyPr wrap="none" lIns="0" rIns="0" tIns="0" bIns="0" anchor="t">
            <a:noAutofit/>
          </a:bodyPr>
          <a:lstStyle/>
          <a:p>
            <a:pPr algn="l">
              <a:lnSpc>
                <a:spcPts val="2000"/>
              </a:lnSpc>
            </a:pP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E</m:t>
                    </m:r>
                    <m:r>
                      <m:rPr>
                        <m:sty m:val="p"/>
                      </m:rPr>
                      <a:rPr lang="en-US" i="0" sz="1665">
                        <a:latin typeface="Cambria Math"/>
                      </a:rPr>
                      <m:t>=</m:t>
                    </m:r>
                    <m:box>
                      <m:e>
                        <m:f>
                          <m:num>
                            <m:box>
                              <m:e>
                                <m:r>
                                  <m:rPr>
                                    <m:sty m:val="i"/>
                                  </m:rPr>
                                  <a:rPr lang="en-US" i="1" sz="1665">
                                    <a:latin typeface="Cambria Math"/>
                                  </a:rPr>
                                  <m:t>C</m:t>
                                </m:r>
                                <m:sSup>
                                  <m:e>
                                    <m:box>
                                      <m:e>
                                        <m:limUpp>
                                          <m:e>
                                            <m:r>
                                              <m:rPr>
                                                <m:sty m:val="p"/>
                                              </m:rPr>
                                              <a:rPr lang="en-US" i="0" sz="1665">
                                                <a:latin typeface="Cambria Math"/>
                                              </a:rPr>
                                              <m:t>Φ</m:t>
                                            </m:r>
                                          </m:e>
                                          <m:lim>
                                            <m:r>
                                              <m:rPr>
                                                <m:sty m:val="p"/>
                                              </m:rPr>
                                              <a:rPr lang="en-US" i="0" sz="1665">
                                                <a:latin typeface="Cambria Math"/>
                                              </a:rPr>
                                              <m:t>˙</m:t>
                                            </m:r>
                                          </m:lim>
                                        </m:limUpp>
                                      </m:e>
                                    </m:box>
                                  </m:e>
                                  <m:sup>
                                    <m:r>
                                      <m:rPr>
                                        <m:sty m:val="p"/>
                                      </m:rPr>
                                      <a:rPr lang="en-US" i="0" sz="1665">
                                        <a:latin typeface="Cambria Math"/>
                                      </a:rPr>
                                      <m:t>2</m:t>
                                    </m:r>
                                  </m:sup>
                                </m:sSup>
                              </m:e>
                            </m:box>
                          </m:num>
                          <m:den>
                            <m:r>
                              <m:rPr>
                                <m:sty m:val="p"/>
                              </m:rPr>
                              <a:rPr lang="en-US" i="0" sz="1665">
                                <a:latin typeface="Cambria Math"/>
                              </a:rPr>
                              <m:t>2</m:t>
                            </m:r>
                          </m:den>
                        </m:f>
                      </m:e>
                    </m:box>
                    <m:r>
                      <m:rPr>
                        <m:sty m:val="p"/>
                      </m:rPr>
                      <a:rPr lang="en-US" i="0" sz="1665">
                        <a:latin typeface="Cambria Math"/>
                      </a:rPr>
                      <m:t>+</m:t>
                    </m:r>
                    <m:box>
                      <m:e>
                        <m:f>
                          <m:num>
                            <m:sSup>
                              <m:e>
                                <m:r>
                                  <m:rPr>
                                    <m:sty m:val="p"/>
                                  </m:rPr>
                                  <a:rPr lang="en-US" i="0" sz="1665">
                                    <a:latin typeface="Cambria Math"/>
                                  </a:rPr>
                                  <m:t>Φ</m:t>
                                </m:r>
                              </m:e>
                              <m:sup>
                                <m:r>
                                  <m:rPr>
                                    <m:sty m:val="p"/>
                                  </m:rPr>
                                  <a:rPr lang="en-US" i="0" sz="1665">
                                    <a:latin typeface="Cambria Math"/>
                                  </a:rPr>
                                  <m:t>2</m:t>
                                </m:r>
                              </m:sup>
                            </m:sSup>
                          </m:num>
                          <m:den>
                            <m:box>
                              <m:e>
                                <m:r>
                                  <m:rPr>
                                    <m:sty m:val="p"/>
                                  </m:rPr>
                                  <a:rPr lang="en-US" i="0" sz="1665">
                                    <a:latin typeface="Cambria Math"/>
                                  </a:rPr>
                                  <m:t>2</m:t>
                                </m:r>
                                <m:r>
                                  <m:rPr>
                                    <m:sty m:val="i"/>
                                  </m:rPr>
                                  <a:rPr lang="en-US" i="1" sz="1665">
                                    <a:latin typeface="Cambria Math"/>
                                  </a:rPr>
                                  <m:t>L</m:t>
                                </m:r>
                                <m:r>
                                  <m:rPr>
                                    <m:sty m:val="p"/>
                                  </m:rPr>
                                  <a:rPr lang="en-US" i="0" sz="1665">
                                    <a:latin typeface="Cambria Math"/>
                                  </a:rPr>
                                  <m:t>(</m:t>
                                </m:r>
                                <m:sSub>
                                  <m:e>
                                    <m:r>
                                      <m:rPr>
                                        <m:sty m:val="p"/>
                                      </m:rPr>
                                      <a:rPr lang="en-US" i="0" sz="1665">
                                        <a:latin typeface="Cambria Math"/>
                                      </a:rPr>
                                      <m:t>Φ</m:t>
                                    </m:r>
                                  </m:e>
                                  <m:sub>
                                    <m:r>
                                      <m:rPr>
                                        <m:sty m:val="i"/>
                                      </m:rPr>
                                      <a:rPr lang="en-US" i="1" sz="1665">
                                        <a:latin typeface="Cambria Math"/>
                                      </a:rPr>
                                      <m:t>B</m:t>
                                    </m:r>
                                  </m:sub>
                                </m:sSub>
                                <m:r>
                                  <m:rPr>
                                    <m:sty m:val="p"/>
                                  </m:rPr>
                                  <a:rPr lang="en-US" i="0" sz="1665">
                                    <a:latin typeface="Cambria Math"/>
                                  </a:rPr>
                                  <m:t>)</m:t>
                                </m:r>
                              </m:e>
                            </m:box>
                          </m:den>
                        </m:f>
                      </m:e>
                    </m:box>
                    <m:r>
                      <m:rPr>
                        <m:sty m:val="p"/>
                      </m:rPr>
                      <a:rPr lang="en-US" i="0" sz="1665">
                        <a:latin typeface="Cambria Math"/>
                      </a:rPr>
                      <m:t>−</m:t>
                    </m:r>
                    <m:r>
                      <m:rPr>
                        <m:sty m:val="i"/>
                      </m:rPr>
                      <a:rPr lang="en-US" i="1" sz="1665">
                        <a:latin typeface="Cambria Math"/>
                      </a:rPr>
                      <m:t>β</m:t>
                    </m:r>
                    <m:r>
                      <m:rPr>
                        <m:sty m:val="p"/>
                      </m:rPr>
                      <a:rPr lang="en-US" i="0" sz="1665">
                        <a:latin typeface="Cambria Math"/>
                      </a:rPr>
                      <m:t>(</m:t>
                    </m:r>
                    <m:sSub>
                      <m:e>
                        <m:r>
                          <m:rPr>
                            <m:sty m:val="p"/>
                          </m:rPr>
                          <a:rPr lang="en-US" i="0" sz="1665">
                            <a:latin typeface="Cambria Math"/>
                          </a:rPr>
                          <m:t>Φ</m:t>
                        </m:r>
                      </m:e>
                      <m:sub>
                        <m:r>
                          <m:rPr>
                            <m:sty m:val="i"/>
                          </m:rPr>
                          <a:rPr lang="en-US" i="1" sz="1665">
                            <a:latin typeface="Cambria Math"/>
                          </a:rPr>
                          <m:t>B</m:t>
                        </m:r>
                      </m:sub>
                    </m:sSub>
                    <m:r>
                      <m:rPr>
                        <m:sty m:val="p"/>
                      </m:rPr>
                      <a:rPr lang="en-US" i="0" sz="1665">
                        <a:latin typeface="Cambria Math"/>
                      </a:rPr>
                      <m:t>)</m:t>
                    </m:r>
                    <m:box>
                      <m:e>
                        <m:r>
                          <a:rPr lang="en-US" i="1" sz="1665">
                            <a:latin typeface="Cambria Math"/>
                          </a:rPr>
                          <m:t/>
                        </m:r>
                      </m:e>
                    </m:box>
                    <m:sSup>
                      <m:e>
                        <m:r>
                          <m:rPr>
                            <m:sty m:val="p"/>
                          </m:rPr>
                          <a:rPr lang="en-US" i="0" sz="1665">
                            <a:latin typeface="Cambria Math"/>
                          </a:rPr>
                          <m:t>Φ</m:t>
                        </m:r>
                      </m:e>
                      <m:sup>
                        <m:r>
                          <m:rPr>
                            <m:sty m:val="p"/>
                          </m:rPr>
                          <a:rPr lang="en-US" i="0" sz="1665">
                            <a:latin typeface="Cambria Math"/>
                          </a:rPr>
                          <m:t>4</m:t>
                        </m:r>
                      </m:sup>
                    </m:sSup>
                    <m:r>
                      <m:rPr>
                        <m:sty m:val="p"/>
                      </m:rPr>
                      <a:rPr lang="en-US" i="0" sz="1665">
                        <a:latin typeface="Cambria Math"/>
                      </a:rPr>
                      <m:t>+</m:t>
                    </m:r>
                    <m:r>
                      <m:rPr>
                        <m:sty m:val="p"/>
                      </m:rPr>
                      <a:rPr lang="en-US" i="0" sz="1665">
                        <a:latin typeface="Cambria Math"/>
                      </a:rPr>
                      <m:t>⋯</m:t>
                    </m:r>
                  </m:oMath>
                </a14:m>
              </mc:Choice>
              <mc:Fallback>
                <a:r>
                  <a:rPr lang="en-US" sz="1664" i="1"/>
                  <a:t>E=\tfrac{C\dot\Phi^2}{2}+\tfrac{\Phi^2}{2L(\Phi_B)}-\beta(\Phi_B)\,\Phi^4+\cdots</a:t>
                </a:r>
              </mc:Fallback>
            </mc:AlternateContent>
          </a:p>
        </p:txBody>
      </p:sp>
      <p:pic>
        <p:nvPicPr>
          <p:cNvPr id="24" name="Harmonic-oscillator potential with equally spaced quantized levels 0, 1, 2" descr="s04-krantz-2019-fig1b-oho-levels.jpg"/>
          <p:cNvPicPr>
            <a:picLocks noChangeAspect="1"/>
          </p:cNvPicPr>
          <p:nvPr/>
        </p:nvPicPr>
        <p:blipFill>
          <a:blip r:embed="rId10"/>
          <a:stretch>
            <a:fillRect/>
          </a:stretch>
        </p:blipFill>
        <p:spPr>
          <a:xfrm>
            <a:off x="2407576" y="3039198"/>
            <a:ext cx="1788716" cy="1947209"/>
          </a:xfrm>
          <a:prstGeom prst="rect">
            <a:avLst/>
          </a:prstGeom>
        </p:spPr>
      </p:pic>
      <p:sp>
        <p:nvSpPr>
          <p:cNvPr id="25" name="TextBox 24"/>
          <p:cNvSpPr txBox="1"/>
          <p:nvPr/>
        </p:nvSpPr>
        <p:spPr>
          <a:xfrm>
            <a:off x="575733" y="5011870"/>
            <a:ext cx="5452533" cy="164703"/>
          </a:xfrm>
          <a:prstGeom prst="rect">
            <a:avLst/>
          </a:prstGeom>
          <a:noFill/>
        </p:spPr>
        <p:txBody>
          <a:bodyPr wrap="none" lIns="0" rIns="0" tIns="0" bIns="0" anchor="t">
            <a:noAutofit/>
          </a:bodyPr>
          <a:lstStyle/>
          <a:p>
            <a:pPr algn="ctr">
              <a:lnSpc>
                <a:spcPts val="1300"/>
              </a:lnSpc>
            </a:pPr>
            <a:r>
              <a:rPr sz="1060" b="1" i="0">
                <a:solidFill>
                  <a:srgbClr val="5F5865"/>
                </a:solidFill>
                <a:latin typeface="Montserrat"/>
                <a:ea typeface="Montserrat"/>
                <a:cs typeface="Montserrat"/>
              </a:rPr>
              <a:t>QHO:</a:t>
            </a:r>
            <a:r>
              <a:rPr sz="1060" b="0" i="0">
                <a:solidFill>
                  <a:srgbClr val="5F5865"/>
                </a:solidFill>
                <a:latin typeface="Montserrat"/>
                <a:ea typeface="Montserrat"/>
                <a:cs typeface="Montserrat"/>
              </a:rPr>
              <a:t> equally spaced levels </a:t>
            </a:r>
            <mc:AlternateContent xmlns:mc="http://schemas.openxmlformats.org/markup-compatibility/2006">
              <mc:Choice xmlns:a14="http://schemas.microsoft.com/office/drawing/2010/main" Requires="a14">
                <a14:m>
                  <m:oMath xmlns:m="http://schemas.openxmlformats.org/officeDocument/2006/math">
                    <m:r>
                      <m:rPr>
                        <m:sty m:val="i"/>
                      </m:rPr>
                      <a:rPr lang="en-US" i="1" sz="1264">
                        <a:latin typeface="Cambria Math"/>
                      </a:rPr>
                      <m:t>ℏ</m:t>
                    </m:r>
                    <m:sSub>
                      <m:e>
                        <m:r>
                          <m:rPr>
                            <m:sty m:val="i"/>
                          </m:rPr>
                          <a:rPr lang="en-US" i="1" sz="1264">
                            <a:latin typeface="Cambria Math"/>
                          </a:rPr>
                          <m:t>ω</m:t>
                        </m:r>
                      </m:e>
                      <m:sub>
                        <m:r>
                          <m:rPr>
                            <m:sty m:val="i"/>
                          </m:rPr>
                          <a:rPr lang="en-US" i="1" sz="1264">
                            <a:latin typeface="Cambria Math"/>
                          </a:rPr>
                          <m:t>r</m:t>
                        </m:r>
                      </m:sub>
                    </m:sSub>
                  </m:oMath>
                </a14:m>
              </mc:Choice>
              <mc:Fallback>
                <a:r>
                  <a:rPr lang="en-US" sz="1264" i="1"/>
                  <a:t>\hbar\omega_r</a:t>
                </a:r>
              </mc:Fallback>
            </mc:AlternateContent>
            <a:r>
              <a:rPr sz="1060" b="0" i="0">
                <a:solidFill>
                  <a:srgbClr val="5F5865"/>
                </a:solidFill>
                <a:latin typeface="Montserrat"/>
                <a:ea typeface="Montserrat"/>
                <a:cs typeface="Montserrat"/>
              </a:rPr>
              <a:t> — the reference harmonic potential.</a:t>
            </a:r>
          </a:p>
        </p:txBody>
      </p:sp>
      <p:pic>
        <p:nvPicPr>
          <p:cNvPr id="26" name="Transmon potential with anharmonic levels 0, 1, 2 and computational subspace" descr="s04-krantz-2019-fig1d-transmon-levels.jpg"/>
          <p:cNvPicPr>
            <a:picLocks noChangeAspect="1"/>
          </p:cNvPicPr>
          <p:nvPr/>
        </p:nvPicPr>
        <p:blipFill>
          <a:blip r:embed="rId11"/>
          <a:stretch>
            <a:fillRect/>
          </a:stretch>
        </p:blipFill>
        <p:spPr>
          <a:xfrm>
            <a:off x="7796345" y="3039156"/>
            <a:ext cx="2187310" cy="1947295"/>
          </a:xfrm>
          <a:prstGeom prst="rect">
            <a:avLst/>
          </a:prstGeom>
        </p:spPr>
      </p:pic>
      <p:sp>
        <p:nvSpPr>
          <p:cNvPr id="27" name="TextBox 26"/>
          <p:cNvSpPr txBox="1"/>
          <p:nvPr/>
        </p:nvSpPr>
        <p:spPr>
          <a:xfrm>
            <a:off x="6163733" y="5011870"/>
            <a:ext cx="5452533" cy="164703"/>
          </a:xfrm>
          <a:prstGeom prst="rect">
            <a:avLst/>
          </a:prstGeom>
          <a:noFill/>
        </p:spPr>
        <p:txBody>
          <a:bodyPr wrap="none" lIns="0" rIns="0" tIns="0" bIns="0" anchor="t">
            <a:noAutofit/>
          </a:bodyPr>
          <a:lstStyle/>
          <a:p>
            <a:pPr algn="ctr">
              <a:lnSpc>
                <a:spcPts val="1300"/>
              </a:lnSpc>
            </a:pPr>
            <a:r>
              <a:rPr sz="1060" b="1" i="0">
                <a:solidFill>
                  <a:srgbClr val="5F5865"/>
                </a:solidFill>
                <a:latin typeface="Montserrat"/>
                <a:ea typeface="Montserrat"/>
                <a:cs typeface="Montserrat"/>
              </a:rPr>
              <a:t>Transmon:</a:t>
            </a:r>
            <a:r>
              <a:rPr sz="1060" b="0" i="0">
                <a:solidFill>
                  <a:srgbClr val="5F5865"/>
                </a:solidFill>
                <a:latin typeface="Montserrat"/>
                <a:ea typeface="Montserrat"/>
                <a:cs typeface="Montserrat"/>
              </a:rPr>
              <a:t> anharmonic spacing </a:t>
            </a:r>
            <mc:AlternateContent xmlns:mc="http://schemas.openxmlformats.org/markup-compatibility/2006">
              <mc:Choice xmlns:a14="http://schemas.microsoft.com/office/drawing/2010/main" Requires="a14">
                <a14:m>
                  <m:oMath xmlns:m="http://schemas.openxmlformats.org/officeDocument/2006/math">
                    <m:r>
                      <m:rPr>
                        <m:sty m:val="i"/>
                      </m:rPr>
                      <a:rPr lang="en-US" i="1" sz="1264">
                        <a:latin typeface="Cambria Math"/>
                      </a:rPr>
                      <m:t>ℏ</m:t>
                    </m:r>
                    <m:sSub>
                      <m:e>
                        <m:r>
                          <m:rPr>
                            <m:sty m:val="i"/>
                          </m:rPr>
                          <a:rPr lang="en-US" i="1" sz="1264">
                            <a:latin typeface="Cambria Math"/>
                          </a:rPr>
                          <m:t>ω</m:t>
                        </m:r>
                      </m:e>
                      <m:sub>
                        <m:box>
                          <m:e>
                            <m:r>
                              <m:rPr>
                                <m:sty m:val="p"/>
                              </m:rPr>
                              <a:rPr lang="en-US" i="0" sz="1264">
                                <a:latin typeface="Cambria Math"/>
                              </a:rPr>
                              <m:t>12</m:t>
                            </m:r>
                          </m:e>
                        </m:box>
                      </m:sub>
                    </m:sSub>
                  </m:oMath>
                </a14:m>
              </mc:Choice>
              <mc:Fallback>
                <a:r>
                  <a:rPr lang="en-US" sz="1264" i="1"/>
                  <a:t>\hbar\omega_{12}</a:t>
                </a:r>
              </mc:Fallback>
            </mc:AlternateContent>
            <a:r>
              <a:rPr sz="1060" b="0" i="0">
                <a:solidFill>
                  <a:srgbClr val="5F5865"/>
                </a:solidFill>
                <a:latin typeface="Montserrat"/>
                <a:ea typeface="Montserrat"/>
                <a:cs typeface="Montserrat"/>
              </a:rPr>
              <a:t> — the computational subspace. Ref. </a:t>
            </a:r>
            <a:r>
              <a:rPr sz="1060" b="0" i="0">
                <a:solidFill>
                  <a:srgbClr val="355C9A"/>
                </a:solidFill>
                <a:latin typeface="Montserrat"/>
                <a:ea typeface="Montserrat"/>
                <a:cs typeface="Montserrat"/>
                <a:hlinkClick r:id="rId12"/>
              </a:rPr>
              <a:t>[2]</a:t>
            </a:r>
          </a:p>
        </p:txBody>
      </p:sp>
      <p:sp>
        <p:nvSpPr>
          <p:cNvPr id="28" name="TextBox 27"/>
          <p:cNvSpPr txBox="1"/>
          <p:nvPr/>
        </p:nvSpPr>
        <p:spPr>
          <a:xfrm>
            <a:off x="575733" y="5210440"/>
            <a:ext cx="11040533" cy="368961"/>
          </a:xfrm>
          <a:prstGeom prst="rect">
            <a:avLst/>
          </a:prstGeom>
          <a:noFill/>
        </p:spPr>
        <p:txBody>
          <a:bodyPr wrap="square" lIns="0" rIns="0" tIns="0" bIns="0" anchor="t">
            <a:noAutofit/>
          </a:bodyPr>
          <a:lstStyle/>
          <a:p>
            <a:pPr algn="l">
              <a:lnSpc>
                <a:spcPts val="1430"/>
              </a:lnSpc>
            </a:pPr>
            <a:r>
              <a:rPr sz="1180" b="0" i="0">
                <a:solidFill>
                  <a:srgbClr val="4F4C56"/>
                </a:solidFill>
                <a:latin typeface="Montserrat"/>
                <a:ea typeface="Montserrat"/>
                <a:cs typeface="Montserrat"/>
              </a:rPr>
              <a:t>With charge </a:t>
            </a:r>
            <mc:AlternateContent xmlns:mc="http://schemas.openxmlformats.org/markup-compatibility/2006">
              <mc:Choice xmlns:a14="http://schemas.microsoft.com/office/drawing/2010/main" Requires="a14">
                <a14:m>
                  <m:oMath xmlns:m="http://schemas.openxmlformats.org/officeDocument/2006/math">
                    <m:r>
                      <m:rPr>
                        <m:sty m:val="i"/>
                      </m:rPr>
                      <a:rPr lang="en-US" i="1" sz="1398">
                        <a:latin typeface="Cambria Math"/>
                      </a:rPr>
                      <m:t>Q</m:t>
                    </m:r>
                  </m:oMath>
                </a14:m>
              </mc:Choice>
              <mc:Fallback>
                <a:r>
                  <a:rPr lang="en-US" sz="1398" i="1"/>
                  <a:t>Q</a:t>
                </a:r>
              </mc:Fallback>
            </mc:AlternateContent>
            <a:r>
              <a:rPr sz="1180" b="0" i="0">
                <a:solidFill>
                  <a:srgbClr val="4F4C56"/>
                </a:solidFill>
                <a:latin typeface="Montserrat"/>
                <a:ea typeface="Montserrat"/>
                <a:cs typeface="Montserrat"/>
              </a:rPr>
              <a:t> as the coordinate the Josephson inductance puts the nonlinearity in the kinetic term; with flux </a:t>
            </a:r>
            <mc:AlternateContent xmlns:mc="http://schemas.openxmlformats.org/markup-compatibility/2006">
              <mc:Choice xmlns:a14="http://schemas.microsoft.com/office/drawing/2010/main" Requires="a14">
                <a14:m>
                  <m:oMath xmlns:m="http://schemas.openxmlformats.org/officeDocument/2006/math">
                    <m:r>
                      <m:rPr>
                        <m:sty m:val="p"/>
                      </m:rPr>
                      <a:rPr lang="en-US" i="0" sz="1398">
                        <a:latin typeface="Cambria Math"/>
                      </a:rPr>
                      <m:t>Φ</m:t>
                    </m:r>
                  </m:oMath>
                </a14:m>
              </mc:Choice>
              <mc:Fallback>
                <a:r>
                  <a:rPr lang="en-US" sz="1398" i="1"/>
                  <a:t>\Phi</a:t>
                </a:r>
              </mc:Fallback>
            </mc:AlternateContent>
            <a:r>
              <a:rPr sz="1180" b="0" i="0">
                <a:solidFill>
                  <a:srgbClr val="4F4C56"/>
                </a:solidFill>
                <a:latin typeface="Montserrat"/>
                <a:ea typeface="Montserrat"/>
                <a:cs typeface="Montserrat"/>
              </a:rPr>
              <a:t> it becomes a </a:t>
            </a:r>
            <a:r>
              <a:rPr sz="1180" b="1" i="0">
                <a:solidFill>
                  <a:srgbClr val="4F4C56"/>
                </a:solidFill>
                <a:latin typeface="Montserrat"/>
                <a:ea typeface="Montserrat"/>
                <a:cs typeface="Montserrat"/>
              </a:rPr>
              <a:t>nonlinear potential</a:t>
            </a:r>
            <a:r>
              <a:rPr sz="1180" b="0" i="0">
                <a:solidFill>
                  <a:srgbClr val="4F4C56"/>
                </a:solidFill>
                <a:latin typeface="Montserrat"/>
                <a:ea typeface="Montserrat"/>
                <a:cs typeface="Montserrat"/>
              </a:rPr>
              <a:t> — the familiar anharmonic-oscillator problem.</a:t>
            </a:r>
          </a:p>
        </p:txBody>
      </p:sp>
      <p:sp>
        <p:nvSpPr>
          <p:cNvPr id="29" name="Rectangle 2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31" name="TextBox 30"/>
          <p:cNvSpPr txBox="1"/>
          <p:nvPr/>
        </p:nvSpPr>
        <p:spPr>
          <a:xfrm>
            <a:off x="11231166" y="6565900"/>
            <a:ext cx="469768"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58 / 100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873654"/>
          </a:xfrm>
          <a:prstGeom prst="rect">
            <a:avLst/>
          </a:prstGeom>
          <a:noFill/>
        </p:spPr>
        <p:txBody>
          <a:bodyPr wrap="square" lIns="0" rIns="0" tIns="0" bIns="0" anchor="t">
            <a:noAutofit/>
          </a:bodyPr>
          <a:lstStyle/>
          <a:p>
            <a:pPr algn="l">
              <a:lnSpc>
                <a:spcPts val="3440"/>
              </a:lnSpc>
            </a:pPr>
            <a:r>
              <a:rPr sz="2870" b="1" i="0">
                <a:solidFill>
                  <a:srgbClr val="22232A"/>
                </a:solidFill>
                <a:latin typeface="Montserrat"/>
                <a:ea typeface="Montserrat"/>
                <a:cs typeface="Montserrat"/>
              </a:rPr>
              <a:t>Question 3: Why is the simplest artificial atom still not a qubit?</a:t>
            </a:r>
          </a:p>
        </p:txBody>
      </p:sp>
      <p:sp>
        <p:nvSpPr>
          <p:cNvPr id="6" name="TextBox 5"/>
          <p:cNvSpPr txBox="1"/>
          <p:nvPr/>
        </p:nvSpPr>
        <p:spPr>
          <a:xfrm>
            <a:off x="575733" y="1889654"/>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A quantized LC circuit already has discrete energy levels:</a:t>
            </a:r>
          </a:p>
        </p:txBody>
      </p:sp>
      <p:sp>
        <p:nvSpPr>
          <p:cNvPr id="7" name="equation"/>
          <p:cNvSpPr txBox="1"/>
          <p:nvPr/>
        </p:nvSpPr>
        <p:spPr>
          <a:xfrm>
            <a:off x="575733" y="2312194"/>
            <a:ext cx="11040533" cy="552715"/>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box>
                            <m:e>
                              <m:limUpp>
                                <m:e>
                                  <m:r>
                                    <m:rPr>
                                      <m:sty m:val="i"/>
                                    </m:rPr>
                                    <a:rPr lang="en-US" i="1" sz="1568">
                                      <a:latin typeface="Cambria Math"/>
                                    </a:rPr>
                                    <m:t>H</m:t>
                                  </m:r>
                                </m:e>
                                <m:lim>
                                  <m:r>
                                    <m:rPr>
                                      <m:sty m:val="p"/>
                                    </m:rPr>
                                    <a:rPr lang="en-US" i="0" sz="1568">
                                      <a:latin typeface="Cambria Math"/>
                                    </a:rPr>
                                    <m:t>^</m:t>
                                  </m:r>
                                </m:lim>
                              </m:limUpp>
                            </m:e>
                          </m:box>
                        </m:e>
                        <m:sub>
                          <m:box>
                            <m:e>
                              <m:r>
                                <m:rPr>
                                  <m:sty m:val="i"/>
                                </m:rPr>
                                <a:rPr lang="en-US" i="1" sz="1568">
                                  <a:latin typeface="Cambria Math"/>
                                </a:rPr>
                                <m:t>L</m:t>
                              </m:r>
                              <m:r>
                                <m:rPr>
                                  <m:sty m:val="i"/>
                                </m:rPr>
                                <a:rPr lang="en-US" i="1" sz="1568">
                                  <a:latin typeface="Cambria Math"/>
                                </a:rPr>
                                <m:t>C</m:t>
                              </m:r>
                            </m:e>
                          </m:box>
                        </m:sub>
                      </m:sSub>
                      <m:r>
                        <m:rPr>
                          <m:sty m:val="p"/>
                        </m:rPr>
                        <a:rPr lang="en-US" i="0" sz="1568">
                          <a:latin typeface="Cambria Math"/>
                        </a:rPr>
                        <m:t>=</m:t>
                      </m:r>
                      <m:f>
                        <m:num>
                          <m:sSup>
                            <m:e>
                              <m:box>
                                <m:e>
                                  <m:limUpp>
                                    <m:e>
                                      <m:r>
                                        <m:rPr>
                                          <m:sty m:val="i"/>
                                        </m:rPr>
                                        <a:rPr lang="en-US" i="1" sz="1568">
                                          <a:latin typeface="Cambria Math"/>
                                        </a:rPr>
                                        <m:t>Q</m:t>
                                      </m:r>
                                    </m:e>
                                    <m:lim>
                                      <m:r>
                                        <m:rPr>
                                          <m:sty m:val="p"/>
                                        </m:rPr>
                                        <a:rPr lang="en-US" i="0" sz="1568">
                                          <a:latin typeface="Cambria Math"/>
                                        </a:rPr>
                                        <m:t>^</m:t>
                                      </m:r>
                                    </m:lim>
                                  </m:limUpp>
                                </m:e>
                              </m:box>
                            </m:e>
                            <m:sup>
                              <m:r>
                                <m:rPr>
                                  <m:sty m:val="p"/>
                                </m:rPr>
                                <a:rPr lang="en-US" i="0" sz="1568">
                                  <a:latin typeface="Cambria Math"/>
                                </a:rPr>
                                <m:t>2</m:t>
                              </m:r>
                            </m:sup>
                          </m:sSup>
                        </m:num>
                        <m:den>
                          <m:box>
                            <m:e>
                              <m:r>
                                <m:rPr>
                                  <m:sty m:val="p"/>
                                </m:rPr>
                                <a:rPr lang="en-US" i="0" sz="1568">
                                  <a:latin typeface="Cambria Math"/>
                                </a:rPr>
                                <m:t>2</m:t>
                              </m:r>
                              <m:r>
                                <m:rPr>
                                  <m:sty m:val="i"/>
                                </m:rPr>
                                <a:rPr lang="en-US" i="1" sz="1568">
                                  <a:latin typeface="Cambria Math"/>
                                </a:rPr>
                                <m:t>C</m:t>
                              </m:r>
                            </m:e>
                          </m:box>
                        </m:den>
                      </m:f>
                      <m:r>
                        <m:rPr>
                          <m:sty m:val="p"/>
                        </m:rPr>
                        <a:rPr lang="en-US" i="0" sz="1568">
                          <a:latin typeface="Cambria Math"/>
                        </a:rPr>
                        <m:t>+</m:t>
                      </m:r>
                      <m:f>
                        <m:num>
                          <m:sSup>
                            <m:e>
                              <m:box>
                                <m:e>
                                  <m:limUpp>
                                    <m:e>
                                      <m:r>
                                        <m:rPr>
                                          <m:sty m:val="p"/>
                                        </m:rPr>
                                        <a:rPr lang="en-US" i="0" sz="1568">
                                          <a:latin typeface="Cambria Math"/>
                                        </a:rPr>
                                        <m:t>Φ</m:t>
                                      </m:r>
                                    </m:e>
                                    <m:lim>
                                      <m:r>
                                        <m:rPr>
                                          <m:sty m:val="p"/>
                                        </m:rPr>
                                        <a:rPr lang="en-US" i="0" sz="1568">
                                          <a:latin typeface="Cambria Math"/>
                                        </a:rPr>
                                        <m:t>^</m:t>
                                      </m:r>
                                    </m:lim>
                                  </m:limUpp>
                                </m:e>
                              </m:box>
                            </m:e>
                            <m:sup>
                              <m:r>
                                <m:rPr>
                                  <m:sty m:val="p"/>
                                </m:rPr>
                                <a:rPr lang="en-US" i="0" sz="1568">
                                  <a:latin typeface="Cambria Math"/>
                                </a:rPr>
                                <m:t>2</m:t>
                              </m:r>
                            </m:sup>
                          </m:sSup>
                        </m:num>
                        <m:den>
                          <m:box>
                            <m:e>
                              <m:r>
                                <m:rPr>
                                  <m:sty m:val="p"/>
                                </m:rPr>
                                <a:rPr lang="en-US" i="0" sz="1568">
                                  <a:latin typeface="Cambria Math"/>
                                </a:rPr>
                                <m:t>2</m:t>
                              </m:r>
                              <m:r>
                                <m:rPr>
                                  <m:sty m:val="i"/>
                                </m:rPr>
                                <a:rPr lang="en-US" i="1" sz="1568">
                                  <a:latin typeface="Cambria Math"/>
                                </a:rPr>
                                <m:t>L</m:t>
                              </m:r>
                            </m:e>
                          </m:box>
                        </m:den>
                      </m:f>
                      <m:r>
                        <m:rPr>
                          <m:sty m:val="p"/>
                        </m:rPr>
                        <a:rPr lang="en-US" i="0" sz="1568">
                          <a:latin typeface="Cambria Math"/>
                        </a:rPr>
                        <m:t>=</m:t>
                      </m:r>
                      <m:r>
                        <m:rPr>
                          <m:sty m:val="i"/>
                        </m:rPr>
                        <a:rPr lang="en-US" i="1" sz="1568">
                          <a:latin typeface="Cambria Math"/>
                        </a:rPr>
                        <m:t>ℏ</m:t>
                      </m:r>
                      <m:r>
                        <m:rPr>
                          <m:sty m:val="i"/>
                        </m:rPr>
                        <a:rPr lang="en-US" i="1" sz="1568">
                          <a:latin typeface="Cambria Math"/>
                        </a:rPr>
                        <m:t>ω</m:t>
                      </m:r>
                      <m:box>
                        <m:e>
                          <m:d>
                            <m:dPr>
                              <m:begChr m:val="("/>
                              <m:endChr m:val=")"/>
                            </m:dPr>
                            <m:e>
                              <m:box>
                                <m:e>
                                  <m:sSup>
                                    <m:e>
                                      <m:box>
                                        <m:e>
                                          <m:limUpp>
                                            <m:e>
                                              <m:r>
                                                <m:rPr>
                                                  <m:sty m:val="i"/>
                                                </m:rPr>
                                                <a:rPr lang="en-US" i="1" sz="1568">
                                                  <a:latin typeface="Cambria Math"/>
                                                </a:rPr>
                                                <m:t>a</m:t>
                                              </m:r>
                                            </m:e>
                                            <m:lim>
                                              <m:r>
                                                <m:rPr>
                                                  <m:sty m:val="p"/>
                                                </m:rPr>
                                                <a:rPr lang="en-US" i="0" sz="1568">
                                                  <a:latin typeface="Cambria Math"/>
                                                </a:rPr>
                                                <m:t>^</m:t>
                                              </m:r>
                                            </m:lim>
                                          </m:limUpp>
                                        </m:e>
                                      </m:box>
                                    </m:e>
                                    <m:sup>
                                      <m:r>
                                        <m:rPr>
                                          <m:sty m:val="p"/>
                                        </m:rPr>
                                        <a:rPr lang="en-US" i="0" sz="1568">
                                          <a:latin typeface="Cambria Math"/>
                                        </a:rPr>
                                        <m:t>†</m:t>
                                      </m:r>
                                    </m:sup>
                                  </m:sSup>
                                  <m:box>
                                    <m:e>
                                      <m:limUpp>
                                        <m:e>
                                          <m:r>
                                            <m:rPr>
                                              <m:sty m:val="i"/>
                                            </m:rPr>
                                            <a:rPr lang="en-US" i="1" sz="1568">
                                              <a:latin typeface="Cambria Math"/>
                                            </a:rPr>
                                            <m:t>a</m:t>
                                          </m:r>
                                        </m:e>
                                        <m:lim>
                                          <m:r>
                                            <m:rPr>
                                              <m:sty m:val="p"/>
                                            </m:rPr>
                                            <a:rPr lang="en-US" i="0" sz="1568">
                                              <a:latin typeface="Cambria Math"/>
                                            </a:rPr>
                                            <m:t>^</m:t>
                                          </m:r>
                                        </m:lim>
                                      </m:limUpp>
                                    </m:e>
                                  </m:box>
                                  <m:r>
                                    <m:rPr>
                                      <m:sty m:val="p"/>
                                    </m:rPr>
                                    <a:rPr lang="en-US" i="0" sz="1568">
                                      <a:latin typeface="Cambria Math"/>
                                    </a:rPr>
                                    <m:t>+</m:t>
                                  </m:r>
                                  <m:f>
                                    <m:num>
                                      <m:r>
                                        <m:rPr>
                                          <m:sty m:val="p"/>
                                        </m:rPr>
                                        <a:rPr lang="en-US" i="0" sz="1568">
                                          <a:latin typeface="Cambria Math"/>
                                        </a:rPr>
                                        <m:t>1</m:t>
                                      </m:r>
                                    </m:num>
                                    <m:den>
                                      <m:r>
                                        <m:rPr>
                                          <m:sty m:val="p"/>
                                        </m:rPr>
                                        <a:rPr lang="en-US" i="0" sz="1568">
                                          <a:latin typeface="Cambria Math"/>
                                        </a:rPr>
                                        <m:t>2</m:t>
                                      </m:r>
                                    </m:den>
                                  </m:f>
                                </m:e>
                              </m:box>
                            </m:e>
                          </m:d>
                        </m:e>
                      </m:box>
                      <m:r>
                        <m:rPr>
                          <m:sty m:val="p"/>
                        </m:rPr>
                        <a:rPr lang="en-US" i="0" sz="1568">
                          <a:latin typeface="Cambria Math"/>
                        </a:rPr>
                        <m:t>,</m:t>
                      </m:r>
                      <m:box>
                        <m:e>
                          <m:r>
                            <a:rPr lang="en-US" i="1" sz="1568">
                              <a:latin typeface="Cambria Math"/>
                            </a:rPr>
                            <m:t/>
                          </m:r>
                        </m:e>
                      </m:box>
                      <m:r>
                        <m:rPr>
                          <m:sty m:val="i"/>
                        </m:rPr>
                        <a:rPr lang="en-US" i="1" sz="1568">
                          <a:latin typeface="Cambria Math"/>
                        </a:rPr>
                        <m:t>ω</m:t>
                      </m:r>
                      <m:r>
                        <m:rPr>
                          <m:sty m:val="p"/>
                        </m:rPr>
                        <a:rPr lang="en-US" i="0" sz="1568">
                          <a:latin typeface="Cambria Math"/>
                        </a:rPr>
                        <m:t>=</m:t>
                      </m:r>
                      <m:f>
                        <m:num>
                          <m:r>
                            <m:rPr>
                              <m:sty m:val="p"/>
                            </m:rPr>
                            <a:rPr lang="en-US" i="0" sz="1568">
                              <a:latin typeface="Cambria Math"/>
                            </a:rPr>
                            <m:t>1</m:t>
                          </m:r>
                        </m:num>
                        <m:den>
                          <m:rad>
                            <m:radPr>
                              <m:degHide m:val="1"/>
                            </m:radPr>
                            <m:deg/>
                            <m:e>
                              <m:box>
                                <m:e>
                                  <m:r>
                                    <m:rPr>
                                      <m:sty m:val="i"/>
                                    </m:rPr>
                                    <a:rPr lang="en-US" i="1" sz="1568">
                                      <a:latin typeface="Cambria Math"/>
                                    </a:rPr>
                                    <m:t>L</m:t>
                                  </m:r>
                                  <m:r>
                                    <m:rPr>
                                      <m:sty m:val="i"/>
                                    </m:rPr>
                                    <a:rPr lang="en-US" i="1" sz="1568">
                                      <a:latin typeface="Cambria Math"/>
                                    </a:rPr>
                                    <m:t>C</m:t>
                                  </m:r>
                                </m:e>
                              </m:box>
                            </m:e>
                          </m:rad>
                        </m:den>
                      </m:f>
                      <m:r>
                        <m:rPr>
                          <m:sty m:val="p"/>
                        </m:rPr>
                        <a:rPr lang="en-US" i="0" sz="1568">
                          <a:latin typeface="Cambria Math"/>
                        </a:rPr>
                        <m:t>.</m:t>
                      </m:r>
                    </m:oMath>
                  </m:oMathPara>
                </a14:m>
              </mc:Choice>
              <mc:Fallback>
                <a:r>
                  <a:rPr lang="en-US" sz="1567" i="1"/>
                  <a:t>
                    \hat H_{LC}=\frac{\hat Q^2}{2C}+\frac{\hat\Phi^2}{2L}
                    =\hbar\omega\left(\hat a^\dagger\hat a+\frac12\right),
                    \qquad \omega=\frac1{\sqrt{LC}}.
                    </a:t>
                </a:r>
              </mc:Fallback>
            </mc:AlternateContent>
          </a:p>
        </p:txBody>
      </p:sp>
      <p:sp>
        <p:nvSpPr>
          <p:cNvPr id="8" name="TextBox 7"/>
          <p:cNvSpPr txBox="1"/>
          <p:nvPr/>
        </p:nvSpPr>
        <p:spPr>
          <a:xfrm>
            <a:off x="575733" y="3042708"/>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First establish that an LC circuit really is a quantum system</a:t>
            </a:r>
          </a:p>
        </p:txBody>
      </p:sp>
      <p:sp>
        <p:nvSpPr>
          <p:cNvPr id="9" name="TextBox 8"/>
          <p:cNvSpPr txBox="1"/>
          <p:nvPr/>
        </p:nvSpPr>
        <p:spPr>
          <a:xfrm>
            <a:off x="575733" y="3419475"/>
            <a:ext cx="11040533" cy="287999"/>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 Define the characteristic impedance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Z</m:t>
                    </m:r>
                    <m:r>
                      <m:rPr>
                        <m:sty m:val="p"/>
                      </m:rPr>
                      <a:rPr lang="en-US" i="0" sz="1665">
                        <a:latin typeface="Cambria Math"/>
                      </a:rPr>
                      <m:t>=</m:t>
                    </m:r>
                    <m:rad>
                      <m:radPr>
                        <m:degHide m:val="1"/>
                      </m:radPr>
                      <m:deg/>
                      <m:e>
                        <m:box>
                          <m:e>
                            <m:r>
                              <m:rPr>
                                <m:sty m:val="i"/>
                              </m:rPr>
                              <a:rPr lang="en-US" i="1" sz="1665">
                                <a:latin typeface="Cambria Math"/>
                              </a:rPr>
                              <m:t>L</m:t>
                            </m:r>
                            <m:box>
                              <m:e>
                                <m:r>
                                  <m:rPr>
                                    <m:sty m:val="p"/>
                                  </m:rPr>
                                  <a:rPr lang="en-US" i="0" sz="1665">
                                    <a:latin typeface="Cambria Math"/>
                                  </a:rPr>
                                  <m:t>/</m:t>
                                </m:r>
                              </m:e>
                            </m:box>
                            <m:r>
                              <m:rPr>
                                <m:sty m:val="i"/>
                              </m:rPr>
                              <a:rPr lang="en-US" i="1" sz="1665">
                                <a:latin typeface="Cambria Math"/>
                              </a:rPr>
                              <m:t>C</m:t>
                            </m:r>
                          </m:e>
                        </m:box>
                      </m:e>
                    </m:rad>
                  </m:oMath>
                </a14:m>
              </mc:Choice>
              <mc:Fallback>
                <a:r>
                  <a:rPr lang="en-US" sz="1664" i="1"/>
                  <a:t>Z=\sqrt{L/C}</a:t>
                </a:r>
              </mc:Fallback>
            </mc:AlternateContent>
            <a:r>
              <a:rPr sz="1400" b="0" i="0">
                <a:solidFill>
                  <a:srgbClr val="4F4C56"/>
                </a:solidFill>
                <a:latin typeface="Montserrat"/>
                <a:ea typeface="Montserrat"/>
                <a:cs typeface="Montserrat"/>
              </a:rPr>
              <a:t>, so the flux and charge operators can be written as </a:t>
            </a:r>
          </a:p>
        </p:txBody>
      </p:sp>
      <p:sp>
        <p:nvSpPr>
          <p:cNvPr id="10" name="equation"/>
          <p:cNvSpPr txBox="1"/>
          <p:nvPr/>
        </p:nvSpPr>
        <p:spPr>
          <a:xfrm>
            <a:off x="575733" y="3859874"/>
            <a:ext cx="11040533" cy="270272"/>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limUpp>
                            <m:e>
                              <m:r>
                                <m:rPr>
                                  <m:sty m:val="p"/>
                                </m:rPr>
                                <a:rPr lang="en-US" i="0" sz="1568">
                                  <a:latin typeface="Cambria Math"/>
                                </a:rPr>
                                <m:t>Φ</m:t>
                              </m:r>
                            </m:e>
                            <m:lim>
                              <m:r>
                                <m:rPr>
                                  <m:sty m:val="p"/>
                                </m:rPr>
                                <a:rPr lang="en-US" i="0" sz="1568">
                                  <a:latin typeface="Cambria Math"/>
                                </a:rPr>
                                <m:t>^</m:t>
                              </m:r>
                            </m:lim>
                          </m:limUpp>
                        </m:e>
                      </m:box>
                      <m:r>
                        <m:rPr>
                          <m:sty m:val="p"/>
                        </m:rPr>
                        <a:rPr lang="en-US" i="0" sz="1568">
                          <a:latin typeface="Cambria Math"/>
                        </a:rPr>
                        <m:t>=</m:t>
                      </m:r>
                      <m:sSub>
                        <m:e>
                          <m:r>
                            <m:rPr>
                              <m:sty m:val="p"/>
                            </m:rPr>
                            <a:rPr lang="en-US" i="0" sz="1568">
                              <a:latin typeface="Cambria Math"/>
                            </a:rPr>
                            <m:t>Φ</m:t>
                          </m:r>
                        </m:e>
                        <m:sub>
                          <m:box>
                            <m:e>
                              <m:r>
                                <m:rPr>
                                  <m:sty m:val="p"/>
                                </m:rPr>
                                <a:rPr lang="en-US" i="0" sz="1568">
                                  <a:latin typeface="Cambria Math"/>
                                </a:rPr>
                                <m:t>z</m:t>
                              </m:r>
                              <m:r>
                                <m:rPr>
                                  <m:sty m:val="p"/>
                                </m:rPr>
                                <a:rPr lang="en-US" i="0" sz="1568">
                                  <a:latin typeface="Cambria Math"/>
                                </a:rPr>
                                <m:t>p</m:t>
                              </m:r>
                              <m:r>
                                <m:rPr>
                                  <m:sty m:val="p"/>
                                </m:rPr>
                                <a:rPr lang="en-US" i="0" sz="1568">
                                  <a:latin typeface="Cambria Math"/>
                                </a:rPr>
                                <m:t>f</m:t>
                              </m:r>
                            </m:e>
                          </m:box>
                        </m:sub>
                      </m:sSub>
                      <m:r>
                        <m:rPr>
                          <m:sty m:val="p"/>
                        </m:rPr>
                        <a:rPr lang="en-US" i="0" sz="1568">
                          <a:latin typeface="Cambria Math"/>
                        </a:rPr>
                        <m:t>(</m:t>
                      </m:r>
                      <m:box>
                        <m:e>
                          <m:limUpp>
                            <m:e>
                              <m:r>
                                <m:rPr>
                                  <m:sty m:val="i"/>
                                </m:rPr>
                                <a:rPr lang="en-US" i="1" sz="1568">
                                  <a:latin typeface="Cambria Math"/>
                                </a:rPr>
                                <m:t>a</m:t>
                              </m:r>
                            </m:e>
                            <m:lim>
                              <m:r>
                                <m:rPr>
                                  <m:sty m:val="p"/>
                                </m:rPr>
                                <a:rPr lang="en-US" i="0" sz="1568">
                                  <a:latin typeface="Cambria Math"/>
                                </a:rPr>
                                <m:t>^</m:t>
                              </m:r>
                            </m:lim>
                          </m:limUpp>
                        </m:e>
                      </m:box>
                      <m:r>
                        <m:rPr>
                          <m:sty m:val="p"/>
                        </m:rPr>
                        <a:rPr lang="en-US" i="0" sz="1568">
                          <a:latin typeface="Cambria Math"/>
                        </a:rPr>
                        <m:t>+</m:t>
                      </m:r>
                      <m:sSup>
                        <m:e>
                          <m:box>
                            <m:e>
                              <m:limUpp>
                                <m:e>
                                  <m:r>
                                    <m:rPr>
                                      <m:sty m:val="i"/>
                                    </m:rPr>
                                    <a:rPr lang="en-US" i="1" sz="1568">
                                      <a:latin typeface="Cambria Math"/>
                                    </a:rPr>
                                    <m:t>a</m:t>
                                  </m:r>
                                </m:e>
                                <m:lim>
                                  <m:r>
                                    <m:rPr>
                                      <m:sty m:val="p"/>
                                    </m:rPr>
                                    <a:rPr lang="en-US" i="0" sz="1568">
                                      <a:latin typeface="Cambria Math"/>
                                    </a:rPr>
                                    <m:t>^</m:t>
                                  </m:r>
                                </m:lim>
                              </m:limUpp>
                            </m:e>
                          </m:box>
                        </m:e>
                        <m:sup>
                          <m:r>
                            <m:rPr>
                              <m:sty m:val="p"/>
                            </m:rPr>
                            <a:rPr lang="en-US" i="0" sz="1568">
                              <a:latin typeface="Cambria Math"/>
                            </a:rPr>
                            <m:t>†</m:t>
                          </m:r>
                        </m:sup>
                      </m:sSup>
                      <m:r>
                        <m:rPr>
                          <m:sty m:val="p"/>
                        </m:rPr>
                        <a:rPr lang="en-US" i="0" sz="1568">
                          <a:latin typeface="Cambria Math"/>
                        </a:rPr>
                        <m:t>)</m:t>
                      </m:r>
                      <m:r>
                        <m:rPr>
                          <m:sty m:val="p"/>
                        </m:rPr>
                        <a:rPr lang="en-US" i="0" sz="1568">
                          <a:latin typeface="Cambria Math"/>
                        </a:rPr>
                        <m:t>,</m:t>
                      </m:r>
                      <m:box>
                        <m:e>
                          <m:r>
                            <a:rPr lang="en-US" i="1" sz="1568">
                              <a:latin typeface="Cambria Math"/>
                            </a:rPr>
                            <m:t/>
                          </m:r>
                        </m:e>
                      </m:box>
                      <m:box>
                        <m:e>
                          <m:limUpp>
                            <m:e>
                              <m:r>
                                <m:rPr>
                                  <m:sty m:val="i"/>
                                </m:rPr>
                                <a:rPr lang="en-US" i="1" sz="1568">
                                  <a:latin typeface="Cambria Math"/>
                                </a:rPr>
                                <m:t>Q</m:t>
                              </m:r>
                            </m:e>
                            <m:lim>
                              <m:r>
                                <m:rPr>
                                  <m:sty m:val="p"/>
                                </m:rPr>
                                <a:rPr lang="en-US" i="0" sz="1568">
                                  <a:latin typeface="Cambria Math"/>
                                </a:rPr>
                                <m:t>^</m:t>
                              </m:r>
                            </m:lim>
                          </m:limUpp>
                        </m:e>
                      </m:box>
                      <m:r>
                        <m:rPr>
                          <m:sty m:val="p"/>
                        </m:rPr>
                        <a:rPr lang="en-US" i="0" sz="1568">
                          <a:latin typeface="Cambria Math"/>
                        </a:rPr>
                        <m:t>=</m:t>
                      </m:r>
                      <m:r>
                        <m:rPr>
                          <m:sty m:val="p"/>
                        </m:rPr>
                        <a:rPr lang="en-US" i="0" sz="1568">
                          <a:latin typeface="Cambria Math"/>
                        </a:rPr>
                        <m:t>−</m:t>
                      </m:r>
                      <m:r>
                        <m:rPr>
                          <m:sty m:val="i"/>
                        </m:rPr>
                        <a:rPr lang="en-US" i="1" sz="1568">
                          <a:latin typeface="Cambria Math"/>
                        </a:rPr>
                        <m:t>i</m:t>
                      </m:r>
                      <m:sSub>
                        <m:e>
                          <m:r>
                            <m:rPr>
                              <m:sty m:val="i"/>
                            </m:rPr>
                            <a:rPr lang="en-US" i="1" sz="1568">
                              <a:latin typeface="Cambria Math"/>
                            </a:rPr>
                            <m:t>Q</m:t>
                          </m:r>
                        </m:e>
                        <m:sub>
                          <m:box>
                            <m:e>
                              <m:r>
                                <m:rPr>
                                  <m:sty m:val="p"/>
                                </m:rPr>
                                <a:rPr lang="en-US" i="0" sz="1568">
                                  <a:latin typeface="Cambria Math"/>
                                </a:rPr>
                                <m:t>z</m:t>
                              </m:r>
                              <m:r>
                                <m:rPr>
                                  <m:sty m:val="p"/>
                                </m:rPr>
                                <a:rPr lang="en-US" i="0" sz="1568">
                                  <a:latin typeface="Cambria Math"/>
                                </a:rPr>
                                <m:t>p</m:t>
                              </m:r>
                              <m:r>
                                <m:rPr>
                                  <m:sty m:val="p"/>
                                </m:rPr>
                                <a:rPr lang="en-US" i="0" sz="1568">
                                  <a:latin typeface="Cambria Math"/>
                                </a:rPr>
                                <m:t>f</m:t>
                              </m:r>
                            </m:e>
                          </m:box>
                        </m:sub>
                      </m:sSub>
                      <m:r>
                        <m:rPr>
                          <m:sty m:val="p"/>
                        </m:rPr>
                        <a:rPr lang="en-US" i="0" sz="1568">
                          <a:latin typeface="Cambria Math"/>
                        </a:rPr>
                        <m:t>(</m:t>
                      </m:r>
                      <m:box>
                        <m:e>
                          <m:limUpp>
                            <m:e>
                              <m:r>
                                <m:rPr>
                                  <m:sty m:val="i"/>
                                </m:rPr>
                                <a:rPr lang="en-US" i="1" sz="1568">
                                  <a:latin typeface="Cambria Math"/>
                                </a:rPr>
                                <m:t>a</m:t>
                              </m:r>
                            </m:e>
                            <m:lim>
                              <m:r>
                                <m:rPr>
                                  <m:sty m:val="p"/>
                                </m:rPr>
                                <a:rPr lang="en-US" i="0" sz="1568">
                                  <a:latin typeface="Cambria Math"/>
                                </a:rPr>
                                <m:t>^</m:t>
                              </m:r>
                            </m:lim>
                          </m:limUpp>
                        </m:e>
                      </m:box>
                      <m:r>
                        <m:rPr>
                          <m:sty m:val="p"/>
                        </m:rPr>
                        <a:rPr lang="en-US" i="0" sz="1568">
                          <a:latin typeface="Cambria Math"/>
                        </a:rPr>
                        <m:t>−</m:t>
                      </m:r>
                      <m:sSup>
                        <m:e>
                          <m:box>
                            <m:e>
                              <m:limUpp>
                                <m:e>
                                  <m:r>
                                    <m:rPr>
                                      <m:sty m:val="i"/>
                                    </m:rPr>
                                    <a:rPr lang="en-US" i="1" sz="1568">
                                      <a:latin typeface="Cambria Math"/>
                                    </a:rPr>
                                    <m:t>a</m:t>
                                  </m:r>
                                </m:e>
                                <m:lim>
                                  <m:r>
                                    <m:rPr>
                                      <m:sty m:val="p"/>
                                    </m:rPr>
                                    <a:rPr lang="en-US" i="0" sz="1568">
                                      <a:latin typeface="Cambria Math"/>
                                    </a:rPr>
                                    <m:t>^</m:t>
                                  </m:r>
                                </m:lim>
                              </m:limUpp>
                            </m:e>
                          </m:box>
                        </m:e>
                        <m:sup>
                          <m:r>
                            <m:rPr>
                              <m:sty m:val="p"/>
                            </m:rPr>
                            <a:rPr lang="en-US" i="0" sz="1568">
                              <a:latin typeface="Cambria Math"/>
                            </a:rPr>
                            <m:t>†</m:t>
                          </m:r>
                        </m:sup>
                      </m:sSup>
                      <m:r>
                        <m:rPr>
                          <m:sty m:val="p"/>
                        </m:rPr>
                        <a:rPr lang="en-US" i="0" sz="1568">
                          <a:latin typeface="Cambria Math"/>
                        </a:rPr>
                        <m:t>)</m:t>
                      </m:r>
                      <m:r>
                        <m:rPr>
                          <m:sty m:val="p"/>
                        </m:rPr>
                        <a:rPr lang="en-US" i="0" sz="1568">
                          <a:latin typeface="Cambria Math"/>
                        </a:rPr>
                        <m:t>,</m:t>
                      </m:r>
                    </m:oMath>
                  </m:oMathPara>
                </a14:m>
              </mc:Choice>
              <mc:Fallback>
                <a:r>
                  <a:rPr lang="en-US" sz="1567" i="1"/>
                  <a:t>
                    \hat\Phi=\Phi_{\rm zpf}(\hat a+\hat a^\dagger),
                    \qquad
                    \hat Q=-iQ_{\rm zpf}(\hat a-\hat a^\dagger),
                    </a:t>
                </a:r>
              </mc:Fallback>
            </mc:AlternateContent>
          </a:p>
        </p:txBody>
      </p:sp>
      <p:sp>
        <p:nvSpPr>
          <p:cNvPr id="11" name="Rectangle 10"/>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3" name="TextBox 12"/>
          <p:cNvSpPr txBox="1"/>
          <p:nvPr/>
        </p:nvSpPr>
        <p:spPr>
          <a:xfrm>
            <a:off x="11233811" y="6565900"/>
            <a:ext cx="467122"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59 / 100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equation"/>
          <p:cNvSpPr txBox="1"/>
          <p:nvPr/>
        </p:nvSpPr>
        <p:spPr>
          <a:xfrm>
            <a:off x="575733" y="1016000"/>
            <a:ext cx="11040533" cy="491728"/>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p"/>
                            </m:rPr>
                            <a:rPr lang="en-US" i="0" sz="1568">
                              <a:latin typeface="Cambria Math"/>
                            </a:rPr>
                            <m:t>Φ</m:t>
                          </m:r>
                        </m:e>
                        <m:sub>
                          <m:box>
                            <m:e>
                              <m:r>
                                <m:rPr>
                                  <m:sty m:val="p"/>
                                </m:rPr>
                                <a:rPr lang="en-US" i="0" sz="1568">
                                  <a:latin typeface="Cambria Math"/>
                                </a:rPr>
                                <m:t>z</m:t>
                              </m:r>
                              <m:r>
                                <m:rPr>
                                  <m:sty m:val="p"/>
                                </m:rPr>
                                <a:rPr lang="en-US" i="0" sz="1568">
                                  <a:latin typeface="Cambria Math"/>
                                </a:rPr>
                                <m:t>p</m:t>
                              </m:r>
                              <m:r>
                                <m:rPr>
                                  <m:sty m:val="p"/>
                                </m:rPr>
                                <a:rPr lang="en-US" i="0" sz="1568">
                                  <a:latin typeface="Cambria Math"/>
                                </a:rPr>
                                <m:t>f</m:t>
                              </m:r>
                            </m:e>
                          </m:box>
                        </m:sub>
                      </m:sSub>
                      <m:r>
                        <m:rPr>
                          <m:sty m:val="p"/>
                        </m:rPr>
                        <a:rPr lang="en-US" i="0" sz="1568">
                          <a:latin typeface="Cambria Math"/>
                        </a:rPr>
                        <m:t>=</m:t>
                      </m:r>
                      <m:rad>
                        <m:radPr>
                          <m:degHide m:val="1"/>
                        </m:radPr>
                        <m:deg/>
                        <m:e>
                          <m:box>
                            <m:e>
                              <m:f>
                                <m:num>
                                  <m:box>
                                    <m:e>
                                      <m:r>
                                        <m:rPr>
                                          <m:sty m:val="i"/>
                                        </m:rPr>
                                        <a:rPr lang="en-US" i="1" sz="1568">
                                          <a:latin typeface="Cambria Math"/>
                                        </a:rPr>
                                        <m:t>ℏ</m:t>
                                      </m:r>
                                      <m:r>
                                        <m:rPr>
                                          <m:sty m:val="i"/>
                                        </m:rPr>
                                        <a:rPr lang="en-US" i="1" sz="1568">
                                          <a:latin typeface="Cambria Math"/>
                                        </a:rPr>
                                        <m:t>Z</m:t>
                                      </m:r>
                                    </m:e>
                                  </m:box>
                                </m:num>
                                <m:den>
                                  <m:r>
                                    <m:rPr>
                                      <m:sty m:val="p"/>
                                    </m:rPr>
                                    <a:rPr lang="en-US" i="0" sz="1568">
                                      <a:latin typeface="Cambria Math"/>
                                    </a:rPr>
                                    <m:t>2</m:t>
                                  </m:r>
                                </m:den>
                              </m:f>
                            </m:e>
                          </m:box>
                        </m:e>
                      </m:rad>
                      <m:r>
                        <m:rPr>
                          <m:sty m:val="p"/>
                        </m:rPr>
                        <a:rPr lang="en-US" i="0" sz="1568">
                          <a:latin typeface="Cambria Math"/>
                        </a:rPr>
                        <m:t>,</m:t>
                      </m:r>
                      <m:box>
                        <m:e>
                          <m:r>
                            <a:rPr lang="en-US" i="1" sz="1568">
                              <a:latin typeface="Cambria Math"/>
                            </a:rPr>
                            <m:t/>
                          </m:r>
                        </m:e>
                      </m:box>
                      <m:sSub>
                        <m:e>
                          <m:r>
                            <m:rPr>
                              <m:sty m:val="i"/>
                            </m:rPr>
                            <a:rPr lang="en-US" i="1" sz="1568">
                              <a:latin typeface="Cambria Math"/>
                            </a:rPr>
                            <m:t>Q</m:t>
                          </m:r>
                        </m:e>
                        <m:sub>
                          <m:box>
                            <m:e>
                              <m:r>
                                <m:rPr>
                                  <m:sty m:val="p"/>
                                </m:rPr>
                                <a:rPr lang="en-US" i="0" sz="1568">
                                  <a:latin typeface="Cambria Math"/>
                                </a:rPr>
                                <m:t>z</m:t>
                              </m:r>
                              <m:r>
                                <m:rPr>
                                  <m:sty m:val="p"/>
                                </m:rPr>
                                <a:rPr lang="en-US" i="0" sz="1568">
                                  <a:latin typeface="Cambria Math"/>
                                </a:rPr>
                                <m:t>p</m:t>
                              </m:r>
                              <m:r>
                                <m:rPr>
                                  <m:sty m:val="p"/>
                                </m:rPr>
                                <a:rPr lang="en-US" i="0" sz="1568">
                                  <a:latin typeface="Cambria Math"/>
                                </a:rPr>
                                <m:t>f</m:t>
                              </m:r>
                            </m:e>
                          </m:box>
                        </m:sub>
                      </m:sSub>
                      <m:r>
                        <m:rPr>
                          <m:sty m:val="p"/>
                        </m:rPr>
                        <a:rPr lang="en-US" i="0" sz="1568">
                          <a:latin typeface="Cambria Math"/>
                        </a:rPr>
                        <m:t>=</m:t>
                      </m:r>
                      <m:rad>
                        <m:radPr>
                          <m:degHide m:val="1"/>
                        </m:radPr>
                        <m:deg/>
                        <m:e>
                          <m:box>
                            <m:e>
                              <m:f>
                                <m:num>
                                  <m:r>
                                    <m:rPr>
                                      <m:sty m:val="i"/>
                                    </m:rPr>
                                    <a:rPr lang="en-US" i="1" sz="1568">
                                      <a:latin typeface="Cambria Math"/>
                                    </a:rPr>
                                    <m:t>ℏ</m:t>
                                  </m:r>
                                </m:num>
                                <m:den>
                                  <m:box>
                                    <m:e>
                                      <m:r>
                                        <m:rPr>
                                          <m:sty m:val="p"/>
                                        </m:rPr>
                                        <a:rPr lang="en-US" i="0" sz="1568">
                                          <a:latin typeface="Cambria Math"/>
                                        </a:rPr>
                                        <m:t>2</m:t>
                                      </m:r>
                                      <m:r>
                                        <m:rPr>
                                          <m:sty m:val="i"/>
                                        </m:rPr>
                                        <a:rPr lang="en-US" i="1" sz="1568">
                                          <a:latin typeface="Cambria Math"/>
                                        </a:rPr>
                                        <m:t>Z</m:t>
                                      </m:r>
                                    </m:e>
                                  </m:box>
                                </m:den>
                              </m:f>
                            </m:e>
                          </m:box>
                        </m:e>
                      </m:rad>
                      <m:r>
                        <m:rPr>
                          <m:sty m:val="p"/>
                        </m:rPr>
                        <a:rPr lang="en-US" i="0" sz="1568">
                          <a:latin typeface="Cambria Math"/>
                        </a:rPr>
                        <m:t>,</m:t>
                      </m:r>
                      <m:box>
                        <m:e>
                          <m:r>
                            <a:rPr lang="en-US" i="1" sz="1568">
                              <a:latin typeface="Cambria Math"/>
                            </a:rPr>
                            <m:t/>
                          </m:r>
                        </m:e>
                      </m:box>
                      <m:sSub>
                        <m:e>
                          <m:r>
                            <m:rPr>
                              <m:sty m:val="p"/>
                            </m:rPr>
                            <a:rPr lang="en-US" i="0" sz="1568">
                              <a:latin typeface="Cambria Math"/>
                            </a:rPr>
                            <m:t>Φ</m:t>
                          </m:r>
                        </m:e>
                        <m:sub>
                          <m:box>
                            <m:e>
                              <m:r>
                                <m:rPr>
                                  <m:sty m:val="p"/>
                                </m:rPr>
                                <a:rPr lang="en-US" i="0" sz="1568">
                                  <a:latin typeface="Cambria Math"/>
                                </a:rPr>
                                <m:t>z</m:t>
                              </m:r>
                              <m:r>
                                <m:rPr>
                                  <m:sty m:val="p"/>
                                </m:rPr>
                                <a:rPr lang="en-US" i="0" sz="1568">
                                  <a:latin typeface="Cambria Math"/>
                                </a:rPr>
                                <m:t>p</m:t>
                              </m:r>
                              <m:r>
                                <m:rPr>
                                  <m:sty m:val="p"/>
                                </m:rPr>
                                <a:rPr lang="en-US" i="0" sz="1568">
                                  <a:latin typeface="Cambria Math"/>
                                </a:rPr>
                                <m:t>f</m:t>
                              </m:r>
                            </m:e>
                          </m:box>
                        </m:sub>
                      </m:sSub>
                      <m:sSub>
                        <m:e>
                          <m:r>
                            <m:rPr>
                              <m:sty m:val="i"/>
                            </m:rPr>
                            <a:rPr lang="en-US" i="1" sz="1568">
                              <a:latin typeface="Cambria Math"/>
                            </a:rPr>
                            <m:t>Q</m:t>
                          </m:r>
                        </m:e>
                        <m:sub>
                          <m:box>
                            <m:e>
                              <m:r>
                                <m:rPr>
                                  <m:sty m:val="p"/>
                                </m:rPr>
                                <a:rPr lang="en-US" i="0" sz="1568">
                                  <a:latin typeface="Cambria Math"/>
                                </a:rPr>
                                <m:t>z</m:t>
                              </m:r>
                              <m:r>
                                <m:rPr>
                                  <m:sty m:val="p"/>
                                </m:rPr>
                                <a:rPr lang="en-US" i="0" sz="1568">
                                  <a:latin typeface="Cambria Math"/>
                                </a:rPr>
                                <m:t>p</m:t>
                              </m:r>
                              <m:r>
                                <m:rPr>
                                  <m:sty m:val="p"/>
                                </m:rPr>
                                <a:rPr lang="en-US" i="0" sz="1568">
                                  <a:latin typeface="Cambria Math"/>
                                </a:rPr>
                                <m:t>f</m:t>
                              </m:r>
                            </m:e>
                          </m:box>
                        </m:sub>
                      </m:sSub>
                      <m:r>
                        <m:rPr>
                          <m:sty m:val="p"/>
                        </m:rPr>
                        <a:rPr lang="en-US" i="0" sz="1568">
                          <a:latin typeface="Cambria Math"/>
                        </a:rPr>
                        <m:t>=</m:t>
                      </m:r>
                      <m:f>
                        <m:num>
                          <m:r>
                            <m:rPr>
                              <m:sty m:val="i"/>
                            </m:rPr>
                            <a:rPr lang="en-US" i="1" sz="1568">
                              <a:latin typeface="Cambria Math"/>
                            </a:rPr>
                            <m:t>ℏ</m:t>
                          </m:r>
                        </m:num>
                        <m:den>
                          <m:r>
                            <m:rPr>
                              <m:sty m:val="p"/>
                            </m:rPr>
                            <a:rPr lang="en-US" i="0" sz="1568">
                              <a:latin typeface="Cambria Math"/>
                            </a:rPr>
                            <m:t>2</m:t>
                          </m:r>
                        </m:den>
                      </m:f>
                      <m:r>
                        <m:rPr>
                          <m:sty m:val="p"/>
                        </m:rPr>
                        <a:rPr lang="en-US" i="0" sz="1568">
                          <a:latin typeface="Cambria Math"/>
                        </a:rPr>
                        <m:t>.</m:t>
                      </m:r>
                    </m:oMath>
                  </m:oMathPara>
                </a14:m>
              </mc:Choice>
              <mc:Fallback>
                <a:r>
                  <a:rPr lang="en-US" sz="1567" i="1"/>
                  <a:t>
                    \Phi_{\rm zpf}=\sqrt{\frac{\hbar Z}{2}},
                    \qquad
                    Q_{\rm zpf}=\sqrt{\frac{\hbar}{2Z}},
                    \qquad
                    \Phi_{\rm zpf}Q_{\rm zpf}=\frac{\hbar}{2}.
                    </a:t>
                </a:r>
              </mc:Fallback>
            </mc:AlternateContent>
          </a:p>
        </p:txBody>
      </p:sp>
      <p:sp>
        <p:nvSpPr>
          <p:cNvPr id="6" name="TextBox 5"/>
          <p:cNvSpPr txBox="1"/>
          <p:nvPr/>
        </p:nvSpPr>
        <p:spPr>
          <a:xfrm>
            <a:off x="575733" y="1660128"/>
            <a:ext cx="11040533"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Even in the ground state, flux and charge retain zero-point fluctuations. The energy eigenstates </a:t>
            </a:r>
            <mc:AlternateContent xmlns:mc="http://schemas.openxmlformats.org/markup-compatibility/2006">
              <mc:Choice xmlns:a14="http://schemas.microsoft.com/office/drawing/2010/main" Requires="a14">
                <a14:m>
                  <m:oMath xmlns:m="http://schemas.openxmlformats.org/officeDocument/2006/math">
                    <m:box>
                      <m:e>
                        <m:r>
                          <m:rPr>
                            <m:sty m:val="p"/>
                          </m:rPr>
                          <a:rPr lang="en-US" i="0" sz="1665">
                            <a:latin typeface="Cambria Math"/>
                          </a:rPr>
                          <m:t>|</m:t>
                        </m:r>
                        <m:box>
                          <m:e>
                            <m:r>
                              <m:rPr>
                                <m:sty m:val="i"/>
                              </m:rPr>
                              <a:rPr lang="en-US" i="1" sz="1665">
                                <a:latin typeface="Cambria Math"/>
                              </a:rPr>
                              <m:t>m</m:t>
                            </m:r>
                          </m:e>
                        </m:box>
                        <m:r>
                          <m:rPr>
                            <m:sty m:val="p"/>
                          </m:rPr>
                          <a:rPr lang="en-US" i="0" sz="1665">
                            <a:latin typeface="Cambria Math"/>
                          </a:rPr>
                          <m:t>⟩</m:t>
                        </m:r>
                      </m:e>
                    </m:box>
                  </m:oMath>
                </a14:m>
              </mc:Choice>
              <mc:Fallback>
                <a:r>
                  <a:rPr lang="en-US" sz="1664" i="1"/>
                  <a:t>\ket m</a:t>
                </a:r>
              </mc:Fallback>
            </mc:AlternateContent>
            <a:r>
              <a:rPr sz="1400" b="0" i="0">
                <a:solidFill>
                  <a:srgbClr val="4F4C56"/>
                </a:solidFill>
                <a:latin typeface="Montserrat"/>
                <a:ea typeface="Montserrat"/>
                <a:cs typeface="Montserrat"/>
              </a:rPr>
              <a:t> are also genuinely discrete: </a:t>
            </a:r>
          </a:p>
        </p:txBody>
      </p:sp>
      <p:sp>
        <p:nvSpPr>
          <p:cNvPr id="7" name="equation"/>
          <p:cNvSpPr txBox="1"/>
          <p:nvPr/>
        </p:nvSpPr>
        <p:spPr>
          <a:xfrm>
            <a:off x="575733" y="2352807"/>
            <a:ext cx="11040533" cy="477573"/>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568">
                              <a:latin typeface="Cambria Math"/>
                            </a:rPr>
                            <m:t>E</m:t>
                          </m:r>
                        </m:e>
                        <m:sub>
                          <m:r>
                            <m:rPr>
                              <m:sty m:val="i"/>
                            </m:rPr>
                            <a:rPr lang="en-US" i="1" sz="1568">
                              <a:latin typeface="Cambria Math"/>
                            </a:rPr>
                            <m:t>m</m:t>
                          </m:r>
                        </m:sub>
                      </m:sSub>
                      <m:r>
                        <m:rPr>
                          <m:sty m:val="p"/>
                        </m:rPr>
                        <a:rPr lang="en-US" i="0" sz="1568">
                          <a:latin typeface="Cambria Math"/>
                        </a:rPr>
                        <m:t>=</m:t>
                      </m:r>
                      <m:r>
                        <m:rPr>
                          <m:sty m:val="i"/>
                        </m:rPr>
                        <a:rPr lang="en-US" i="1" sz="1568">
                          <a:latin typeface="Cambria Math"/>
                        </a:rPr>
                        <m:t>ℏ</m:t>
                      </m:r>
                      <m:r>
                        <m:rPr>
                          <m:sty m:val="i"/>
                        </m:rPr>
                        <a:rPr lang="en-US" i="1" sz="1568">
                          <a:latin typeface="Cambria Math"/>
                        </a:rPr>
                        <m:t>ω</m:t>
                      </m:r>
                      <m:box>
                        <m:e>
                          <m:d>
                            <m:dPr>
                              <m:begChr m:val="("/>
                              <m:endChr m:val=")"/>
                            </m:dPr>
                            <m:e>
                              <m:box>
                                <m:e>
                                  <m:r>
                                    <m:rPr>
                                      <m:sty m:val="i"/>
                                    </m:rPr>
                                    <a:rPr lang="en-US" i="1" sz="1568">
                                      <a:latin typeface="Cambria Math"/>
                                    </a:rPr>
                                    <m:t>m</m:t>
                                  </m:r>
                                  <m:r>
                                    <m:rPr>
                                      <m:sty m:val="p"/>
                                    </m:rPr>
                                    <a:rPr lang="en-US" i="0" sz="1568">
                                      <a:latin typeface="Cambria Math"/>
                                    </a:rPr>
                                    <m:t>+</m:t>
                                  </m:r>
                                  <m:f>
                                    <m:num>
                                      <m:r>
                                        <m:rPr>
                                          <m:sty m:val="p"/>
                                        </m:rPr>
                                        <a:rPr lang="en-US" i="0" sz="1568">
                                          <a:latin typeface="Cambria Math"/>
                                        </a:rPr>
                                        <m:t>1</m:t>
                                      </m:r>
                                    </m:num>
                                    <m:den>
                                      <m:r>
                                        <m:rPr>
                                          <m:sty m:val="p"/>
                                        </m:rPr>
                                        <a:rPr lang="en-US" i="0" sz="1568">
                                          <a:latin typeface="Cambria Math"/>
                                        </a:rPr>
                                        <m:t>2</m:t>
                                      </m:r>
                                    </m:den>
                                  </m:f>
                                </m:e>
                              </m:box>
                            </m:e>
                          </m:d>
                        </m:e>
                      </m:box>
                      <m:r>
                        <m:rPr>
                          <m:sty m:val="p"/>
                        </m:rPr>
                        <a:rPr lang="en-US" i="0" sz="1568">
                          <a:latin typeface="Cambria Math"/>
                        </a:rPr>
                        <m:t>,</m:t>
                      </m:r>
                      <m:box>
                        <m:e>
                          <m:r>
                            <a:rPr lang="en-US" i="1" sz="1568">
                              <a:latin typeface="Cambria Math"/>
                            </a:rPr>
                            <m:t/>
                          </m:r>
                        </m:e>
                      </m:box>
                      <m:r>
                        <m:rPr>
                          <m:sty m:val="i"/>
                        </m:rPr>
                        <a:rPr lang="en-US" i="1" sz="1568">
                          <a:latin typeface="Cambria Math"/>
                        </a:rPr>
                        <m:t>m</m:t>
                      </m:r>
                      <m:r>
                        <m:rPr>
                          <m:sty m:val="p"/>
                        </m:rPr>
                        <a:rPr lang="en-US" i="0" sz="1568">
                          <a:latin typeface="Cambria Math"/>
                        </a:rPr>
                        <m:t>=</m:t>
                      </m:r>
                      <m:r>
                        <m:rPr>
                          <m:sty m:val="p"/>
                        </m:rPr>
                        <a:rPr lang="en-US" i="0" sz="1568">
                          <a:latin typeface="Cambria Math"/>
                        </a:rPr>
                        <m:t>0</m:t>
                      </m:r>
                      <m:r>
                        <m:rPr>
                          <m:sty m:val="p"/>
                        </m:rPr>
                        <a:rPr lang="en-US" i="0" sz="1568">
                          <a:latin typeface="Cambria Math"/>
                        </a:rPr>
                        <m:t>,</m:t>
                      </m:r>
                      <m:r>
                        <m:rPr>
                          <m:sty m:val="p"/>
                        </m:rPr>
                        <a:rPr lang="en-US" i="0" sz="1568">
                          <a:latin typeface="Cambria Math"/>
                        </a:rPr>
                        <m:t>1</m:t>
                      </m:r>
                      <m:r>
                        <m:rPr>
                          <m:sty m:val="p"/>
                        </m:rPr>
                        <a:rPr lang="en-US" i="0" sz="1568">
                          <a:latin typeface="Cambria Math"/>
                        </a:rPr>
                        <m:t>,</m:t>
                      </m:r>
                      <m:r>
                        <m:rPr>
                          <m:sty m:val="p"/>
                        </m:rPr>
                        <a:rPr lang="en-US" i="0" sz="1568">
                          <a:latin typeface="Cambria Math"/>
                        </a:rPr>
                        <m:t>2</m:t>
                      </m:r>
                      <m:r>
                        <m:rPr>
                          <m:sty m:val="p"/>
                        </m:rPr>
                        <a:rPr lang="en-US" i="0" sz="1568">
                          <a:latin typeface="Cambria Math"/>
                        </a:rPr>
                        <m:t>,</m:t>
                      </m:r>
                      <m:r>
                        <m:rPr>
                          <m:sty m:val="p"/>
                        </m:rPr>
                        <a:rPr lang="en-US" i="0" sz="1568">
                          <a:latin typeface="Cambria Math"/>
                        </a:rPr>
                        <m:t>…</m:t>
                      </m:r>
                    </m:oMath>
                  </m:oMathPara>
                </a14:m>
              </mc:Choice>
              <mc:Fallback>
                <a:r>
                  <a:rPr lang="en-US" sz="1567" i="1"/>
                  <a:t>
                    E_m=\hbar\omega\left(m+\frac12\right),
                    \qquad m=0,1,2,\ldots
                    </a:t>
                </a:r>
              </mc:Fallback>
            </mc:AlternateContent>
          </a:p>
        </p:txBody>
      </p:sp>
      <p:sp>
        <p:nvSpPr>
          <p:cNvPr id="8" name="TextBox 7"/>
          <p:cNvSpPr txBox="1"/>
          <p:nvPr/>
        </p:nvSpPr>
        <p:spPr>
          <a:xfrm>
            <a:off x="575733" y="2982780"/>
            <a:ext cx="11040533"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The problem, then, is not that the LC oscillator is “insufficiently quantum.” Quite the opposite: it is an overly ideal linear quantum system in which every rung obeys exactly the same rule. </a:t>
            </a:r>
          </a:p>
        </p:txBody>
      </p:sp>
      <p:sp>
        <p:nvSpPr>
          <p:cNvPr id="9" name="TextBox 8"/>
          <p:cNvSpPr txBox="1"/>
          <p:nvPr/>
        </p:nvSpPr>
        <p:spPr>
          <a:xfrm>
            <a:off x="575733" y="3700859"/>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An equally spaced spectrum makes all adjacent transition frequencies coincide</a:t>
            </a:r>
          </a:p>
        </p:txBody>
      </p:sp>
      <p:sp>
        <p:nvSpPr>
          <p:cNvPr id="10" name="TextBox 9"/>
          <p:cNvSpPr txBox="1"/>
          <p:nvPr/>
        </p:nvSpPr>
        <p:spPr>
          <a:xfrm>
            <a:off x="575733" y="4077626"/>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 The transition frequency between adjacent levels is </a:t>
            </a:r>
          </a:p>
        </p:txBody>
      </p:sp>
      <p:sp>
        <p:nvSpPr>
          <p:cNvPr id="11" name="equation"/>
          <p:cNvSpPr txBox="1"/>
          <p:nvPr/>
        </p:nvSpPr>
        <p:spPr>
          <a:xfrm>
            <a:off x="575733" y="4500166"/>
            <a:ext cx="11040533" cy="408781"/>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568">
                              <a:latin typeface="Cambria Math"/>
                            </a:rPr>
                            <m:t>ω</m:t>
                          </m:r>
                        </m:e>
                        <m:sub>
                          <m:box>
                            <m:e>
                              <m:r>
                                <m:rPr>
                                  <m:sty m:val="i"/>
                                </m:rPr>
                                <a:rPr lang="en-US" i="1" sz="1568">
                                  <a:latin typeface="Cambria Math"/>
                                </a:rPr>
                                <m:t>m</m:t>
                              </m:r>
                              <m:r>
                                <m:rPr>
                                  <m:sty m:val="p"/>
                                </m:rPr>
                                <a:rPr lang="en-US" i="0" sz="1568">
                                  <a:latin typeface="Cambria Math"/>
                                </a:rPr>
                                <m:t>,</m:t>
                              </m:r>
                              <m:r>
                                <m:rPr>
                                  <m:sty m:val="i"/>
                                </m:rPr>
                                <a:rPr lang="en-US" i="1" sz="1568">
                                  <a:latin typeface="Cambria Math"/>
                                </a:rPr>
                                <m:t>m</m:t>
                              </m:r>
                              <m:r>
                                <m:rPr>
                                  <m:sty m:val="p"/>
                                </m:rPr>
                                <a:rPr lang="en-US" i="0" sz="1568">
                                  <a:latin typeface="Cambria Math"/>
                                </a:rPr>
                                <m:t>+</m:t>
                              </m:r>
                              <m:r>
                                <m:rPr>
                                  <m:sty m:val="p"/>
                                </m:rPr>
                                <a:rPr lang="en-US" i="0" sz="1568">
                                  <a:latin typeface="Cambria Math"/>
                                </a:rPr>
                                <m:t>1</m:t>
                              </m:r>
                            </m:e>
                          </m:box>
                        </m:sub>
                      </m:sSub>
                      <m:r>
                        <m:rPr>
                          <m:sty m:val="p"/>
                        </m:rPr>
                        <a:rPr lang="en-US" i="0" sz="1568">
                          <a:latin typeface="Cambria Math"/>
                        </a:rPr>
                        <m:t>=</m:t>
                      </m:r>
                      <m:f>
                        <m:num>
                          <m:box>
                            <m:e>
                              <m:sSub>
                                <m:e>
                                  <m:r>
                                    <m:rPr>
                                      <m:sty m:val="i"/>
                                    </m:rPr>
                                    <a:rPr lang="en-US" i="1" sz="1568">
                                      <a:latin typeface="Cambria Math"/>
                                    </a:rPr>
                                    <m:t>E</m:t>
                                  </m:r>
                                </m:e>
                                <m:sub>
                                  <m:box>
                                    <m:e>
                                      <m:r>
                                        <m:rPr>
                                          <m:sty m:val="i"/>
                                        </m:rPr>
                                        <a:rPr lang="en-US" i="1" sz="1568">
                                          <a:latin typeface="Cambria Math"/>
                                        </a:rPr>
                                        <m:t>m</m:t>
                                      </m:r>
                                      <m:r>
                                        <m:rPr>
                                          <m:sty m:val="p"/>
                                        </m:rPr>
                                        <a:rPr lang="en-US" i="0" sz="1568">
                                          <a:latin typeface="Cambria Math"/>
                                        </a:rPr>
                                        <m:t>+</m:t>
                                      </m:r>
                                      <m:r>
                                        <m:rPr>
                                          <m:sty m:val="p"/>
                                        </m:rPr>
                                        <a:rPr lang="en-US" i="0" sz="1568">
                                          <a:latin typeface="Cambria Math"/>
                                        </a:rPr>
                                        <m:t>1</m:t>
                                      </m:r>
                                    </m:e>
                                  </m:box>
                                </m:sub>
                              </m:sSub>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m</m:t>
                                  </m:r>
                                </m:sub>
                              </m:sSub>
                            </m:e>
                          </m:box>
                        </m:num>
                        <m:den>
                          <m:r>
                            <m:rPr>
                              <m:sty m:val="i"/>
                            </m:rPr>
                            <a:rPr lang="en-US" i="1" sz="1568">
                              <a:latin typeface="Cambria Math"/>
                            </a:rPr>
                            <m:t>ℏ</m:t>
                          </m:r>
                        </m:den>
                      </m:f>
                      <m:r>
                        <m:rPr>
                          <m:sty m:val="p"/>
                        </m:rPr>
                        <a:rPr lang="en-US" i="0" sz="1568">
                          <a:latin typeface="Cambria Math"/>
                        </a:rPr>
                        <m:t>=</m:t>
                      </m:r>
                      <m:r>
                        <m:rPr>
                          <m:sty m:val="i"/>
                        </m:rPr>
                        <a:rPr lang="en-US" i="1" sz="1568">
                          <a:latin typeface="Cambria Math"/>
                        </a:rPr>
                        <m:t>ω</m:t>
                      </m:r>
                      <m:r>
                        <m:rPr>
                          <m:sty m:val="p"/>
                        </m:rPr>
                        <a:rPr lang="en-US" i="0" sz="1568">
                          <a:latin typeface="Cambria Math"/>
                        </a:rPr>
                        <m:t>,</m:t>
                      </m:r>
                    </m:oMath>
                  </m:oMathPara>
                </a14:m>
              </mc:Choice>
              <mc:Fallback>
                <a:r>
                  <a:rPr lang="en-US" sz="1567" i="1"/>
                  <a:t>
                    \omega_{m,m+1}
                    =\frac{E_{m+1}-E_m}{\hbar}
                    =\omega,
                    </a:t>
                </a:r>
              </mc:Fallback>
            </mc:AlternateContent>
          </a:p>
        </p:txBody>
      </p:sp>
      <p:sp>
        <p:nvSpPr>
          <p:cNvPr id="12" name="Rectangle 11"/>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4" name="TextBox 13"/>
          <p:cNvSpPr txBox="1"/>
          <p:nvPr/>
        </p:nvSpPr>
        <p:spPr>
          <a:xfrm>
            <a:off x="11223890" y="6565900"/>
            <a:ext cx="477044"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60 / 100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 Therefore, </a:t>
            </a:r>
          </a:p>
        </p:txBody>
      </p:sp>
      <p:sp>
        <p:nvSpPr>
          <p:cNvPr id="6" name="equation"/>
          <p:cNvSpPr txBox="1"/>
          <p:nvPr/>
        </p:nvSpPr>
        <p:spPr>
          <a:xfrm>
            <a:off x="575733" y="1286140"/>
            <a:ext cx="11040533" cy="148828"/>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568">
                              <a:latin typeface="Cambria Math"/>
                            </a:rPr>
                            <m:t>ω</m:t>
                          </m:r>
                        </m:e>
                        <m:sub>
                          <m:box>
                            <m:e>
                              <m:r>
                                <m:rPr>
                                  <m:sty m:val="p"/>
                                </m:rPr>
                                <a:rPr lang="en-US" i="0" sz="1568">
                                  <a:latin typeface="Cambria Math"/>
                                </a:rPr>
                                <m:t>01</m:t>
                              </m:r>
                            </m:e>
                          </m:box>
                        </m:sub>
                      </m:sSub>
                      <m:r>
                        <m:rPr>
                          <m:sty m:val="p"/>
                        </m:rPr>
                        <a:rPr lang="en-US" i="0" sz="1568">
                          <a:latin typeface="Cambria Math"/>
                        </a:rPr>
                        <m:t>=</m:t>
                      </m:r>
                      <m:sSub>
                        <m:e>
                          <m:r>
                            <m:rPr>
                              <m:sty m:val="i"/>
                            </m:rPr>
                            <a:rPr lang="en-US" i="1" sz="1568">
                              <a:latin typeface="Cambria Math"/>
                            </a:rPr>
                            <m:t>ω</m:t>
                          </m:r>
                        </m:e>
                        <m:sub>
                          <m:box>
                            <m:e>
                              <m:r>
                                <m:rPr>
                                  <m:sty m:val="p"/>
                                </m:rPr>
                                <a:rPr lang="en-US" i="0" sz="1568">
                                  <a:latin typeface="Cambria Math"/>
                                </a:rPr>
                                <m:t>12</m:t>
                              </m:r>
                            </m:e>
                          </m:box>
                        </m:sub>
                      </m:sSub>
                      <m:r>
                        <m:rPr>
                          <m:sty m:val="p"/>
                        </m:rPr>
                        <a:rPr lang="en-US" i="0" sz="1568">
                          <a:latin typeface="Cambria Math"/>
                        </a:rPr>
                        <m:t>=</m:t>
                      </m:r>
                      <m:sSub>
                        <m:e>
                          <m:r>
                            <m:rPr>
                              <m:sty m:val="i"/>
                            </m:rPr>
                            <a:rPr lang="en-US" i="1" sz="1568">
                              <a:latin typeface="Cambria Math"/>
                            </a:rPr>
                            <m:t>ω</m:t>
                          </m:r>
                        </m:e>
                        <m:sub>
                          <m:box>
                            <m:e>
                              <m:r>
                                <m:rPr>
                                  <m:sty m:val="p"/>
                                </m:rPr>
                                <a:rPr lang="en-US" i="0" sz="1568">
                                  <a:latin typeface="Cambria Math"/>
                                </a:rPr>
                                <m:t>23</m:t>
                              </m:r>
                            </m:e>
                          </m:box>
                        </m:sub>
                      </m:sSub>
                      <m:r>
                        <m:rPr>
                          <m:sty m:val="p"/>
                        </m:rPr>
                        <a:rPr lang="en-US" i="0" sz="1568">
                          <a:latin typeface="Cambria Math"/>
                        </a:rPr>
                        <m:t>=</m:t>
                      </m:r>
                      <m:r>
                        <m:rPr>
                          <m:sty m:val="p"/>
                        </m:rPr>
                        <a:rPr lang="en-US" i="0" sz="1568">
                          <a:latin typeface="Cambria Math"/>
                        </a:rPr>
                        <m:t>⋯</m:t>
                      </m:r>
                      <m:r>
                        <m:rPr>
                          <m:sty m:val="p"/>
                        </m:rPr>
                        <a:rPr lang="en-US" i="0" sz="1568">
                          <a:latin typeface="Cambria Math"/>
                        </a:rPr>
                        <m:t>.</m:t>
                      </m:r>
                    </m:oMath>
                  </m:oMathPara>
                </a14:m>
              </mc:Choice>
              <mc:Fallback>
                <a:r>
                  <a:rPr lang="en-US" sz="1567" i="1"/>
                  <a:t>
                    \omega_{01}=\omega_{12}=\omega_{23}=\cdots.
                    </a:t>
                </a:r>
              </mc:Fallback>
            </mc:AlternateContent>
          </a:p>
        </p:txBody>
      </p:sp>
      <p:sp>
        <p:nvSpPr>
          <p:cNvPr id="7" name="TextBox 6"/>
          <p:cNvSpPr txBox="1"/>
          <p:nvPr/>
        </p:nvSpPr>
        <p:spPr>
          <a:xfrm>
            <a:off x="575733" y="1587368"/>
            <a:ext cx="11040533"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A resonant microwave tone sees not only </a:t>
            </a:r>
            <mc:AlternateContent xmlns:mc="http://schemas.openxmlformats.org/markup-compatibility/2006">
              <mc:Choice xmlns:a14="http://schemas.microsoft.com/office/drawing/2010/main" Requires="a14">
                <a14:m>
                  <m:oMath xmlns:m="http://schemas.openxmlformats.org/officeDocument/2006/math">
                    <m:box>
                      <m:e>
                        <m:r>
                          <m:rPr>
                            <m:sty m:val="p"/>
                          </m:rPr>
                          <a:rPr lang="en-US" i="0" sz="1665">
                            <a:latin typeface="Cambria Math"/>
                          </a:rPr>
                          <m:t>|</m:t>
                        </m:r>
                        <m:box>
                          <m:e>
                            <m:r>
                              <m:rPr>
                                <m:sty m:val="p"/>
                              </m:rPr>
                              <a:rPr lang="en-US" i="0" sz="1665">
                                <a:latin typeface="Cambria Math"/>
                              </a:rPr>
                              <m:t>0</m:t>
                            </m:r>
                          </m:e>
                        </m:box>
                        <m:r>
                          <m:rPr>
                            <m:sty m:val="p"/>
                          </m:rPr>
                          <a:rPr lang="en-US" i="0" sz="1665">
                            <a:latin typeface="Cambria Math"/>
                          </a:rPr>
                          <m:t>⟩</m:t>
                        </m:r>
                      </m:e>
                    </m:box>
                    <m:r>
                      <m:rPr>
                        <m:sty m:val="p"/>
                      </m:rPr>
                      <a:rPr lang="en-US" i="0" sz="1665">
                        <a:latin typeface="Cambria Math"/>
                      </a:rPr>
                      <m:t>↔</m:t>
                    </m:r>
                    <m:box>
                      <m:e>
                        <m:r>
                          <m:rPr>
                            <m:sty m:val="p"/>
                          </m:rPr>
                          <a:rPr lang="en-US" i="0" sz="1665">
                            <a:latin typeface="Cambria Math"/>
                          </a:rPr>
                          <m:t>|</m:t>
                        </m:r>
                        <m:box>
                          <m:e>
                            <m:r>
                              <m:rPr>
                                <m:sty m:val="p"/>
                              </m:rPr>
                              <a:rPr lang="en-US" i="0" sz="1665">
                                <a:latin typeface="Cambria Math"/>
                              </a:rPr>
                              <m:t>1</m:t>
                            </m:r>
                          </m:e>
                        </m:box>
                        <m:r>
                          <m:rPr>
                            <m:sty m:val="p"/>
                          </m:rPr>
                          <a:rPr lang="en-US" i="0" sz="1665">
                            <a:latin typeface="Cambria Math"/>
                          </a:rPr>
                          <m:t>⟩</m:t>
                        </m:r>
                      </m:e>
                    </m:box>
                  </m:oMath>
                </a14:m>
              </mc:Choice>
              <mc:Fallback>
                <a:r>
                  <a:rPr lang="en-US" sz="1664" i="1"/>
                  <a:t>\ket0\leftrightarrow\ket1</a:t>
                </a:r>
              </mc:Fallback>
            </mc:AlternateContent>
            <a:r>
              <a:rPr sz="1400" b="0" i="0">
                <a:solidFill>
                  <a:srgbClr val="4F4C56"/>
                </a:solidFill>
                <a:latin typeface="Montserrat"/>
                <a:ea typeface="Montserrat"/>
                <a:cs typeface="Montserrat"/>
              </a:rPr>
              <a:t> but also every higher transition. Frequency selectivity cannot tell the system to use only the two lowest levels. </a:t>
            </a:r>
          </a:p>
        </p:txBody>
      </p:sp>
      <p:sp>
        <p:nvSpPr>
          <p:cNvPr id="8" name="TextBox 7"/>
          <p:cNvSpPr txBox="1"/>
          <p:nvPr/>
        </p:nvSpPr>
        <p:spPr>
          <a:xfrm>
            <a:off x="575733" y="2305447"/>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The drive Hamiltonian shows why leakage is unavoidable</a:t>
            </a:r>
          </a:p>
        </p:txBody>
      </p:sp>
      <p:sp>
        <p:nvSpPr>
          <p:cNvPr id="9" name="TextBox 8"/>
          <p:cNvSpPr txBox="1"/>
          <p:nvPr/>
        </p:nvSpPr>
        <p:spPr>
          <a:xfrm>
            <a:off x="575733" y="2682214"/>
            <a:ext cx="11040533"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Suppose the oscillator is driven by a capacitively coupled microwave voltage. Ignoring a coupling prefactor that does not affect the main point, the control term can be written as </a:t>
            </a:r>
          </a:p>
        </p:txBody>
      </p:sp>
      <p:sp>
        <p:nvSpPr>
          <p:cNvPr id="10" name="equation"/>
          <p:cNvSpPr txBox="1"/>
          <p:nvPr/>
        </p:nvSpPr>
        <p:spPr>
          <a:xfrm>
            <a:off x="575733" y="3374893"/>
            <a:ext cx="11040533" cy="258895"/>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box>
                            <m:e>
                              <m:limUpp>
                                <m:e>
                                  <m:r>
                                    <m:rPr>
                                      <m:sty m:val="i"/>
                                    </m:rPr>
                                    <a:rPr lang="en-US" i="1" sz="1568">
                                      <a:latin typeface="Cambria Math"/>
                                    </a:rPr>
                                    <m:t>H</m:t>
                                  </m:r>
                                </m:e>
                                <m:lim>
                                  <m:r>
                                    <m:rPr>
                                      <m:sty m:val="p"/>
                                    </m:rPr>
                                    <a:rPr lang="en-US" i="0" sz="1568">
                                      <a:latin typeface="Cambria Math"/>
                                    </a:rPr>
                                    <m:t>^</m:t>
                                  </m:r>
                                </m:lim>
                              </m:limUpp>
                            </m:e>
                          </m:box>
                        </m:e>
                        <m:sub>
                          <m:r>
                            <m:rPr>
                              <m:sty m:val="i"/>
                            </m:rPr>
                            <a:rPr lang="en-US" i="1" sz="1568">
                              <a:latin typeface="Cambria Math"/>
                            </a:rPr>
                            <m:t>d</m:t>
                          </m:r>
                        </m:sub>
                      </m:sSub>
                      <m:r>
                        <m:rPr>
                          <m:sty m:val="p"/>
                        </m:rPr>
                        <a:rPr lang="en-US" i="0" sz="1568">
                          <a:latin typeface="Cambria Math"/>
                        </a:rPr>
                        <m:t>(</m:t>
                      </m:r>
                      <m:r>
                        <m:rPr>
                          <m:sty m:val="i"/>
                        </m:rPr>
                        <a:rPr lang="en-US" i="1" sz="1568">
                          <a:latin typeface="Cambria Math"/>
                        </a:rPr>
                        <m:t>t</m:t>
                      </m:r>
                      <m:r>
                        <m:rPr>
                          <m:sty m:val="p"/>
                        </m:rPr>
                        <a:rPr lang="en-US" i="0" sz="1568">
                          <a:latin typeface="Cambria Math"/>
                        </a:rPr>
                        <m:t>)</m:t>
                      </m:r>
                      <m:r>
                        <m:rPr>
                          <m:sty m:val="p"/>
                        </m:rPr>
                        <a:rPr lang="en-US" i="0" sz="1568">
                          <a:latin typeface="Cambria Math"/>
                        </a:rPr>
                        <m:t>=</m:t>
                      </m:r>
                      <m:r>
                        <m:rPr>
                          <m:sty m:val="i"/>
                        </m:rPr>
                        <a:rPr lang="en-US" i="1" sz="1568">
                          <a:latin typeface="Cambria Math"/>
                        </a:rPr>
                        <m:t>ℏ</m:t>
                      </m:r>
                      <m:r>
                        <m:rPr>
                          <m:sty m:val="i"/>
                        </m:rPr>
                        <a:rPr lang="en-US" i="1" sz="1568">
                          <a:latin typeface="Cambria Math"/>
                        </a:rPr>
                        <m:t>ϵ</m:t>
                      </m:r>
                      <m:r>
                        <m:rPr>
                          <m:sty m:val="p"/>
                        </m:rPr>
                        <a:rPr lang="en-US" i="0" sz="1568">
                          <a:latin typeface="Cambria Math"/>
                        </a:rPr>
                        <m:t>(</m:t>
                      </m:r>
                      <m:r>
                        <m:rPr>
                          <m:sty m:val="i"/>
                        </m:rPr>
                        <a:rPr lang="en-US" i="1" sz="1568">
                          <a:latin typeface="Cambria Math"/>
                        </a:rPr>
                        <m:t>t</m:t>
                      </m:r>
                      <m:r>
                        <m:rPr>
                          <m:sty m:val="p"/>
                        </m:rPr>
                        <a:rPr lang="en-US" i="0" sz="1568">
                          <a:latin typeface="Cambria Math"/>
                        </a:rPr>
                        <m:t>)</m:t>
                      </m:r>
                      <m:r>
                        <m:rPr>
                          <m:sty m:val="p"/>
                        </m:rPr>
                        <a:rPr lang="en-US" i="0" sz="1568">
                          <a:latin typeface="Cambria Math"/>
                        </a:rPr>
                        <m:t>(</m:t>
                      </m:r>
                      <m:box>
                        <m:e>
                          <m:limUpp>
                            <m:e>
                              <m:r>
                                <m:rPr>
                                  <m:sty m:val="i"/>
                                </m:rPr>
                                <a:rPr lang="en-US" i="1" sz="1568">
                                  <a:latin typeface="Cambria Math"/>
                                </a:rPr>
                                <m:t>a</m:t>
                              </m:r>
                            </m:e>
                            <m:lim>
                              <m:r>
                                <m:rPr>
                                  <m:sty m:val="p"/>
                                </m:rPr>
                                <a:rPr lang="en-US" i="0" sz="1568">
                                  <a:latin typeface="Cambria Math"/>
                                </a:rPr>
                                <m:t>^</m:t>
                              </m:r>
                            </m:lim>
                          </m:limUpp>
                        </m:e>
                      </m:box>
                      <m:r>
                        <m:rPr>
                          <m:sty m:val="p"/>
                        </m:rPr>
                        <a:rPr lang="en-US" i="0" sz="1568">
                          <a:latin typeface="Cambria Math"/>
                        </a:rPr>
                        <m:t>+</m:t>
                      </m:r>
                      <m:sSup>
                        <m:e>
                          <m:box>
                            <m:e>
                              <m:limUpp>
                                <m:e>
                                  <m:r>
                                    <m:rPr>
                                      <m:sty m:val="i"/>
                                    </m:rPr>
                                    <a:rPr lang="en-US" i="1" sz="1568">
                                      <a:latin typeface="Cambria Math"/>
                                    </a:rPr>
                                    <m:t>a</m:t>
                                  </m:r>
                                </m:e>
                                <m:lim>
                                  <m:r>
                                    <m:rPr>
                                      <m:sty m:val="p"/>
                                    </m:rPr>
                                    <a:rPr lang="en-US" i="0" sz="1568">
                                      <a:latin typeface="Cambria Math"/>
                                    </a:rPr>
                                    <m:t>^</m:t>
                                  </m:r>
                                </m:lim>
                              </m:limUpp>
                            </m:e>
                          </m:box>
                        </m:e>
                        <m:sup>
                          <m:r>
                            <m:rPr>
                              <m:sty m:val="p"/>
                            </m:rPr>
                            <a:rPr lang="en-US" i="0" sz="1568">
                              <a:latin typeface="Cambria Math"/>
                            </a:rPr>
                            <m:t>†</m:t>
                          </m:r>
                        </m:sup>
                      </m:sSup>
                      <m:r>
                        <m:rPr>
                          <m:sty m:val="p"/>
                        </m:rPr>
                        <a:rPr lang="en-US" i="0" sz="1568">
                          <a:latin typeface="Cambria Math"/>
                        </a:rPr>
                        <m:t>)</m:t>
                      </m:r>
                      <m:r>
                        <m:rPr>
                          <m:sty m:val="p"/>
                        </m:rPr>
                        <a:rPr lang="en-US" i="0" sz="1568">
                          <a:latin typeface="Cambria Math"/>
                        </a:rPr>
                        <m:t>.</m:t>
                      </m:r>
                    </m:oMath>
                  </m:oMathPara>
                </a14:m>
              </mc:Choice>
              <mc:Fallback>
                <a:r>
                  <a:rPr lang="en-US" sz="1567" i="1"/>
                  <a:t>
                    \hat H_d(t)
                    =\hbar\epsilon(t)(\hat a+\hat a^\dagger).
                    </a:t>
                </a:r>
              </mc:Fallback>
            </mc:AlternateContent>
          </a:p>
        </p:txBody>
      </p:sp>
      <p:sp>
        <p:nvSpPr>
          <p:cNvPr id="11" name="TextBox 10"/>
          <p:cNvSpPr txBox="1"/>
          <p:nvPr/>
        </p:nvSpPr>
        <p:spPr>
          <a:xfrm>
            <a:off x="575733" y="3786187"/>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 The matrix element between adjacent levels is </a:t>
            </a:r>
          </a:p>
        </p:txBody>
      </p:sp>
      <p:sp>
        <p:nvSpPr>
          <p:cNvPr id="12" name="Rectangle 11"/>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4" name="TextBox 13"/>
          <p:cNvSpPr txBox="1"/>
          <p:nvPr/>
        </p:nvSpPr>
        <p:spPr>
          <a:xfrm>
            <a:off x="11257889" y="6565900"/>
            <a:ext cx="443045"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61 / 100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equation"/>
          <p:cNvSpPr txBox="1"/>
          <p:nvPr/>
        </p:nvSpPr>
        <p:spPr>
          <a:xfrm>
            <a:off x="575733" y="1016000"/>
            <a:ext cx="11040533" cy="240639"/>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568">
                          <a:latin typeface="Cambria Math"/>
                        </a:rPr>
                        <m:t>⟨</m:t>
                      </m:r>
                      <m:r>
                        <m:rPr>
                          <m:sty m:val="i"/>
                        </m:rPr>
                        <a:rPr lang="en-US" i="1" sz="1568">
                          <a:latin typeface="Cambria Math"/>
                        </a:rPr>
                        <m:t>m</m:t>
                      </m:r>
                      <m:r>
                        <m:rPr>
                          <m:sty m:val="p"/>
                        </m:rPr>
                        <a:rPr lang="en-US" i="0" sz="1568">
                          <a:latin typeface="Cambria Math"/>
                        </a:rPr>
                        <m:t>+</m:t>
                      </m:r>
                      <m:r>
                        <m:rPr>
                          <m:sty m:val="p"/>
                        </m:rPr>
                        <a:rPr lang="en-US" i="0" sz="1568">
                          <a:latin typeface="Cambria Math"/>
                        </a:rPr>
                        <m:t>1</m:t>
                      </m:r>
                      <m:r>
                        <m:rPr>
                          <m:sty m:val="p"/>
                        </m:rPr>
                        <a:rPr lang="en-US" i="0" sz="1568">
                          <a:latin typeface="Cambria Math"/>
                        </a:rPr>
                        <m:t>|</m:t>
                      </m:r>
                      <m:box>
                        <m:e>
                          <m:limUpp>
                            <m:e>
                              <m:r>
                                <m:rPr>
                                  <m:sty m:val="i"/>
                                </m:rPr>
                                <a:rPr lang="en-US" i="1" sz="1568">
                                  <a:latin typeface="Cambria Math"/>
                                </a:rPr>
                                <m:t>a</m:t>
                              </m:r>
                            </m:e>
                            <m:lim>
                              <m:r>
                                <m:rPr>
                                  <m:sty m:val="p"/>
                                </m:rPr>
                                <a:rPr lang="en-US" i="0" sz="1568">
                                  <a:latin typeface="Cambria Math"/>
                                </a:rPr>
                                <m:t>^</m:t>
                              </m:r>
                            </m:lim>
                          </m:limUpp>
                        </m:e>
                      </m:box>
                      <m:r>
                        <m:rPr>
                          <m:sty m:val="p"/>
                        </m:rPr>
                        <a:rPr lang="en-US" i="0" sz="1568">
                          <a:latin typeface="Cambria Math"/>
                        </a:rPr>
                        <m:t>+</m:t>
                      </m:r>
                      <m:sSup>
                        <m:e>
                          <m:box>
                            <m:e>
                              <m:limUpp>
                                <m:e>
                                  <m:r>
                                    <m:rPr>
                                      <m:sty m:val="i"/>
                                    </m:rPr>
                                    <a:rPr lang="en-US" i="1" sz="1568">
                                      <a:latin typeface="Cambria Math"/>
                                    </a:rPr>
                                    <m:t>a</m:t>
                                  </m:r>
                                </m:e>
                                <m:lim>
                                  <m:r>
                                    <m:rPr>
                                      <m:sty m:val="p"/>
                                    </m:rPr>
                                    <a:rPr lang="en-US" i="0" sz="1568">
                                      <a:latin typeface="Cambria Math"/>
                                    </a:rPr>
                                    <m:t>^</m:t>
                                  </m:r>
                                </m:lim>
                              </m:limUpp>
                            </m:e>
                          </m:box>
                        </m:e>
                        <m:sup>
                          <m:r>
                            <m:rPr>
                              <m:sty m:val="p"/>
                            </m:rPr>
                            <a:rPr lang="en-US" i="0" sz="1568">
                              <a:latin typeface="Cambria Math"/>
                            </a:rPr>
                            <m:t>†</m:t>
                          </m:r>
                        </m:sup>
                      </m:sSup>
                      <m:r>
                        <m:rPr>
                          <m:sty m:val="p"/>
                        </m:rPr>
                        <a:rPr lang="en-US" i="0" sz="1568">
                          <a:latin typeface="Cambria Math"/>
                        </a:rPr>
                        <m:t>|</m:t>
                      </m:r>
                      <m:r>
                        <m:rPr>
                          <m:sty m:val="i"/>
                        </m:rPr>
                        <a:rPr lang="en-US" i="1" sz="1568">
                          <a:latin typeface="Cambria Math"/>
                        </a:rPr>
                        <m:t>m</m:t>
                      </m:r>
                      <m:r>
                        <m:rPr>
                          <m:sty m:val="p"/>
                        </m:rPr>
                        <a:rPr lang="en-US" i="0" sz="1568">
                          <a:latin typeface="Cambria Math"/>
                        </a:rPr>
                        <m:t>⟩</m:t>
                      </m:r>
                      <m:r>
                        <m:rPr>
                          <m:sty m:val="p"/>
                        </m:rPr>
                        <a:rPr lang="en-US" i="0" sz="1568">
                          <a:latin typeface="Cambria Math"/>
                        </a:rPr>
                        <m:t>=</m:t>
                      </m:r>
                      <m:rad>
                        <m:radPr>
                          <m:degHide m:val="1"/>
                        </m:radPr>
                        <m:deg/>
                        <m:e>
                          <m:box>
                            <m:e>
                              <m:r>
                                <m:rPr>
                                  <m:sty m:val="i"/>
                                </m:rPr>
                                <a:rPr lang="en-US" i="1" sz="1568">
                                  <a:latin typeface="Cambria Math"/>
                                </a:rPr>
                                <m:t>m</m:t>
                              </m:r>
                              <m:r>
                                <m:rPr>
                                  <m:sty m:val="p"/>
                                </m:rPr>
                                <a:rPr lang="en-US" i="0" sz="1568">
                                  <a:latin typeface="Cambria Math"/>
                                </a:rPr>
                                <m:t>+</m:t>
                              </m:r>
                              <m:r>
                                <m:rPr>
                                  <m:sty m:val="p"/>
                                </m:rPr>
                                <a:rPr lang="en-US" i="0" sz="1568">
                                  <a:latin typeface="Cambria Math"/>
                                </a:rPr>
                                <m:t>1</m:t>
                              </m:r>
                            </m:e>
                          </m:box>
                        </m:e>
                      </m:rad>
                      <m:r>
                        <m:rPr>
                          <m:sty m:val="p"/>
                        </m:rPr>
                        <a:rPr lang="en-US" i="0" sz="1568">
                          <a:latin typeface="Cambria Math"/>
                        </a:rPr>
                        <m:t>.</m:t>
                      </m:r>
                    </m:oMath>
                  </m:oMathPara>
                </a14:m>
              </mc:Choice>
              <mc:Fallback>
                <a:r>
                  <a:rPr lang="en-US" sz="1567" i="1"/>
                  <a:t>
                    \langle m+1|\hat a+\hat a^\dagger|m\rangle
                    =\sqrt{m+1}.
                    </a:t>
                </a:r>
              </mc:Fallback>
            </mc:AlternateContent>
          </a:p>
        </p:txBody>
      </p:sp>
      <p:sp>
        <p:nvSpPr>
          <p:cNvPr id="6" name="TextBox 5"/>
          <p:cNvSpPr txBox="1"/>
          <p:nvPr/>
        </p:nvSpPr>
        <p:spPr>
          <a:xfrm>
            <a:off x="575733" y="1409039"/>
            <a:ext cx="11040533" cy="82483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The drive initially pushes </a:t>
            </a:r>
            <mc:AlternateContent xmlns:mc="http://schemas.openxmlformats.org/markup-compatibility/2006">
              <mc:Choice xmlns:a14="http://schemas.microsoft.com/office/drawing/2010/main" Requires="a14">
                <a14:m>
                  <m:oMath xmlns:m="http://schemas.openxmlformats.org/officeDocument/2006/math">
                    <m:box>
                      <m:e>
                        <m:r>
                          <m:rPr>
                            <m:sty m:val="p"/>
                          </m:rPr>
                          <a:rPr lang="en-US" i="0" sz="1665">
                            <a:latin typeface="Cambria Math"/>
                          </a:rPr>
                          <m:t>|</m:t>
                        </m:r>
                        <m:box>
                          <m:e>
                            <m:r>
                              <m:rPr>
                                <m:sty m:val="p"/>
                              </m:rPr>
                              <a:rPr lang="en-US" i="0" sz="1665">
                                <a:latin typeface="Cambria Math"/>
                              </a:rPr>
                              <m:t>0</m:t>
                            </m:r>
                          </m:e>
                        </m:box>
                        <m:r>
                          <m:rPr>
                            <m:sty m:val="p"/>
                          </m:rPr>
                          <a:rPr lang="en-US" i="0" sz="1665">
                            <a:latin typeface="Cambria Math"/>
                          </a:rPr>
                          <m:t>⟩</m:t>
                        </m:r>
                      </m:e>
                    </m:box>
                  </m:oMath>
                </a14:m>
              </mc:Choice>
              <mc:Fallback>
                <a:r>
                  <a:rPr lang="en-US" sz="1664" i="1"/>
                  <a:t>\ket0</a:t>
                </a:r>
              </mc:Fallback>
            </mc:AlternateContent>
            <a:r>
              <a:rPr sz="1400" b="0" i="0">
                <a:solidFill>
                  <a:srgbClr val="4F4C56"/>
                </a:solidFill>
                <a:latin typeface="Montserrat"/>
                <a:ea typeface="Montserrat"/>
                <a:cs typeface="Montserrat"/>
              </a:rPr>
              <a:t> toward </a:t>
            </a:r>
            <mc:AlternateContent xmlns:mc="http://schemas.openxmlformats.org/markup-compatibility/2006">
              <mc:Choice xmlns:a14="http://schemas.microsoft.com/office/drawing/2010/main" Requires="a14">
                <a14:m>
                  <m:oMath xmlns:m="http://schemas.openxmlformats.org/officeDocument/2006/math">
                    <m:box>
                      <m:e>
                        <m:r>
                          <m:rPr>
                            <m:sty m:val="p"/>
                          </m:rPr>
                          <a:rPr lang="en-US" i="0" sz="1665">
                            <a:latin typeface="Cambria Math"/>
                          </a:rPr>
                          <m:t>|</m:t>
                        </m:r>
                        <m:box>
                          <m:e>
                            <m:r>
                              <m:rPr>
                                <m:sty m:val="p"/>
                              </m:rPr>
                              <a:rPr lang="en-US" i="0" sz="1665">
                                <a:latin typeface="Cambria Math"/>
                              </a:rPr>
                              <m:t>1</m:t>
                            </m:r>
                          </m:e>
                        </m:box>
                        <m:r>
                          <m:rPr>
                            <m:sty m:val="p"/>
                          </m:rPr>
                          <a:rPr lang="en-US" i="0" sz="1665">
                            <a:latin typeface="Cambria Math"/>
                          </a:rPr>
                          <m:t>⟩</m:t>
                        </m:r>
                      </m:e>
                    </m:box>
                  </m:oMath>
                </a14:m>
              </mc:Choice>
              <mc:Fallback>
                <a:r>
                  <a:rPr lang="en-US" sz="1664" i="1"/>
                  <a:t>\ket1</a:t>
                </a:r>
              </mc:Fallback>
            </mc:AlternateContent>
            <a:r>
              <a:rPr sz="1400" b="0" i="0">
                <a:solidFill>
                  <a:srgbClr val="4F4C56"/>
                </a:solidFill>
                <a:latin typeface="Montserrat"/>
                <a:ea typeface="Montserrat"/>
                <a:cs typeface="Montserrat"/>
              </a:rPr>
              <a:t>. Once </a:t>
            </a:r>
            <mc:AlternateContent xmlns:mc="http://schemas.openxmlformats.org/markup-compatibility/2006">
              <mc:Choice xmlns:a14="http://schemas.microsoft.com/office/drawing/2010/main" Requires="a14">
                <a14:m>
                  <m:oMath xmlns:m="http://schemas.openxmlformats.org/officeDocument/2006/math">
                    <m:box>
                      <m:e>
                        <m:r>
                          <m:rPr>
                            <m:sty m:val="p"/>
                          </m:rPr>
                          <a:rPr lang="en-US" i="0" sz="1665">
                            <a:latin typeface="Cambria Math"/>
                          </a:rPr>
                          <m:t>|</m:t>
                        </m:r>
                        <m:box>
                          <m:e>
                            <m:r>
                              <m:rPr>
                                <m:sty m:val="p"/>
                              </m:rPr>
                              <a:rPr lang="en-US" i="0" sz="1665">
                                <a:latin typeface="Cambria Math"/>
                              </a:rPr>
                              <m:t>1</m:t>
                            </m:r>
                          </m:e>
                        </m:box>
                        <m:r>
                          <m:rPr>
                            <m:sty m:val="p"/>
                          </m:rPr>
                          <a:rPr lang="en-US" i="0" sz="1665">
                            <a:latin typeface="Cambria Math"/>
                          </a:rPr>
                          <m:t>⟩</m:t>
                        </m:r>
                      </m:e>
                    </m:box>
                  </m:oMath>
                </a14:m>
              </mc:Choice>
              <mc:Fallback>
                <a:r>
                  <a:rPr lang="en-US" sz="1664" i="1"/>
                  <a:t>\ket1</a:t>
                </a:r>
              </mc:Fallback>
            </mc:AlternateContent>
            <a:r>
              <a:rPr sz="1400" b="0" i="0">
                <a:solidFill>
                  <a:srgbClr val="4F4C56"/>
                </a:solidFill>
                <a:latin typeface="Montserrat"/>
                <a:ea typeface="Montserrat"/>
                <a:cs typeface="Montserrat"/>
              </a:rPr>
              <a:t> acquires population, the same frequency also drives </a:t>
            </a:r>
            <mc:AlternateContent xmlns:mc="http://schemas.openxmlformats.org/markup-compatibility/2006">
              <mc:Choice xmlns:a14="http://schemas.microsoft.com/office/drawing/2010/main" Requires="a14">
                <a14:m>
                  <m:oMath xmlns:m="http://schemas.openxmlformats.org/officeDocument/2006/math">
                    <m:box>
                      <m:e>
                        <m:r>
                          <m:rPr>
                            <m:sty m:val="p"/>
                          </m:rPr>
                          <a:rPr lang="en-US" i="0" sz="1665">
                            <a:latin typeface="Cambria Math"/>
                          </a:rPr>
                          <m:t>|</m:t>
                        </m:r>
                        <m:box>
                          <m:e>
                            <m:r>
                              <m:rPr>
                                <m:sty m:val="p"/>
                              </m:rPr>
                              <a:rPr lang="en-US" i="0" sz="1665">
                                <a:latin typeface="Cambria Math"/>
                              </a:rPr>
                              <m:t>1</m:t>
                            </m:r>
                          </m:e>
                        </m:box>
                        <m:r>
                          <m:rPr>
                            <m:sty m:val="p"/>
                          </m:rPr>
                          <a:rPr lang="en-US" i="0" sz="1665">
                            <a:latin typeface="Cambria Math"/>
                          </a:rPr>
                          <m:t>⟩</m:t>
                        </m:r>
                      </m:e>
                    </m:box>
                    <m:r>
                      <m:rPr>
                        <m:sty m:val="p"/>
                      </m:rPr>
                      <a:rPr lang="en-US" i="0" sz="1665">
                        <a:latin typeface="Cambria Math"/>
                      </a:rPr>
                      <m:t>→</m:t>
                    </m:r>
                    <m:box>
                      <m:e>
                        <m:r>
                          <m:rPr>
                            <m:sty m:val="p"/>
                          </m:rPr>
                          <a:rPr lang="en-US" i="0" sz="1665">
                            <a:latin typeface="Cambria Math"/>
                          </a:rPr>
                          <m:t>|</m:t>
                        </m:r>
                        <m:box>
                          <m:e>
                            <m:r>
                              <m:rPr>
                                <m:sty m:val="p"/>
                              </m:rPr>
                              <a:rPr lang="en-US" i="0" sz="1665">
                                <a:latin typeface="Cambria Math"/>
                              </a:rPr>
                              <m:t>2</m:t>
                            </m:r>
                          </m:e>
                        </m:box>
                        <m:r>
                          <m:rPr>
                            <m:sty m:val="p"/>
                          </m:rPr>
                          <a:rPr lang="en-US" i="0" sz="1665">
                            <a:latin typeface="Cambria Math"/>
                          </a:rPr>
                          <m:t>⟩</m:t>
                        </m:r>
                      </m:e>
                    </m:box>
                  </m:oMath>
                </a14:m>
              </mc:Choice>
              <mc:Fallback>
                <a:r>
                  <a:rPr lang="en-US" sz="1664" i="1"/>
                  <a:t>\ket1\rightarrow\ket2</a:t>
                </a:r>
              </mc:Fallback>
            </mc:AlternateContent>
            <a:r>
              <a:rPr sz="1400" b="0" i="0">
                <a:solidFill>
                  <a:srgbClr val="4F4C56"/>
                </a:solidFill>
                <a:latin typeface="Montserrat"/>
                <a:ea typeface="Montserrat"/>
                <a:cs typeface="Montserrat"/>
              </a:rPr>
              <a:t> exactly on resonance, with a matrix element larger by a factor of </a:t>
            </a:r>
            <mc:AlternateContent xmlns:mc="http://schemas.openxmlformats.org/markup-compatibility/2006">
              <mc:Choice xmlns:a14="http://schemas.microsoft.com/office/drawing/2010/main" Requires="a14">
                <a14:m>
                  <m:oMath xmlns:m="http://schemas.openxmlformats.org/officeDocument/2006/math">
                    <m:rad>
                      <m:radPr>
                        <m:degHide m:val="1"/>
                      </m:radPr>
                      <m:deg/>
                      <m:e>
                        <m:box>
                          <m:e>
                            <m:r>
                              <m:rPr>
                                <m:sty m:val="p"/>
                              </m:rPr>
                              <a:rPr lang="en-US" i="0" sz="1665">
                                <a:latin typeface="Cambria Math"/>
                              </a:rPr>
                              <m:t>2</m:t>
                            </m:r>
                          </m:e>
                        </m:box>
                      </m:e>
                    </m:rad>
                  </m:oMath>
                </a14:m>
              </mc:Choice>
              <mc:Fallback>
                <a:r>
                  <a:rPr lang="en-US" sz="1664" i="1"/>
                  <a:t>\sqrt2</a:t>
                </a:r>
              </mc:Fallback>
            </mc:AlternateContent>
            <a:r>
              <a:rPr sz="1400" b="0" i="0">
                <a:solidFill>
                  <a:srgbClr val="4F4C56"/>
                </a:solidFill>
                <a:latin typeface="Montserrat"/>
                <a:ea typeface="Montserrat"/>
                <a:cs typeface="Montserrat"/>
              </a:rPr>
              <a:t>. The same pattern continues upward. Therefore,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box>
                      <m:e>
                        <m:r>
                          <m:rPr>
                            <m:sty m:val="p"/>
                          </m:rPr>
                          <a:rPr lang="en-US" i="0" sz="1665">
                            <a:latin typeface="Cambria Math"/>
                          </a:rPr>
                          <m:t>|</m:t>
                        </m:r>
                        <m:box>
                          <m:e>
                            <m:r>
                              <m:rPr>
                                <m:sty m:val="p"/>
                              </m:rPr>
                              <a:rPr lang="en-US" i="0" sz="1665">
                                <a:latin typeface="Cambria Math"/>
                              </a:rPr>
                              <m:t>0</m:t>
                            </m:r>
                          </m:e>
                        </m:box>
                        <m:r>
                          <m:rPr>
                            <m:sty m:val="p"/>
                          </m:rPr>
                          <a:rPr lang="en-US" i="0" sz="1665">
                            <a:latin typeface="Cambria Math"/>
                          </a:rPr>
                          <m:t>⟩</m:t>
                        </m:r>
                      </m:e>
                    </m:box>
                    <m:r>
                      <m:rPr>
                        <m:sty m:val="p"/>
                      </m:rPr>
                      <a:rPr lang="en-US" i="0" sz="1665">
                        <a:latin typeface="Cambria Math"/>
                      </a:rPr>
                      <m:t>,</m:t>
                    </m:r>
                    <m:box>
                      <m:e>
                        <m:r>
                          <m:rPr>
                            <m:sty m:val="p"/>
                          </m:rPr>
                          <a:rPr lang="en-US" i="0" sz="1665">
                            <a:latin typeface="Cambria Math"/>
                          </a:rPr>
                          <m:t>|</m:t>
                        </m:r>
                        <m:box>
                          <m:e>
                            <m:r>
                              <m:rPr>
                                <m:sty m:val="p"/>
                              </m:rPr>
                              <a:rPr lang="en-US" i="0" sz="1665">
                                <a:latin typeface="Cambria Math"/>
                              </a:rPr>
                              <m:t>1</m:t>
                            </m:r>
                          </m:e>
                        </m:box>
                        <m:r>
                          <m:rPr>
                            <m:sty m:val="p"/>
                          </m:rPr>
                          <a:rPr lang="en-US" i="0" sz="1665">
                            <a:latin typeface="Cambria Math"/>
                          </a:rPr>
                          <m:t>⟩</m:t>
                        </m:r>
                      </m:e>
                    </m:box>
                    <m:r>
                      <m:rPr>
                        <m:sty m:val="p"/>
                      </m:rPr>
                      <a:rPr lang="en-US" i="0" sz="1665">
                        <a:latin typeface="Cambria Math"/>
                      </a:rPr>
                      <m:t>}</m:t>
                    </m:r>
                  </m:oMath>
                </a14:m>
              </mc:Choice>
              <mc:Fallback>
                <a:r>
                  <a:rPr lang="en-US" sz="1664" i="1"/>
                  <a:t>\{\ket0,\ket1\}</a:t>
                </a:r>
              </mc:Fallback>
            </mc:AlternateContent>
            <a:r>
              <a:rPr sz="1400" b="0" i="0">
                <a:solidFill>
                  <a:srgbClr val="4F4C56"/>
                </a:solidFill>
                <a:latin typeface="Montserrat"/>
                <a:ea typeface="Montserrat"/>
                <a:cs typeface="Montserrat"/>
              </a:rPr>
              <a:t> is not a closed invariant subspace under this control. </a:t>
            </a:r>
          </a:p>
        </p:txBody>
      </p:sp>
      <p:sp>
        <p:nvSpPr>
          <p:cNvPr id="7" name="TextBox 6"/>
          <p:cNvSpPr txBox="1"/>
          <p:nvPr/>
        </p:nvSpPr>
        <p:spPr>
          <a:xfrm>
            <a:off x="575733" y="2411677"/>
            <a:ext cx="11040533" cy="282972"/>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A stronger statement: a linear drive creates a coherent state, not a pure </a:t>
            </a:r>
            <mc:AlternateContent xmlns:mc="http://schemas.openxmlformats.org/markup-compatibility/2006">
              <mc:Choice xmlns:a14="http://schemas.microsoft.com/office/drawing/2010/main" Requires="a14">
                <a14:m>
                  <m:oMath xmlns:m="http://schemas.openxmlformats.org/officeDocument/2006/math">
                    <m:box>
                      <m:e>
                        <m:r>
                          <m:rPr>
                            <m:sty m:val="p"/>
                          </m:rPr>
                          <a:rPr lang="en-US" i="0" sz="1982">
                            <a:latin typeface="Cambria Math"/>
                          </a:rPr>
                          <m:t>|</m:t>
                        </m:r>
                        <m:box>
                          <m:e>
                            <m:r>
                              <m:rPr>
                                <m:sty m:val="p"/>
                              </m:rPr>
                              <a:rPr lang="en-US" i="0" sz="1982">
                                <a:latin typeface="Cambria Math"/>
                              </a:rPr>
                              <m:t>1</m:t>
                            </m:r>
                          </m:e>
                        </m:box>
                        <m:r>
                          <m:rPr>
                            <m:sty m:val="p"/>
                          </m:rPr>
                          <a:rPr lang="en-US" i="0" sz="1982">
                            <a:latin typeface="Cambria Math"/>
                          </a:rPr>
                          <m:t>⟩</m:t>
                        </m:r>
                      </m:e>
                    </m:box>
                  </m:oMath>
                </a14:m>
              </mc:Choice>
              <mc:Fallback>
                <a:r>
                  <a:rPr lang="en-US" sz="1981" i="1"/>
                  <a:t>\ket1</a:t>
                </a:r>
              </mc:Fallback>
            </mc:AlternateContent>
            <a:r>
              <a:rPr sz="1670" b="0" i="0">
                <a:solidFill>
                  <a:srgbClr val="302546"/>
                </a:solidFill>
                <a:latin typeface="Montserrat"/>
                <a:ea typeface="Montserrat"/>
                <a:cs typeface="Montserrat"/>
              </a:rPr>
              <a:t> state</a:t>
            </a:r>
          </a:p>
        </p:txBody>
      </p:sp>
      <p:sp>
        <p:nvSpPr>
          <p:cNvPr id="8" name="TextBox 7"/>
          <p:cNvSpPr txBox="1"/>
          <p:nvPr/>
        </p:nvSpPr>
        <p:spPr>
          <a:xfrm>
            <a:off x="575733" y="2796249"/>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 Under the rotating-wave approximation, a driven harmonic oscillator can be written as </a:t>
            </a:r>
          </a:p>
        </p:txBody>
      </p:sp>
      <p:sp>
        <p:nvSpPr>
          <p:cNvPr id="9" name="equation"/>
          <p:cNvSpPr txBox="1"/>
          <p:nvPr/>
        </p:nvSpPr>
        <p:spPr>
          <a:xfrm>
            <a:off x="575733" y="3218789"/>
            <a:ext cx="11040533" cy="278606"/>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box>
                            <m:e>
                              <m:limUpp>
                                <m:e>
                                  <m:r>
                                    <m:rPr>
                                      <m:sty m:val="i"/>
                                    </m:rPr>
                                    <a:rPr lang="en-US" i="1" sz="1568">
                                      <a:latin typeface="Cambria Math"/>
                                    </a:rPr>
                                    <m:t>H</m:t>
                                  </m:r>
                                </m:e>
                                <m:lim>
                                  <m:r>
                                    <m:rPr>
                                      <m:sty m:val="p"/>
                                    </m:rPr>
                                    <a:rPr lang="en-US" i="0" sz="1568">
                                      <a:latin typeface="Cambria Math"/>
                                    </a:rPr>
                                    <m:t>^</m:t>
                                  </m:r>
                                </m:lim>
                              </m:limUpp>
                            </m:e>
                          </m:box>
                        </m:e>
                        <m:sub>
                          <m:box>
                            <m:e>
                              <m:r>
                                <m:rPr>
                                  <m:sty m:val="p"/>
                                </m:rPr>
                                <a:rPr lang="en-US" i="0" sz="1568">
                                  <a:latin typeface="Cambria Math"/>
                                </a:rPr>
                                <m:t>r</m:t>
                              </m:r>
                              <m:r>
                                <m:rPr>
                                  <m:sty m:val="p"/>
                                </m:rPr>
                                <a:rPr lang="en-US" i="0" sz="1568">
                                  <a:latin typeface="Cambria Math"/>
                                </a:rPr>
                                <m:t>o</m:t>
                              </m:r>
                              <m:r>
                                <m:rPr>
                                  <m:sty m:val="p"/>
                                </m:rPr>
                                <a:rPr lang="en-US" i="0" sz="1568">
                                  <a:latin typeface="Cambria Math"/>
                                </a:rPr>
                                <m:t>t</m:t>
                              </m:r>
                            </m:e>
                          </m:box>
                        </m:sub>
                      </m:sSub>
                      <m:r>
                        <m:rPr>
                          <m:sty m:val="p"/>
                        </m:rPr>
                        <a:rPr lang="en-US" i="0" sz="1568">
                          <a:latin typeface="Cambria Math"/>
                        </a:rPr>
                        <m:t>(</m:t>
                      </m:r>
                      <m:r>
                        <m:rPr>
                          <m:sty m:val="i"/>
                        </m:rPr>
                        <a:rPr lang="en-US" i="1" sz="1568">
                          <a:latin typeface="Cambria Math"/>
                        </a:rPr>
                        <m:t>t</m:t>
                      </m:r>
                      <m:r>
                        <m:rPr>
                          <m:sty m:val="p"/>
                        </m:rPr>
                        <a:rPr lang="en-US" i="0" sz="1568">
                          <a:latin typeface="Cambria Math"/>
                        </a:rPr>
                        <m:t>)</m:t>
                      </m:r>
                      <m:r>
                        <m:rPr>
                          <m:sty m:val="p"/>
                        </m:rPr>
                        <a:rPr lang="en-US" i="0" sz="1568">
                          <a:latin typeface="Cambria Math"/>
                        </a:rPr>
                        <m:t>=</m:t>
                      </m:r>
                      <m:r>
                        <m:rPr>
                          <m:sty m:val="i"/>
                        </m:rPr>
                        <a:rPr lang="en-US" i="1" sz="1568">
                          <a:latin typeface="Cambria Math"/>
                        </a:rPr>
                        <m:t>ℏ</m:t>
                      </m:r>
                      <m:d>
                        <m:dPr>
                          <m:begChr m:val="["/>
                          <m:endChr m:val="]"/>
                        </m:dPr>
                        <m:e>
                          <m:box>
                            <m:e>
                              <m:r>
                                <m:rPr>
                                  <m:sty m:val="i"/>
                                </m:rPr>
                                <a:rPr lang="en-US" i="1" sz="1568">
                                  <a:latin typeface="Cambria Math"/>
                                </a:rPr>
                                <m:t>ϵ</m:t>
                              </m:r>
                              <m:r>
                                <m:rPr>
                                  <m:sty m:val="p"/>
                                </m:rPr>
                                <a:rPr lang="en-US" i="0" sz="1568">
                                  <a:latin typeface="Cambria Math"/>
                                </a:rPr>
                                <m:t>(</m:t>
                              </m:r>
                              <m:r>
                                <m:rPr>
                                  <m:sty m:val="i"/>
                                </m:rPr>
                                <a:rPr lang="en-US" i="1" sz="1568">
                                  <a:latin typeface="Cambria Math"/>
                                </a:rPr>
                                <m:t>t</m:t>
                              </m:r>
                              <m:r>
                                <m:rPr>
                                  <m:sty m:val="p"/>
                                </m:rPr>
                                <a:rPr lang="en-US" i="0" sz="1568">
                                  <a:latin typeface="Cambria Math"/>
                                </a:rPr>
                                <m:t>)</m:t>
                              </m:r>
                              <m:sSup>
                                <m:e>
                                  <m:box>
                                    <m:e>
                                      <m:limUpp>
                                        <m:e>
                                          <m:r>
                                            <m:rPr>
                                              <m:sty m:val="i"/>
                                            </m:rPr>
                                            <a:rPr lang="en-US" i="1" sz="1568">
                                              <a:latin typeface="Cambria Math"/>
                                            </a:rPr>
                                            <m:t>a</m:t>
                                          </m:r>
                                        </m:e>
                                        <m:lim>
                                          <m:r>
                                            <m:rPr>
                                              <m:sty m:val="p"/>
                                            </m:rPr>
                                            <a:rPr lang="en-US" i="0" sz="1568">
                                              <a:latin typeface="Cambria Math"/>
                                            </a:rPr>
                                            <m:t>^</m:t>
                                          </m:r>
                                        </m:lim>
                                      </m:limUpp>
                                    </m:e>
                                  </m:box>
                                </m:e>
                                <m:sup>
                                  <m:r>
                                    <m:rPr>
                                      <m:sty m:val="p"/>
                                    </m:rPr>
                                    <a:rPr lang="en-US" i="0" sz="1568">
                                      <a:latin typeface="Cambria Math"/>
                                    </a:rPr>
                                    <m:t>†</m:t>
                                  </m:r>
                                </m:sup>
                              </m:sSup>
                              <m:r>
                                <m:rPr>
                                  <m:sty m:val="p"/>
                                </m:rPr>
                                <a:rPr lang="en-US" i="0" sz="1568">
                                  <a:latin typeface="Cambria Math"/>
                                </a:rPr>
                                <m:t>+</m:t>
                              </m:r>
                              <m:sSup>
                                <m:e>
                                  <m:r>
                                    <m:rPr>
                                      <m:sty m:val="i"/>
                                    </m:rPr>
                                    <a:rPr lang="en-US" i="1" sz="1568">
                                      <a:latin typeface="Cambria Math"/>
                                    </a:rPr>
                                    <m:t>ϵ</m:t>
                                  </m:r>
                                </m:e>
                                <m:sup>
                                  <m:r>
                                    <m:rPr>
                                      <m:sty m:val="p"/>
                                    </m:rPr>
                                    <a:rPr lang="en-US" i="0" sz="1568">
                                      <a:latin typeface="Cambria Math"/>
                                    </a:rPr>
                                    <m:t>∗</m:t>
                                  </m:r>
                                </m:sup>
                              </m:sSup>
                              <m:r>
                                <m:rPr>
                                  <m:sty m:val="p"/>
                                </m:rPr>
                                <a:rPr lang="en-US" i="0" sz="1568">
                                  <a:latin typeface="Cambria Math"/>
                                </a:rPr>
                                <m:t>(</m:t>
                              </m:r>
                              <m:r>
                                <m:rPr>
                                  <m:sty m:val="i"/>
                                </m:rPr>
                                <a:rPr lang="en-US" i="1" sz="1568">
                                  <a:latin typeface="Cambria Math"/>
                                </a:rPr>
                                <m:t>t</m:t>
                              </m:r>
                              <m:r>
                                <m:rPr>
                                  <m:sty m:val="p"/>
                                </m:rPr>
                                <a:rPr lang="en-US" i="0" sz="1568">
                                  <a:latin typeface="Cambria Math"/>
                                </a:rPr>
                                <m:t>)</m:t>
                              </m:r>
                              <m:box>
                                <m:e>
                                  <m:limUpp>
                                    <m:e>
                                      <m:r>
                                        <m:rPr>
                                          <m:sty m:val="i"/>
                                        </m:rPr>
                                        <a:rPr lang="en-US" i="1" sz="1568">
                                          <a:latin typeface="Cambria Math"/>
                                        </a:rPr>
                                        <m:t>a</m:t>
                                      </m:r>
                                    </m:e>
                                    <m:lim>
                                      <m:r>
                                        <m:rPr>
                                          <m:sty m:val="p"/>
                                        </m:rPr>
                                        <a:rPr lang="en-US" i="0" sz="1568">
                                          <a:latin typeface="Cambria Math"/>
                                        </a:rPr>
                                        <m:t>^</m:t>
                                      </m:r>
                                    </m:lim>
                                  </m:limUpp>
                                </m:e>
                              </m:box>
                            </m:e>
                          </m:box>
                        </m:e>
                      </m:d>
                      <m:r>
                        <m:rPr>
                          <m:sty m:val="p"/>
                        </m:rPr>
                        <a:rPr lang="en-US" i="0" sz="1568">
                          <a:latin typeface="Cambria Math"/>
                        </a:rPr>
                        <m:t>.</m:t>
                      </m:r>
                    </m:oMath>
                  </m:oMathPara>
                </a14:m>
              </mc:Choice>
              <mc:Fallback>
                <a:r>
                  <a:rPr lang="en-US" sz="1567" i="1"/>
                  <a:t>
                    \hat H_{\rm rot}(t)
                    =\hbar\bigl[\epsilon(t)\hat a^\dagger+\epsilon^*(t)\hat a\bigr].
                    </a:t>
                </a:r>
              </mc:Fallback>
            </mc:AlternateContent>
          </a:p>
        </p:txBody>
      </p:sp>
      <p:sp>
        <p:nvSpPr>
          <p:cNvPr id="10" name="TextBox 9"/>
          <p:cNvSpPr txBox="1"/>
          <p:nvPr/>
        </p:nvSpPr>
        <p:spPr>
          <a:xfrm>
            <a:off x="575733" y="3649795"/>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 If the initial state is the vacuum, any such linear pulse can only produce a displacement: </a:t>
            </a:r>
          </a:p>
        </p:txBody>
      </p:sp>
      <p:sp>
        <p:nvSpPr>
          <p:cNvPr id="11" name="equation"/>
          <p:cNvSpPr txBox="1"/>
          <p:nvPr/>
        </p:nvSpPr>
        <p:spPr>
          <a:xfrm>
            <a:off x="575733" y="4072334"/>
            <a:ext cx="11040533" cy="445294"/>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r>
                            <m:rPr>
                              <m:sty m:val="p"/>
                            </m:rPr>
                            <a:rPr lang="en-US" i="0" sz="1568">
                              <a:latin typeface="Cambria Math"/>
                            </a:rPr>
                            <m:t>|</m:t>
                          </m:r>
                          <m:box>
                            <m:e>
                              <m:r>
                                <m:rPr>
                                  <m:sty m:val="p"/>
                                </m:rPr>
                                <a:rPr lang="en-US" i="0" sz="1568">
                                  <a:latin typeface="Cambria Math"/>
                                </a:rPr>
                                <m:t>0</m:t>
                              </m:r>
                            </m:e>
                          </m:box>
                          <m:r>
                            <m:rPr>
                              <m:sty m:val="p"/>
                            </m:rPr>
                            <a:rPr lang="en-US" i="0" sz="1568">
                              <a:latin typeface="Cambria Math"/>
                            </a:rPr>
                            <m:t>⟩</m:t>
                          </m:r>
                        </m:e>
                      </m:box>
                      <m:r>
                        <m:rPr>
                          <m:sty m:val="p"/>
                        </m:rPr>
                        <a:rPr lang="en-US" i="0" sz="1568">
                          <a:latin typeface="Cambria Math"/>
                        </a:rPr>
                        <m:t>⟶</m:t>
                      </m:r>
                      <m:box>
                        <m:e>
                          <m:limUpp>
                            <m:e>
                              <m:r>
                                <m:rPr>
                                  <m:sty m:val="i"/>
                                </m:rPr>
                                <a:rPr lang="en-US" i="1" sz="1568">
                                  <a:latin typeface="Cambria Math"/>
                                </a:rPr>
                                <m:t>D</m:t>
                              </m:r>
                            </m:e>
                            <m:lim>
                              <m:r>
                                <m:rPr>
                                  <m:sty m:val="p"/>
                                </m:rPr>
                                <a:rPr lang="en-US" i="0" sz="1568">
                                  <a:latin typeface="Cambria Math"/>
                                </a:rPr>
                                <m:t>^</m:t>
                              </m:r>
                            </m:lim>
                          </m:limUpp>
                        </m:e>
                      </m:box>
                      <m:r>
                        <m:rPr>
                          <m:sty m:val="p"/>
                        </m:rPr>
                        <a:rPr lang="en-US" i="0" sz="1568">
                          <a:latin typeface="Cambria Math"/>
                        </a:rPr>
                        <m:t>(</m:t>
                      </m:r>
                      <m:r>
                        <m:rPr>
                          <m:sty m:val="i"/>
                        </m:rPr>
                        <a:rPr lang="en-US" i="1" sz="1568">
                          <a:latin typeface="Cambria Math"/>
                        </a:rPr>
                        <m:t>α</m:t>
                      </m:r>
                      <m:r>
                        <m:rPr>
                          <m:sty m:val="p"/>
                        </m:rPr>
                        <a:rPr lang="en-US" i="0" sz="1568">
                          <a:latin typeface="Cambria Math"/>
                        </a:rPr>
                        <m:t>)</m:t>
                      </m:r>
                      <m:box>
                        <m:e>
                          <m:r>
                            <m:rPr>
                              <m:sty m:val="p"/>
                            </m:rPr>
                            <a:rPr lang="en-US" i="0" sz="1568">
                              <a:latin typeface="Cambria Math"/>
                            </a:rPr>
                            <m:t>|</m:t>
                          </m:r>
                          <m:box>
                            <m:e>
                              <m:r>
                                <m:rPr>
                                  <m:sty m:val="p"/>
                                </m:rPr>
                                <a:rPr lang="en-US" i="0" sz="1568">
                                  <a:latin typeface="Cambria Math"/>
                                </a:rPr>
                                <m:t>0</m:t>
                              </m:r>
                            </m:e>
                          </m:box>
                          <m:r>
                            <m:rPr>
                              <m:sty m:val="p"/>
                            </m:rPr>
                            <a:rPr lang="en-US" i="0" sz="1568">
                              <a:latin typeface="Cambria Math"/>
                            </a:rPr>
                            <m:t>⟩</m:t>
                          </m:r>
                        </m:e>
                      </m:box>
                      <m:r>
                        <m:rPr>
                          <m:sty m:val="p"/>
                        </m:rPr>
                        <a:rPr lang="en-US" i="0" sz="1568">
                          <a:latin typeface="Cambria Math"/>
                        </a:rPr>
                        <m:t>=</m:t>
                      </m:r>
                      <m:box>
                        <m:e>
                          <m:r>
                            <m:rPr>
                              <m:sty m:val="p"/>
                            </m:rPr>
                            <a:rPr lang="en-US" i="0" sz="1568">
                              <a:latin typeface="Cambria Math"/>
                            </a:rPr>
                            <m:t>|</m:t>
                          </m:r>
                          <m:box>
                            <m:e>
                              <m:r>
                                <m:rPr>
                                  <m:sty m:val="i"/>
                                </m:rPr>
                                <a:rPr lang="en-US" i="1" sz="1568">
                                  <a:latin typeface="Cambria Math"/>
                                </a:rPr>
                                <m:t>α</m:t>
                              </m:r>
                            </m:e>
                          </m:box>
                          <m:r>
                            <m:rPr>
                              <m:sty m:val="p"/>
                            </m:rPr>
                            <a:rPr lang="en-US" i="0" sz="1568">
                              <a:latin typeface="Cambria Math"/>
                            </a:rPr>
                            <m:t>⟩</m:t>
                          </m:r>
                        </m:e>
                      </m:box>
                      <m:r>
                        <m:rPr>
                          <m:sty m:val="p"/>
                        </m:rPr>
                        <a:rPr lang="en-US" i="0" sz="1568">
                          <a:latin typeface="Cambria Math"/>
                        </a:rPr>
                        <m:t>,</m:t>
                      </m:r>
                      <m:box>
                        <m:e>
                          <m:r>
                            <a:rPr lang="en-US" i="1" sz="1568">
                              <a:latin typeface="Cambria Math"/>
                            </a:rPr>
                            <m:t/>
                          </m:r>
                        </m:e>
                      </m:box>
                      <m:sSub>
                        <m:e>
                          <m:r>
                            <m:rPr>
                              <m:sty m:val="i"/>
                            </m:rPr>
                            <a:rPr lang="en-US" i="1" sz="1568">
                              <a:latin typeface="Cambria Math"/>
                            </a:rPr>
                            <m:t>P</m:t>
                          </m:r>
                        </m:e>
                        <m:sub>
                          <m:r>
                            <m:rPr>
                              <m:sty m:val="i"/>
                            </m:rPr>
                            <a:rPr lang="en-US" i="1" sz="1568">
                              <a:latin typeface="Cambria Math"/>
                            </a:rPr>
                            <m:t>m</m:t>
                          </m:r>
                        </m:sub>
                      </m:sSub>
                      <m:r>
                        <m:rPr>
                          <m:sty m:val="p"/>
                        </m:rPr>
                        <a:rPr lang="en-US" i="0" sz="1568">
                          <a:latin typeface="Cambria Math"/>
                        </a:rPr>
                        <m:t>=</m:t>
                      </m:r>
                      <m:sSup>
                        <m:e>
                          <m:r>
                            <m:rPr>
                              <m:sty m:val="i"/>
                            </m:rPr>
                            <a:rPr lang="en-US" i="1" sz="1568">
                              <a:latin typeface="Cambria Math"/>
                            </a:rPr>
                            <m:t>e</m:t>
                          </m:r>
                        </m:e>
                        <m:sup>
                          <m:box>
                            <m:e>
                              <m:r>
                                <m:rPr>
                                  <m:sty m:val="p"/>
                                </m:rPr>
                                <a:rPr lang="en-US" i="0" sz="1568">
                                  <a:latin typeface="Cambria Math"/>
                                </a:rPr>
                                <m:t>−</m:t>
                              </m:r>
                              <m:r>
                                <m:rPr>
                                  <m:sty m:val="p"/>
                                </m:rPr>
                                <a:rPr lang="en-US" i="0" sz="1568">
                                  <a:latin typeface="Cambria Math"/>
                                </a:rPr>
                                <m:t>|</m:t>
                              </m:r>
                              <m:r>
                                <m:rPr>
                                  <m:sty m:val="i"/>
                                </m:rPr>
                                <a:rPr lang="en-US" i="1" sz="1568">
                                  <a:latin typeface="Cambria Math"/>
                                </a:rPr>
                                <m:t>α</m:t>
                              </m:r>
                              <m:sSup>
                                <m:e>
                                  <m:r>
                                    <m:rPr>
                                      <m:sty m:val="p"/>
                                    </m:rPr>
                                    <a:rPr lang="en-US" i="0" sz="1568">
                                      <a:latin typeface="Cambria Math"/>
                                    </a:rPr>
                                    <m:t>|</m:t>
                                  </m:r>
                                </m:e>
                                <m:sup>
                                  <m:r>
                                    <m:rPr>
                                      <m:sty m:val="p"/>
                                    </m:rPr>
                                    <a:rPr lang="en-US" i="0" sz="1568">
                                      <a:latin typeface="Cambria Math"/>
                                    </a:rPr>
                                    <m:t>2</m:t>
                                  </m:r>
                                </m:sup>
                              </m:sSup>
                            </m:e>
                          </m:box>
                        </m:sup>
                      </m:sSup>
                      <m:f>
                        <m:num>
                          <m:box>
                            <m:e>
                              <m:r>
                                <m:rPr>
                                  <m:sty m:val="p"/>
                                </m:rPr>
                                <a:rPr lang="en-US" i="0" sz="1568">
                                  <a:latin typeface="Cambria Math"/>
                                </a:rPr>
                                <m:t>|</m:t>
                              </m:r>
                              <m:r>
                                <m:rPr>
                                  <m:sty m:val="i"/>
                                </m:rPr>
                                <a:rPr lang="en-US" i="1" sz="1568">
                                  <a:latin typeface="Cambria Math"/>
                                </a:rPr>
                                <m:t>α</m:t>
                              </m:r>
                              <m:sSup>
                                <m:e>
                                  <m:r>
                                    <m:rPr>
                                      <m:sty m:val="p"/>
                                    </m:rPr>
                                    <a:rPr lang="en-US" i="0" sz="1568">
                                      <a:latin typeface="Cambria Math"/>
                                    </a:rPr>
                                    <m:t>|</m:t>
                                  </m:r>
                                </m:e>
                                <m:sup>
                                  <m:box>
                                    <m:e>
                                      <m:r>
                                        <m:rPr>
                                          <m:sty m:val="p"/>
                                        </m:rPr>
                                        <a:rPr lang="en-US" i="0" sz="1568">
                                          <a:latin typeface="Cambria Math"/>
                                        </a:rPr>
                                        <m:t>2</m:t>
                                      </m:r>
                                      <m:r>
                                        <m:rPr>
                                          <m:sty m:val="i"/>
                                        </m:rPr>
                                        <a:rPr lang="en-US" i="1" sz="1568">
                                          <a:latin typeface="Cambria Math"/>
                                        </a:rPr>
                                        <m:t>m</m:t>
                                      </m:r>
                                    </m:e>
                                  </m:box>
                                </m:sup>
                              </m:sSup>
                            </m:e>
                          </m:box>
                        </m:num>
                        <m:den>
                          <m:box>
                            <m:e>
                              <m:r>
                                <m:rPr>
                                  <m:sty m:val="i"/>
                                </m:rPr>
                                <a:rPr lang="en-US" i="1" sz="1568">
                                  <a:latin typeface="Cambria Math"/>
                                </a:rPr>
                                <m:t>m</m:t>
                              </m:r>
                              <m:r>
                                <m:rPr>
                                  <m:sty m:val="p"/>
                                </m:rPr>
                                <a:rPr lang="en-US" i="0" sz="1568">
                                  <a:latin typeface="Cambria Math"/>
                                </a:rPr>
                                <m:t>!</m:t>
                              </m:r>
                            </m:e>
                          </m:box>
                        </m:den>
                      </m:f>
                      <m:r>
                        <m:rPr>
                          <m:sty m:val="p"/>
                        </m:rPr>
                        <a:rPr lang="en-US" i="0" sz="1568">
                          <a:latin typeface="Cambria Math"/>
                        </a:rPr>
                        <m:t>.</m:t>
                      </m:r>
                    </m:oMath>
                  </m:oMathPara>
                </a14:m>
              </mc:Choice>
              <mc:Fallback>
                <a:r>
                  <a:rPr lang="en-US" sz="1567" i="1"/>
                  <a:t>
                    \ket0\longrightarrow\hat D(\alpha)\ket0=\ket\alpha,
                    \qquad
                    P_m=e^{-|\alpha|^2}\frac{|\alpha|^{2m}}{m!}.
                    </a:t>
                </a:r>
              </mc:Fallback>
            </mc:AlternateContent>
          </a:p>
        </p:txBody>
      </p:sp>
      <p:sp>
        <p:nvSpPr>
          <p:cNvPr id="12" name="Rectangle 11"/>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4" name="TextBox 13"/>
          <p:cNvSpPr txBox="1"/>
          <p:nvPr/>
        </p:nvSpPr>
        <p:spPr>
          <a:xfrm>
            <a:off x="11234341" y="6565900"/>
            <a:ext cx="466593"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62 / 100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To maximize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P</m:t>
                        </m:r>
                      </m:e>
                      <m:sub>
                        <m:r>
                          <m:rPr>
                            <m:sty m:val="p"/>
                          </m:rPr>
                          <a:rPr lang="en-US" i="0" sz="1665">
                            <a:latin typeface="Cambria Math"/>
                          </a:rPr>
                          <m:t>1</m:t>
                        </m:r>
                      </m:sub>
                    </m:sSub>
                  </m:oMath>
                </a14:m>
              </mc:Choice>
              <mc:Fallback>
                <a:r>
                  <a:rPr lang="en-US" sz="1664" i="1"/>
                  <a:t>P_1</a:t>
                </a:r>
              </mc:Fallback>
            </mc:AlternateContent>
            <a:r>
              <a:rPr sz="1400" b="0" i="0">
                <a:solidFill>
                  <a:srgbClr val="4F4C56"/>
                </a:solidFill>
                <a:latin typeface="Montserrat"/>
                <a:ea typeface="Montserrat"/>
                <a:cs typeface="Montserrat"/>
              </a:rPr>
              <a:t> one must choose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r>
                      <m:rPr>
                        <m:sty m:val="i"/>
                      </m:rPr>
                      <a:rPr lang="en-US" i="1" sz="1665">
                        <a:latin typeface="Cambria Math"/>
                      </a:rPr>
                      <m:t>α</m:t>
                    </m:r>
                    <m:sSup>
                      <m:e>
                        <m:r>
                          <m:rPr>
                            <m:sty m:val="p"/>
                          </m:rPr>
                          <a:rPr lang="en-US" i="0" sz="1665">
                            <a:latin typeface="Cambria Math"/>
                          </a:rPr>
                          <m:t>|</m:t>
                        </m:r>
                      </m:e>
                      <m:sup>
                        <m:r>
                          <m:rPr>
                            <m:sty m:val="p"/>
                          </m:rPr>
                          <a:rPr lang="en-US" i="0" sz="1665">
                            <a:latin typeface="Cambria Math"/>
                          </a:rPr>
                          <m:t>2</m:t>
                        </m:r>
                      </m:sup>
                    </m:sSup>
                    <m:r>
                      <m:rPr>
                        <m:sty m:val="p"/>
                      </m:rPr>
                      <a:rPr lang="en-US" i="0" sz="1665">
                        <a:latin typeface="Cambria Math"/>
                      </a:rPr>
                      <m:t>=</m:t>
                    </m:r>
                    <m:r>
                      <m:rPr>
                        <m:sty m:val="p"/>
                      </m:rPr>
                      <a:rPr lang="en-US" i="0" sz="1665">
                        <a:latin typeface="Cambria Math"/>
                      </a:rPr>
                      <m:t>1</m:t>
                    </m:r>
                  </m:oMath>
                </a14:m>
              </mc:Choice>
              <mc:Fallback>
                <a:r>
                  <a:rPr lang="en-US" sz="1664" i="1"/>
                  <a:t>|\alpha|^2=1</a:t>
                </a:r>
              </mc:Fallback>
            </mc:AlternateContent>
            <a:r>
              <a:rPr sz="1400" b="0" i="0">
                <a:solidFill>
                  <a:srgbClr val="4F4C56"/>
                </a:solidFill>
                <a:latin typeface="Montserrat"/>
                <a:ea typeface="Montserrat"/>
                <a:cs typeface="Montserrat"/>
              </a:rPr>
              <a:t>, but then </a:t>
            </a:r>
            <mc:AlternateContent xmlns:mc="http://schemas.openxmlformats.org/markup-compatibility/2006">
              <mc:Choice xmlns:a14="http://schemas.microsoft.com/office/drawing/2010/main" Requires="a14">
                <a14:m>
                  <m:oMath xmlns:m="http://schemas.openxmlformats.org/officeDocument/2006/math">
                    <m:sSubSup>
                      <m:e>
                        <m:r>
                          <m:rPr>
                            <m:sty m:val="i"/>
                          </m:rPr>
                          <a:rPr lang="en-US" i="1" sz="1665">
                            <a:latin typeface="Cambria Math"/>
                          </a:rPr>
                          <m:t>P</m:t>
                        </m:r>
                      </m:e>
                      <m:sub>
                        <m:r>
                          <m:rPr>
                            <m:sty m:val="p"/>
                          </m:rPr>
                          <a:rPr lang="en-US" i="0" sz="1665">
                            <a:latin typeface="Cambria Math"/>
                          </a:rPr>
                          <m:t>1</m:t>
                        </m:r>
                      </m:sub>
                      <m:sup>
                        <m:box>
                          <m:e>
                            <m:r>
                              <m:rPr>
                                <m:sty m:val="p"/>
                              </m:rPr>
                              <a:rPr lang="en-US" i="0" sz="1665">
                                <a:latin typeface="Cambria Math"/>
                              </a:rPr>
                              <m:t>m</m:t>
                            </m:r>
                            <m:r>
                              <m:rPr>
                                <m:sty m:val="p"/>
                              </m:rPr>
                              <a:rPr lang="en-US" i="0" sz="1665">
                                <a:latin typeface="Cambria Math"/>
                              </a:rPr>
                              <m:t>a</m:t>
                            </m:r>
                            <m:r>
                              <m:rPr>
                                <m:sty m:val="p"/>
                              </m:rPr>
                              <a:rPr lang="en-US" i="0" sz="1665">
                                <a:latin typeface="Cambria Math"/>
                              </a:rPr>
                              <m:t>x</m:t>
                            </m:r>
                          </m:e>
                        </m:box>
                      </m:sup>
                    </m:sSubSup>
                    <m:r>
                      <m:rPr>
                        <m:sty m:val="p"/>
                      </m:rPr>
                      <a:rPr lang="en-US" i="0" sz="1665">
                        <a:latin typeface="Cambria Math"/>
                      </a:rPr>
                      <m:t>=</m:t>
                    </m:r>
                    <m:sSup>
                      <m:e>
                        <m:r>
                          <m:rPr>
                            <m:sty m:val="i"/>
                          </m:rPr>
                          <a:rPr lang="en-US" i="1" sz="1665">
                            <a:latin typeface="Cambria Math"/>
                          </a:rPr>
                          <m:t>e</m:t>
                        </m:r>
                      </m:e>
                      <m:sup>
                        <m:box>
                          <m:e>
                            <m:r>
                              <m:rPr>
                                <m:sty m:val="p"/>
                              </m:rPr>
                              <a:rPr lang="en-US" i="0" sz="1665">
                                <a:latin typeface="Cambria Math"/>
                              </a:rPr>
                              <m:t>−</m:t>
                            </m:r>
                            <m:r>
                              <m:rPr>
                                <m:sty m:val="p"/>
                              </m:rPr>
                              <a:rPr lang="en-US" i="0" sz="1665">
                                <a:latin typeface="Cambria Math"/>
                              </a:rPr>
                              <m:t>1</m:t>
                            </m:r>
                          </m:e>
                        </m:box>
                      </m:sup>
                    </m:sSup>
                    <m:r>
                      <m:rPr>
                        <m:sty m:val="p"/>
                      </m:rPr>
                      <a:rPr lang="en-US" i="0" sz="1665">
                        <a:latin typeface="Cambria Math"/>
                      </a:rPr>
                      <m:t>≈</m:t>
                    </m:r>
                    <m:r>
                      <m:rPr>
                        <m:sty m:val="p"/>
                      </m:rPr>
                      <a:rPr lang="en-US" i="0" sz="1665">
                        <a:latin typeface="Cambria Math"/>
                      </a:rPr>
                      <m:t>0.368</m:t>
                    </m:r>
                  </m:oMath>
                </a14:m>
              </mc:Choice>
              <mc:Fallback>
                <a:r>
                  <a:rPr lang="en-US" sz="1664" i="1"/>
                  <a:t>P_1^{\rm max}=e^{-1}\approx0.368</a:t>
                </a:r>
              </mc:Fallback>
            </mc:AlternateContent>
            <a:r>
              <a:rPr sz="1400" b="0" i="0">
                <a:solidFill>
                  <a:srgbClr val="4F4C56"/>
                </a:solidFill>
                <a:latin typeface="Montserrat"/>
                <a:ea typeface="Montserrat"/>
                <a:cs typeface="Montserrat"/>
              </a:rPr>
              <a:t>, and the remaining population is still distributed over </a:t>
            </a:r>
            <mc:AlternateContent xmlns:mc="http://schemas.openxmlformats.org/markup-compatibility/2006">
              <mc:Choice xmlns:a14="http://schemas.microsoft.com/office/drawing/2010/main" Requires="a14">
                <a14:m>
                  <m:oMath xmlns:m="http://schemas.openxmlformats.org/officeDocument/2006/math">
                    <m:box>
                      <m:e>
                        <m:r>
                          <m:rPr>
                            <m:sty m:val="p"/>
                          </m:rPr>
                          <a:rPr lang="en-US" i="0" sz="1665">
                            <a:latin typeface="Cambria Math"/>
                          </a:rPr>
                          <m:t>|</m:t>
                        </m:r>
                        <m:box>
                          <m:e>
                            <m:r>
                              <m:rPr>
                                <m:sty m:val="p"/>
                              </m:rPr>
                              <a:rPr lang="en-US" i="0" sz="1665">
                                <a:latin typeface="Cambria Math"/>
                              </a:rPr>
                              <m:t>0</m:t>
                            </m:r>
                          </m:e>
                        </m:box>
                        <m:r>
                          <m:rPr>
                            <m:sty m:val="p"/>
                          </m:rPr>
                          <a:rPr lang="en-US" i="0" sz="1665">
                            <a:latin typeface="Cambria Math"/>
                          </a:rPr>
                          <m:t>⟩</m:t>
                        </m:r>
                      </m:e>
                    </m:box>
                    <m:r>
                      <m:rPr>
                        <m:sty m:val="p"/>
                      </m:rPr>
                      <a:rPr lang="en-US" i="0" sz="1665">
                        <a:latin typeface="Cambria Math"/>
                      </a:rPr>
                      <m:t>,</m:t>
                    </m:r>
                    <m:box>
                      <m:e>
                        <m:r>
                          <m:rPr>
                            <m:sty m:val="p"/>
                          </m:rPr>
                          <a:rPr lang="en-US" i="0" sz="1665">
                            <a:latin typeface="Cambria Math"/>
                          </a:rPr>
                          <m:t>|</m:t>
                        </m:r>
                        <m:box>
                          <m:e>
                            <m:r>
                              <m:rPr>
                                <m:sty m:val="p"/>
                              </m:rPr>
                              <a:rPr lang="en-US" i="0" sz="1665">
                                <a:latin typeface="Cambria Math"/>
                              </a:rPr>
                              <m:t>2</m:t>
                            </m:r>
                          </m:e>
                        </m:box>
                        <m:r>
                          <m:rPr>
                            <m:sty m:val="p"/>
                          </m:rPr>
                          <a:rPr lang="en-US" i="0" sz="1665">
                            <a:latin typeface="Cambria Math"/>
                          </a:rPr>
                          <m:t>⟩</m:t>
                        </m:r>
                      </m:e>
                    </m:box>
                    <m:r>
                      <m:rPr>
                        <m:sty m:val="p"/>
                      </m:rPr>
                      <a:rPr lang="en-US" i="0" sz="1665">
                        <a:latin typeface="Cambria Math"/>
                      </a:rPr>
                      <m:t>,</m:t>
                    </m:r>
                    <m:r>
                      <m:rPr>
                        <m:sty m:val="p"/>
                      </m:rPr>
                      <a:rPr lang="en-US" i="0" sz="1665">
                        <a:latin typeface="Cambria Math"/>
                      </a:rPr>
                      <m:t>…</m:t>
                    </m:r>
                  </m:oMath>
                </a14:m>
              </mc:Choice>
              <mc:Fallback>
                <a:r>
                  <a:rPr lang="en-US" sz="1664" i="1"/>
                  <a:t>\ket0,\ket2,\ldots</a:t>
                </a:r>
              </mc:Fallback>
            </mc:AlternateContent>
            <a:r>
              <a:rPr sz="1400" b="0" i="0">
                <a:solidFill>
                  <a:srgbClr val="4F4C56"/>
                </a:solidFill>
                <a:latin typeface="Montserrat"/>
                <a:ea typeface="Montserrat"/>
                <a:cs typeface="Montserrat"/>
              </a:rPr>
              <a:t>. In other words, applying a conventional qubit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π</m:t>
                    </m:r>
                  </m:oMath>
                </a14:m>
              </mc:Choice>
              <mc:Fallback>
                <a:r>
                  <a:rPr lang="en-US" sz="1664" i="1"/>
                  <a:t>\pi</a:t>
                </a:r>
              </mc:Fallback>
            </mc:AlternateContent>
            <a:r>
              <a:rPr sz="1400" b="0" i="0">
                <a:solidFill>
                  <a:srgbClr val="4F4C56"/>
                </a:solidFill>
                <a:latin typeface="Montserrat"/>
                <a:ea typeface="Montserrat"/>
                <a:cs typeface="Montserrat"/>
              </a:rPr>
              <a:t> pulse” to a bare harmonic oscillator cannot deterministically flip </a:t>
            </a:r>
            <mc:AlternateContent xmlns:mc="http://schemas.openxmlformats.org/markup-compatibility/2006">
              <mc:Choice xmlns:a14="http://schemas.microsoft.com/office/drawing/2010/main" Requires="a14">
                <a14:m>
                  <m:oMath xmlns:m="http://schemas.openxmlformats.org/officeDocument/2006/math">
                    <m:box>
                      <m:e>
                        <m:r>
                          <m:rPr>
                            <m:sty m:val="p"/>
                          </m:rPr>
                          <a:rPr lang="en-US" i="0" sz="1665">
                            <a:latin typeface="Cambria Math"/>
                          </a:rPr>
                          <m:t>|</m:t>
                        </m:r>
                        <m:box>
                          <m:e>
                            <m:r>
                              <m:rPr>
                                <m:sty m:val="p"/>
                              </m:rPr>
                              <a:rPr lang="en-US" i="0" sz="1665">
                                <a:latin typeface="Cambria Math"/>
                              </a:rPr>
                              <m:t>0</m:t>
                            </m:r>
                          </m:e>
                        </m:box>
                        <m:r>
                          <m:rPr>
                            <m:sty m:val="p"/>
                          </m:rPr>
                          <a:rPr lang="en-US" i="0" sz="1665">
                            <a:latin typeface="Cambria Math"/>
                          </a:rPr>
                          <m:t>⟩</m:t>
                        </m:r>
                      </m:e>
                    </m:box>
                  </m:oMath>
                </a14:m>
              </mc:Choice>
              <mc:Fallback>
                <a:r>
                  <a:rPr lang="en-US" sz="1664" i="1"/>
                  <a:t>\ket0</a:t>
                </a:r>
              </mc:Fallback>
            </mc:AlternateContent>
            <a:r>
              <a:rPr sz="1400" b="0" i="0">
                <a:solidFill>
                  <a:srgbClr val="4F4C56"/>
                </a:solidFill>
                <a:latin typeface="Montserrat"/>
                <a:ea typeface="Montserrat"/>
                <a:cs typeface="Montserrat"/>
              </a:rPr>
              <a:t> to </a:t>
            </a:r>
            <mc:AlternateContent xmlns:mc="http://schemas.openxmlformats.org/markup-compatibility/2006">
              <mc:Choice xmlns:a14="http://schemas.microsoft.com/office/drawing/2010/main" Requires="a14">
                <a14:m>
                  <m:oMath xmlns:m="http://schemas.openxmlformats.org/officeDocument/2006/math">
                    <m:box>
                      <m:e>
                        <m:r>
                          <m:rPr>
                            <m:sty m:val="p"/>
                          </m:rPr>
                          <a:rPr lang="en-US" i="0" sz="1665">
                            <a:latin typeface="Cambria Math"/>
                          </a:rPr>
                          <m:t>|</m:t>
                        </m:r>
                        <m:box>
                          <m:e>
                            <m:r>
                              <m:rPr>
                                <m:sty m:val="p"/>
                              </m:rPr>
                              <a:rPr lang="en-US" i="0" sz="1665">
                                <a:latin typeface="Cambria Math"/>
                              </a:rPr>
                              <m:t>1</m:t>
                            </m:r>
                          </m:e>
                        </m:box>
                        <m:r>
                          <m:rPr>
                            <m:sty m:val="p"/>
                          </m:rPr>
                          <a:rPr lang="en-US" i="0" sz="1665">
                            <a:latin typeface="Cambria Math"/>
                          </a:rPr>
                          <m:t>⟩</m:t>
                        </m:r>
                      </m:e>
                    </m:box>
                  </m:oMath>
                </a14:m>
              </mc:Choice>
              <mc:Fallback>
                <a:r>
                  <a:rPr lang="en-US" sz="1664" i="1"/>
                  <a:t>\ket1</a:t>
                </a:r>
              </mc:Fallback>
            </mc:AlternateContent>
            <a:r>
              <a:rPr sz="1400" b="0" i="0">
                <a:solidFill>
                  <a:srgbClr val="4F4C56"/>
                </a:solidFill>
                <a:latin typeface="Montserrat"/>
                <a:ea typeface="Montserrat"/>
                <a:cs typeface="Montserrat"/>
              </a:rPr>
              <a:t>. </a:t>
            </a:r>
          </a:p>
        </p:txBody>
      </p:sp>
      <p:sp>
        <p:nvSpPr>
          <p:cNvPr id="6" name="TextBox 5"/>
          <p:cNvSpPr txBox="1"/>
          <p:nvPr/>
        </p:nvSpPr>
        <p:spPr>
          <a:xfrm>
            <a:off x="575733" y="1851819"/>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A qubit also requires spectral addressability</a:t>
            </a:r>
          </a:p>
        </p:txBody>
      </p:sp>
      <p:sp>
        <p:nvSpPr>
          <p:cNvPr id="7" name="TextBox 6"/>
          <p:cNvSpPr txBox="1"/>
          <p:nvPr/>
        </p:nvSpPr>
        <p:spPr>
          <a:xfrm>
            <a:off x="575733" y="2228585"/>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 Define the anharmonicity </a:t>
            </a:r>
          </a:p>
        </p:txBody>
      </p:sp>
      <p:sp>
        <p:nvSpPr>
          <p:cNvPr id="8" name="equation"/>
          <p:cNvSpPr txBox="1"/>
          <p:nvPr/>
        </p:nvSpPr>
        <p:spPr>
          <a:xfrm>
            <a:off x="575733" y="2651125"/>
            <a:ext cx="11040533" cy="148828"/>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568">
                          <a:latin typeface="Cambria Math"/>
                        </a:rPr>
                        <m:t>α</m:t>
                      </m:r>
                      <m:r>
                        <m:rPr>
                          <m:sty m:val="p"/>
                        </m:rPr>
                        <a:rPr lang="en-US" i="0" sz="1568">
                          <a:latin typeface="Cambria Math"/>
                        </a:rPr>
                        <m:t>≡</m:t>
                      </m:r>
                      <m:sSub>
                        <m:e>
                          <m:r>
                            <m:rPr>
                              <m:sty m:val="i"/>
                            </m:rPr>
                            <a:rPr lang="en-US" i="1" sz="1568">
                              <a:latin typeface="Cambria Math"/>
                            </a:rPr>
                            <m:t>ω</m:t>
                          </m:r>
                        </m:e>
                        <m:sub>
                          <m:box>
                            <m:e>
                              <m:r>
                                <m:rPr>
                                  <m:sty m:val="p"/>
                                </m:rPr>
                                <a:rPr lang="en-US" i="0" sz="1568">
                                  <a:latin typeface="Cambria Math"/>
                                </a:rPr>
                                <m:t>12</m:t>
                              </m:r>
                            </m:e>
                          </m:box>
                        </m:sub>
                      </m:sSub>
                      <m:r>
                        <m:rPr>
                          <m:sty m:val="p"/>
                        </m:rPr>
                        <a:rPr lang="en-US" i="0" sz="1568">
                          <a:latin typeface="Cambria Math"/>
                        </a:rPr>
                        <m:t>−</m:t>
                      </m:r>
                      <m:sSub>
                        <m:e>
                          <m:r>
                            <m:rPr>
                              <m:sty m:val="i"/>
                            </m:rPr>
                            <a:rPr lang="en-US" i="1" sz="1568">
                              <a:latin typeface="Cambria Math"/>
                            </a:rPr>
                            <m:t>ω</m:t>
                          </m:r>
                        </m:e>
                        <m:sub>
                          <m:box>
                            <m:e>
                              <m:r>
                                <m:rPr>
                                  <m:sty m:val="p"/>
                                </m:rPr>
                                <a:rPr lang="en-US" i="0" sz="1568">
                                  <a:latin typeface="Cambria Math"/>
                                </a:rPr>
                                <m:t>01</m:t>
                              </m:r>
                            </m:e>
                          </m:box>
                        </m:sub>
                      </m:sSub>
                      <m:r>
                        <m:rPr>
                          <m:sty m:val="p"/>
                        </m:rPr>
                        <a:rPr lang="en-US" i="0" sz="1568">
                          <a:latin typeface="Cambria Math"/>
                        </a:rPr>
                        <m:t>.</m:t>
                      </m:r>
                    </m:oMath>
                  </m:oMathPara>
                </a14:m>
              </mc:Choice>
              <mc:Fallback>
                <a:r>
                  <a:rPr lang="en-US" sz="1567" i="1"/>
                  <a:t>
                    \alpha\equiv\omega_{12}-\omega_{01}.
                    </a:t>
                </a:r>
              </mc:Fallback>
            </mc:AlternateContent>
          </a:p>
        </p:txBody>
      </p:sp>
      <p:sp>
        <p:nvSpPr>
          <p:cNvPr id="9" name="TextBox 8"/>
          <p:cNvSpPr txBox="1"/>
          <p:nvPr/>
        </p:nvSpPr>
        <p:spPr>
          <a:xfrm>
            <a:off x="575733" y="2952353"/>
            <a:ext cx="11040533"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For a harmonic oscillator,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α</m:t>
                    </m:r>
                    <m:r>
                      <m:rPr>
                        <m:sty m:val="p"/>
                      </m:rPr>
                      <a:rPr lang="en-US" i="0" sz="1665">
                        <a:latin typeface="Cambria Math"/>
                      </a:rPr>
                      <m:t>=</m:t>
                    </m:r>
                    <m:r>
                      <m:rPr>
                        <m:sty m:val="p"/>
                      </m:rPr>
                      <a:rPr lang="en-US" i="0" sz="1665">
                        <a:latin typeface="Cambria Math"/>
                      </a:rPr>
                      <m:t>0</m:t>
                    </m:r>
                  </m:oMath>
                </a14:m>
              </mc:Choice>
              <mc:Fallback>
                <a:r>
                  <a:rPr lang="en-US" sz="1664" i="1"/>
                  <a:t>\alpha=0</a:t>
                </a:r>
              </mc:Fallback>
            </mc:AlternateContent>
            <a:r>
              <a:rPr sz="1400" b="0" i="0">
                <a:solidFill>
                  <a:srgbClr val="4F4C56"/>
                </a:solidFill>
                <a:latin typeface="Montserrat"/>
                <a:ea typeface="Montserrat"/>
                <a:cs typeface="Montserrat"/>
              </a:rPr>
              <a:t>. Only when nonlinearity makes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α</m:t>
                    </m:r>
                    <m:r>
                      <m:rPr>
                        <m:sty m:val="p"/>
                      </m:rPr>
                      <a:rPr lang="en-US" i="0" sz="1665">
                        <a:latin typeface="Cambria Math"/>
                      </a:rPr>
                      <m:t>≠</m:t>
                    </m:r>
                    <m:r>
                      <m:rPr>
                        <m:sty m:val="p"/>
                      </m:rPr>
                      <a:rPr lang="en-US" i="0" sz="1665">
                        <a:latin typeface="Cambria Math"/>
                      </a:rPr>
                      <m:t>0</m:t>
                    </m:r>
                  </m:oMath>
                </a14:m>
              </mc:Choice>
              <mc:Fallback>
                <a:r>
                  <a:rPr lang="en-US" sz="1664" i="1"/>
                  <a:t>\alpha\neq0</a:t>
                </a:r>
              </mc:Fallback>
            </mc:AlternateContent>
            <a:r>
              <a:rPr sz="1400" b="0" i="0">
                <a:solidFill>
                  <a:srgbClr val="4F4C56"/>
                </a:solidFill>
                <a:latin typeface="Montserrat"/>
                <a:ea typeface="Montserrat"/>
                <a:cs typeface="Montserrat"/>
              </a:rPr>
              <a:t> can the drive frequency select the computational transition through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ω</m:t>
                        </m:r>
                      </m:e>
                      <m:sub>
                        <m:box>
                          <m:e>
                            <m:r>
                              <m:rPr>
                                <m:sty m:val="p"/>
                              </m:rPr>
                              <a:rPr lang="en-US" i="0" sz="1665">
                                <a:latin typeface="Cambria Math"/>
                              </a:rPr>
                              <m:t>01</m:t>
                            </m:r>
                          </m:e>
                        </m:box>
                      </m:sub>
                    </m:sSub>
                  </m:oMath>
                </a14:m>
              </mc:Choice>
              <mc:Fallback>
                <a:r>
                  <a:rPr lang="en-US" sz="1664" i="1"/>
                  <a:t>\omega_{01}</a:t>
                </a:r>
              </mc:Fallback>
            </mc:AlternateContent>
            <a:r>
              <a:rPr sz="1400" b="0" i="0">
                <a:solidFill>
                  <a:srgbClr val="4F4C56"/>
                </a:solidFill>
                <a:latin typeface="Montserrat"/>
                <a:ea typeface="Montserrat"/>
                <a:cs typeface="Montserrat"/>
              </a:rPr>
              <a:t> while remaining off-resonant from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ω</m:t>
                        </m:r>
                      </m:e>
                      <m:sub>
                        <m:box>
                          <m:e>
                            <m:r>
                              <m:rPr>
                                <m:sty m:val="p"/>
                              </m:rPr>
                              <a:rPr lang="en-US" i="0" sz="1665">
                                <a:latin typeface="Cambria Math"/>
                              </a:rPr>
                              <m:t>12</m:t>
                            </m:r>
                          </m:e>
                        </m:box>
                      </m:sub>
                    </m:sSub>
                  </m:oMath>
                </a14:m>
              </mc:Choice>
              <mc:Fallback>
                <a:r>
                  <a:rPr lang="en-US" sz="1664" i="1"/>
                  <a:t>\omega_{12}</a:t>
                </a:r>
              </mc:Fallback>
            </mc:AlternateContent>
            <a:r>
              <a:rPr sz="1400" b="0" i="0">
                <a:solidFill>
                  <a:srgbClr val="4F4C56"/>
                </a:solidFill>
                <a:latin typeface="Montserrat"/>
                <a:ea typeface="Montserrat"/>
                <a:cs typeface="Montserrat"/>
              </a:rPr>
              <a:t>. For a simple pulse, we generally want </a:t>
            </a:r>
          </a:p>
        </p:txBody>
      </p:sp>
      <p:sp>
        <p:nvSpPr>
          <p:cNvPr id="10" name="equation"/>
          <p:cNvSpPr txBox="1"/>
          <p:nvPr/>
        </p:nvSpPr>
        <p:spPr>
          <a:xfrm>
            <a:off x="575733" y="3645032"/>
            <a:ext cx="11040533" cy="207830"/>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568">
                          <a:latin typeface="Cambria Math"/>
                        </a:rPr>
                        <m:t>|</m:t>
                      </m:r>
                      <m:r>
                        <m:rPr>
                          <m:sty m:val="i"/>
                        </m:rPr>
                        <a:rPr lang="en-US" i="1" sz="1568">
                          <a:latin typeface="Cambria Math"/>
                        </a:rPr>
                        <m:t>α</m:t>
                      </m:r>
                      <m:r>
                        <m:rPr>
                          <m:sty m:val="p"/>
                        </m:rPr>
                        <a:rPr lang="en-US" i="0" sz="1568">
                          <a:latin typeface="Cambria Math"/>
                        </a:rPr>
                        <m:t>|</m:t>
                      </m:r>
                      <m:r>
                        <m:rPr>
                          <m:sty m:val="p"/>
                        </m:rPr>
                        <a:rPr lang="en-US" i="0" sz="1568">
                          <a:latin typeface="Cambria Math"/>
                        </a:rPr>
                        <m:t>≫</m:t>
                      </m:r>
                      <m:sSub>
                        <m:e>
                          <m:r>
                            <m:rPr>
                              <m:sty m:val="p"/>
                            </m:rPr>
                            <a:rPr lang="en-US" i="0" sz="1568">
                              <a:latin typeface="Cambria Math"/>
                            </a:rPr>
                            <m:t>Ω</m:t>
                          </m:r>
                        </m:e>
                        <m:sub>
                          <m:r>
                            <m:rPr>
                              <m:sty m:val="i"/>
                            </m:rPr>
                            <a:rPr lang="en-US" i="1" sz="1568">
                              <a:latin typeface="Cambria Math"/>
                            </a:rPr>
                            <m:t>R</m:t>
                          </m:r>
                        </m:sub>
                      </m:sSub>
                      <m:r>
                        <m:rPr>
                          <m:sty m:val="p"/>
                        </m:rPr>
                        <a:rPr lang="en-US" i="0" sz="1568">
                          <a:latin typeface="Cambria Math"/>
                        </a:rPr>
                        <m:t>,</m:t>
                      </m:r>
                      <m:box>
                        <m:e>
                          <m:r>
                            <a:rPr lang="en-US" i="1" sz="1568">
                              <a:latin typeface="Cambria Math"/>
                            </a:rPr>
                            <m:t/>
                          </m:r>
                        </m:e>
                      </m:box>
                      <m:r>
                        <m:rPr>
                          <m:sty m:val="i"/>
                        </m:rPr>
                        <a:rPr lang="en-US" i="1" sz="1568">
                          <a:latin typeface="Cambria Math"/>
                        </a:rPr>
                        <m:t>κ</m:t>
                      </m:r>
                      <m:r>
                        <m:rPr>
                          <m:sty m:val="p"/>
                        </m:rPr>
                        <a:rPr lang="en-US" i="0" sz="1568">
                          <a:latin typeface="Cambria Math"/>
                        </a:rPr>
                        <m:t>,</m:t>
                      </m:r>
                      <m:box>
                        <m:e>
                          <m:r>
                            <a:rPr lang="en-US" i="1" sz="1568">
                              <a:latin typeface="Cambria Math"/>
                            </a:rPr>
                            <m:t/>
                          </m:r>
                        </m:e>
                      </m:box>
                      <m:sSub>
                        <m:e>
                          <m:r>
                            <m:rPr>
                              <m:sty m:val="i"/>
                            </m:rPr>
                            <a:rPr lang="en-US" i="1" sz="1568">
                              <a:latin typeface="Cambria Math"/>
                            </a:rPr>
                            <m:t>γ</m:t>
                          </m:r>
                        </m:e>
                        <m:sub>
                          <m:r>
                            <m:rPr>
                              <m:sty m:val="i"/>
                            </m:rPr>
                            <a:rPr lang="en-US" i="1" sz="1568">
                              <a:latin typeface="Cambria Math"/>
                            </a:rPr>
                            <m:t>ϕ</m:t>
                          </m:r>
                        </m:sub>
                      </m:sSub>
                      <m:r>
                        <m:rPr>
                          <m:sty m:val="p"/>
                        </m:rPr>
                        <a:rPr lang="en-US" i="0" sz="1568">
                          <a:latin typeface="Cambria Math"/>
                        </a:rPr>
                        <m:t>,</m:t>
                      </m:r>
                    </m:oMath>
                  </m:oMathPara>
                </a14:m>
              </mc:Choice>
              <mc:Fallback>
                <a:r>
                  <a:rPr lang="en-US" sz="1567" i="1"/>
                  <a:t>
                    |\alpha|\gg\Omega_R,\;\kappa,\;\gamma_\phi,
                    </a:t>
                </a:r>
              </mc:Fallback>
            </mc:AlternateContent>
          </a:p>
        </p:txBody>
      </p:sp>
      <p:sp>
        <p:nvSpPr>
          <p:cNvPr id="11" name="Rectangle 10"/>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3" name="TextBox 12"/>
          <p:cNvSpPr txBox="1"/>
          <p:nvPr/>
        </p:nvSpPr>
        <p:spPr>
          <a:xfrm>
            <a:off x="11234208" y="6565900"/>
            <a:ext cx="466725"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63 / 100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where </a:t>
            </a:r>
            <mc:AlternateContent xmlns:mc="http://schemas.openxmlformats.org/markup-compatibility/2006">
              <mc:Choice xmlns:a14="http://schemas.microsoft.com/office/drawing/2010/main" Requires="a14">
                <a14:m>
                  <m:oMath xmlns:m="http://schemas.openxmlformats.org/officeDocument/2006/math">
                    <m:sSub>
                      <m:e>
                        <m:r>
                          <m:rPr>
                            <m:sty m:val="p"/>
                          </m:rPr>
                          <a:rPr lang="en-US" i="0" sz="1665">
                            <a:latin typeface="Cambria Math"/>
                          </a:rPr>
                          <m:t>Ω</m:t>
                        </m:r>
                      </m:e>
                      <m:sub>
                        <m:r>
                          <m:rPr>
                            <m:sty m:val="i"/>
                          </m:rPr>
                          <a:rPr lang="en-US" i="1" sz="1665">
                            <a:latin typeface="Cambria Math"/>
                          </a:rPr>
                          <m:t>R</m:t>
                        </m:r>
                      </m:sub>
                    </m:sSub>
                  </m:oMath>
                </a14:m>
              </mc:Choice>
              <mc:Fallback>
                <a:r>
                  <a:rPr lang="en-US" sz="1664" i="1"/>
                  <a:t>\Omega_R</a:t>
                </a:r>
              </mc:Fallback>
            </mc:AlternateContent>
            <a:r>
              <a:rPr sz="1400" b="0" i="0">
                <a:solidFill>
                  <a:srgbClr val="4F4C56"/>
                </a:solidFill>
                <a:latin typeface="Montserrat"/>
                <a:ea typeface="Montserrat"/>
                <a:cs typeface="Montserrat"/>
              </a:rPr>
              <a:t> is the Rabi rate. A faster drive has a broader bandwidth, and the leakage amplitude typically increases on the scale of </a:t>
            </a:r>
            <mc:AlternateContent xmlns:mc="http://schemas.openxmlformats.org/markup-compatibility/2006">
              <mc:Choice xmlns:a14="http://schemas.microsoft.com/office/drawing/2010/main" Requires="a14">
                <a14:m>
                  <m:oMath xmlns:m="http://schemas.openxmlformats.org/officeDocument/2006/math">
                    <m:sSub>
                      <m:e>
                        <m:r>
                          <m:rPr>
                            <m:sty m:val="p"/>
                          </m:rPr>
                          <a:rPr lang="en-US" i="0" sz="1665">
                            <a:latin typeface="Cambria Math"/>
                          </a:rPr>
                          <m:t>Ω</m:t>
                        </m:r>
                      </m:e>
                      <m:sub>
                        <m:r>
                          <m:rPr>
                            <m:sty m:val="i"/>
                          </m:rPr>
                          <a:rPr lang="en-US" i="1" sz="1665">
                            <a:latin typeface="Cambria Math"/>
                          </a:rPr>
                          <m:t>R</m:t>
                        </m:r>
                      </m:sub>
                    </m:sSub>
                    <m:box>
                      <m:e>
                        <m:r>
                          <m:rPr>
                            <m:sty m:val="p"/>
                          </m:rPr>
                          <a:rPr lang="en-US" i="0" sz="1665">
                            <a:latin typeface="Cambria Math"/>
                          </a:rPr>
                          <m:t>/</m:t>
                        </m:r>
                      </m:e>
                    </m:box>
                    <m:r>
                      <m:rPr>
                        <m:sty m:val="p"/>
                      </m:rPr>
                      <a:rPr lang="en-US" i="0" sz="1665">
                        <a:latin typeface="Cambria Math"/>
                      </a:rPr>
                      <m:t>|</m:t>
                    </m:r>
                    <m:r>
                      <m:rPr>
                        <m:sty m:val="i"/>
                      </m:rPr>
                      <a:rPr lang="en-US" i="1" sz="1665">
                        <a:latin typeface="Cambria Math"/>
                      </a:rPr>
                      <m:t>α</m:t>
                    </m:r>
                    <m:r>
                      <m:rPr>
                        <m:sty m:val="p"/>
                      </m:rPr>
                      <a:rPr lang="en-US" i="0" sz="1665">
                        <a:latin typeface="Cambria Math"/>
                      </a:rPr>
                      <m:t>|</m:t>
                    </m:r>
                  </m:oMath>
                </a14:m>
              </mc:Choice>
              <mc:Fallback>
                <a:r>
                  <a:rPr lang="en-US" sz="1664" i="1"/>
                  <a:t>\Omega_R/|\alpha|</a:t>
                </a:r>
              </mc:Fallback>
            </mc:AlternateContent>
            <a:r>
              <a:rPr sz="1400" b="0" i="0">
                <a:solidFill>
                  <a:srgbClr val="4F4C56"/>
                </a:solidFill>
                <a:latin typeface="Montserrat"/>
                <a:ea typeface="Montserrat"/>
                <a:cs typeface="Montserrat"/>
              </a:rPr>
              <a:t>; a slower drive instead accumulates more decoherence. This is the speed–leakage trade-off later addressed by pulse shaping and DRAG control. </a:t>
            </a:r>
          </a:p>
        </p:txBody>
      </p:sp>
      <p:sp>
        <p:nvSpPr>
          <p:cNvPr id="6" name="TextBox 5"/>
          <p:cNvSpPr txBox="1"/>
          <p:nvPr/>
        </p:nvSpPr>
        <p:spPr>
          <a:xfrm>
            <a:off x="575733" y="1809485"/>
            <a:ext cx="11040533" cy="810419"/>
          </a:xfrm>
          <a:prstGeom prst="rect">
            <a:avLst/>
          </a:prstGeom>
          <a:noFill/>
        </p:spPr>
        <p:txBody>
          <a:bodyPr wrap="square" lIns="0" rIns="0" tIns="0" bIns="0" anchor="t">
            <a:noAutofit/>
          </a:bodyPr>
          <a:lstStyle/>
          <a:p>
            <a:pPr algn="l">
              <a:lnSpc>
                <a:spcPts val="2130"/>
              </a:lnSpc>
            </a:pPr>
            <a:r>
              <a:rPr sz="1400" b="1" i="0">
                <a:solidFill>
                  <a:srgbClr val="4F4C56"/>
                </a:solidFill>
                <a:latin typeface="Montserrat"/>
                <a:ea typeface="Montserrat"/>
                <a:cs typeface="Montserrat"/>
              </a:rPr>
              <a:t>A precise statement:</a:t>
            </a:r>
            <a:r>
              <a:rPr sz="1400" b="0" i="0">
                <a:solidFill>
                  <a:srgbClr val="4F4C56"/>
                </a:solidFill>
                <a:latin typeface="Montserrat"/>
                <a:ea typeface="Montserrat"/>
                <a:cs typeface="Montserrat"/>
              </a:rPr>
              <a:t> A harmonic oscillator is not incapable of carrying quantum information. With multiple Fock states, cat states, or another bosonic encoding, an oscillator can still serve as a logical qubit. But if only ordinary linear microwave control is allowed, a bare LC oscillator does not naturally provide an independently controllable two-lowest-level qubit. </a:t>
            </a:r>
          </a:p>
        </p:txBody>
      </p:sp>
      <p:sp>
        <p:nvSpPr>
          <p:cNvPr id="7" name="TextBox 6"/>
          <p:cNvSpPr txBox="1"/>
          <p:nvPr/>
        </p:nvSpPr>
        <p:spPr>
          <a:xfrm>
            <a:off x="575733" y="2755371"/>
            <a:ext cx="11040533" cy="540279"/>
          </a:xfrm>
          <a:prstGeom prst="rect">
            <a:avLst/>
          </a:prstGeom>
          <a:noFill/>
        </p:spPr>
        <p:txBody>
          <a:bodyPr wrap="square" lIns="0" rIns="0" tIns="0" bIns="0" anchor="t">
            <a:noAutofit/>
          </a:bodyPr>
          <a:lstStyle/>
          <a:p>
            <a:pPr algn="l">
              <a:lnSpc>
                <a:spcPts val="2130"/>
              </a:lnSpc>
            </a:pPr>
            <a:r>
              <a:rPr sz="1400" b="1" i="0">
                <a:solidFill>
                  <a:srgbClr val="4F4C56"/>
                </a:solidFill>
                <a:latin typeface="Montserrat"/>
                <a:ea typeface="Montserrat"/>
                <a:cs typeface="Montserrat"/>
              </a:rPr>
              <a:t>In-class task:</a:t>
            </a:r>
            <a:r>
              <a:rPr sz="1400" b="0" i="0">
                <a:solidFill>
                  <a:srgbClr val="4F4C56"/>
                </a:solidFill>
                <a:latin typeface="Montserrat"/>
                <a:ea typeface="Montserrat"/>
                <a:cs typeface="Montserrat"/>
              </a:rPr>
              <a:t> Draw harmonic and anharmonic spectra and mark which transitions are connected by a drive at the same frequency.</a:t>
            </a:r>
          </a:p>
        </p:txBody>
      </p:sp>
      <p:sp>
        <p:nvSpPr>
          <p:cNvPr id="8" name="TextBox 7"/>
          <p:cNvSpPr txBox="1"/>
          <p:nvPr/>
        </p:nvSpPr>
        <p:spPr>
          <a:xfrm>
            <a:off x="575733" y="3431117"/>
            <a:ext cx="11040533" cy="540279"/>
          </a:xfrm>
          <a:prstGeom prst="rect">
            <a:avLst/>
          </a:prstGeom>
          <a:noFill/>
        </p:spPr>
        <p:txBody>
          <a:bodyPr wrap="square" lIns="0" rIns="0" tIns="0" bIns="0" anchor="t">
            <a:noAutofit/>
          </a:bodyPr>
          <a:lstStyle/>
          <a:p>
            <a:pPr algn="l">
              <a:lnSpc>
                <a:spcPts val="2130"/>
              </a:lnSpc>
            </a:pPr>
            <a:r>
              <a:rPr sz="1400" b="1" i="0">
                <a:solidFill>
                  <a:srgbClr val="4F4C56"/>
                </a:solidFill>
                <a:latin typeface="Montserrat"/>
                <a:ea typeface="Montserrat"/>
                <a:cs typeface="Montserrat"/>
              </a:rPr>
              <a:t>Conclusion to Question 3:</a:t>
            </a:r>
            <a:r>
              <a:rPr sz="1400" b="0" i="0">
                <a:solidFill>
                  <a:srgbClr val="4F4C56"/>
                </a:solidFill>
                <a:latin typeface="Montserrat"/>
                <a:ea typeface="Montserrat"/>
                <a:cs typeface="Montserrat"/>
              </a:rPr>
              <a:t>“Discrete energy levels” only guarantee that the system is quantum; “unequally spaced energy levels” are what make </a:t>
            </a:r>
            <mc:AlternateContent xmlns:mc="http://schemas.openxmlformats.org/markup-compatibility/2006">
              <mc:Choice xmlns:a14="http://schemas.microsoft.com/office/drawing/2010/main" Requires="a14">
                <a14:m>
                  <m:oMath xmlns:m="http://schemas.openxmlformats.org/officeDocument/2006/math">
                    <m:box>
                      <m:e>
                        <m:r>
                          <m:rPr>
                            <m:sty m:val="p"/>
                          </m:rPr>
                          <a:rPr lang="en-US" i="0" sz="1665">
                            <a:latin typeface="Cambria Math"/>
                          </a:rPr>
                          <m:t>|</m:t>
                        </m:r>
                        <m:box>
                          <m:e>
                            <m:r>
                              <m:rPr>
                                <m:sty m:val="p"/>
                              </m:rPr>
                              <a:rPr lang="en-US" i="0" sz="1665">
                                <a:latin typeface="Cambria Math"/>
                              </a:rPr>
                              <m:t>0</m:t>
                            </m:r>
                          </m:e>
                        </m:box>
                        <m:r>
                          <m:rPr>
                            <m:sty m:val="p"/>
                          </m:rPr>
                          <a:rPr lang="en-US" i="0" sz="1665">
                            <a:latin typeface="Cambria Math"/>
                          </a:rPr>
                          <m:t>⟩</m:t>
                        </m:r>
                      </m:e>
                    </m:box>
                    <m:r>
                      <m:rPr>
                        <m:sty m:val="p"/>
                      </m:rPr>
                      <a:rPr lang="en-US" i="0" sz="1665">
                        <a:latin typeface="Cambria Math"/>
                      </a:rPr>
                      <m:t>↔</m:t>
                    </m:r>
                    <m:box>
                      <m:e>
                        <m:r>
                          <m:rPr>
                            <m:sty m:val="p"/>
                          </m:rPr>
                          <a:rPr lang="en-US" i="0" sz="1665">
                            <a:latin typeface="Cambria Math"/>
                          </a:rPr>
                          <m:t>|</m:t>
                        </m:r>
                        <m:box>
                          <m:e>
                            <m:r>
                              <m:rPr>
                                <m:sty m:val="p"/>
                              </m:rPr>
                              <a:rPr lang="en-US" i="0" sz="1665">
                                <a:latin typeface="Cambria Math"/>
                              </a:rPr>
                              <m:t>1</m:t>
                            </m:r>
                          </m:e>
                        </m:box>
                        <m:r>
                          <m:rPr>
                            <m:sty m:val="p"/>
                          </m:rPr>
                          <a:rPr lang="en-US" i="0" sz="1665">
                            <a:latin typeface="Cambria Math"/>
                          </a:rPr>
                          <m:t>⟩</m:t>
                        </m:r>
                      </m:e>
                    </m:box>
                  </m:oMath>
                </a14:m>
              </mc:Choice>
              <mc:Fallback>
                <a:r>
                  <a:rPr lang="en-US" sz="1664" i="1"/>
                  <a:t>\ket0\leftrightarrow\ket1</a:t>
                </a:r>
              </mc:Fallback>
            </mc:AlternateContent>
            <a:r>
              <a:rPr sz="1400" b="0" i="0">
                <a:solidFill>
                  <a:srgbClr val="4F4C56"/>
                </a:solidFill>
                <a:latin typeface="Montserrat"/>
                <a:ea typeface="Montserrat"/>
                <a:cs typeface="Montserrat"/>
              </a:rPr>
              <a:t> frequency-selective and suppress leakage to a controllable level. </a:t>
            </a:r>
          </a:p>
        </p:txBody>
      </p:sp>
      <p:sp>
        <p:nvSpPr>
          <p:cNvPr id="9" name="Rectangle 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1" name="TextBox 10"/>
          <p:cNvSpPr txBox="1"/>
          <p:nvPr/>
        </p:nvSpPr>
        <p:spPr>
          <a:xfrm>
            <a:off x="11222699" y="6565900"/>
            <a:ext cx="478234"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64 / 100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equation"/>
          <p:cNvSpPr txBox="1"/>
          <p:nvPr/>
        </p:nvSpPr>
        <p:spPr>
          <a:xfrm>
            <a:off x="575733" y="1016000"/>
            <a:ext cx="11040533" cy="466593"/>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568">
                              <a:latin typeface="Cambria Math"/>
                            </a:rPr>
                            <m:t>E</m:t>
                          </m:r>
                        </m:e>
                        <m:sub>
                          <m:r>
                            <m:rPr>
                              <m:sty m:val="i"/>
                            </m:rPr>
                            <a:rPr lang="en-US" i="1" sz="1568">
                              <a:latin typeface="Cambria Math"/>
                            </a:rPr>
                            <m:t>C</m:t>
                          </m:r>
                        </m:sub>
                      </m:sSub>
                      <m:r>
                        <m:rPr>
                          <m:sty m:val="p"/>
                        </m:rPr>
                        <a:rPr lang="en-US" i="0" sz="1568">
                          <a:latin typeface="Cambria Math"/>
                        </a:rPr>
                        <m:t>≡</m:t>
                      </m:r>
                      <m:f>
                        <m:num>
                          <m:sSup>
                            <m:e>
                              <m:r>
                                <m:rPr>
                                  <m:sty m:val="i"/>
                                </m:rPr>
                                <a:rPr lang="en-US" i="1" sz="1568">
                                  <a:latin typeface="Cambria Math"/>
                                </a:rPr>
                                <m:t>e</m:t>
                              </m:r>
                            </m:e>
                            <m:sup>
                              <m:r>
                                <m:rPr>
                                  <m:sty m:val="p"/>
                                </m:rPr>
                                <a:rPr lang="en-US" i="0" sz="1568">
                                  <a:latin typeface="Cambria Math"/>
                                </a:rPr>
                                <m:t>2</m:t>
                              </m:r>
                            </m:sup>
                          </m:sSup>
                        </m:num>
                        <m:den>
                          <m:box>
                            <m:e>
                              <m:r>
                                <m:rPr>
                                  <m:sty m:val="p"/>
                                </m:rPr>
                                <a:rPr lang="en-US" i="0" sz="1568">
                                  <a:latin typeface="Cambria Math"/>
                                </a:rPr>
                                <m:t>2</m:t>
                              </m:r>
                              <m:sSub>
                                <m:e>
                                  <m:r>
                                    <m:rPr>
                                      <m:sty m:val="i"/>
                                    </m:rPr>
                                    <a:rPr lang="en-US" i="1" sz="1568">
                                      <a:latin typeface="Cambria Math"/>
                                    </a:rPr>
                                    <m:t>C</m:t>
                                  </m:r>
                                </m:e>
                                <m:sub>
                                  <m:r>
                                    <m:rPr>
                                      <m:sty m:val="p"/>
                                    </m:rPr>
                                    <a:rPr lang="en-US" i="0" sz="1568">
                                      <a:latin typeface="Cambria Math"/>
                                    </a:rPr>
                                    <m:t>Σ</m:t>
                                  </m:r>
                                </m:sub>
                              </m:sSub>
                            </m:e>
                          </m:box>
                        </m:den>
                      </m:f>
                      <m:r>
                        <m:rPr>
                          <m:sty m:val="p"/>
                        </m:rPr>
                        <a:rPr lang="en-US" i="0" sz="1568">
                          <a:latin typeface="Cambria Math"/>
                        </a:rPr>
                        <m:t>.</m:t>
                      </m:r>
                    </m:oMath>
                  </m:oMathPara>
                </a14:m>
              </mc:Choice>
              <mc:Fallback>
                <a:r>
                  <a:rPr lang="en-US" sz="1567" i="1"/>
                  <a:t>
                    E_C\equiv\frac{e^2}{2C_\Sigma}.
                    </a:t>
                </a:r>
              </mc:Fallback>
            </mc:AlternateContent>
          </a:p>
        </p:txBody>
      </p:sp>
      <p:sp>
        <p:nvSpPr>
          <p:cNvPr id="6" name="TextBox 5"/>
          <p:cNvSpPr txBox="1"/>
          <p:nvPr/>
        </p:nvSpPr>
        <p:spPr>
          <a:xfrm>
            <a:off x="575733" y="1634993"/>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 The Hamiltonian becomes </a:t>
            </a:r>
          </a:p>
        </p:txBody>
      </p:sp>
      <p:sp>
        <p:nvSpPr>
          <p:cNvPr id="7" name="equation"/>
          <p:cNvSpPr txBox="1"/>
          <p:nvPr/>
        </p:nvSpPr>
        <p:spPr>
          <a:xfrm>
            <a:off x="575733" y="2057532"/>
            <a:ext cx="11040533" cy="267758"/>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limUpp>
                            <m:e>
                              <m:r>
                                <m:rPr>
                                  <m:sty m:val="i"/>
                                </m:rPr>
                                <a:rPr lang="en-US" i="1" sz="1568">
                                  <a:latin typeface="Cambria Math"/>
                                </a:rPr>
                                <m:t>H</m:t>
                              </m:r>
                            </m:e>
                            <m:lim>
                              <m:r>
                                <m:rPr>
                                  <m:sty m:val="p"/>
                                </m:rPr>
                                <a:rPr lang="en-US" i="0" sz="1568">
                                  <a:latin typeface="Cambria Math"/>
                                </a:rPr>
                                <m:t>^</m:t>
                              </m:r>
                            </m:lim>
                          </m:limUpp>
                        </m:e>
                      </m:box>
                      <m:r>
                        <m:rPr>
                          <m:sty m:val="p"/>
                        </m:rPr>
                        <a:rPr lang="en-US" i="0" sz="1568">
                          <a:latin typeface="Cambria Math"/>
                        </a:rPr>
                        <m:t>=</m:t>
                      </m:r>
                      <m:r>
                        <m:rPr>
                          <m:sty m:val="p"/>
                        </m:rPr>
                        <a:rPr lang="en-US" i="0" sz="1568">
                          <a:latin typeface="Cambria Math"/>
                        </a:rPr>
                        <m:t>4</m:t>
                      </m:r>
                      <m:sSub>
                        <m:e>
                          <m:r>
                            <m:rPr>
                              <m:sty m:val="i"/>
                            </m:rPr>
                            <a:rPr lang="en-US" i="1" sz="1568">
                              <a:latin typeface="Cambria Math"/>
                            </a:rPr>
                            <m:t>E</m:t>
                          </m:r>
                        </m:e>
                        <m:sub>
                          <m:r>
                            <m:rPr>
                              <m:sty m:val="i"/>
                            </m:rPr>
                            <a:rPr lang="en-US" i="1" sz="1568">
                              <a:latin typeface="Cambria Math"/>
                            </a:rPr>
                            <m:t>C</m:t>
                          </m:r>
                        </m:sub>
                      </m:sSub>
                      <m:r>
                        <m:rPr>
                          <m:sty m:val="p"/>
                        </m:rPr>
                        <a:rPr lang="en-US" i="0" sz="1568">
                          <a:latin typeface="Cambria Math"/>
                        </a:rPr>
                        <m:t>(</m:t>
                      </m:r>
                      <m:box>
                        <m:e>
                          <m:limUpp>
                            <m:e>
                              <m:r>
                                <m:rPr>
                                  <m:sty m:val="i"/>
                                </m:rPr>
                                <a:rPr lang="en-US" i="1" sz="1568">
                                  <a:latin typeface="Cambria Math"/>
                                </a:rPr>
                                <m:t>n</m:t>
                              </m:r>
                            </m:e>
                            <m:lim>
                              <m:r>
                                <m:rPr>
                                  <m:sty m:val="p"/>
                                </m:rPr>
                                <a:rPr lang="en-US" i="0" sz="1568">
                                  <a:latin typeface="Cambria Math"/>
                                </a:rPr>
                                <m:t>^</m:t>
                              </m:r>
                            </m:lim>
                          </m:limUpp>
                        </m:e>
                      </m:box>
                      <m:r>
                        <m:rPr>
                          <m:sty m:val="p"/>
                        </m:rPr>
                        <a:rPr lang="en-US" i="0" sz="1568">
                          <a:latin typeface="Cambria Math"/>
                        </a:rPr>
                        <m:t>−</m:t>
                      </m:r>
                      <m:sSub>
                        <m:e>
                          <m:r>
                            <m:rPr>
                              <m:sty m:val="i"/>
                            </m:rPr>
                            <a:rPr lang="en-US" i="1" sz="1568">
                              <a:latin typeface="Cambria Math"/>
                            </a:rPr>
                            <m:t>n</m:t>
                          </m:r>
                        </m:e>
                        <m:sub>
                          <m:r>
                            <m:rPr>
                              <m:sty m:val="i"/>
                            </m:rPr>
                            <a:rPr lang="en-US" i="1" sz="1568">
                              <a:latin typeface="Cambria Math"/>
                            </a:rPr>
                            <m:t>g</m:t>
                          </m:r>
                        </m:sub>
                      </m:sSub>
                      <m:sSup>
                        <m:e>
                          <m:r>
                            <m:rPr>
                              <m:sty m:val="p"/>
                            </m:rPr>
                            <a:rPr lang="en-US" i="0" sz="1568">
                              <a:latin typeface="Cambria Math"/>
                            </a:rPr>
                            <m:t>)</m:t>
                          </m:r>
                        </m:e>
                        <m:sup>
                          <m:r>
                            <m:rPr>
                              <m:sty m:val="p"/>
                            </m:rPr>
                            <a:rPr lang="en-US" i="0" sz="1568">
                              <a:latin typeface="Cambria Math"/>
                            </a:rPr>
                            <m:t>2</m:t>
                          </m:r>
                        </m:sup>
                      </m:sSup>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J</m:t>
                          </m:r>
                        </m:sub>
                      </m:sSub>
                      <m:r>
                        <m:rPr>
                          <m:sty m:val="p"/>
                        </m:rPr>
                        <a:rPr lang="en-US" i="0" sz="1568">
                          <a:latin typeface="Cambria Math"/>
                        </a:rPr>
                        <m:t>cos</m:t>
                      </m:r>
                      <m:r>
                        <m:rPr>
                          <m:sty m:val="p"/>
                        </m:rPr>
                        <a:rPr lang="en-US" i="0" sz="1568">
                          <a:latin typeface="Cambria Math"/>
                        </a:rPr>
                        <m:t/>
                      </m:r>
                      <m:box>
                        <m:e>
                          <m:limUpp>
                            <m:e>
                              <m:r>
                                <m:rPr>
                                  <m:sty m:val="i"/>
                                </m:rPr>
                                <a:rPr lang="en-US" i="1" sz="1568">
                                  <a:latin typeface="Cambria Math"/>
                                </a:rPr>
                                <m:t>φ</m:t>
                              </m:r>
                            </m:e>
                            <m:lim>
                              <m:r>
                                <m:rPr>
                                  <m:sty m:val="p"/>
                                </m:rPr>
                                <a:rPr lang="en-US" i="0" sz="1568">
                                  <a:latin typeface="Cambria Math"/>
                                </a:rPr>
                                <m:t>^</m:t>
                              </m:r>
                            </m:lim>
                          </m:limUpp>
                        </m:e>
                      </m:box>
                      <m:r>
                        <m:rPr>
                          <m:sty m:val="p"/>
                        </m:rPr>
                        <a:rPr lang="en-US" i="0" sz="1568">
                          <a:latin typeface="Cambria Math"/>
                        </a:rPr>
                        <m:t>.</m:t>
                      </m:r>
                    </m:oMath>
                  </m:oMathPara>
                </a14:m>
              </mc:Choice>
              <mc:Fallback>
                <a:r>
                  <a:rPr lang="en-US" sz="1567" i="1"/>
                  <a:t>
                    \hat H
                    =4E_C(\hat n-n_g)^2-E_J\cos\hat\varphi.
                    </a:t>
                </a:r>
              </mc:Fallback>
            </mc:AlternateContent>
          </a:p>
        </p:txBody>
      </p:sp>
      <p:sp>
        <p:nvSpPr>
          <p:cNvPr id="8" name="TextBox 7"/>
          <p:cNvSpPr txBox="1"/>
          <p:nvPr/>
        </p:nvSpPr>
        <p:spPr>
          <a:xfrm>
            <a:off x="575733" y="2477691"/>
            <a:ext cx="11040533"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In the “quantum particle” picture,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φ</m:t>
                    </m:r>
                  </m:oMath>
                </a14:m>
              </mc:Choice>
              <mc:Fallback>
                <a:r>
                  <a:rPr lang="en-US" sz="1664" i="1"/>
                  <a:t>\varphi</a:t>
                </a:r>
              </mc:Fallback>
            </mc:AlternateContent>
            <a:r>
              <a:rPr sz="1400" b="0" i="0">
                <a:solidFill>
                  <a:srgbClr val="4F4C56"/>
                </a:solidFill>
                <a:latin typeface="Montserrat"/>
                <a:ea typeface="Montserrat"/>
                <a:cs typeface="Montserrat"/>
              </a:rPr>
              <a:t> is position and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n</m:t>
                    </m:r>
                  </m:oMath>
                </a14:m>
              </mc:Choice>
              <mc:Fallback>
                <a:r>
                  <a:rPr lang="en-US" sz="1664" i="1"/>
                  <a:t>n</a:t>
                </a:r>
              </mc:Fallback>
            </mc:AlternateContent>
            <a:r>
              <a:rPr sz="1400" b="0" i="0">
                <a:solidFill>
                  <a:srgbClr val="4F4C56"/>
                </a:solidFill>
                <a:latin typeface="Montserrat"/>
                <a:ea typeface="Montserrat"/>
                <a:cs typeface="Montserrat"/>
              </a:rPr>
              <a:t> is momentum;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C</m:t>
                        </m:r>
                      </m:sub>
                    </m:sSub>
                  </m:oMath>
                </a14:m>
              </mc:Choice>
              <mc:Fallback>
                <a:r>
                  <a:rPr lang="en-US" sz="1664" i="1"/>
                  <a:t>E_C</a:t>
                </a:r>
              </mc:Fallback>
            </mc:AlternateContent>
            <a:r>
              <a:rPr sz="1400" b="0" i="0">
                <a:solidFill>
                  <a:srgbClr val="4F4C56"/>
                </a:solidFill>
                <a:latin typeface="Montserrat"/>
                <a:ea typeface="Montserrat"/>
                <a:cs typeface="Montserrat"/>
              </a:rPr>
              <a:t> sets the kinetic-energy scale, while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J</m:t>
                        </m:r>
                      </m:sub>
                    </m:sSub>
                  </m:oMath>
                </a14:m>
              </mc:Choice>
              <mc:Fallback>
                <a:r>
                  <a:rPr lang="en-US" sz="1664" i="1"/>
                  <a:t>E_J</a:t>
                </a:r>
              </mc:Fallback>
            </mc:AlternateContent>
            <a:r>
              <a:rPr sz="1400" b="0" i="0">
                <a:solidFill>
                  <a:srgbClr val="4F4C56"/>
                </a:solidFill>
                <a:latin typeface="Montserrat"/>
                <a:ea typeface="Montserrat"/>
                <a:cs typeface="Montserrat"/>
              </a:rPr>
              <a:t> sets the depth of the periodic potential. Changing the junction critical current changes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J</m:t>
                        </m:r>
                      </m:sub>
                    </m:sSub>
                  </m:oMath>
                </a14:m>
              </mc:Choice>
              <mc:Fallback>
                <a:r>
                  <a:rPr lang="en-US" sz="1664" i="1"/>
                  <a:t>E_J</a:t>
                </a:r>
              </mc:Fallback>
            </mc:AlternateContent>
            <a:r>
              <a:rPr sz="1400" b="0" i="0">
                <a:solidFill>
                  <a:srgbClr val="4F4C56"/>
                </a:solidFill>
                <a:latin typeface="Montserrat"/>
                <a:ea typeface="Montserrat"/>
                <a:cs typeface="Montserrat"/>
              </a:rPr>
              <a:t>, and changing the shunt capacitance changes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C</m:t>
                        </m:r>
                      </m:sub>
                    </m:sSub>
                  </m:oMath>
                </a14:m>
              </mc:Choice>
              <mc:Fallback>
                <a:r>
                  <a:rPr lang="en-US" sz="1664" i="1"/>
                  <a:t>E_C</a:t>
                </a:r>
              </mc:Fallback>
            </mc:AlternateContent>
            <a:r>
              <a:rPr sz="1400" b="0" i="0">
                <a:solidFill>
                  <a:srgbClr val="4F4C56"/>
                </a:solidFill>
                <a:latin typeface="Montserrat"/>
                <a:ea typeface="Montserrat"/>
                <a:cs typeface="Montserrat"/>
              </a:rPr>
              <a:t>. The “mass, confinement strength, and spectrum” of this artificial atom can therefore all be designed through its circuit. </a:t>
            </a:r>
          </a:p>
        </p:txBody>
      </p:sp>
      <p:sp>
        <p:nvSpPr>
          <p:cNvPr id="9" name="TextBox 8"/>
          <p:cNvSpPr txBox="1"/>
          <p:nvPr/>
        </p:nvSpPr>
        <p:spPr>
          <a:xfrm>
            <a:off x="575733" y="3465909"/>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Higher-order terms of the cosine break equal spacing</a:t>
            </a:r>
          </a:p>
        </p:txBody>
      </p:sp>
      <p:sp>
        <p:nvSpPr>
          <p:cNvPr id="10" name="TextBox 9"/>
          <p:cNvSpPr txBox="1"/>
          <p:nvPr/>
        </p:nvSpPr>
        <p:spPr>
          <a:xfrm>
            <a:off x="575733" y="3842676"/>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 In the linearized approximation, retain only the quadratic term near a potential minimum: </a:t>
            </a:r>
          </a:p>
        </p:txBody>
      </p:sp>
      <p:sp>
        <p:nvSpPr>
          <p:cNvPr id="11" name="equation"/>
          <p:cNvSpPr txBox="1"/>
          <p:nvPr/>
        </p:nvSpPr>
        <p:spPr>
          <a:xfrm>
            <a:off x="575733" y="4265216"/>
            <a:ext cx="11040533" cy="410633"/>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J</m:t>
                          </m:r>
                        </m:sub>
                      </m:sSub>
                      <m:r>
                        <m:rPr>
                          <m:sty m:val="p"/>
                        </m:rPr>
                        <a:rPr lang="en-US" i="0" sz="1568">
                          <a:latin typeface="Cambria Math"/>
                        </a:rPr>
                        <m:t>cos</m:t>
                      </m:r>
                      <m:r>
                        <m:rPr>
                          <m:sty m:val="p"/>
                        </m:rPr>
                        <a:rPr lang="en-US" i="0" sz="1568">
                          <a:latin typeface="Cambria Math"/>
                        </a:rPr>
                        <m:t/>
                      </m:r>
                      <m:r>
                        <m:rPr>
                          <m:sty m:val="i"/>
                        </m:rPr>
                        <a:rPr lang="en-US" i="1" sz="1568">
                          <a:latin typeface="Cambria Math"/>
                        </a:rPr>
                        <m:t>φ</m:t>
                      </m:r>
                      <m:r>
                        <m:rPr>
                          <m:sty m:val="p"/>
                        </m:rPr>
                        <a:rPr lang="en-US" i="0" sz="1568">
                          <a:latin typeface="Cambria Math"/>
                        </a:rPr>
                        <m:t>=</m:t>
                      </m:r>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J</m:t>
                          </m:r>
                        </m:sub>
                      </m:sSub>
                      <m:r>
                        <m:rPr>
                          <m:sty m:val="p"/>
                        </m:rPr>
                        <a:rPr lang="en-US" i="0" sz="1568">
                          <a:latin typeface="Cambria Math"/>
                        </a:rPr>
                        <m:t>+</m:t>
                      </m:r>
                      <m:f>
                        <m:num>
                          <m:sSub>
                            <m:e>
                              <m:r>
                                <m:rPr>
                                  <m:sty m:val="i"/>
                                </m:rPr>
                                <a:rPr lang="en-US" i="1" sz="1568">
                                  <a:latin typeface="Cambria Math"/>
                                </a:rPr>
                                <m:t>E</m:t>
                              </m:r>
                            </m:e>
                            <m:sub>
                              <m:r>
                                <m:rPr>
                                  <m:sty m:val="i"/>
                                </m:rPr>
                                <a:rPr lang="en-US" i="1" sz="1568">
                                  <a:latin typeface="Cambria Math"/>
                                </a:rPr>
                                <m:t>J</m:t>
                              </m:r>
                            </m:sub>
                          </m:sSub>
                        </m:num>
                        <m:den>
                          <m:r>
                            <m:rPr>
                              <m:sty m:val="p"/>
                            </m:rPr>
                            <a:rPr lang="en-US" i="0" sz="1568">
                              <a:latin typeface="Cambria Math"/>
                            </a:rPr>
                            <m:t>2</m:t>
                          </m:r>
                        </m:den>
                      </m:f>
                      <m:sSup>
                        <m:e>
                          <m:r>
                            <m:rPr>
                              <m:sty m:val="i"/>
                            </m:rPr>
                            <a:rPr lang="en-US" i="1" sz="1568">
                              <a:latin typeface="Cambria Math"/>
                            </a:rPr>
                            <m:t>φ</m:t>
                          </m:r>
                        </m:e>
                        <m:sup>
                          <m:r>
                            <m:rPr>
                              <m:sty m:val="p"/>
                            </m:rPr>
                            <a:rPr lang="en-US" i="0" sz="1568">
                              <a:latin typeface="Cambria Math"/>
                            </a:rPr>
                            <m:t>2</m:t>
                          </m:r>
                        </m:sup>
                      </m:sSup>
                      <m:r>
                        <m:rPr>
                          <m:sty m:val="p"/>
                        </m:rPr>
                        <a:rPr lang="en-US" i="0" sz="1568">
                          <a:latin typeface="Cambria Math"/>
                        </a:rPr>
                        <m:t>−</m:t>
                      </m:r>
                      <m:f>
                        <m:num>
                          <m:sSub>
                            <m:e>
                              <m:r>
                                <m:rPr>
                                  <m:sty m:val="i"/>
                                </m:rPr>
                                <a:rPr lang="en-US" i="1" sz="1568">
                                  <a:latin typeface="Cambria Math"/>
                                </a:rPr>
                                <m:t>E</m:t>
                              </m:r>
                            </m:e>
                            <m:sub>
                              <m:r>
                                <m:rPr>
                                  <m:sty m:val="i"/>
                                </m:rPr>
                                <a:rPr lang="en-US" i="1" sz="1568">
                                  <a:latin typeface="Cambria Math"/>
                                </a:rPr>
                                <m:t>J</m:t>
                              </m:r>
                            </m:sub>
                          </m:sSub>
                        </m:num>
                        <m:den>
                          <m:r>
                            <m:rPr>
                              <m:sty m:val="p"/>
                            </m:rPr>
                            <a:rPr lang="en-US" i="0" sz="1568">
                              <a:latin typeface="Cambria Math"/>
                            </a:rPr>
                            <m:t>24</m:t>
                          </m:r>
                        </m:den>
                      </m:f>
                      <m:sSup>
                        <m:e>
                          <m:r>
                            <m:rPr>
                              <m:sty m:val="i"/>
                            </m:rPr>
                            <a:rPr lang="en-US" i="1" sz="1568">
                              <a:latin typeface="Cambria Math"/>
                            </a:rPr>
                            <m:t>φ</m:t>
                          </m:r>
                        </m:e>
                        <m:sup>
                          <m:r>
                            <m:rPr>
                              <m:sty m:val="p"/>
                            </m:rPr>
                            <a:rPr lang="en-US" i="0" sz="1568">
                              <a:latin typeface="Cambria Math"/>
                            </a:rPr>
                            <m:t>4</m:t>
                          </m:r>
                        </m:sup>
                      </m:sSup>
                      <m:r>
                        <m:rPr>
                          <m:sty m:val="p"/>
                        </m:rPr>
                        <a:rPr lang="en-US" i="0" sz="1568">
                          <a:latin typeface="Cambria Math"/>
                        </a:rPr>
                        <m:t>+</m:t>
                      </m:r>
                      <m:f>
                        <m:num>
                          <m:sSub>
                            <m:e>
                              <m:r>
                                <m:rPr>
                                  <m:sty m:val="i"/>
                                </m:rPr>
                                <a:rPr lang="en-US" i="1" sz="1568">
                                  <a:latin typeface="Cambria Math"/>
                                </a:rPr>
                                <m:t>E</m:t>
                              </m:r>
                            </m:e>
                            <m:sub>
                              <m:r>
                                <m:rPr>
                                  <m:sty m:val="i"/>
                                </m:rPr>
                                <a:rPr lang="en-US" i="1" sz="1568">
                                  <a:latin typeface="Cambria Math"/>
                                </a:rPr>
                                <m:t>J</m:t>
                              </m:r>
                            </m:sub>
                          </m:sSub>
                        </m:num>
                        <m:den>
                          <m:r>
                            <m:rPr>
                              <m:sty m:val="p"/>
                            </m:rPr>
                            <a:rPr lang="en-US" i="0" sz="1568">
                              <a:latin typeface="Cambria Math"/>
                            </a:rPr>
                            <m:t>720</m:t>
                          </m:r>
                        </m:den>
                      </m:f>
                      <m:sSup>
                        <m:e>
                          <m:r>
                            <m:rPr>
                              <m:sty m:val="i"/>
                            </m:rPr>
                            <a:rPr lang="en-US" i="1" sz="1568">
                              <a:latin typeface="Cambria Math"/>
                            </a:rPr>
                            <m:t>φ</m:t>
                          </m:r>
                        </m:e>
                        <m:sup>
                          <m:r>
                            <m:rPr>
                              <m:sty m:val="p"/>
                            </m:rPr>
                            <a:rPr lang="en-US" i="0" sz="1568">
                              <a:latin typeface="Cambria Math"/>
                            </a:rPr>
                            <m:t>6</m:t>
                          </m:r>
                        </m:sup>
                      </m:sSup>
                      <m:r>
                        <m:rPr>
                          <m:sty m:val="p"/>
                        </m:rPr>
                        <a:rPr lang="en-US" i="0" sz="1568">
                          <a:latin typeface="Cambria Math"/>
                        </a:rPr>
                        <m:t>−</m:t>
                      </m:r>
                      <m:r>
                        <m:rPr>
                          <m:sty m:val="p"/>
                        </m:rPr>
                        <a:rPr lang="en-US" i="0" sz="1568">
                          <a:latin typeface="Cambria Math"/>
                        </a:rPr>
                        <m:t>⋯</m:t>
                      </m:r>
                      <m:r>
                        <m:rPr>
                          <m:sty m:val="p"/>
                        </m:rPr>
                        <a:rPr lang="en-US" i="0" sz="1568">
                          <a:latin typeface="Cambria Math"/>
                        </a:rPr>
                        <m:t>.</m:t>
                      </m:r>
                    </m:oMath>
                  </m:oMathPara>
                </a14:m>
              </mc:Choice>
              <mc:Fallback>
                <a:r>
                  <a:rPr lang="en-US" sz="1567" i="1"/>
                  <a:t>
                    -E_J\cos\varphi
                    =-E_J+\frac{E_J}{2}\varphi^2
                    -\frac{E_J}{24}\varphi^4
                    +\frac{E_J}{720}\varphi^6-\cdots.
                    </a:t>
                </a:r>
              </mc:Fallback>
            </mc:AlternateContent>
          </a:p>
        </p:txBody>
      </p:sp>
      <p:sp>
        <p:nvSpPr>
          <p:cNvPr id="12" name="Rectangle 11"/>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4" name="TextBox 13"/>
          <p:cNvSpPr txBox="1"/>
          <p:nvPr/>
        </p:nvSpPr>
        <p:spPr>
          <a:xfrm>
            <a:off x="11233811" y="6565900"/>
            <a:ext cx="467122"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65 / 100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The minus sign means that the spacing between adjacent levels decreases at higher energy. This result comes from the negative quartic correction of the cosine; it is precisely what detunes the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ω</m:t>
                        </m:r>
                      </m:e>
                      <m:sub>
                        <m:box>
                          <m:e>
                            <m:r>
                              <m:rPr>
                                <m:sty m:val="p"/>
                              </m:rPr>
                              <a:rPr lang="en-US" i="0" sz="1665">
                                <a:latin typeface="Cambria Math"/>
                              </a:rPr>
                              <m:t>01</m:t>
                            </m:r>
                          </m:e>
                        </m:box>
                      </m:sub>
                    </m:sSub>
                  </m:oMath>
                </a14:m>
              </mc:Choice>
              <mc:Fallback>
                <a:r>
                  <a:rPr lang="en-US" sz="1664" i="1"/>
                  <a:t>\omega_{01}</a:t>
                </a:r>
              </mc:Fallback>
            </mc:AlternateContent>
            <a:r>
              <a:rPr sz="1400" b="0" i="0">
                <a:solidFill>
                  <a:srgbClr val="4F4C56"/>
                </a:solidFill>
                <a:latin typeface="Montserrat"/>
                <a:ea typeface="Montserrat"/>
                <a:cs typeface="Montserrat"/>
              </a:rPr>
              <a:t> drive from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ω</m:t>
                        </m:r>
                      </m:e>
                      <m:sub>
                        <m:box>
                          <m:e>
                            <m:r>
                              <m:rPr>
                                <m:sty m:val="p"/>
                              </m:rPr>
                              <a:rPr lang="en-US" i="0" sz="1665">
                                <a:latin typeface="Cambria Math"/>
                              </a:rPr>
                              <m:t>12</m:t>
                            </m:r>
                          </m:e>
                        </m:box>
                      </m:sub>
                    </m:sSub>
                  </m:oMath>
                </a14:m>
              </mc:Choice>
              <mc:Fallback>
                <a:r>
                  <a:rPr lang="en-US" sz="1664" i="1"/>
                  <a:t>\omega_{12}</a:t>
                </a:r>
              </mc:Fallback>
            </mc:AlternateContent>
            <a:r>
              <a:rPr sz="1400" b="0" i="0">
                <a:solidFill>
                  <a:srgbClr val="4F4C56"/>
                </a:solidFill>
                <a:latin typeface="Montserrat"/>
                <a:ea typeface="Montserrat"/>
                <a:cs typeface="Montserrat"/>
              </a:rPr>
              <a:t> and makes selective control of the two lowest levels possible. </a:t>
            </a:r>
          </a:p>
        </p:txBody>
      </p:sp>
      <p:sp>
        <p:nvSpPr>
          <p:cNvPr id="6" name="TextBox 5"/>
          <p:cNvSpPr txBox="1"/>
          <p:nvPr/>
        </p:nvSpPr>
        <p:spPr>
          <a:xfrm>
            <a:off x="575733" y="1851819"/>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The same cosine provides two complementary intuitions in two different bases</a:t>
            </a:r>
          </a:p>
        </p:txBody>
      </p:sp>
      <p:sp>
        <p:nvSpPr>
          <p:cNvPr id="7" name="TextBox 6"/>
          <p:cNvSpPr txBox="1"/>
          <p:nvPr/>
        </p:nvSpPr>
        <p:spPr>
          <a:xfrm>
            <a:off x="829733" y="2228585"/>
            <a:ext cx="10786533" cy="540279"/>
          </a:xfrm>
          <a:prstGeom prst="rect">
            <a:avLst/>
          </a:prstGeom>
          <a:noFill/>
        </p:spPr>
        <p:txBody>
          <a:bodyPr wrap="square" lIns="0" rIns="0" tIns="0" bIns="0" anchor="t">
            <a:noAutofit/>
          </a:bodyPr>
          <a:lstStyle/>
          <a:p>
            <a:pPr algn="l">
              <a:lnSpc>
                <a:spcPts val="2130"/>
              </a:lnSpc>
            </a:pPr>
            <a:r>
              <a:rPr sz="1400" b="1" i="0">
                <a:solidFill>
                  <a:srgbClr val="4F4C56"/>
                </a:solidFill>
                <a:latin typeface="Montserrat"/>
                <a:ea typeface="Montserrat"/>
                <a:cs typeface="Montserrat"/>
              </a:rPr>
              <a:t>phase basis: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sSub>
                      <m:e>
                        <m:r>
                          <m:rPr>
                            <m:sty m:val="i"/>
                          </m:rPr>
                          <a:rPr lang="en-US" i="1" sz="1665">
                            <a:latin typeface="Cambria Math"/>
                          </a:rPr>
                          <m:t>E</m:t>
                        </m:r>
                      </m:e>
                      <m:sub>
                        <m:r>
                          <m:rPr>
                            <m:sty m:val="i"/>
                          </m:rPr>
                          <a:rPr lang="en-US" i="1" sz="1665">
                            <a:latin typeface="Cambria Math"/>
                          </a:rPr>
                          <m:t>J</m:t>
                        </m:r>
                      </m:sub>
                    </m:sSub>
                    <m:r>
                      <m:rPr>
                        <m:sty m:val="p"/>
                      </m:rPr>
                      <a:rPr lang="en-US" i="0" sz="1665">
                        <a:latin typeface="Cambria Math"/>
                      </a:rPr>
                      <m:t>cos</m:t>
                    </m:r>
                    <m:r>
                      <m:rPr>
                        <m:sty m:val="p"/>
                      </m:rPr>
                      <a:rPr lang="en-US" i="0" sz="1665">
                        <a:latin typeface="Cambria Math"/>
                      </a:rPr>
                      <m:t/>
                    </m:r>
                    <m:r>
                      <m:rPr>
                        <m:sty m:val="i"/>
                      </m:rPr>
                      <a:rPr lang="en-US" i="1" sz="1665">
                        <a:latin typeface="Cambria Math"/>
                      </a:rPr>
                      <m:t>φ</m:t>
                    </m:r>
                  </m:oMath>
                </a14:m>
              </mc:Choice>
              <mc:Fallback>
                <a:r>
                  <a:rPr lang="en-US" sz="1664" i="1"/>
                  <a:t>-E_J\cos\varphi</a:t>
                </a:r>
              </mc:Fallback>
            </mc:AlternateContent>
            <a:r>
              <a:rPr sz="1400" b="0" i="0">
                <a:solidFill>
                  <a:srgbClr val="4F4C56"/>
                </a:solidFill>
                <a:latin typeface="Montserrat"/>
                <a:ea typeface="Montserrat"/>
                <a:cs typeface="Montserrat"/>
              </a:rPr>
              <a:t> forms periodic wells; as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J</m:t>
                        </m:r>
                      </m:sub>
                    </m:sSub>
                    <m:box>
                      <m:e>
                        <m:r>
                          <m:rPr>
                            <m:sty m:val="p"/>
                          </m:rPr>
                          <a:rPr lang="en-US" i="0" sz="1665">
                            <a:latin typeface="Cambria Math"/>
                          </a:rPr>
                          <m:t>/</m:t>
                        </m:r>
                      </m:e>
                    </m:box>
                    <m:sSub>
                      <m:e>
                        <m:r>
                          <m:rPr>
                            <m:sty m:val="i"/>
                          </m:rPr>
                          <a:rPr lang="en-US" i="1" sz="1665">
                            <a:latin typeface="Cambria Math"/>
                          </a:rPr>
                          <m:t>E</m:t>
                        </m:r>
                      </m:e>
                      <m:sub>
                        <m:r>
                          <m:rPr>
                            <m:sty m:val="i"/>
                          </m:rPr>
                          <a:rPr lang="en-US" i="1" sz="1665">
                            <a:latin typeface="Cambria Math"/>
                          </a:rPr>
                          <m:t>C</m:t>
                        </m:r>
                      </m:sub>
                    </m:sSub>
                  </m:oMath>
                </a14:m>
              </mc:Choice>
              <mc:Fallback>
                <a:r>
                  <a:rPr lang="en-US" sz="1664" i="1"/>
                  <a:t>E_J/E_C</a:t>
                </a:r>
              </mc:Fallback>
            </mc:AlternateContent>
            <a:r>
              <a:rPr sz="1400" b="0" i="0">
                <a:solidFill>
                  <a:srgbClr val="4F4C56"/>
                </a:solidFill>
                <a:latin typeface="Montserrat"/>
                <a:ea typeface="Montserrat"/>
                <a:cs typeface="Montserrat"/>
              </a:rPr>
              <a:t> increases, the low-energy wavefunction becomes more localized near one minimum. </a:t>
            </a:r>
          </a:p>
        </p:txBody>
      </p:sp>
      <p:sp>
        <p:nvSpPr>
          <p:cNvPr id="8" name="TextBox 7"/>
          <p:cNvSpPr txBox="1"/>
          <p:nvPr/>
        </p:nvSpPr>
        <p:spPr>
          <a:xfrm>
            <a:off x="829733" y="2819665"/>
            <a:ext cx="10786533" cy="540279"/>
          </a:xfrm>
          <a:prstGeom prst="rect">
            <a:avLst/>
          </a:prstGeom>
          <a:noFill/>
        </p:spPr>
        <p:txBody>
          <a:bodyPr wrap="square" lIns="0" rIns="0" tIns="0" bIns="0" anchor="t">
            <a:noAutofit/>
          </a:bodyPr>
          <a:lstStyle/>
          <a:p>
            <a:pPr algn="l">
              <a:lnSpc>
                <a:spcPts val="2130"/>
              </a:lnSpc>
            </a:pPr>
            <a:r>
              <a:rPr sz="1400" b="1" i="0">
                <a:solidFill>
                  <a:srgbClr val="4F4C56"/>
                </a:solidFill>
                <a:latin typeface="Montserrat"/>
                <a:ea typeface="Montserrat"/>
                <a:cs typeface="Montserrat"/>
              </a:rPr>
              <a:t>charge basis: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sSub>
                      <m:e>
                        <m:r>
                          <m:rPr>
                            <m:sty m:val="i"/>
                          </m:rPr>
                          <a:rPr lang="en-US" i="1" sz="1665">
                            <a:latin typeface="Cambria Math"/>
                          </a:rPr>
                          <m:t>E</m:t>
                        </m:r>
                      </m:e>
                      <m:sub>
                        <m:r>
                          <m:rPr>
                            <m:sty m:val="i"/>
                          </m:rPr>
                          <a:rPr lang="en-US" i="1" sz="1665">
                            <a:latin typeface="Cambria Math"/>
                          </a:rPr>
                          <m:t>J</m:t>
                        </m:r>
                      </m:sub>
                    </m:sSub>
                    <m:r>
                      <m:rPr>
                        <m:sty m:val="p"/>
                      </m:rPr>
                      <a:rPr lang="en-US" i="0" sz="1665">
                        <a:latin typeface="Cambria Math"/>
                      </a:rPr>
                      <m:t>cos</m:t>
                    </m:r>
                    <m:r>
                      <m:rPr>
                        <m:sty m:val="p"/>
                      </m:rPr>
                      <a:rPr lang="en-US" i="0" sz="1665">
                        <a:latin typeface="Cambria Math"/>
                      </a:rPr>
                      <m:t/>
                    </m:r>
                    <m:box>
                      <m:e>
                        <m:limUpp>
                          <m:e>
                            <m:r>
                              <m:rPr>
                                <m:sty m:val="i"/>
                              </m:rPr>
                              <a:rPr lang="en-US" i="1" sz="1665">
                                <a:latin typeface="Cambria Math"/>
                              </a:rPr>
                              <m:t>φ</m:t>
                            </m:r>
                          </m:e>
                          <m:lim>
                            <m:r>
                              <m:rPr>
                                <m:sty m:val="p"/>
                              </m:rPr>
                              <a:rPr lang="en-US" i="0" sz="1665">
                                <a:latin typeface="Cambria Math"/>
                              </a:rPr>
                              <m:t>^</m:t>
                            </m:r>
                          </m:lim>
                        </m:limUpp>
                      </m:e>
                    </m:box>
                  </m:oMath>
                </a14:m>
              </mc:Choice>
              <mc:Fallback>
                <a:r>
                  <a:rPr lang="en-US" sz="1664" i="1"/>
                  <a:t>-E_J\cos\hat\varphi</a:t>
                </a:r>
              </mc:Fallback>
            </mc:AlternateContent>
            <a:r>
              <a:rPr sz="1400" b="0" i="0">
                <a:solidFill>
                  <a:srgbClr val="4F4C56"/>
                </a:solidFill>
                <a:latin typeface="Montserrat"/>
                <a:ea typeface="Montserrat"/>
                <a:cs typeface="Montserrat"/>
              </a:rPr>
              <a:t> couples </a:t>
            </a:r>
            <mc:AlternateContent xmlns:mc="http://schemas.openxmlformats.org/markup-compatibility/2006">
              <mc:Choice xmlns:a14="http://schemas.microsoft.com/office/drawing/2010/main" Requires="a14">
                <a14:m>
                  <m:oMath xmlns:m="http://schemas.openxmlformats.org/officeDocument/2006/math">
                    <m:box>
                      <m:e>
                        <m:r>
                          <m:rPr>
                            <m:sty m:val="p"/>
                          </m:rPr>
                          <a:rPr lang="en-US" i="0" sz="1665">
                            <a:latin typeface="Cambria Math"/>
                          </a:rPr>
                          <m:t>|</m:t>
                        </m:r>
                        <m:box>
                          <m:e>
                            <m:r>
                              <m:rPr>
                                <m:sty m:val="i"/>
                              </m:rPr>
                              <a:rPr lang="en-US" i="1" sz="1665">
                                <a:latin typeface="Cambria Math"/>
                              </a:rPr>
                              <m:t>n</m:t>
                            </m:r>
                          </m:e>
                        </m:box>
                        <m:r>
                          <m:rPr>
                            <m:sty m:val="p"/>
                          </m:rPr>
                          <a:rPr lang="en-US" i="0" sz="1665">
                            <a:latin typeface="Cambria Math"/>
                          </a:rPr>
                          <m:t>⟩</m:t>
                        </m:r>
                      </m:e>
                    </m:box>
                  </m:oMath>
                </a14:m>
              </mc:Choice>
              <mc:Fallback>
                <a:r>
                  <a:rPr lang="en-US" sz="1664" i="1"/>
                  <a:t>\ket n</a:t>
                </a:r>
              </mc:Fallback>
            </mc:AlternateContent>
            <a:r>
              <a:rPr sz="1400" b="0" i="0">
                <a:solidFill>
                  <a:srgbClr val="4F4C56"/>
                </a:solidFill>
                <a:latin typeface="Montserrat"/>
                <a:ea typeface="Montserrat"/>
                <a:cs typeface="Montserrat"/>
              </a:rPr>
              <a:t> and </a:t>
            </a:r>
            <mc:AlternateContent xmlns:mc="http://schemas.openxmlformats.org/markup-compatibility/2006">
              <mc:Choice xmlns:a14="http://schemas.microsoft.com/office/drawing/2010/main" Requires="a14">
                <a14:m>
                  <m:oMath xmlns:m="http://schemas.openxmlformats.org/officeDocument/2006/math">
                    <m:box>
                      <m:e>
                        <m:r>
                          <m:rPr>
                            <m:sty m:val="p"/>
                          </m:rPr>
                          <a:rPr lang="en-US" i="0" sz="1665">
                            <a:latin typeface="Cambria Math"/>
                          </a:rPr>
                          <m:t>|</m:t>
                        </m:r>
                        <m:box>
                          <m:e>
                            <m:r>
                              <m:rPr>
                                <m:sty m:val="i"/>
                              </m:rPr>
                              <a:rPr lang="en-US" i="1" sz="1665">
                                <a:latin typeface="Cambria Math"/>
                              </a:rPr>
                              <m:t>n</m:t>
                            </m:r>
                            <m:r>
                              <m:rPr>
                                <m:sty m:val="p"/>
                              </m:rPr>
                              <a:rPr lang="en-US" i="0" sz="1665">
                                <a:latin typeface="Cambria Math"/>
                              </a:rPr>
                              <m:t>±</m:t>
                            </m:r>
                            <m:r>
                              <m:rPr>
                                <m:sty m:val="p"/>
                              </m:rPr>
                              <a:rPr lang="en-US" i="0" sz="1665">
                                <a:latin typeface="Cambria Math"/>
                              </a:rPr>
                              <m:t>1</m:t>
                            </m:r>
                          </m:e>
                        </m:box>
                        <m:r>
                          <m:rPr>
                            <m:sty m:val="p"/>
                          </m:rPr>
                          <a:rPr lang="en-US" i="0" sz="1665">
                            <a:latin typeface="Cambria Math"/>
                          </a:rPr>
                          <m:t>⟩</m:t>
                        </m:r>
                      </m:e>
                    </m:box>
                  </m:oMath>
                </a14:m>
              </mc:Choice>
              <mc:Fallback>
                <a:r>
                  <a:rPr lang="en-US" sz="1664" i="1"/>
                  <a:t>\ket{n\pm1}</a:t>
                </a:r>
              </mc:Fallback>
            </mc:AlternateContent>
            <a:r>
              <a:rPr sz="1400" b="0" i="0">
                <a:solidFill>
                  <a:srgbClr val="4F4C56"/>
                </a:solidFill>
                <a:latin typeface="Montserrat"/>
                <a:ea typeface="Montserrat"/>
                <a:cs typeface="Montserrat"/>
              </a:rPr>
              <a:t>, turning crossings of the bare charge-state energies into avoided crossings. </a:t>
            </a:r>
          </a:p>
        </p:txBody>
      </p:sp>
      <p:sp>
        <p:nvSpPr>
          <p:cNvPr id="9" name="TextBox 8"/>
          <p:cNvSpPr txBox="1"/>
          <p:nvPr/>
        </p:nvSpPr>
        <p:spPr>
          <a:xfrm>
            <a:off x="575733" y="3529277"/>
            <a:ext cx="11040533" cy="810419"/>
          </a:xfrm>
          <a:prstGeom prst="rect">
            <a:avLst/>
          </a:prstGeom>
          <a:noFill/>
        </p:spPr>
        <p:txBody>
          <a:bodyPr wrap="square" lIns="0" rIns="0" tIns="0" bIns="0" anchor="t">
            <a:noAutofit/>
          </a:bodyPr>
          <a:lstStyle/>
          <a:p>
            <a:pPr algn="l">
              <a:lnSpc>
                <a:spcPts val="2130"/>
              </a:lnSpc>
            </a:pPr>
            <a:r>
              <a:rPr sz="1400" b="1" i="0">
                <a:solidFill>
                  <a:srgbClr val="4F4C56"/>
                </a:solidFill>
                <a:latin typeface="Montserrat"/>
                <a:ea typeface="Montserrat"/>
                <a:cs typeface="Montserrat"/>
              </a:rPr>
              <a:t>Conclusion to Question 4:</a:t>
            </a:r>
            <a:r>
              <a:rPr sz="1400" b="0" i="0">
                <a:solidFill>
                  <a:srgbClr val="4F4C56"/>
                </a:solidFill>
                <a:latin typeface="Montserrat"/>
                <a:ea typeface="Montserrat"/>
                <a:cs typeface="Montserrat"/>
              </a:rPr>
              <a:t> A Josephson junction does not simply “add another inductor”; it replaces a quadratic potential with a cosine potential designable through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J</m:t>
                        </m:r>
                      </m:sub>
                    </m:sSub>
                  </m:oMath>
                </a14:m>
              </mc:Choice>
              <mc:Fallback>
                <a:r>
                  <a:rPr lang="en-US" sz="1664" i="1"/>
                  <a:t>E_J</a:t>
                </a:r>
              </mc:Fallback>
            </mc:AlternateContent>
            <a:r>
              <a:rPr sz="1400" b="0" i="0">
                <a:solidFill>
                  <a:srgbClr val="4F4C56"/>
                </a:solidFill>
                <a:latin typeface="Montserrat"/>
                <a:ea typeface="Montserrat"/>
                <a:cs typeface="Montserrat"/>
              </a:rPr>
              <a:t>. Its quadratic part sets the dominant frequency, while its quartic and higher-order terms create anharmonicity. This is how an artificial atom acquires a controllable spectrum. </a:t>
            </a:r>
          </a:p>
        </p:txBody>
      </p:sp>
      <p:sp>
        <p:nvSpPr>
          <p:cNvPr id="10" name="TextBox 9"/>
          <p:cNvSpPr txBox="1"/>
          <p:nvPr/>
        </p:nvSpPr>
        <p:spPr>
          <a:xfrm>
            <a:off x="575733" y="4517496"/>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Josephson Junction</a:t>
            </a:r>
          </a:p>
        </p:txBody>
      </p:sp>
      <p:sp>
        <p:nvSpPr>
          <p:cNvPr id="11" name="Rectangle 10"/>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3" name="TextBox 12"/>
          <p:cNvSpPr txBox="1"/>
          <p:nvPr/>
        </p:nvSpPr>
        <p:spPr>
          <a:xfrm>
            <a:off x="11228784" y="6565900"/>
            <a:ext cx="472149"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66 / 100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equation"/>
          <p:cNvSpPr txBox="1"/>
          <p:nvPr/>
        </p:nvSpPr>
        <p:spPr>
          <a:xfrm>
            <a:off x="6522020" y="1067764"/>
            <a:ext cx="237143" cy="225069"/>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665">
                              <a:latin typeface="Cambria Math"/>
                            </a:rPr>
                            <m:t>H</m:t>
                          </m:r>
                        </m:e>
                        <m:sub>
                          <m:r>
                            <m:rPr>
                              <m:sty m:val="p"/>
                            </m:rPr>
                            <a:rPr lang="en-US" i="0" sz="1665">
                              <a:latin typeface="Cambria Math"/>
                            </a:rPr>
                            <m:t>0</m:t>
                          </m:r>
                        </m:sub>
                      </m:sSub>
                    </m:oMath>
                  </m:oMathPara>
                </a14:m>
              </mc:Choice>
              <mc:Fallback>
                <a:r>
                  <a:rPr lang="en-US" sz="1664" i="1"/>
                  <a:t>H_0</a:t>
                </a:r>
              </mc:Fallback>
            </mc:AlternateContent>
          </a:p>
        </p:txBody>
      </p:sp>
      <p:sp>
        <p:nvSpPr>
          <p:cNvPr id="6" name="equation"/>
          <p:cNvSpPr txBox="1"/>
          <p:nvPr/>
        </p:nvSpPr>
        <p:spPr>
          <a:xfrm>
            <a:off x="7594030" y="1067764"/>
            <a:ext cx="143951" cy="225069"/>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665">
                          <a:latin typeface="Cambria Math"/>
                        </a:rPr>
                        <m:t>V</m:t>
                      </m:r>
                    </m:oMath>
                  </m:oMathPara>
                </a14:m>
              </mc:Choice>
              <mc:Fallback>
                <a:r>
                  <a:rPr lang="en-US" sz="1664" i="1"/>
                  <a:t>V</a:t>
                </a:r>
              </mc:Fallback>
            </mc:AlternateContent>
          </a:p>
        </p:txBody>
      </p:sp>
      <p:sp>
        <p:nvSpPr>
          <p:cNvPr id="7" name="equation"/>
          <p:cNvSpPr txBox="1"/>
          <p:nvPr/>
        </p:nvSpPr>
        <p:spPr>
          <a:xfrm>
            <a:off x="5546250" y="1307135"/>
            <a:ext cx="166458" cy="225069"/>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665">
                          <a:latin typeface="Cambria Math"/>
                        </a:rPr>
                        <m:t>K</m:t>
                      </m:r>
                    </m:oMath>
                  </m:oMathPara>
                </a14:m>
              </mc:Choice>
              <mc:Fallback>
                <a:r>
                  <a:rPr lang="en-US" sz="1664" i="1"/>
                  <a:t>K</a:t>
                </a:r>
              </mc:Fallback>
            </mc:AlternateContent>
          </a:p>
        </p:txBody>
      </p:sp>
      <p:sp>
        <p:nvSpPr>
          <p:cNvPr id="8" name="equation"/>
          <p:cNvSpPr txBox="1"/>
          <p:nvPr/>
        </p:nvSpPr>
        <p:spPr>
          <a:xfrm>
            <a:off x="575733" y="1689050"/>
            <a:ext cx="11041060" cy="530554"/>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568">
                          <a:latin typeface="Cambria Math"/>
                        </a:rPr>
                        <m:t>i</m:t>
                      </m:r>
                      <m:r>
                        <m:rPr>
                          <m:sty m:val="i"/>
                        </m:rPr>
                        <a:rPr lang="en-US" i="1" sz="1568">
                          <a:latin typeface="Cambria Math"/>
                        </a:rPr>
                        <m:t>ℏ</m:t>
                      </m:r>
                      <m:f>
                        <m:num>
                          <m:r>
                            <m:rPr>
                              <m:sty m:val="i"/>
                            </m:rPr>
                            <a:rPr lang="en-US" i="1" sz="1568">
                              <a:latin typeface="Cambria Math"/>
                            </a:rPr>
                            <m:t>∂</m:t>
                          </m:r>
                        </m:num>
                        <m:den>
                          <m:box>
                            <m:e>
                              <m:r>
                                <m:rPr>
                                  <m:sty m:val="i"/>
                                </m:rPr>
                                <a:rPr lang="en-US" i="1" sz="1568">
                                  <a:latin typeface="Cambria Math"/>
                                </a:rPr>
                                <m:t>∂</m:t>
                              </m:r>
                              <m:r>
                                <m:rPr>
                                  <m:sty m:val="i"/>
                                </m:rPr>
                                <a:rPr lang="en-US" i="1" sz="1568">
                                  <a:latin typeface="Cambria Math"/>
                                </a:rPr>
                                <m:t>t</m:t>
                              </m:r>
                            </m:e>
                          </m:box>
                        </m:den>
                      </m:f>
                      <m:box>
                        <m:e>
                          <m:d>
                            <m:dPr>
                              <m:begChr m:val="("/>
                              <m:endChr m:val=")"/>
                            </m:dPr>
                            <m:e>
                              <m:box>
                                <m:e>
                                  <m:m>
                                    <m:mr>
                                      <m:e>
                                        <m:box>
                                          <m:e>
                                            <m:rad>
                                              <m:radPr>
                                                <m:degHide m:val="1"/>
                                              </m:radPr>
                                              <m:deg/>
                                              <m:e>
                                                <m:box>
                                                  <m:e>
                                                    <m:sSub>
                                                      <m:e>
                                                        <m:r>
                                                          <m:rPr>
                                                            <m:sty m:val="i"/>
                                                          </m:rPr>
                                                          <a:rPr lang="en-US" i="1" sz="1568">
                                                            <a:latin typeface="Cambria Math"/>
                                                          </a:rPr>
                                                          <m:t>n</m:t>
                                                        </m:r>
                                                      </m:e>
                                                      <m:sub>
                                                        <m:r>
                                                          <m:rPr>
                                                            <m:sty m:val="i"/>
                                                          </m:rPr>
                                                          <a:rPr lang="en-US" i="1" sz="1568">
                                                            <a:latin typeface="Cambria Math"/>
                                                          </a:rPr>
                                                          <m:t>A</m:t>
                                                        </m:r>
                                                      </m:sub>
                                                    </m:sSub>
                                                  </m:e>
                                                </m:box>
                                              </m:e>
                                            </m:rad>
                                            <m:sSup>
                                              <m:e>
                                                <m:r>
                                                  <m:rPr>
                                                    <m:sty m:val="i"/>
                                                  </m:rPr>
                                                  <a:rPr lang="en-US" i="1" sz="1568">
                                                    <a:latin typeface="Cambria Math"/>
                                                  </a:rPr>
                                                  <m:t>e</m:t>
                                                </m:r>
                                              </m:e>
                                              <m:sup>
                                                <m:box>
                                                  <m:e>
                                                    <m:r>
                                                      <m:rPr>
                                                        <m:sty m:val="i"/>
                                                      </m:rPr>
                                                      <a:rPr lang="en-US" i="1" sz="1568">
                                                        <a:latin typeface="Cambria Math"/>
                                                      </a:rPr>
                                                      <m:t>i</m:t>
                                                    </m:r>
                                                    <m:sSub>
                                                      <m:e>
                                                        <m:r>
                                                          <m:rPr>
                                                            <m:sty m:val="i"/>
                                                          </m:rPr>
                                                          <a:rPr lang="en-US" i="1" sz="1568">
                                                            <a:latin typeface="Cambria Math"/>
                                                          </a:rPr>
                                                          <m:t>θ</m:t>
                                                        </m:r>
                                                      </m:e>
                                                      <m:sub>
                                                        <m:r>
                                                          <m:rPr>
                                                            <m:sty m:val="i"/>
                                                          </m:rPr>
                                                          <a:rPr lang="en-US" i="1" sz="1568">
                                                            <a:latin typeface="Cambria Math"/>
                                                          </a:rPr>
                                                          <m:t>A</m:t>
                                                        </m:r>
                                                      </m:sub>
                                                    </m:sSub>
                                                  </m:e>
                                                </m:box>
                                              </m:sup>
                                            </m:sSup>
                                          </m:e>
                                        </m:box>
                                      </m:e>
                                    </m:mr>
                                    <m:mr>
                                      <m:e>
                                        <m:box>
                                          <m:e>
                                            <m:rad>
                                              <m:radPr>
                                                <m:degHide m:val="1"/>
                                              </m:radPr>
                                              <m:deg/>
                                              <m:e>
                                                <m:box>
                                                  <m:e>
                                                    <m:sSub>
                                                      <m:e>
                                                        <m:r>
                                                          <m:rPr>
                                                            <m:sty m:val="i"/>
                                                          </m:rPr>
                                                          <a:rPr lang="en-US" i="1" sz="1568">
                                                            <a:latin typeface="Cambria Math"/>
                                                          </a:rPr>
                                                          <m:t>n</m:t>
                                                        </m:r>
                                                      </m:e>
                                                      <m:sub>
                                                        <m:r>
                                                          <m:rPr>
                                                            <m:sty m:val="i"/>
                                                          </m:rPr>
                                                          <a:rPr lang="en-US" i="1" sz="1568">
                                                            <a:latin typeface="Cambria Math"/>
                                                          </a:rPr>
                                                          <m:t>B</m:t>
                                                        </m:r>
                                                      </m:sub>
                                                    </m:sSub>
                                                  </m:e>
                                                </m:box>
                                              </m:e>
                                            </m:rad>
                                            <m:sSup>
                                              <m:e>
                                                <m:r>
                                                  <m:rPr>
                                                    <m:sty m:val="i"/>
                                                  </m:rPr>
                                                  <a:rPr lang="en-US" i="1" sz="1568">
                                                    <a:latin typeface="Cambria Math"/>
                                                  </a:rPr>
                                                  <m:t>e</m:t>
                                                </m:r>
                                              </m:e>
                                              <m:sup>
                                                <m:box>
                                                  <m:e>
                                                    <m:r>
                                                      <m:rPr>
                                                        <m:sty m:val="i"/>
                                                      </m:rPr>
                                                      <a:rPr lang="en-US" i="1" sz="1568">
                                                        <a:latin typeface="Cambria Math"/>
                                                      </a:rPr>
                                                      <m:t>i</m:t>
                                                    </m:r>
                                                    <m:sSub>
                                                      <m:e>
                                                        <m:r>
                                                          <m:rPr>
                                                            <m:sty m:val="i"/>
                                                          </m:rPr>
                                                          <a:rPr lang="en-US" i="1" sz="1568">
                                                            <a:latin typeface="Cambria Math"/>
                                                          </a:rPr>
                                                          <m:t>θ</m:t>
                                                        </m:r>
                                                      </m:e>
                                                      <m:sub>
                                                        <m:r>
                                                          <m:rPr>
                                                            <m:sty m:val="i"/>
                                                          </m:rPr>
                                                          <a:rPr lang="en-US" i="1" sz="1568">
                                                            <a:latin typeface="Cambria Math"/>
                                                          </a:rPr>
                                                          <m:t>B</m:t>
                                                        </m:r>
                                                      </m:sub>
                                                    </m:sSub>
                                                  </m:e>
                                                </m:box>
                                              </m:sup>
                                            </m:sSup>
                                          </m:e>
                                        </m:box>
                                      </m:e>
                                    </m:mr>
                                  </m:m>
                                </m:e>
                              </m:box>
                            </m:e>
                          </m:d>
                        </m:e>
                      </m:box>
                      <m:r>
                        <m:rPr>
                          <m:sty m:val="p"/>
                        </m:rPr>
                        <a:rPr lang="en-US" i="0" sz="1568">
                          <a:latin typeface="Cambria Math"/>
                        </a:rPr>
                        <m:t>=</m:t>
                      </m:r>
                      <m:box>
                        <m:e>
                          <m:d>
                            <m:dPr>
                              <m:begChr m:val="("/>
                              <m:endChr m:val=")"/>
                            </m:dPr>
                            <m:e>
                              <m:box>
                                <m:e>
                                  <m:m>
                                    <m:mr>
                                      <m:e>
                                        <m:box>
                                          <m:e>
                                            <m:sSub>
                                              <m:e>
                                                <m:r>
                                                  <m:rPr>
                                                    <m:sty m:val="i"/>
                                                  </m:rPr>
                                                  <a:rPr lang="en-US" i="1" sz="1568">
                                                    <a:latin typeface="Cambria Math"/>
                                                  </a:rPr>
                                                  <m:t>H</m:t>
                                                </m:r>
                                              </m:e>
                                              <m:sub>
                                                <m:r>
                                                  <m:rPr>
                                                    <m:sty m:val="p"/>
                                                  </m:rPr>
                                                  <a:rPr lang="en-US" i="0" sz="1568">
                                                    <a:latin typeface="Cambria Math"/>
                                                  </a:rPr>
                                                  <m:t>0</m:t>
                                                </m:r>
                                              </m:sub>
                                            </m:sSub>
                                            <m:r>
                                              <m:rPr>
                                                <m:sty m:val="p"/>
                                              </m:rPr>
                                              <a:rPr lang="en-US" i="0" sz="1568">
                                                <a:latin typeface="Cambria Math"/>
                                              </a:rPr>
                                              <m:t>−</m:t>
                                            </m:r>
                                            <m:f>
                                              <m:num>
                                                <m:box>
                                                  <m:e>
                                                    <m:r>
                                                      <m:rPr>
                                                        <m:sty m:val="i"/>
                                                      </m:rPr>
                                                      <a:rPr lang="en-US" i="1" sz="1568">
                                                        <a:latin typeface="Cambria Math"/>
                                                      </a:rPr>
                                                      <m:t>q</m:t>
                                                    </m:r>
                                                    <m:r>
                                                      <m:rPr>
                                                        <m:sty m:val="i"/>
                                                      </m:rPr>
                                                      <a:rPr lang="en-US" i="1" sz="1568">
                                                        <a:latin typeface="Cambria Math"/>
                                                      </a:rPr>
                                                      <m:t>V</m:t>
                                                    </m:r>
                                                  </m:e>
                                                </m:box>
                                              </m:num>
                                              <m:den>
                                                <m:r>
                                                  <m:rPr>
                                                    <m:sty m:val="p"/>
                                                  </m:rPr>
                                                  <a:rPr lang="en-US" i="0" sz="1568">
                                                    <a:latin typeface="Cambria Math"/>
                                                  </a:rPr>
                                                  <m:t>2</m:t>
                                                </m:r>
                                              </m:den>
                                            </m:f>
                                          </m:e>
                                        </m:box>
                                      </m:e>
                                      <m:e>
                                        <m:box>
                                          <m:e>
                                            <m:r>
                                              <m:rPr>
                                                <m:sty m:val="i"/>
                                              </m:rPr>
                                              <a:rPr lang="en-US" i="1" sz="1568">
                                                <a:latin typeface="Cambria Math"/>
                                              </a:rPr>
                                              <m:t>K</m:t>
                                            </m:r>
                                          </m:e>
                                        </m:box>
                                      </m:e>
                                    </m:mr>
                                    <m:mr>
                                      <m:e>
                                        <m:box>
                                          <m:e>
                                            <m:r>
                                              <m:rPr>
                                                <m:sty m:val="i"/>
                                              </m:rPr>
                                              <a:rPr lang="en-US" i="1" sz="1568">
                                                <a:latin typeface="Cambria Math"/>
                                              </a:rPr>
                                              <m:t>K</m:t>
                                            </m:r>
                                          </m:e>
                                        </m:box>
                                      </m:e>
                                      <m:e>
                                        <m:box>
                                          <m:e>
                                            <m:sSub>
                                              <m:e>
                                                <m:r>
                                                  <m:rPr>
                                                    <m:sty m:val="i"/>
                                                  </m:rPr>
                                                  <a:rPr lang="en-US" i="1" sz="1568">
                                                    <a:latin typeface="Cambria Math"/>
                                                  </a:rPr>
                                                  <m:t>H</m:t>
                                                </m:r>
                                              </m:e>
                                              <m:sub>
                                                <m:r>
                                                  <m:rPr>
                                                    <m:sty m:val="p"/>
                                                  </m:rPr>
                                                  <a:rPr lang="en-US" i="0" sz="1568">
                                                    <a:latin typeface="Cambria Math"/>
                                                  </a:rPr>
                                                  <m:t>0</m:t>
                                                </m:r>
                                              </m:sub>
                                            </m:sSub>
                                            <m:r>
                                              <m:rPr>
                                                <m:sty m:val="p"/>
                                              </m:rPr>
                                              <a:rPr lang="en-US" i="0" sz="1568">
                                                <a:latin typeface="Cambria Math"/>
                                              </a:rPr>
                                              <m:t>+</m:t>
                                            </m:r>
                                            <m:f>
                                              <m:num>
                                                <m:box>
                                                  <m:e>
                                                    <m:r>
                                                      <m:rPr>
                                                        <m:sty m:val="i"/>
                                                      </m:rPr>
                                                      <a:rPr lang="en-US" i="1" sz="1568">
                                                        <a:latin typeface="Cambria Math"/>
                                                      </a:rPr>
                                                      <m:t>q</m:t>
                                                    </m:r>
                                                    <m:r>
                                                      <m:rPr>
                                                        <m:sty m:val="i"/>
                                                      </m:rPr>
                                                      <a:rPr lang="en-US" i="1" sz="1568">
                                                        <a:latin typeface="Cambria Math"/>
                                                      </a:rPr>
                                                      <m:t>V</m:t>
                                                    </m:r>
                                                  </m:e>
                                                </m:box>
                                              </m:num>
                                              <m:den>
                                                <m:r>
                                                  <m:rPr>
                                                    <m:sty m:val="p"/>
                                                  </m:rPr>
                                                  <a:rPr lang="en-US" i="0" sz="1568">
                                                    <a:latin typeface="Cambria Math"/>
                                                  </a:rPr>
                                                  <m:t>2</m:t>
                                                </m:r>
                                              </m:den>
                                            </m:f>
                                          </m:e>
                                        </m:box>
                                      </m:e>
                                    </m:mr>
                                  </m:m>
                                </m:e>
                              </m:box>
                            </m:e>
                          </m:d>
                        </m:e>
                      </m:box>
                      <m:box>
                        <m:e>
                          <m:d>
                            <m:dPr>
                              <m:begChr m:val="("/>
                              <m:endChr m:val=")"/>
                            </m:dPr>
                            <m:e>
                              <m:box>
                                <m:e>
                                  <m:m>
                                    <m:mr>
                                      <m:e>
                                        <m:box>
                                          <m:e>
                                            <m:rad>
                                              <m:radPr>
                                                <m:degHide m:val="1"/>
                                              </m:radPr>
                                              <m:deg/>
                                              <m:e>
                                                <m:box>
                                                  <m:e>
                                                    <m:sSub>
                                                      <m:e>
                                                        <m:r>
                                                          <m:rPr>
                                                            <m:sty m:val="i"/>
                                                          </m:rPr>
                                                          <a:rPr lang="en-US" i="1" sz="1568">
                                                            <a:latin typeface="Cambria Math"/>
                                                          </a:rPr>
                                                          <m:t>n</m:t>
                                                        </m:r>
                                                      </m:e>
                                                      <m:sub>
                                                        <m:r>
                                                          <m:rPr>
                                                            <m:sty m:val="i"/>
                                                          </m:rPr>
                                                          <a:rPr lang="en-US" i="1" sz="1568">
                                                            <a:latin typeface="Cambria Math"/>
                                                          </a:rPr>
                                                          <m:t>A</m:t>
                                                        </m:r>
                                                      </m:sub>
                                                    </m:sSub>
                                                  </m:e>
                                                </m:box>
                                              </m:e>
                                            </m:rad>
                                            <m:sSup>
                                              <m:e>
                                                <m:r>
                                                  <m:rPr>
                                                    <m:sty m:val="i"/>
                                                  </m:rPr>
                                                  <a:rPr lang="en-US" i="1" sz="1568">
                                                    <a:latin typeface="Cambria Math"/>
                                                  </a:rPr>
                                                  <m:t>e</m:t>
                                                </m:r>
                                              </m:e>
                                              <m:sup>
                                                <m:box>
                                                  <m:e>
                                                    <m:r>
                                                      <m:rPr>
                                                        <m:sty m:val="i"/>
                                                      </m:rPr>
                                                      <a:rPr lang="en-US" i="1" sz="1568">
                                                        <a:latin typeface="Cambria Math"/>
                                                      </a:rPr>
                                                      <m:t>i</m:t>
                                                    </m:r>
                                                    <m:sSub>
                                                      <m:e>
                                                        <m:r>
                                                          <m:rPr>
                                                            <m:sty m:val="i"/>
                                                          </m:rPr>
                                                          <a:rPr lang="en-US" i="1" sz="1568">
                                                            <a:latin typeface="Cambria Math"/>
                                                          </a:rPr>
                                                          <m:t>θ</m:t>
                                                        </m:r>
                                                      </m:e>
                                                      <m:sub>
                                                        <m:r>
                                                          <m:rPr>
                                                            <m:sty m:val="i"/>
                                                          </m:rPr>
                                                          <a:rPr lang="en-US" i="1" sz="1568">
                                                            <a:latin typeface="Cambria Math"/>
                                                          </a:rPr>
                                                          <m:t>A</m:t>
                                                        </m:r>
                                                      </m:sub>
                                                    </m:sSub>
                                                  </m:e>
                                                </m:box>
                                              </m:sup>
                                            </m:sSup>
                                          </m:e>
                                        </m:box>
                                      </m:e>
                                    </m:mr>
                                    <m:mr>
                                      <m:e>
                                        <m:box>
                                          <m:e>
                                            <m:rad>
                                              <m:radPr>
                                                <m:degHide m:val="1"/>
                                              </m:radPr>
                                              <m:deg/>
                                              <m:e>
                                                <m:box>
                                                  <m:e>
                                                    <m:sSub>
                                                      <m:e>
                                                        <m:r>
                                                          <m:rPr>
                                                            <m:sty m:val="i"/>
                                                          </m:rPr>
                                                          <a:rPr lang="en-US" i="1" sz="1568">
                                                            <a:latin typeface="Cambria Math"/>
                                                          </a:rPr>
                                                          <m:t>n</m:t>
                                                        </m:r>
                                                      </m:e>
                                                      <m:sub>
                                                        <m:r>
                                                          <m:rPr>
                                                            <m:sty m:val="i"/>
                                                          </m:rPr>
                                                          <a:rPr lang="en-US" i="1" sz="1568">
                                                            <a:latin typeface="Cambria Math"/>
                                                          </a:rPr>
                                                          <m:t>B</m:t>
                                                        </m:r>
                                                      </m:sub>
                                                    </m:sSub>
                                                  </m:e>
                                                </m:box>
                                              </m:e>
                                            </m:rad>
                                            <m:sSup>
                                              <m:e>
                                                <m:r>
                                                  <m:rPr>
                                                    <m:sty m:val="i"/>
                                                  </m:rPr>
                                                  <a:rPr lang="en-US" i="1" sz="1568">
                                                    <a:latin typeface="Cambria Math"/>
                                                  </a:rPr>
                                                  <m:t>e</m:t>
                                                </m:r>
                                              </m:e>
                                              <m:sup>
                                                <m:box>
                                                  <m:e>
                                                    <m:r>
                                                      <m:rPr>
                                                        <m:sty m:val="i"/>
                                                      </m:rPr>
                                                      <a:rPr lang="en-US" i="1" sz="1568">
                                                        <a:latin typeface="Cambria Math"/>
                                                      </a:rPr>
                                                      <m:t>i</m:t>
                                                    </m:r>
                                                    <m:sSub>
                                                      <m:e>
                                                        <m:r>
                                                          <m:rPr>
                                                            <m:sty m:val="i"/>
                                                          </m:rPr>
                                                          <a:rPr lang="en-US" i="1" sz="1568">
                                                            <a:latin typeface="Cambria Math"/>
                                                          </a:rPr>
                                                          <m:t>θ</m:t>
                                                        </m:r>
                                                      </m:e>
                                                      <m:sub>
                                                        <m:r>
                                                          <m:rPr>
                                                            <m:sty m:val="i"/>
                                                          </m:rPr>
                                                          <a:rPr lang="en-US" i="1" sz="1568">
                                                            <a:latin typeface="Cambria Math"/>
                                                          </a:rPr>
                                                          <m:t>B</m:t>
                                                        </m:r>
                                                      </m:sub>
                                                    </m:sSub>
                                                  </m:e>
                                                </m:box>
                                              </m:sup>
                                            </m:sSup>
                                          </m:e>
                                        </m:box>
                                      </m:e>
                                    </m:mr>
                                  </m:m>
                                </m:e>
                              </m:box>
                            </m:e>
                          </m:d>
                        </m:e>
                      </m:box>
                      <m:r>
                        <m:rPr>
                          <m:sty m:val="p"/>
                        </m:rPr>
                        <a:rPr lang="en-US" i="0" sz="1568">
                          <a:latin typeface="Cambria Math"/>
                        </a:rPr>
                        <m:t>.</m:t>
                      </m:r>
                    </m:oMath>
                  </m:oMathPara>
                </a14:m>
              </mc:Choice>
              <mc:Fallback>
                <a:r>
                  <a:rPr lang="en-US" sz="1567" i="1"/>
                  <a:t>
                            i\hbar \frac{\partial}{\partial t}
                            \begin{pmatrix}
                            \sqrt{n_A} e^{i\theta_A} \\
                            \sqrt{n_B} e^{i\theta_B}
                            \end{pmatrix}
                            =
                            \begin{pmatrix}
                            H_0 - \frac{qV}{2} &amp; K \\
                            K &amp; H_0 + \frac{qV}{2}
                            \end{pmatrix}
                            \begin{pmatrix}
                            \sqrt{n_A} e^{i\theta_A} \\
                            \sqrt{n_B} e^{i\theta_B}
                            \end{pmatrix}.
                            </a:t>
                </a:r>
              </mc:Fallback>
            </mc:AlternateContent>
          </a:p>
        </p:txBody>
      </p:sp>
      <p:sp>
        <p:nvSpPr>
          <p:cNvPr id="9" name="equation"/>
          <p:cNvSpPr txBox="1"/>
          <p:nvPr/>
        </p:nvSpPr>
        <p:spPr>
          <a:xfrm>
            <a:off x="872544" y="2347143"/>
            <a:ext cx="662548" cy="225069"/>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665">
                          <a:latin typeface="Cambria Math"/>
                        </a:rPr>
                        <m:t>q</m:t>
                      </m:r>
                      <m:r>
                        <m:rPr>
                          <m:sty m:val="p"/>
                        </m:rPr>
                        <a:rPr lang="en-US" i="0" sz="1665">
                          <a:latin typeface="Cambria Math"/>
                        </a:rPr>
                        <m:t>=</m:t>
                      </m:r>
                      <m:r>
                        <m:rPr>
                          <m:sty m:val="p"/>
                        </m:rPr>
                        <a:rPr lang="en-US" i="0" sz="1665">
                          <a:latin typeface="Cambria Math"/>
                        </a:rPr>
                        <m:t>−</m:t>
                      </m:r>
                      <m:r>
                        <m:rPr>
                          <m:sty m:val="p"/>
                        </m:rPr>
                        <a:rPr lang="en-US" i="0" sz="1665">
                          <a:latin typeface="Cambria Math"/>
                        </a:rPr>
                        <m:t>2</m:t>
                      </m:r>
                      <m:r>
                        <m:rPr>
                          <m:sty m:val="i"/>
                        </m:rPr>
                        <a:rPr lang="en-US" i="1" sz="1665">
                          <a:latin typeface="Cambria Math"/>
                        </a:rPr>
                        <m:t>e</m:t>
                      </m:r>
                    </m:oMath>
                  </m:oMathPara>
                </a14:m>
              </mc:Choice>
              <mc:Fallback>
                <a:r>
                  <a:rPr lang="en-US" sz="1664" i="1"/>
                  <a:t>q = -2e</a:t>
                </a:r>
              </mc:Fallback>
            </mc:AlternateContent>
          </a:p>
        </p:txBody>
      </p:sp>
      <p:sp>
        <p:nvSpPr>
          <p:cNvPr id="10" name="equation"/>
          <p:cNvSpPr txBox="1"/>
          <p:nvPr/>
        </p:nvSpPr>
        <p:spPr>
          <a:xfrm>
            <a:off x="575733" y="2729058"/>
            <a:ext cx="11041060" cy="529148"/>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568">
                          <a:latin typeface="Cambria Math"/>
                        </a:rPr>
                        <m:t>i</m:t>
                      </m:r>
                      <m:r>
                        <m:rPr>
                          <m:sty m:val="i"/>
                        </m:rPr>
                        <a:rPr lang="en-US" i="1" sz="1568">
                          <a:latin typeface="Cambria Math"/>
                        </a:rPr>
                        <m:t>ℏ</m:t>
                      </m:r>
                      <m:f>
                        <m:num>
                          <m:r>
                            <m:rPr>
                              <m:sty m:val="i"/>
                            </m:rPr>
                            <a:rPr lang="en-US" i="1" sz="1568">
                              <a:latin typeface="Cambria Math"/>
                            </a:rPr>
                            <m:t>∂</m:t>
                          </m:r>
                        </m:num>
                        <m:den>
                          <m:box>
                            <m:e>
                              <m:r>
                                <m:rPr>
                                  <m:sty m:val="i"/>
                                </m:rPr>
                                <a:rPr lang="en-US" i="1" sz="1568">
                                  <a:latin typeface="Cambria Math"/>
                                </a:rPr>
                                <m:t>∂</m:t>
                              </m:r>
                              <m:r>
                                <m:rPr>
                                  <m:sty m:val="i"/>
                                </m:rPr>
                                <a:rPr lang="en-US" i="1" sz="1568">
                                  <a:latin typeface="Cambria Math"/>
                                </a:rPr>
                                <m:t>t</m:t>
                              </m:r>
                            </m:e>
                          </m:box>
                        </m:den>
                      </m:f>
                      <m:box>
                        <m:e>
                          <m:d>
                            <m:dPr>
                              <m:begChr m:val="("/>
                              <m:endChr m:val=")"/>
                            </m:dPr>
                            <m:e>
                              <m:box>
                                <m:e>
                                  <m:m>
                                    <m:mr>
                                      <m:e>
                                        <m:box>
                                          <m:e>
                                            <m:rad>
                                              <m:radPr>
                                                <m:degHide m:val="1"/>
                                              </m:radPr>
                                              <m:deg/>
                                              <m:e>
                                                <m:box>
                                                  <m:e>
                                                    <m:sSub>
                                                      <m:e>
                                                        <m:r>
                                                          <m:rPr>
                                                            <m:sty m:val="i"/>
                                                          </m:rPr>
                                                          <a:rPr lang="en-US" i="1" sz="1568">
                                                            <a:latin typeface="Cambria Math"/>
                                                          </a:rPr>
                                                          <m:t>n</m:t>
                                                        </m:r>
                                                      </m:e>
                                                      <m:sub>
                                                        <m:r>
                                                          <m:rPr>
                                                            <m:sty m:val="i"/>
                                                          </m:rPr>
                                                          <a:rPr lang="en-US" i="1" sz="1568">
                                                            <a:latin typeface="Cambria Math"/>
                                                          </a:rPr>
                                                          <m:t>A</m:t>
                                                        </m:r>
                                                      </m:sub>
                                                    </m:sSub>
                                                  </m:e>
                                                </m:box>
                                              </m:e>
                                            </m:rad>
                                            <m:sSup>
                                              <m:e>
                                                <m:r>
                                                  <m:rPr>
                                                    <m:sty m:val="i"/>
                                                  </m:rPr>
                                                  <a:rPr lang="en-US" i="1" sz="1568">
                                                    <a:latin typeface="Cambria Math"/>
                                                  </a:rPr>
                                                  <m:t>e</m:t>
                                                </m:r>
                                              </m:e>
                                              <m:sup>
                                                <m:box>
                                                  <m:e>
                                                    <m:r>
                                                      <m:rPr>
                                                        <m:sty m:val="i"/>
                                                      </m:rPr>
                                                      <a:rPr lang="en-US" i="1" sz="1568">
                                                        <a:latin typeface="Cambria Math"/>
                                                      </a:rPr>
                                                      <m:t>i</m:t>
                                                    </m:r>
                                                    <m:sSub>
                                                      <m:e>
                                                        <m:r>
                                                          <m:rPr>
                                                            <m:sty m:val="i"/>
                                                          </m:rPr>
                                                          <a:rPr lang="en-US" i="1" sz="1568">
                                                            <a:latin typeface="Cambria Math"/>
                                                          </a:rPr>
                                                          <m:t>θ</m:t>
                                                        </m:r>
                                                      </m:e>
                                                      <m:sub>
                                                        <m:r>
                                                          <m:rPr>
                                                            <m:sty m:val="i"/>
                                                          </m:rPr>
                                                          <a:rPr lang="en-US" i="1" sz="1568">
                                                            <a:latin typeface="Cambria Math"/>
                                                          </a:rPr>
                                                          <m:t>A</m:t>
                                                        </m:r>
                                                      </m:sub>
                                                    </m:sSub>
                                                  </m:e>
                                                </m:box>
                                              </m:sup>
                                            </m:sSup>
                                          </m:e>
                                        </m:box>
                                      </m:e>
                                    </m:mr>
                                    <m:mr>
                                      <m:e>
                                        <m:box>
                                          <m:e>
                                            <m:rad>
                                              <m:radPr>
                                                <m:degHide m:val="1"/>
                                              </m:radPr>
                                              <m:deg/>
                                              <m:e>
                                                <m:box>
                                                  <m:e>
                                                    <m:sSub>
                                                      <m:e>
                                                        <m:r>
                                                          <m:rPr>
                                                            <m:sty m:val="i"/>
                                                          </m:rPr>
                                                          <a:rPr lang="en-US" i="1" sz="1568">
                                                            <a:latin typeface="Cambria Math"/>
                                                          </a:rPr>
                                                          <m:t>n</m:t>
                                                        </m:r>
                                                      </m:e>
                                                      <m:sub>
                                                        <m:r>
                                                          <m:rPr>
                                                            <m:sty m:val="i"/>
                                                          </m:rPr>
                                                          <a:rPr lang="en-US" i="1" sz="1568">
                                                            <a:latin typeface="Cambria Math"/>
                                                          </a:rPr>
                                                          <m:t>B</m:t>
                                                        </m:r>
                                                      </m:sub>
                                                    </m:sSub>
                                                  </m:e>
                                                </m:box>
                                              </m:e>
                                            </m:rad>
                                            <m:sSup>
                                              <m:e>
                                                <m:r>
                                                  <m:rPr>
                                                    <m:sty m:val="i"/>
                                                  </m:rPr>
                                                  <a:rPr lang="en-US" i="1" sz="1568">
                                                    <a:latin typeface="Cambria Math"/>
                                                  </a:rPr>
                                                  <m:t>e</m:t>
                                                </m:r>
                                              </m:e>
                                              <m:sup>
                                                <m:box>
                                                  <m:e>
                                                    <m:r>
                                                      <m:rPr>
                                                        <m:sty m:val="i"/>
                                                      </m:rPr>
                                                      <a:rPr lang="en-US" i="1" sz="1568">
                                                        <a:latin typeface="Cambria Math"/>
                                                      </a:rPr>
                                                      <m:t>i</m:t>
                                                    </m:r>
                                                    <m:sSub>
                                                      <m:e>
                                                        <m:r>
                                                          <m:rPr>
                                                            <m:sty m:val="i"/>
                                                          </m:rPr>
                                                          <a:rPr lang="en-US" i="1" sz="1568">
                                                            <a:latin typeface="Cambria Math"/>
                                                          </a:rPr>
                                                          <m:t>θ</m:t>
                                                        </m:r>
                                                      </m:e>
                                                      <m:sub>
                                                        <m:r>
                                                          <m:rPr>
                                                            <m:sty m:val="i"/>
                                                          </m:rPr>
                                                          <a:rPr lang="en-US" i="1" sz="1568">
                                                            <a:latin typeface="Cambria Math"/>
                                                          </a:rPr>
                                                          <m:t>B</m:t>
                                                        </m:r>
                                                      </m:sub>
                                                    </m:sSub>
                                                  </m:e>
                                                </m:box>
                                              </m:sup>
                                            </m:sSup>
                                          </m:e>
                                        </m:box>
                                      </m:e>
                                    </m:mr>
                                  </m:m>
                                </m:e>
                              </m:box>
                            </m:e>
                          </m:d>
                        </m:e>
                      </m:box>
                      <m:r>
                        <m:rPr>
                          <m:sty m:val="p"/>
                        </m:rPr>
                        <a:rPr lang="en-US" i="0" sz="1568">
                          <a:latin typeface="Cambria Math"/>
                        </a:rPr>
                        <m:t>=</m:t>
                      </m:r>
                      <m:box>
                        <m:e>
                          <m:d>
                            <m:dPr>
                              <m:begChr m:val="("/>
                              <m:endChr m:val=")"/>
                            </m:dPr>
                            <m:e>
                              <m:box>
                                <m:e>
                                  <m:m>
                                    <m:mr>
                                      <m:e>
                                        <m:box>
                                          <m:e>
                                            <m:sSub>
                                              <m:e>
                                                <m:r>
                                                  <m:rPr>
                                                    <m:sty m:val="i"/>
                                                  </m:rPr>
                                                  <a:rPr lang="en-US" i="1" sz="1568">
                                                    <a:latin typeface="Cambria Math"/>
                                                  </a:rPr>
                                                  <m:t>H</m:t>
                                                </m:r>
                                              </m:e>
                                              <m:sub>
                                                <m:r>
                                                  <m:rPr>
                                                    <m:sty m:val="p"/>
                                                  </m:rPr>
                                                  <a:rPr lang="en-US" i="0" sz="1568">
                                                    <a:latin typeface="Cambria Math"/>
                                                  </a:rPr>
                                                  <m:t>0</m:t>
                                                </m:r>
                                              </m:sub>
                                            </m:sSub>
                                            <m:r>
                                              <m:rPr>
                                                <m:sty m:val="p"/>
                                              </m:rPr>
                                              <a:rPr lang="en-US" i="0" sz="1568">
                                                <a:latin typeface="Cambria Math"/>
                                              </a:rPr>
                                              <m:t>+</m:t>
                                            </m:r>
                                            <m:r>
                                              <m:rPr>
                                                <m:sty m:val="i"/>
                                              </m:rPr>
                                              <a:rPr lang="en-US" i="1" sz="1568">
                                                <a:latin typeface="Cambria Math"/>
                                              </a:rPr>
                                              <m:t>e</m:t>
                                            </m:r>
                                            <m:r>
                                              <m:rPr>
                                                <m:sty m:val="i"/>
                                              </m:rPr>
                                              <a:rPr lang="en-US" i="1" sz="1568">
                                                <a:latin typeface="Cambria Math"/>
                                              </a:rPr>
                                              <m:t>V</m:t>
                                            </m:r>
                                          </m:e>
                                        </m:box>
                                      </m:e>
                                      <m:e>
                                        <m:box>
                                          <m:e>
                                            <m:r>
                                              <m:rPr>
                                                <m:sty m:val="i"/>
                                              </m:rPr>
                                              <a:rPr lang="en-US" i="1" sz="1568">
                                                <a:latin typeface="Cambria Math"/>
                                              </a:rPr>
                                              <m:t>K</m:t>
                                            </m:r>
                                          </m:e>
                                        </m:box>
                                      </m:e>
                                    </m:mr>
                                    <m:mr>
                                      <m:e>
                                        <m:box>
                                          <m:e>
                                            <m:r>
                                              <m:rPr>
                                                <m:sty m:val="i"/>
                                              </m:rPr>
                                              <a:rPr lang="en-US" i="1" sz="1568">
                                                <a:latin typeface="Cambria Math"/>
                                              </a:rPr>
                                              <m:t>K</m:t>
                                            </m:r>
                                          </m:e>
                                        </m:box>
                                      </m:e>
                                      <m:e>
                                        <m:box>
                                          <m:e>
                                            <m:sSub>
                                              <m:e>
                                                <m:r>
                                                  <m:rPr>
                                                    <m:sty m:val="i"/>
                                                  </m:rPr>
                                                  <a:rPr lang="en-US" i="1" sz="1568">
                                                    <a:latin typeface="Cambria Math"/>
                                                  </a:rPr>
                                                  <m:t>H</m:t>
                                                </m:r>
                                              </m:e>
                                              <m:sub>
                                                <m:r>
                                                  <m:rPr>
                                                    <m:sty m:val="p"/>
                                                  </m:rPr>
                                                  <a:rPr lang="en-US" i="0" sz="1568">
                                                    <a:latin typeface="Cambria Math"/>
                                                  </a:rPr>
                                                  <m:t>0</m:t>
                                                </m:r>
                                              </m:sub>
                                            </m:sSub>
                                            <m:r>
                                              <m:rPr>
                                                <m:sty m:val="p"/>
                                              </m:rPr>
                                              <a:rPr lang="en-US" i="0" sz="1568">
                                                <a:latin typeface="Cambria Math"/>
                                              </a:rPr>
                                              <m:t>−</m:t>
                                            </m:r>
                                            <m:r>
                                              <m:rPr>
                                                <m:sty m:val="i"/>
                                              </m:rPr>
                                              <a:rPr lang="en-US" i="1" sz="1568">
                                                <a:latin typeface="Cambria Math"/>
                                              </a:rPr>
                                              <m:t>e</m:t>
                                            </m:r>
                                            <m:r>
                                              <m:rPr>
                                                <m:sty m:val="i"/>
                                              </m:rPr>
                                              <a:rPr lang="en-US" i="1" sz="1568">
                                                <a:latin typeface="Cambria Math"/>
                                              </a:rPr>
                                              <m:t>V</m:t>
                                            </m:r>
                                          </m:e>
                                        </m:box>
                                      </m:e>
                                    </m:mr>
                                  </m:m>
                                </m:e>
                              </m:box>
                            </m:e>
                          </m:d>
                        </m:e>
                      </m:box>
                      <m:box>
                        <m:e>
                          <m:d>
                            <m:dPr>
                              <m:begChr m:val="("/>
                              <m:endChr m:val=")"/>
                            </m:dPr>
                            <m:e>
                              <m:box>
                                <m:e>
                                  <m:m>
                                    <m:mr>
                                      <m:e>
                                        <m:box>
                                          <m:e>
                                            <m:rad>
                                              <m:radPr>
                                                <m:degHide m:val="1"/>
                                              </m:radPr>
                                              <m:deg/>
                                              <m:e>
                                                <m:box>
                                                  <m:e>
                                                    <m:sSub>
                                                      <m:e>
                                                        <m:r>
                                                          <m:rPr>
                                                            <m:sty m:val="i"/>
                                                          </m:rPr>
                                                          <a:rPr lang="en-US" i="1" sz="1568">
                                                            <a:latin typeface="Cambria Math"/>
                                                          </a:rPr>
                                                          <m:t>n</m:t>
                                                        </m:r>
                                                      </m:e>
                                                      <m:sub>
                                                        <m:r>
                                                          <m:rPr>
                                                            <m:sty m:val="i"/>
                                                          </m:rPr>
                                                          <a:rPr lang="en-US" i="1" sz="1568">
                                                            <a:latin typeface="Cambria Math"/>
                                                          </a:rPr>
                                                          <m:t>A</m:t>
                                                        </m:r>
                                                      </m:sub>
                                                    </m:sSub>
                                                  </m:e>
                                                </m:box>
                                              </m:e>
                                            </m:rad>
                                            <m:sSup>
                                              <m:e>
                                                <m:r>
                                                  <m:rPr>
                                                    <m:sty m:val="i"/>
                                                  </m:rPr>
                                                  <a:rPr lang="en-US" i="1" sz="1568">
                                                    <a:latin typeface="Cambria Math"/>
                                                  </a:rPr>
                                                  <m:t>e</m:t>
                                                </m:r>
                                              </m:e>
                                              <m:sup>
                                                <m:box>
                                                  <m:e>
                                                    <m:r>
                                                      <m:rPr>
                                                        <m:sty m:val="i"/>
                                                      </m:rPr>
                                                      <a:rPr lang="en-US" i="1" sz="1568">
                                                        <a:latin typeface="Cambria Math"/>
                                                      </a:rPr>
                                                      <m:t>i</m:t>
                                                    </m:r>
                                                    <m:sSub>
                                                      <m:e>
                                                        <m:r>
                                                          <m:rPr>
                                                            <m:sty m:val="i"/>
                                                          </m:rPr>
                                                          <a:rPr lang="en-US" i="1" sz="1568">
                                                            <a:latin typeface="Cambria Math"/>
                                                          </a:rPr>
                                                          <m:t>θ</m:t>
                                                        </m:r>
                                                      </m:e>
                                                      <m:sub>
                                                        <m:r>
                                                          <m:rPr>
                                                            <m:sty m:val="i"/>
                                                          </m:rPr>
                                                          <a:rPr lang="en-US" i="1" sz="1568">
                                                            <a:latin typeface="Cambria Math"/>
                                                          </a:rPr>
                                                          <m:t>A</m:t>
                                                        </m:r>
                                                      </m:sub>
                                                    </m:sSub>
                                                  </m:e>
                                                </m:box>
                                              </m:sup>
                                            </m:sSup>
                                          </m:e>
                                        </m:box>
                                      </m:e>
                                    </m:mr>
                                    <m:mr>
                                      <m:e>
                                        <m:box>
                                          <m:e>
                                            <m:rad>
                                              <m:radPr>
                                                <m:degHide m:val="1"/>
                                              </m:radPr>
                                              <m:deg/>
                                              <m:e>
                                                <m:box>
                                                  <m:e>
                                                    <m:sSub>
                                                      <m:e>
                                                        <m:r>
                                                          <m:rPr>
                                                            <m:sty m:val="i"/>
                                                          </m:rPr>
                                                          <a:rPr lang="en-US" i="1" sz="1568">
                                                            <a:latin typeface="Cambria Math"/>
                                                          </a:rPr>
                                                          <m:t>n</m:t>
                                                        </m:r>
                                                      </m:e>
                                                      <m:sub>
                                                        <m:r>
                                                          <m:rPr>
                                                            <m:sty m:val="i"/>
                                                          </m:rPr>
                                                          <a:rPr lang="en-US" i="1" sz="1568">
                                                            <a:latin typeface="Cambria Math"/>
                                                          </a:rPr>
                                                          <m:t>B</m:t>
                                                        </m:r>
                                                      </m:sub>
                                                    </m:sSub>
                                                  </m:e>
                                                </m:box>
                                              </m:e>
                                            </m:rad>
                                            <m:sSup>
                                              <m:e>
                                                <m:r>
                                                  <m:rPr>
                                                    <m:sty m:val="i"/>
                                                  </m:rPr>
                                                  <a:rPr lang="en-US" i="1" sz="1568">
                                                    <a:latin typeface="Cambria Math"/>
                                                  </a:rPr>
                                                  <m:t>e</m:t>
                                                </m:r>
                                              </m:e>
                                              <m:sup>
                                                <m:box>
                                                  <m:e>
                                                    <m:r>
                                                      <m:rPr>
                                                        <m:sty m:val="i"/>
                                                      </m:rPr>
                                                      <a:rPr lang="en-US" i="1" sz="1568">
                                                        <a:latin typeface="Cambria Math"/>
                                                      </a:rPr>
                                                      <m:t>i</m:t>
                                                    </m:r>
                                                    <m:sSub>
                                                      <m:e>
                                                        <m:r>
                                                          <m:rPr>
                                                            <m:sty m:val="i"/>
                                                          </m:rPr>
                                                          <a:rPr lang="en-US" i="1" sz="1568">
                                                            <a:latin typeface="Cambria Math"/>
                                                          </a:rPr>
                                                          <m:t>θ</m:t>
                                                        </m:r>
                                                      </m:e>
                                                      <m:sub>
                                                        <m:r>
                                                          <m:rPr>
                                                            <m:sty m:val="i"/>
                                                          </m:rPr>
                                                          <a:rPr lang="en-US" i="1" sz="1568">
                                                            <a:latin typeface="Cambria Math"/>
                                                          </a:rPr>
                                                          <m:t>B</m:t>
                                                        </m:r>
                                                      </m:sub>
                                                    </m:sSub>
                                                  </m:e>
                                                </m:box>
                                              </m:sup>
                                            </m:sSup>
                                          </m:e>
                                        </m:box>
                                      </m:e>
                                    </m:mr>
                                  </m:m>
                                </m:e>
                              </m:box>
                            </m:e>
                          </m:d>
                        </m:e>
                      </m:box>
                      <m:r>
                        <m:rPr>
                          <m:sty m:val="p"/>
                        </m:rPr>
                        <a:rPr lang="en-US" i="0" sz="1568">
                          <a:latin typeface="Cambria Math"/>
                        </a:rPr>
                        <m:t>.</m:t>
                      </m:r>
                    </m:oMath>
                  </m:oMathPara>
                </a14:m>
              </mc:Choice>
              <mc:Fallback>
                <a:r>
                  <a:rPr lang="en-US" sz="1567" i="1"/>
                  <a:t>
                            i\hbar \frac{\partial}{\partial t}
                            \begin{pmatrix}
                            \sqrt{n_A} e^{i\theta_A} \\
                            \sqrt{n_B} e^{i\theta_B}
                            \end{pmatrix}
                            =
                            \begin{pmatrix}
                            H_0 + eV &amp; K \\
                            K &amp; H_0 - eV
                            \end{pmatrix}
                            \begin{pmatrix}
                            \sqrt{n_A} e^{i\theta_A} \\
                            \sqrt{n_B} e^{i\theta_B}
                            \end{pmatrix}.
                            </a:t>
                </a:r>
              </mc:Fallback>
            </mc:AlternateContent>
          </a:p>
        </p:txBody>
      </p:sp>
      <p:sp>
        <p:nvSpPr>
          <p:cNvPr id="11" name="TextBox 10"/>
          <p:cNvSpPr txBox="1"/>
          <p:nvPr/>
        </p:nvSpPr>
        <p:spPr>
          <a:xfrm>
            <a:off x="575733" y="3393247"/>
            <a:ext cx="11041060" cy="2586188"/>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The first equation is: </a:t>
            </a:r>
            <mc:AlternateContent xmlns:mc="http://schemas.openxmlformats.org/markup-compatibility/2006">
              <mc:Choice xmlns:a14="http://schemas.microsoft.com/office/drawing/2010/main" Requires="a14">
                <a14:m>
                  <m:oMath xmlns:m="http://schemas.openxmlformats.org/officeDocument/2006/math">
                    <m:r>
                      <m:rPr>
                        <m:sty m:val="i"/>
                      </m:rPr>
                      <a:rPr lang="en-US" i="1" sz="1568">
                        <a:latin typeface="Cambria Math"/>
                      </a:rPr>
                      <m:t>i</m:t>
                    </m:r>
                    <m:r>
                      <m:rPr>
                        <m:sty m:val="i"/>
                      </m:rPr>
                      <a:rPr lang="en-US" i="1" sz="1568">
                        <a:latin typeface="Cambria Math"/>
                      </a:rPr>
                      <m:t>ℏ</m:t>
                    </m:r>
                    <m:f>
                      <m:num>
                        <m:r>
                          <m:rPr>
                            <m:sty m:val="i"/>
                          </m:rPr>
                          <a:rPr lang="en-US" i="1" sz="1568">
                            <a:latin typeface="Cambria Math"/>
                          </a:rPr>
                          <m:t>∂</m:t>
                        </m:r>
                      </m:num>
                      <m:den>
                        <m:box>
                          <m:e>
                            <m:r>
                              <m:rPr>
                                <m:sty m:val="i"/>
                              </m:rPr>
                              <a:rPr lang="en-US" i="1" sz="1568">
                                <a:latin typeface="Cambria Math"/>
                              </a:rPr>
                              <m:t>∂</m:t>
                            </m:r>
                            <m:r>
                              <m:rPr>
                                <m:sty m:val="i"/>
                              </m:rPr>
                              <a:rPr lang="en-US" i="1" sz="1568">
                                <a:latin typeface="Cambria Math"/>
                              </a:rPr>
                              <m:t>t</m:t>
                            </m:r>
                          </m:e>
                        </m:box>
                      </m:den>
                    </m:f>
                    <m:r>
                      <m:rPr>
                        <m:sty m:val="p"/>
                      </m:rPr>
                      <a:rPr lang="en-US" i="0" sz="1568">
                        <a:latin typeface="Cambria Math"/>
                      </a:rPr>
                      <m:t>(</m:t>
                    </m:r>
                    <m:rad>
                      <m:radPr>
                        <m:degHide m:val="1"/>
                      </m:radPr>
                      <m:deg/>
                      <m:e>
                        <m:box>
                          <m:e>
                            <m:sSub>
                              <m:e>
                                <m:r>
                                  <m:rPr>
                                    <m:sty m:val="i"/>
                                  </m:rPr>
                                  <a:rPr lang="en-US" i="1" sz="1568">
                                    <a:latin typeface="Cambria Math"/>
                                  </a:rPr>
                                  <m:t>n</m:t>
                                </m:r>
                              </m:e>
                              <m:sub>
                                <m:r>
                                  <m:rPr>
                                    <m:sty m:val="i"/>
                                  </m:rPr>
                                  <a:rPr lang="en-US" i="1" sz="1568">
                                    <a:latin typeface="Cambria Math"/>
                                  </a:rPr>
                                  <m:t>A</m:t>
                                </m:r>
                              </m:sub>
                            </m:sSub>
                          </m:e>
                        </m:box>
                      </m:e>
                    </m:rad>
                    <m:sSup>
                      <m:e>
                        <m:r>
                          <m:rPr>
                            <m:sty m:val="i"/>
                          </m:rPr>
                          <a:rPr lang="en-US" i="1" sz="1568">
                            <a:latin typeface="Cambria Math"/>
                          </a:rPr>
                          <m:t>e</m:t>
                        </m:r>
                      </m:e>
                      <m:sup>
                        <m:box>
                          <m:e>
                            <m:r>
                              <m:rPr>
                                <m:sty m:val="i"/>
                              </m:rPr>
                              <a:rPr lang="en-US" i="1" sz="1568">
                                <a:latin typeface="Cambria Math"/>
                              </a:rPr>
                              <m:t>i</m:t>
                            </m:r>
                            <m:sSub>
                              <m:e>
                                <m:r>
                                  <m:rPr>
                                    <m:sty m:val="i"/>
                                  </m:rPr>
                                  <a:rPr lang="en-US" i="1" sz="1568">
                                    <a:latin typeface="Cambria Math"/>
                                  </a:rPr>
                                  <m:t>θ</m:t>
                                </m:r>
                              </m:e>
                              <m:sub>
                                <m:r>
                                  <m:rPr>
                                    <m:sty m:val="i"/>
                                  </m:rPr>
                                  <a:rPr lang="en-US" i="1" sz="1568">
                                    <a:latin typeface="Cambria Math"/>
                                  </a:rPr>
                                  <m:t>A</m:t>
                                </m:r>
                              </m:sub>
                            </m:sSub>
                          </m:e>
                        </m:box>
                      </m:sup>
                    </m:sSup>
                    <m:r>
                      <m:rPr>
                        <m:sty m:val="p"/>
                      </m:rPr>
                      <a:rPr lang="en-US" i="0" sz="1568">
                        <a:latin typeface="Cambria Math"/>
                      </a:rPr>
                      <m:t>)</m:t>
                    </m:r>
                    <m:r>
                      <m:rPr>
                        <m:sty m:val="p"/>
                      </m:rPr>
                      <a:rPr lang="en-US" i="0" sz="1568">
                        <a:latin typeface="Cambria Math"/>
                      </a:rPr>
                      <m:t>=</m:t>
                    </m:r>
                    <m:f>
                      <m:num>
                        <m:r>
                          <m:rPr>
                            <m:sty m:val="i"/>
                          </m:rPr>
                          <a:rPr lang="en-US" i="1" sz="1568">
                            <a:latin typeface="Cambria Math"/>
                          </a:rPr>
                          <m:t>i</m:t>
                        </m:r>
                      </m:num>
                      <m:den>
                        <m:r>
                          <m:rPr>
                            <m:sty m:val="p"/>
                          </m:rPr>
                          <a:rPr lang="en-US" i="0" sz="1568">
                            <a:latin typeface="Cambria Math"/>
                          </a:rPr>
                          <m:t>2</m:t>
                        </m:r>
                      </m:den>
                    </m:f>
                    <m:f>
                      <m:num>
                        <m:sSup>
                          <m:e>
                            <m:r>
                              <m:rPr>
                                <m:sty m:val="i"/>
                              </m:rPr>
                              <a:rPr lang="en-US" i="1" sz="1568">
                                <a:latin typeface="Cambria Math"/>
                              </a:rPr>
                              <m:t>e</m:t>
                            </m:r>
                          </m:e>
                          <m:sup>
                            <m:box>
                              <m:e>
                                <m:r>
                                  <m:rPr>
                                    <m:sty m:val="i"/>
                                  </m:rPr>
                                  <a:rPr lang="en-US" i="1" sz="1568">
                                    <a:latin typeface="Cambria Math"/>
                                  </a:rPr>
                                  <m:t>i</m:t>
                                </m:r>
                                <m:sSub>
                                  <m:e>
                                    <m:r>
                                      <m:rPr>
                                        <m:sty m:val="i"/>
                                      </m:rPr>
                                      <a:rPr lang="en-US" i="1" sz="1568">
                                        <a:latin typeface="Cambria Math"/>
                                      </a:rPr>
                                      <m:t>θ</m:t>
                                    </m:r>
                                  </m:e>
                                  <m:sub>
                                    <m:r>
                                      <m:rPr>
                                        <m:sty m:val="i"/>
                                      </m:rPr>
                                      <a:rPr lang="en-US" i="1" sz="1568">
                                        <a:latin typeface="Cambria Math"/>
                                      </a:rPr>
                                      <m:t>A</m:t>
                                    </m:r>
                                  </m:sub>
                                </m:sSub>
                              </m:e>
                            </m:box>
                          </m:sup>
                        </m:sSup>
                      </m:num>
                      <m:den>
                        <m:rad>
                          <m:radPr>
                            <m:degHide m:val="1"/>
                          </m:radPr>
                          <m:deg/>
                          <m:e>
                            <m:box>
                              <m:e>
                                <m:sSub>
                                  <m:e>
                                    <m:r>
                                      <m:rPr>
                                        <m:sty m:val="i"/>
                                      </m:rPr>
                                      <a:rPr lang="en-US" i="1" sz="1568">
                                        <a:latin typeface="Cambria Math"/>
                                      </a:rPr>
                                      <m:t>n</m:t>
                                    </m:r>
                                  </m:e>
                                  <m:sub>
                                    <m:r>
                                      <m:rPr>
                                        <m:sty m:val="i"/>
                                      </m:rPr>
                                      <a:rPr lang="en-US" i="1" sz="1568">
                                        <a:latin typeface="Cambria Math"/>
                                      </a:rPr>
                                      <m:t>A</m:t>
                                    </m:r>
                                  </m:sub>
                                </m:sSub>
                              </m:e>
                            </m:box>
                          </m:e>
                        </m:rad>
                      </m:den>
                    </m:f>
                    <m:f>
                      <m:num>
                        <m:box>
                          <m:e>
                            <m:r>
                              <m:rPr>
                                <m:sty m:val="i"/>
                              </m:rPr>
                              <a:rPr lang="en-US" i="1" sz="1568">
                                <a:latin typeface="Cambria Math"/>
                              </a:rPr>
                              <m:t>∂</m:t>
                            </m:r>
                            <m:sSub>
                              <m:e>
                                <m:r>
                                  <m:rPr>
                                    <m:sty m:val="i"/>
                                  </m:rPr>
                                  <a:rPr lang="en-US" i="1" sz="1568">
                                    <a:latin typeface="Cambria Math"/>
                                  </a:rPr>
                                  <m:t>n</m:t>
                                </m:r>
                              </m:e>
                              <m:sub>
                                <m:r>
                                  <m:rPr>
                                    <m:sty m:val="i"/>
                                  </m:rPr>
                                  <a:rPr lang="en-US" i="1" sz="1568">
                                    <a:latin typeface="Cambria Math"/>
                                  </a:rPr>
                                  <m:t>A</m:t>
                                </m:r>
                              </m:sub>
                            </m:sSub>
                          </m:e>
                        </m:box>
                      </m:num>
                      <m:den>
                        <m:box>
                          <m:e>
                            <m:r>
                              <m:rPr>
                                <m:sty m:val="i"/>
                              </m:rPr>
                              <a:rPr lang="en-US" i="1" sz="1568">
                                <a:latin typeface="Cambria Math"/>
                              </a:rPr>
                              <m:t>∂</m:t>
                            </m:r>
                            <m:r>
                              <m:rPr>
                                <m:sty m:val="i"/>
                              </m:rPr>
                              <a:rPr lang="en-US" i="1" sz="1568">
                                <a:latin typeface="Cambria Math"/>
                              </a:rPr>
                              <m:t>t</m:t>
                            </m:r>
                          </m:e>
                        </m:box>
                      </m:den>
                    </m:f>
                    <m:r>
                      <m:rPr>
                        <m:sty m:val="p"/>
                      </m:rPr>
                      <a:rPr lang="en-US" i="0" sz="1568">
                        <a:latin typeface="Cambria Math"/>
                      </a:rPr>
                      <m:t>−</m:t>
                    </m:r>
                    <m:rad>
                      <m:radPr>
                        <m:degHide m:val="1"/>
                      </m:radPr>
                      <m:deg/>
                      <m:e>
                        <m:box>
                          <m:e>
                            <m:sSub>
                              <m:e>
                                <m:r>
                                  <m:rPr>
                                    <m:sty m:val="i"/>
                                  </m:rPr>
                                  <a:rPr lang="en-US" i="1" sz="1568">
                                    <a:latin typeface="Cambria Math"/>
                                  </a:rPr>
                                  <m:t>n</m:t>
                                </m:r>
                              </m:e>
                              <m:sub>
                                <m:r>
                                  <m:rPr>
                                    <m:sty m:val="i"/>
                                  </m:rPr>
                                  <a:rPr lang="en-US" i="1" sz="1568">
                                    <a:latin typeface="Cambria Math"/>
                                  </a:rPr>
                                  <m:t>A</m:t>
                                </m:r>
                              </m:sub>
                            </m:sSub>
                          </m:e>
                        </m:box>
                      </m:e>
                    </m:rad>
                    <m:sSup>
                      <m:e>
                        <m:r>
                          <m:rPr>
                            <m:sty m:val="i"/>
                          </m:rPr>
                          <a:rPr lang="en-US" i="1" sz="1568">
                            <a:latin typeface="Cambria Math"/>
                          </a:rPr>
                          <m:t>e</m:t>
                        </m:r>
                      </m:e>
                      <m:sup>
                        <m:box>
                          <m:e>
                            <m:r>
                              <m:rPr>
                                <m:sty m:val="i"/>
                              </m:rPr>
                              <a:rPr lang="en-US" i="1" sz="1568">
                                <a:latin typeface="Cambria Math"/>
                              </a:rPr>
                              <m:t>i</m:t>
                            </m:r>
                            <m:sSub>
                              <m:e>
                                <m:r>
                                  <m:rPr>
                                    <m:sty m:val="i"/>
                                  </m:rPr>
                                  <a:rPr lang="en-US" i="1" sz="1568">
                                    <a:latin typeface="Cambria Math"/>
                                  </a:rPr>
                                  <m:t>θ</m:t>
                                </m:r>
                              </m:e>
                              <m:sub>
                                <m:r>
                                  <m:rPr>
                                    <m:sty m:val="i"/>
                                  </m:rPr>
                                  <a:rPr lang="en-US" i="1" sz="1568">
                                    <a:latin typeface="Cambria Math"/>
                                  </a:rPr>
                                  <m:t>A</m:t>
                                </m:r>
                              </m:sub>
                            </m:sSub>
                          </m:e>
                        </m:box>
                      </m:sup>
                    </m:sSup>
                    <m:f>
                      <m:num>
                        <m:box>
                          <m:e>
                            <m:r>
                              <m:rPr>
                                <m:sty m:val="i"/>
                              </m:rPr>
                              <a:rPr lang="en-US" i="1" sz="1568">
                                <a:latin typeface="Cambria Math"/>
                              </a:rPr>
                              <m:t>∂</m:t>
                            </m:r>
                            <m:sSub>
                              <m:e>
                                <m:r>
                                  <m:rPr>
                                    <m:sty m:val="i"/>
                                  </m:rPr>
                                  <a:rPr lang="en-US" i="1" sz="1568">
                                    <a:latin typeface="Cambria Math"/>
                                  </a:rPr>
                                  <m:t>θ</m:t>
                                </m:r>
                              </m:e>
                              <m:sub>
                                <m:r>
                                  <m:rPr>
                                    <m:sty m:val="i"/>
                                  </m:rPr>
                                  <a:rPr lang="en-US" i="1" sz="1568">
                                    <a:latin typeface="Cambria Math"/>
                                  </a:rPr>
                                  <m:t>A</m:t>
                                </m:r>
                              </m:sub>
                            </m:sSub>
                          </m:e>
                        </m:box>
                      </m:num>
                      <m:den>
                        <m:box>
                          <m:e>
                            <m:r>
                              <m:rPr>
                                <m:sty m:val="i"/>
                              </m:rPr>
                              <a:rPr lang="en-US" i="1" sz="1568">
                                <a:latin typeface="Cambria Math"/>
                              </a:rPr>
                              <m:t>∂</m:t>
                            </m:r>
                            <m:r>
                              <m:rPr>
                                <m:sty m:val="i"/>
                              </m:rPr>
                              <a:rPr lang="en-US" i="1" sz="1568">
                                <a:latin typeface="Cambria Math"/>
                              </a:rPr>
                              <m:t>t</m:t>
                            </m:r>
                          </m:e>
                        </m:box>
                      </m:den>
                    </m:f>
                    <m:r>
                      <m:rPr>
                        <m:sty m:val="p"/>
                      </m:rPr>
                      <a:rPr lang="en-US" i="0" sz="1568">
                        <a:latin typeface="Cambria Math"/>
                      </a:rPr>
                      <m:t>=</m:t>
                    </m:r>
                    <m:r>
                      <m:rPr>
                        <m:sty m:val="p"/>
                      </m:rPr>
                      <a:rPr lang="en-US" i="0" sz="1568">
                        <a:latin typeface="Cambria Math"/>
                      </a:rPr>
                      <m:t>(</m:t>
                    </m:r>
                    <m:sSub>
                      <m:e>
                        <m:r>
                          <m:rPr>
                            <m:sty m:val="i"/>
                          </m:rPr>
                          <a:rPr lang="en-US" i="1" sz="1568">
                            <a:latin typeface="Cambria Math"/>
                          </a:rPr>
                          <m:t>H</m:t>
                        </m:r>
                      </m:e>
                      <m:sub>
                        <m:r>
                          <m:rPr>
                            <m:sty m:val="p"/>
                          </m:rPr>
                          <a:rPr lang="en-US" i="0" sz="1568">
                            <a:latin typeface="Cambria Math"/>
                          </a:rPr>
                          <m:t>0</m:t>
                        </m:r>
                      </m:sub>
                    </m:sSub>
                    <m:r>
                      <m:rPr>
                        <m:sty m:val="p"/>
                      </m:rPr>
                      <a:rPr lang="en-US" i="0" sz="1568">
                        <a:latin typeface="Cambria Math"/>
                      </a:rPr>
                      <m:t>+</m:t>
                    </m:r>
                    <m:r>
                      <m:rPr>
                        <m:sty m:val="i"/>
                      </m:rPr>
                      <a:rPr lang="en-US" i="1" sz="1568">
                        <a:latin typeface="Cambria Math"/>
                      </a:rPr>
                      <m:t>e</m:t>
                    </m:r>
                    <m:r>
                      <m:rPr>
                        <m:sty m:val="i"/>
                      </m:rPr>
                      <a:rPr lang="en-US" i="1" sz="1568">
                        <a:latin typeface="Cambria Math"/>
                      </a:rPr>
                      <m:t>V</m:t>
                    </m:r>
                    <m:r>
                      <m:rPr>
                        <m:sty m:val="p"/>
                      </m:rPr>
                      <a:rPr lang="en-US" i="0" sz="1568">
                        <a:latin typeface="Cambria Math"/>
                      </a:rPr>
                      <m:t>)</m:t>
                    </m:r>
                    <m:rad>
                      <m:radPr>
                        <m:degHide m:val="1"/>
                      </m:radPr>
                      <m:deg/>
                      <m:e>
                        <m:box>
                          <m:e>
                            <m:sSub>
                              <m:e>
                                <m:r>
                                  <m:rPr>
                                    <m:sty m:val="i"/>
                                  </m:rPr>
                                  <a:rPr lang="en-US" i="1" sz="1568">
                                    <a:latin typeface="Cambria Math"/>
                                  </a:rPr>
                                  <m:t>n</m:t>
                                </m:r>
                              </m:e>
                              <m:sub>
                                <m:r>
                                  <m:rPr>
                                    <m:sty m:val="i"/>
                                  </m:rPr>
                                  <a:rPr lang="en-US" i="1" sz="1568">
                                    <a:latin typeface="Cambria Math"/>
                                  </a:rPr>
                                  <m:t>A</m:t>
                                </m:r>
                              </m:sub>
                            </m:sSub>
                          </m:e>
                        </m:box>
                      </m:e>
                    </m:rad>
                    <m:sSup>
                      <m:e>
                        <m:r>
                          <m:rPr>
                            <m:sty m:val="i"/>
                          </m:rPr>
                          <a:rPr lang="en-US" i="1" sz="1568">
                            <a:latin typeface="Cambria Math"/>
                          </a:rPr>
                          <m:t>e</m:t>
                        </m:r>
                      </m:e>
                      <m:sup>
                        <m:box>
                          <m:e>
                            <m:r>
                              <m:rPr>
                                <m:sty m:val="i"/>
                              </m:rPr>
                              <a:rPr lang="en-US" i="1" sz="1568">
                                <a:latin typeface="Cambria Math"/>
                              </a:rPr>
                              <m:t>i</m:t>
                            </m:r>
                            <m:sSub>
                              <m:e>
                                <m:r>
                                  <m:rPr>
                                    <m:sty m:val="i"/>
                                  </m:rPr>
                                  <a:rPr lang="en-US" i="1" sz="1568">
                                    <a:latin typeface="Cambria Math"/>
                                  </a:rPr>
                                  <m:t>θ</m:t>
                                </m:r>
                              </m:e>
                              <m:sub>
                                <m:r>
                                  <m:rPr>
                                    <m:sty m:val="i"/>
                                  </m:rPr>
                                  <a:rPr lang="en-US" i="1" sz="1568">
                                    <a:latin typeface="Cambria Math"/>
                                  </a:rPr>
                                  <m:t>A</m:t>
                                </m:r>
                              </m:sub>
                            </m:sSub>
                          </m:e>
                        </m:box>
                      </m:sup>
                    </m:sSup>
                    <m:r>
                      <m:rPr>
                        <m:sty m:val="p"/>
                      </m:rPr>
                      <a:rPr lang="en-US" i="0" sz="1568">
                        <a:latin typeface="Cambria Math"/>
                      </a:rPr>
                      <m:t>+</m:t>
                    </m:r>
                    <m:r>
                      <m:rPr>
                        <m:sty m:val="i"/>
                      </m:rPr>
                      <a:rPr lang="en-US" i="1" sz="1568">
                        <a:latin typeface="Cambria Math"/>
                      </a:rPr>
                      <m:t>K</m:t>
                    </m:r>
                    <m:rad>
                      <m:radPr>
                        <m:degHide m:val="1"/>
                      </m:radPr>
                      <m:deg/>
                      <m:e>
                        <m:box>
                          <m:e>
                            <m:sSub>
                              <m:e>
                                <m:r>
                                  <m:rPr>
                                    <m:sty m:val="i"/>
                                  </m:rPr>
                                  <a:rPr lang="en-US" i="1" sz="1568">
                                    <a:latin typeface="Cambria Math"/>
                                  </a:rPr>
                                  <m:t>n</m:t>
                                </m:r>
                              </m:e>
                              <m:sub>
                                <m:r>
                                  <m:rPr>
                                    <m:sty m:val="i"/>
                                  </m:rPr>
                                  <a:rPr lang="en-US" i="1" sz="1568">
                                    <a:latin typeface="Cambria Math"/>
                                  </a:rPr>
                                  <m:t>B</m:t>
                                </m:r>
                              </m:sub>
                            </m:sSub>
                          </m:e>
                        </m:box>
                      </m:e>
                    </m:rad>
                    <m:sSup>
                      <m:e>
                        <m:r>
                          <m:rPr>
                            <m:sty m:val="i"/>
                          </m:rPr>
                          <a:rPr lang="en-US" i="1" sz="1568">
                            <a:latin typeface="Cambria Math"/>
                          </a:rPr>
                          <m:t>e</m:t>
                        </m:r>
                      </m:e>
                      <m:sup>
                        <m:box>
                          <m:e>
                            <m:r>
                              <m:rPr>
                                <m:sty m:val="i"/>
                              </m:rPr>
                              <a:rPr lang="en-US" i="1" sz="1568">
                                <a:latin typeface="Cambria Math"/>
                              </a:rPr>
                              <m:t>i</m:t>
                            </m:r>
                            <m:sSub>
                              <m:e>
                                <m:r>
                                  <m:rPr>
                                    <m:sty m:val="i"/>
                                  </m:rPr>
                                  <a:rPr lang="en-US" i="1" sz="1568">
                                    <a:latin typeface="Cambria Math"/>
                                  </a:rPr>
                                  <m:t>θ</m:t>
                                </m:r>
                              </m:e>
                              <m:sub>
                                <m:r>
                                  <m:rPr>
                                    <m:sty m:val="i"/>
                                  </m:rPr>
                                  <a:rPr lang="en-US" i="1" sz="1568">
                                    <a:latin typeface="Cambria Math"/>
                                  </a:rPr>
                                  <m:t>B</m:t>
                                </m:r>
                              </m:sub>
                            </m:sSub>
                          </m:e>
                        </m:box>
                      </m:sup>
                    </m:sSup>
                    <m:r>
                      <m:rPr>
                        <m:sty m:val="p"/>
                      </m:rPr>
                      <a:rPr lang="en-US" i="0" sz="1568">
                        <a:latin typeface="Cambria Math"/>
                      </a:rPr>
                      <m:t>.</m:t>
                    </m:r>
                  </m:oMath>
                </a14:m>
              </mc:Choice>
              <mc:Fallback>
                <a:r>
                  <a:rPr lang="en-US" sz="1567" i="1"/>
                  <a:t>
                                    i\hbar \frac{\partial}{\partial t} (\sqrt{n_A} e^{i\theta_A}) =
                                    \frac{i}{2} \frac{e^{i\theta_A}}{\sqrt{n_A}} \frac{\partial n_A}{\partial t}
                                    - \sqrt{n_A} e^{i\theta_A} \frac{\partial \theta_A}{\partial t}
                                    = (H_0 + eV) \sqrt{n_A} e^{i\theta_A} + K\sqrt{n_B} e^{i\theta_B}.
                                    </a:t>
                </a:r>
              </mc:Fallback>
            </mc:AlternateContent>
            <a:r>
              <a:rPr sz="1400" b="0" i="0">
                <a:solidFill>
                  <a:srgbClr val="4F4C56"/>
                </a:solidFill>
                <a:latin typeface="Montserrat"/>
                <a:ea typeface="Montserrat"/>
                <a:cs typeface="Montserrat"/>
              </a:rPr>
              <a:t> Separating real and imaginary parts gives: </a:t>
            </a:r>
            <mc:AlternateContent xmlns:mc="http://schemas.openxmlformats.org/markup-compatibility/2006">
              <mc:Choice xmlns:a14="http://schemas.microsoft.com/office/drawing/2010/main" Requires="a14">
                <a14:m>
                  <m:oMath xmlns:m="http://schemas.openxmlformats.org/officeDocument/2006/math">
                    <m:f>
                      <m:num>
                        <m:r>
                          <m:rPr>
                            <m:sty m:val="i"/>
                          </m:rPr>
                          <a:rPr lang="en-US" i="1" sz="1568">
                            <a:latin typeface="Cambria Math"/>
                          </a:rPr>
                          <m:t>i</m:t>
                        </m:r>
                      </m:num>
                      <m:den>
                        <m:r>
                          <m:rPr>
                            <m:sty m:val="p"/>
                          </m:rPr>
                          <a:rPr lang="en-US" i="0" sz="1568">
                            <a:latin typeface="Cambria Math"/>
                          </a:rPr>
                          <m:t>2</m:t>
                        </m:r>
                      </m:den>
                    </m:f>
                    <m:r>
                      <m:rPr>
                        <m:sty m:val="i"/>
                      </m:rPr>
                      <a:rPr lang="en-US" i="1" sz="1568">
                        <a:latin typeface="Cambria Math"/>
                      </a:rPr>
                      <m:t>ℏ</m:t>
                    </m:r>
                    <m:f>
                      <m:num>
                        <m:box>
                          <m:e>
                            <m:r>
                              <m:rPr>
                                <m:sty m:val="i"/>
                              </m:rPr>
                              <a:rPr lang="en-US" i="1" sz="1568">
                                <a:latin typeface="Cambria Math"/>
                              </a:rPr>
                              <m:t>∂</m:t>
                            </m:r>
                            <m:sSub>
                              <m:e>
                                <m:r>
                                  <m:rPr>
                                    <m:sty m:val="i"/>
                                  </m:rPr>
                                  <a:rPr lang="en-US" i="1" sz="1568">
                                    <a:latin typeface="Cambria Math"/>
                                  </a:rPr>
                                  <m:t>n</m:t>
                                </m:r>
                              </m:e>
                              <m:sub>
                                <m:r>
                                  <m:rPr>
                                    <m:sty m:val="i"/>
                                  </m:rPr>
                                  <a:rPr lang="en-US" i="1" sz="1568">
                                    <a:latin typeface="Cambria Math"/>
                                  </a:rPr>
                                  <m:t>A</m:t>
                                </m:r>
                              </m:sub>
                            </m:sSub>
                          </m:e>
                        </m:box>
                      </m:num>
                      <m:den>
                        <m:box>
                          <m:e>
                            <m:r>
                              <m:rPr>
                                <m:sty m:val="i"/>
                              </m:rPr>
                              <a:rPr lang="en-US" i="1" sz="1568">
                                <a:latin typeface="Cambria Math"/>
                              </a:rPr>
                              <m:t>∂</m:t>
                            </m:r>
                            <m:r>
                              <m:rPr>
                                <m:sty m:val="i"/>
                              </m:rPr>
                              <a:rPr lang="en-US" i="1" sz="1568">
                                <a:latin typeface="Cambria Math"/>
                              </a:rPr>
                              <m:t>t</m:t>
                            </m:r>
                          </m:e>
                        </m:box>
                      </m:den>
                    </m:f>
                    <m:r>
                      <m:rPr>
                        <m:sty m:val="p"/>
                      </m:rPr>
                      <a:rPr lang="en-US" i="0" sz="1568">
                        <a:latin typeface="Cambria Math"/>
                      </a:rPr>
                      <m:t>−</m:t>
                    </m:r>
                    <m:sSub>
                      <m:e>
                        <m:r>
                          <m:rPr>
                            <m:sty m:val="i"/>
                          </m:rPr>
                          <a:rPr lang="en-US" i="1" sz="1568">
                            <a:latin typeface="Cambria Math"/>
                          </a:rPr>
                          <m:t>n</m:t>
                        </m:r>
                      </m:e>
                      <m:sub>
                        <m:r>
                          <m:rPr>
                            <m:sty m:val="i"/>
                          </m:rPr>
                          <a:rPr lang="en-US" i="1" sz="1568">
                            <a:latin typeface="Cambria Math"/>
                          </a:rPr>
                          <m:t>A</m:t>
                        </m:r>
                      </m:sub>
                    </m:sSub>
                    <m:r>
                      <m:rPr>
                        <m:sty m:val="i"/>
                      </m:rPr>
                      <a:rPr lang="en-US" i="1" sz="1568">
                        <a:latin typeface="Cambria Math"/>
                      </a:rPr>
                      <m:t>ℏ</m:t>
                    </m:r>
                    <m:f>
                      <m:num>
                        <m:box>
                          <m:e>
                            <m:r>
                              <m:rPr>
                                <m:sty m:val="i"/>
                              </m:rPr>
                              <a:rPr lang="en-US" i="1" sz="1568">
                                <a:latin typeface="Cambria Math"/>
                              </a:rPr>
                              <m:t>∂</m:t>
                            </m:r>
                            <m:sSub>
                              <m:e>
                                <m:r>
                                  <m:rPr>
                                    <m:sty m:val="i"/>
                                  </m:rPr>
                                  <a:rPr lang="en-US" i="1" sz="1568">
                                    <a:latin typeface="Cambria Math"/>
                                  </a:rPr>
                                  <m:t>θ</m:t>
                                </m:r>
                              </m:e>
                              <m:sub>
                                <m:r>
                                  <m:rPr>
                                    <m:sty m:val="i"/>
                                  </m:rPr>
                                  <a:rPr lang="en-US" i="1" sz="1568">
                                    <a:latin typeface="Cambria Math"/>
                                  </a:rPr>
                                  <m:t>A</m:t>
                                </m:r>
                              </m:sub>
                            </m:sSub>
                          </m:e>
                        </m:box>
                      </m:num>
                      <m:den>
                        <m:box>
                          <m:e>
                            <m:r>
                              <m:rPr>
                                <m:sty m:val="i"/>
                              </m:rPr>
                              <a:rPr lang="en-US" i="1" sz="1568">
                                <a:latin typeface="Cambria Math"/>
                              </a:rPr>
                              <m:t>∂</m:t>
                            </m:r>
                            <m:r>
                              <m:rPr>
                                <m:sty m:val="i"/>
                              </m:rPr>
                              <a:rPr lang="en-US" i="1" sz="1568">
                                <a:latin typeface="Cambria Math"/>
                              </a:rPr>
                              <m:t>t</m:t>
                            </m:r>
                          </m:e>
                        </m:box>
                      </m:den>
                    </m:f>
                    <m:r>
                      <m:rPr>
                        <m:sty m:val="p"/>
                      </m:rPr>
                      <a:rPr lang="en-US" i="0" sz="1568">
                        <a:latin typeface="Cambria Math"/>
                      </a:rPr>
                      <m:t>=</m:t>
                    </m:r>
                    <m:r>
                      <m:rPr>
                        <m:sty m:val="p"/>
                      </m:rPr>
                      <a:rPr lang="en-US" i="0" sz="1568">
                        <a:latin typeface="Cambria Math"/>
                      </a:rPr>
                      <m:t>(</m:t>
                    </m:r>
                    <m:sSub>
                      <m:e>
                        <m:r>
                          <m:rPr>
                            <m:sty m:val="i"/>
                          </m:rPr>
                          <a:rPr lang="en-US" i="1" sz="1568">
                            <a:latin typeface="Cambria Math"/>
                          </a:rPr>
                          <m:t>H</m:t>
                        </m:r>
                      </m:e>
                      <m:sub>
                        <m:r>
                          <m:rPr>
                            <m:sty m:val="p"/>
                          </m:rPr>
                          <a:rPr lang="en-US" i="0" sz="1568">
                            <a:latin typeface="Cambria Math"/>
                          </a:rPr>
                          <m:t>0</m:t>
                        </m:r>
                      </m:sub>
                    </m:sSub>
                    <m:r>
                      <m:rPr>
                        <m:sty m:val="p"/>
                      </m:rPr>
                      <a:rPr lang="en-US" i="0" sz="1568">
                        <a:latin typeface="Cambria Math"/>
                      </a:rPr>
                      <m:t>+</m:t>
                    </m:r>
                    <m:r>
                      <m:rPr>
                        <m:sty m:val="i"/>
                      </m:rPr>
                      <a:rPr lang="en-US" i="1" sz="1568">
                        <a:latin typeface="Cambria Math"/>
                      </a:rPr>
                      <m:t>e</m:t>
                    </m:r>
                    <m:r>
                      <m:rPr>
                        <m:sty m:val="i"/>
                      </m:rPr>
                      <a:rPr lang="en-US" i="1" sz="1568">
                        <a:latin typeface="Cambria Math"/>
                      </a:rPr>
                      <m:t>V</m:t>
                    </m:r>
                    <m:r>
                      <m:rPr>
                        <m:sty m:val="p"/>
                      </m:rPr>
                      <a:rPr lang="en-US" i="0" sz="1568">
                        <a:latin typeface="Cambria Math"/>
                      </a:rPr>
                      <m:t>)</m:t>
                    </m:r>
                    <m:sSub>
                      <m:e>
                        <m:r>
                          <m:rPr>
                            <m:sty m:val="i"/>
                          </m:rPr>
                          <a:rPr lang="en-US" i="1" sz="1568">
                            <a:latin typeface="Cambria Math"/>
                          </a:rPr>
                          <m:t>n</m:t>
                        </m:r>
                      </m:e>
                      <m:sub>
                        <m:r>
                          <m:rPr>
                            <m:sty m:val="i"/>
                          </m:rPr>
                          <a:rPr lang="en-US" i="1" sz="1568">
                            <a:latin typeface="Cambria Math"/>
                          </a:rPr>
                          <m:t>A</m:t>
                        </m:r>
                      </m:sub>
                    </m:sSub>
                    <m:r>
                      <m:rPr>
                        <m:sty m:val="p"/>
                      </m:rPr>
                      <a:rPr lang="en-US" i="0" sz="1568">
                        <a:latin typeface="Cambria Math"/>
                      </a:rPr>
                      <m:t>+</m:t>
                    </m:r>
                    <m:r>
                      <m:rPr>
                        <m:sty m:val="i"/>
                      </m:rPr>
                      <a:rPr lang="en-US" i="1" sz="1568">
                        <a:latin typeface="Cambria Math"/>
                      </a:rPr>
                      <m:t>K</m:t>
                    </m:r>
                    <m:rad>
                      <m:radPr>
                        <m:degHide m:val="1"/>
                      </m:radPr>
                      <m:deg/>
                      <m:e>
                        <m:box>
                          <m:e>
                            <m:sSub>
                              <m:e>
                                <m:r>
                                  <m:rPr>
                                    <m:sty m:val="i"/>
                                  </m:rPr>
                                  <a:rPr lang="en-US" i="1" sz="1568">
                                    <a:latin typeface="Cambria Math"/>
                                  </a:rPr>
                                  <m:t>n</m:t>
                                </m:r>
                              </m:e>
                              <m:sub>
                                <m:r>
                                  <m:rPr>
                                    <m:sty m:val="i"/>
                                  </m:rPr>
                                  <a:rPr lang="en-US" i="1" sz="1568">
                                    <a:latin typeface="Cambria Math"/>
                                  </a:rPr>
                                  <m:t>A</m:t>
                                </m:r>
                              </m:sub>
                            </m:sSub>
                            <m:sSub>
                              <m:e>
                                <m:r>
                                  <m:rPr>
                                    <m:sty m:val="i"/>
                                  </m:rPr>
                                  <a:rPr lang="en-US" i="1" sz="1568">
                                    <a:latin typeface="Cambria Math"/>
                                  </a:rPr>
                                  <m:t>n</m:t>
                                </m:r>
                              </m:e>
                              <m:sub>
                                <m:r>
                                  <m:rPr>
                                    <m:sty m:val="i"/>
                                  </m:rPr>
                                  <a:rPr lang="en-US" i="1" sz="1568">
                                    <a:latin typeface="Cambria Math"/>
                                  </a:rPr>
                                  <m:t>B</m:t>
                                </m:r>
                              </m:sub>
                            </m:sSub>
                          </m:e>
                        </m:box>
                      </m:e>
                    </m:rad>
                    <m:sSup>
                      <m:e>
                        <m:r>
                          <m:rPr>
                            <m:sty m:val="i"/>
                          </m:rPr>
                          <a:rPr lang="en-US" i="1" sz="1568">
                            <a:latin typeface="Cambria Math"/>
                          </a:rPr>
                          <m:t>e</m:t>
                        </m:r>
                      </m:e>
                      <m:sup>
                        <m:box>
                          <m:e>
                            <m:r>
                              <m:rPr>
                                <m:sty m:val="i"/>
                              </m:rPr>
                              <a:rPr lang="en-US" i="1" sz="1568">
                                <a:latin typeface="Cambria Math"/>
                              </a:rPr>
                              <m:t>i</m:t>
                            </m:r>
                            <m:r>
                              <m:rPr>
                                <m:sty m:val="p"/>
                              </m:rPr>
                              <a:rPr lang="en-US" i="0" sz="1568">
                                <a:latin typeface="Cambria Math"/>
                              </a:rPr>
                              <m:t>(</m:t>
                            </m:r>
                            <m:sSub>
                              <m:e>
                                <m:r>
                                  <m:rPr>
                                    <m:sty m:val="i"/>
                                  </m:rPr>
                                  <a:rPr lang="en-US" i="1" sz="1568">
                                    <a:latin typeface="Cambria Math"/>
                                  </a:rPr>
                                  <m:t>θ</m:t>
                                </m:r>
                              </m:e>
                              <m:sub>
                                <m:r>
                                  <m:rPr>
                                    <m:sty m:val="i"/>
                                  </m:rPr>
                                  <a:rPr lang="en-US" i="1" sz="1568">
                                    <a:latin typeface="Cambria Math"/>
                                  </a:rPr>
                                  <m:t>B</m:t>
                                </m:r>
                              </m:sub>
                            </m:sSub>
                            <m:r>
                              <m:rPr>
                                <m:sty m:val="p"/>
                              </m:rPr>
                              <a:rPr lang="en-US" i="0" sz="1568">
                                <a:latin typeface="Cambria Math"/>
                              </a:rPr>
                              <m:t>−</m:t>
                            </m:r>
                            <m:sSub>
                              <m:e>
                                <m:r>
                                  <m:rPr>
                                    <m:sty m:val="i"/>
                                  </m:rPr>
                                  <a:rPr lang="en-US" i="1" sz="1568">
                                    <a:latin typeface="Cambria Math"/>
                                  </a:rPr>
                                  <m:t>θ</m:t>
                                </m:r>
                              </m:e>
                              <m:sub>
                                <m:r>
                                  <m:rPr>
                                    <m:sty m:val="i"/>
                                  </m:rPr>
                                  <a:rPr lang="en-US" i="1" sz="1568">
                                    <a:latin typeface="Cambria Math"/>
                                  </a:rPr>
                                  <m:t>A</m:t>
                                </m:r>
                              </m:sub>
                            </m:sSub>
                            <m:r>
                              <m:rPr>
                                <m:sty m:val="p"/>
                              </m:rPr>
                              <a:rPr lang="en-US" i="0" sz="1568">
                                <a:latin typeface="Cambria Math"/>
                              </a:rPr>
                              <m:t>)</m:t>
                            </m:r>
                          </m:e>
                        </m:box>
                      </m:sup>
                    </m:sSup>
                    <m:r>
                      <m:rPr>
                        <m:sty m:val="p"/>
                      </m:rPr>
                      <a:rPr lang="en-US" i="0" sz="1568">
                        <a:latin typeface="Cambria Math"/>
                      </a:rPr>
                      <m:t>.</m:t>
                    </m:r>
                  </m:oMath>
                </a14:m>
              </mc:Choice>
              <mc:Fallback>
                <a:r>
                  <a:rPr lang="en-US" sz="1567" i="1"/>
                  <a:t>
                                    \frac{i}{2}\hbar \frac{\partial n_A}{\partial t} - n_A \hbar \frac{\partial
                                    \theta_A}{\partial t} =
                                    (H_0 + eV)n_A + K\sqrt{n_A n_B} e^{i(\theta_B - \theta_A)}.
                                    </a:t>
                </a:r>
              </mc:Fallback>
            </mc:AlternateContent>
            <a:r>
              <a:rPr sz="1400" b="0" i="0">
                <a:solidFill>
                  <a:srgbClr val="4F4C56"/>
                </a:solidFill>
                <a:latin typeface="Montserrat"/>
                <a:ea typeface="Montserrat"/>
                <a:cs typeface="Montserrat"/>
              </a:rPr>
              <a:t> Its complex-conjugate equation is: </a:t>
            </a:r>
            <mc:AlternateContent xmlns:mc="http://schemas.openxmlformats.org/markup-compatibility/2006">
              <mc:Choice xmlns:a14="http://schemas.microsoft.com/office/drawing/2010/main" Requires="a14">
                <a14:m>
                  <m:oMath xmlns:m="http://schemas.openxmlformats.org/officeDocument/2006/math">
                    <m:r>
                      <m:rPr>
                        <m:sty m:val="p"/>
                      </m:rPr>
                      <a:rPr lang="en-US" i="0" sz="1568">
                        <a:latin typeface="Cambria Math"/>
                      </a:rPr>
                      <m:t>−</m:t>
                    </m:r>
                    <m:f>
                      <m:num>
                        <m:r>
                          <m:rPr>
                            <m:sty m:val="i"/>
                          </m:rPr>
                          <a:rPr lang="en-US" i="1" sz="1568">
                            <a:latin typeface="Cambria Math"/>
                          </a:rPr>
                          <m:t>i</m:t>
                        </m:r>
                      </m:num>
                      <m:den>
                        <m:r>
                          <m:rPr>
                            <m:sty m:val="p"/>
                          </m:rPr>
                          <a:rPr lang="en-US" i="0" sz="1568">
                            <a:latin typeface="Cambria Math"/>
                          </a:rPr>
                          <m:t>2</m:t>
                        </m:r>
                      </m:den>
                    </m:f>
                    <m:r>
                      <m:rPr>
                        <m:sty m:val="i"/>
                      </m:rPr>
                      <a:rPr lang="en-US" i="1" sz="1568">
                        <a:latin typeface="Cambria Math"/>
                      </a:rPr>
                      <m:t>ℏ</m:t>
                    </m:r>
                    <m:f>
                      <m:num>
                        <m:box>
                          <m:e>
                            <m:r>
                              <m:rPr>
                                <m:sty m:val="i"/>
                              </m:rPr>
                              <a:rPr lang="en-US" i="1" sz="1568">
                                <a:latin typeface="Cambria Math"/>
                              </a:rPr>
                              <m:t>∂</m:t>
                            </m:r>
                            <m:sSub>
                              <m:e>
                                <m:r>
                                  <m:rPr>
                                    <m:sty m:val="i"/>
                                  </m:rPr>
                                  <a:rPr lang="en-US" i="1" sz="1568">
                                    <a:latin typeface="Cambria Math"/>
                                  </a:rPr>
                                  <m:t>n</m:t>
                                </m:r>
                              </m:e>
                              <m:sub>
                                <m:r>
                                  <m:rPr>
                                    <m:sty m:val="i"/>
                                  </m:rPr>
                                  <a:rPr lang="en-US" i="1" sz="1568">
                                    <a:latin typeface="Cambria Math"/>
                                  </a:rPr>
                                  <m:t>A</m:t>
                                </m:r>
                              </m:sub>
                            </m:sSub>
                          </m:e>
                        </m:box>
                      </m:num>
                      <m:den>
                        <m:box>
                          <m:e>
                            <m:r>
                              <m:rPr>
                                <m:sty m:val="i"/>
                              </m:rPr>
                              <a:rPr lang="en-US" i="1" sz="1568">
                                <a:latin typeface="Cambria Math"/>
                              </a:rPr>
                              <m:t>∂</m:t>
                            </m:r>
                            <m:r>
                              <m:rPr>
                                <m:sty m:val="i"/>
                              </m:rPr>
                              <a:rPr lang="en-US" i="1" sz="1568">
                                <a:latin typeface="Cambria Math"/>
                              </a:rPr>
                              <m:t>t</m:t>
                            </m:r>
                          </m:e>
                        </m:box>
                      </m:den>
                    </m:f>
                    <m:r>
                      <m:rPr>
                        <m:sty m:val="p"/>
                      </m:rPr>
                      <a:rPr lang="en-US" i="0" sz="1568">
                        <a:latin typeface="Cambria Math"/>
                      </a:rPr>
                      <m:t>−</m:t>
                    </m:r>
                    <m:sSub>
                      <m:e>
                        <m:r>
                          <m:rPr>
                            <m:sty m:val="i"/>
                          </m:rPr>
                          <a:rPr lang="en-US" i="1" sz="1568">
                            <a:latin typeface="Cambria Math"/>
                          </a:rPr>
                          <m:t>n</m:t>
                        </m:r>
                      </m:e>
                      <m:sub>
                        <m:r>
                          <m:rPr>
                            <m:sty m:val="i"/>
                          </m:rPr>
                          <a:rPr lang="en-US" i="1" sz="1568">
                            <a:latin typeface="Cambria Math"/>
                          </a:rPr>
                          <m:t>A</m:t>
                        </m:r>
                      </m:sub>
                    </m:sSub>
                    <m:r>
                      <m:rPr>
                        <m:sty m:val="i"/>
                      </m:rPr>
                      <a:rPr lang="en-US" i="1" sz="1568">
                        <a:latin typeface="Cambria Math"/>
                      </a:rPr>
                      <m:t>ℏ</m:t>
                    </m:r>
                    <m:f>
                      <m:num>
                        <m:box>
                          <m:e>
                            <m:r>
                              <m:rPr>
                                <m:sty m:val="i"/>
                              </m:rPr>
                              <a:rPr lang="en-US" i="1" sz="1568">
                                <a:latin typeface="Cambria Math"/>
                              </a:rPr>
                              <m:t>∂</m:t>
                            </m:r>
                            <m:sSub>
                              <m:e>
                                <m:r>
                                  <m:rPr>
                                    <m:sty m:val="i"/>
                                  </m:rPr>
                                  <a:rPr lang="en-US" i="1" sz="1568">
                                    <a:latin typeface="Cambria Math"/>
                                  </a:rPr>
                                  <m:t>θ</m:t>
                                </m:r>
                              </m:e>
                              <m:sub>
                                <m:r>
                                  <m:rPr>
                                    <m:sty m:val="i"/>
                                  </m:rPr>
                                  <a:rPr lang="en-US" i="1" sz="1568">
                                    <a:latin typeface="Cambria Math"/>
                                  </a:rPr>
                                  <m:t>A</m:t>
                                </m:r>
                              </m:sub>
                            </m:sSub>
                          </m:e>
                        </m:box>
                      </m:num>
                      <m:den>
                        <m:box>
                          <m:e>
                            <m:r>
                              <m:rPr>
                                <m:sty m:val="i"/>
                              </m:rPr>
                              <a:rPr lang="en-US" i="1" sz="1568">
                                <a:latin typeface="Cambria Math"/>
                              </a:rPr>
                              <m:t>∂</m:t>
                            </m:r>
                            <m:r>
                              <m:rPr>
                                <m:sty m:val="i"/>
                              </m:rPr>
                              <a:rPr lang="en-US" i="1" sz="1568">
                                <a:latin typeface="Cambria Math"/>
                              </a:rPr>
                              <m:t>t</m:t>
                            </m:r>
                          </m:e>
                        </m:box>
                      </m:den>
                    </m:f>
                    <m:r>
                      <m:rPr>
                        <m:sty m:val="p"/>
                      </m:rPr>
                      <a:rPr lang="en-US" i="0" sz="1568">
                        <a:latin typeface="Cambria Math"/>
                      </a:rPr>
                      <m:t>=</m:t>
                    </m:r>
                    <m:r>
                      <m:rPr>
                        <m:sty m:val="p"/>
                      </m:rPr>
                      <a:rPr lang="en-US" i="0" sz="1568">
                        <a:latin typeface="Cambria Math"/>
                      </a:rPr>
                      <m:t>(</m:t>
                    </m:r>
                    <m:sSub>
                      <m:e>
                        <m:r>
                          <m:rPr>
                            <m:sty m:val="i"/>
                          </m:rPr>
                          <a:rPr lang="en-US" i="1" sz="1568">
                            <a:latin typeface="Cambria Math"/>
                          </a:rPr>
                          <m:t>H</m:t>
                        </m:r>
                      </m:e>
                      <m:sub>
                        <m:r>
                          <m:rPr>
                            <m:sty m:val="p"/>
                          </m:rPr>
                          <a:rPr lang="en-US" i="0" sz="1568">
                            <a:latin typeface="Cambria Math"/>
                          </a:rPr>
                          <m:t>0</m:t>
                        </m:r>
                      </m:sub>
                    </m:sSub>
                    <m:r>
                      <m:rPr>
                        <m:sty m:val="p"/>
                      </m:rPr>
                      <a:rPr lang="en-US" i="0" sz="1568">
                        <a:latin typeface="Cambria Math"/>
                      </a:rPr>
                      <m:t>+</m:t>
                    </m:r>
                    <m:r>
                      <m:rPr>
                        <m:sty m:val="i"/>
                      </m:rPr>
                      <a:rPr lang="en-US" i="1" sz="1568">
                        <a:latin typeface="Cambria Math"/>
                      </a:rPr>
                      <m:t>e</m:t>
                    </m:r>
                    <m:r>
                      <m:rPr>
                        <m:sty m:val="i"/>
                      </m:rPr>
                      <a:rPr lang="en-US" i="1" sz="1568">
                        <a:latin typeface="Cambria Math"/>
                      </a:rPr>
                      <m:t>V</m:t>
                    </m:r>
                    <m:r>
                      <m:rPr>
                        <m:sty m:val="p"/>
                      </m:rPr>
                      <a:rPr lang="en-US" i="0" sz="1568">
                        <a:latin typeface="Cambria Math"/>
                      </a:rPr>
                      <m:t>)</m:t>
                    </m:r>
                    <m:sSub>
                      <m:e>
                        <m:r>
                          <m:rPr>
                            <m:sty m:val="i"/>
                          </m:rPr>
                          <a:rPr lang="en-US" i="1" sz="1568">
                            <a:latin typeface="Cambria Math"/>
                          </a:rPr>
                          <m:t>n</m:t>
                        </m:r>
                      </m:e>
                      <m:sub>
                        <m:r>
                          <m:rPr>
                            <m:sty m:val="i"/>
                          </m:rPr>
                          <a:rPr lang="en-US" i="1" sz="1568">
                            <a:latin typeface="Cambria Math"/>
                          </a:rPr>
                          <m:t>A</m:t>
                        </m:r>
                      </m:sub>
                    </m:sSub>
                    <m:r>
                      <m:rPr>
                        <m:sty m:val="p"/>
                      </m:rPr>
                      <a:rPr lang="en-US" i="0" sz="1568">
                        <a:latin typeface="Cambria Math"/>
                      </a:rPr>
                      <m:t>+</m:t>
                    </m:r>
                    <m:r>
                      <m:rPr>
                        <m:sty m:val="i"/>
                      </m:rPr>
                      <a:rPr lang="en-US" i="1" sz="1568">
                        <a:latin typeface="Cambria Math"/>
                      </a:rPr>
                      <m:t>K</m:t>
                    </m:r>
                    <m:rad>
                      <m:radPr>
                        <m:degHide m:val="1"/>
                      </m:radPr>
                      <m:deg/>
                      <m:e>
                        <m:box>
                          <m:e>
                            <m:sSub>
                              <m:e>
                                <m:r>
                                  <m:rPr>
                                    <m:sty m:val="i"/>
                                  </m:rPr>
                                  <a:rPr lang="en-US" i="1" sz="1568">
                                    <a:latin typeface="Cambria Math"/>
                                  </a:rPr>
                                  <m:t>n</m:t>
                                </m:r>
                              </m:e>
                              <m:sub>
                                <m:r>
                                  <m:rPr>
                                    <m:sty m:val="i"/>
                                  </m:rPr>
                                  <a:rPr lang="en-US" i="1" sz="1568">
                                    <a:latin typeface="Cambria Math"/>
                                  </a:rPr>
                                  <m:t>A</m:t>
                                </m:r>
                              </m:sub>
                            </m:sSub>
                            <m:sSub>
                              <m:e>
                                <m:r>
                                  <m:rPr>
                                    <m:sty m:val="i"/>
                                  </m:rPr>
                                  <a:rPr lang="en-US" i="1" sz="1568">
                                    <a:latin typeface="Cambria Math"/>
                                  </a:rPr>
                                  <m:t>n</m:t>
                                </m:r>
                              </m:e>
                              <m:sub>
                                <m:r>
                                  <m:rPr>
                                    <m:sty m:val="i"/>
                                  </m:rPr>
                                  <a:rPr lang="en-US" i="1" sz="1568">
                                    <a:latin typeface="Cambria Math"/>
                                  </a:rPr>
                                  <m:t>B</m:t>
                                </m:r>
                              </m:sub>
                            </m:sSub>
                          </m:e>
                        </m:box>
                      </m:e>
                    </m:rad>
                    <m:sSup>
                      <m:e>
                        <m:r>
                          <m:rPr>
                            <m:sty m:val="i"/>
                          </m:rPr>
                          <a:rPr lang="en-US" i="1" sz="1568">
                            <a:latin typeface="Cambria Math"/>
                          </a:rPr>
                          <m:t>e</m:t>
                        </m:r>
                      </m:e>
                      <m:sup>
                        <m:box>
                          <m:e>
                            <m:r>
                              <m:rPr>
                                <m:sty m:val="p"/>
                              </m:rPr>
                              <a:rPr lang="en-US" i="0" sz="1568">
                                <a:latin typeface="Cambria Math"/>
                              </a:rPr>
                              <m:t>−</m:t>
                            </m:r>
                            <m:r>
                              <m:rPr>
                                <m:sty m:val="i"/>
                              </m:rPr>
                              <a:rPr lang="en-US" i="1" sz="1568">
                                <a:latin typeface="Cambria Math"/>
                              </a:rPr>
                              <m:t>i</m:t>
                            </m:r>
                            <m:r>
                              <m:rPr>
                                <m:sty m:val="p"/>
                              </m:rPr>
                              <a:rPr lang="en-US" i="0" sz="1568">
                                <a:latin typeface="Cambria Math"/>
                              </a:rPr>
                              <m:t>(</m:t>
                            </m:r>
                            <m:sSub>
                              <m:e>
                                <m:r>
                                  <m:rPr>
                                    <m:sty m:val="i"/>
                                  </m:rPr>
                                  <a:rPr lang="en-US" i="1" sz="1568">
                                    <a:latin typeface="Cambria Math"/>
                                  </a:rPr>
                                  <m:t>θ</m:t>
                                </m:r>
                              </m:e>
                              <m:sub>
                                <m:r>
                                  <m:rPr>
                                    <m:sty m:val="i"/>
                                  </m:rPr>
                                  <a:rPr lang="en-US" i="1" sz="1568">
                                    <a:latin typeface="Cambria Math"/>
                                  </a:rPr>
                                  <m:t>B</m:t>
                                </m:r>
                              </m:sub>
                            </m:sSub>
                            <m:r>
                              <m:rPr>
                                <m:sty m:val="p"/>
                              </m:rPr>
                              <a:rPr lang="en-US" i="0" sz="1568">
                                <a:latin typeface="Cambria Math"/>
                              </a:rPr>
                              <m:t>−</m:t>
                            </m:r>
                            <m:sSub>
                              <m:e>
                                <m:r>
                                  <m:rPr>
                                    <m:sty m:val="i"/>
                                  </m:rPr>
                                  <a:rPr lang="en-US" i="1" sz="1568">
                                    <a:latin typeface="Cambria Math"/>
                                  </a:rPr>
                                  <m:t>θ</m:t>
                                </m:r>
                              </m:e>
                              <m:sub>
                                <m:r>
                                  <m:rPr>
                                    <m:sty m:val="i"/>
                                  </m:rPr>
                                  <a:rPr lang="en-US" i="1" sz="1568">
                                    <a:latin typeface="Cambria Math"/>
                                  </a:rPr>
                                  <m:t>A</m:t>
                                </m:r>
                              </m:sub>
                            </m:sSub>
                            <m:r>
                              <m:rPr>
                                <m:sty m:val="p"/>
                              </m:rPr>
                              <a:rPr lang="en-US" i="0" sz="1568">
                                <a:latin typeface="Cambria Math"/>
                              </a:rPr>
                              <m:t>)</m:t>
                            </m:r>
                          </m:e>
                        </m:box>
                      </m:sup>
                    </m:sSup>
                    <m:r>
                      <m:rPr>
                        <m:sty m:val="p"/>
                      </m:rPr>
                      <a:rPr lang="en-US" i="0" sz="1568">
                        <a:latin typeface="Cambria Math"/>
                      </a:rPr>
                      <m:t>.</m:t>
                    </m:r>
                  </m:oMath>
                </a14:m>
              </mc:Choice>
              <mc:Fallback>
                <a:r>
                  <a:rPr lang="en-US" sz="1567" i="1"/>
                  <a:t>
                                    -\frac{i}{2}\hbar \frac{\partial n_A}{\partial t} - n_A \hbar \frac{\partial
                                    \theta_A}{\partial t} =
                                    (H_0 + eV)n_A + K\sqrt{n_A n_B} e^{-i(\theta_B - \theta_A)}.
                                    </a:t>
                </a:r>
              </mc:Fallback>
            </mc:AlternateContent>
            <a:r>
              <a:rPr sz="1400" b="0" i="0">
                <a:solidFill>
                  <a:srgbClr val="4F4C56"/>
                </a:solidFill>
                <a:latin typeface="Montserrat"/>
                <a:ea typeface="Montserrat"/>
                <a:cs typeface="Montserrat"/>
              </a:rPr>
              <a:t> </a:t>
            </a:r>
          </a:p>
        </p:txBody>
      </p:sp>
      <p:sp>
        <p:nvSpPr>
          <p:cNvPr id="12" name="Rectangle 11"/>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4" name="TextBox 13"/>
          <p:cNvSpPr txBox="1"/>
          <p:nvPr/>
        </p:nvSpPr>
        <p:spPr>
          <a:xfrm>
            <a:off x="11231298" y="6565900"/>
            <a:ext cx="469635"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67 / 100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Add and subtract the two conjugate equations for site A. The sum isolates the phase dynamics; the difference isolates the population dynamics:</a:t>
            </a:r>
          </a:p>
        </p:txBody>
      </p:sp>
      <p:sp>
        <p:nvSpPr>
          <p:cNvPr id="6" name="TextBox 5"/>
          <p:cNvSpPr txBox="1"/>
          <p:nvPr/>
        </p:nvSpPr>
        <p:spPr>
          <a:xfrm>
            <a:off x="4983559" y="1539346"/>
            <a:ext cx="943901" cy="281384"/>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r>
                      <m:rPr>
                        <m:sty m:val="p"/>
                      </m:rPr>
                      <a:rPr lang="en-US" i="0" sz="1665">
                        <a:latin typeface="Cambria Math"/>
                      </a:rPr>
                      <m:t>2</m:t>
                    </m:r>
                    <m:sSub>
                      <m:e>
                        <m:r>
                          <m:rPr>
                            <m:sty m:val="i"/>
                          </m:rPr>
                          <a:rPr lang="en-US" i="1" sz="1665">
                            <a:latin typeface="Cambria Math"/>
                          </a:rPr>
                          <m:t>n</m:t>
                        </m:r>
                      </m:e>
                      <m:sub>
                        <m:r>
                          <m:rPr>
                            <m:sty m:val="i"/>
                          </m:rPr>
                          <a:rPr lang="en-US" i="1" sz="1665">
                            <a:latin typeface="Cambria Math"/>
                          </a:rPr>
                          <m:t>A</m:t>
                        </m:r>
                      </m:sub>
                    </m:sSub>
                    <m:box>
                      <m:e>
                        <m:r>
                          <a:rPr lang="en-US" i="1" sz="1665">
                            <a:latin typeface="Cambria Math"/>
                          </a:rPr>
                          <m:t/>
                        </m:r>
                      </m:e>
                    </m:box>
                    <m:r>
                      <m:rPr>
                        <m:sty m:val="i"/>
                      </m:rPr>
                      <a:rPr lang="en-US" i="1" sz="1665">
                        <a:latin typeface="Cambria Math"/>
                      </a:rPr>
                      <m:t>ℏ</m:t>
                    </m:r>
                    <m:box>
                      <m:e>
                        <m:r>
                          <a:rPr lang="en-US" i="1" sz="1665">
                            <a:latin typeface="Cambria Math"/>
                          </a:rPr>
                          <m:t/>
                        </m:r>
                      </m:e>
                    </m:box>
                    <m:sSub>
                      <m:e>
                        <m:box>
                          <m:e>
                            <m:limUpp>
                              <m:e>
                                <m:r>
                                  <m:rPr>
                                    <m:sty m:val="i"/>
                                  </m:rPr>
                                  <a:rPr lang="en-US" i="1" sz="1665">
                                    <a:latin typeface="Cambria Math"/>
                                  </a:rPr>
                                  <m:t>θ</m:t>
                                </m:r>
                              </m:e>
                              <m:lim>
                                <m:r>
                                  <m:rPr>
                                    <m:sty m:val="p"/>
                                  </m:rPr>
                                  <a:rPr lang="en-US" i="0" sz="1665">
                                    <a:latin typeface="Cambria Math"/>
                                  </a:rPr>
                                  <m:t>˙</m:t>
                                </m:r>
                              </m:lim>
                            </m:limUpp>
                          </m:e>
                        </m:box>
                      </m:e>
                      <m:sub>
                        <m:r>
                          <m:rPr>
                            <m:sty m:val="i"/>
                          </m:rPr>
                          <a:rPr lang="en-US" i="1" sz="1665">
                            <a:latin typeface="Cambria Math"/>
                          </a:rPr>
                          <m:t>A</m:t>
                        </m:r>
                      </m:sub>
                    </m:sSub>
                  </m:oMath>
                </a14:m>
              </mc:Choice>
              <mc:Fallback>
                <a:r>
                  <a:rPr lang="en-US" sz="1664" i="1"/>
                  <a:t>-2n_A\,\hbar\,\dot\theta_A</a:t>
                </a:r>
              </mc:Fallback>
            </mc:AlternateContent>
          </a:p>
        </p:txBody>
      </p:sp>
      <p:sp>
        <p:nvSpPr>
          <p:cNvPr id="7" name="TextBox 6"/>
          <p:cNvSpPr txBox="1"/>
          <p:nvPr/>
        </p:nvSpPr>
        <p:spPr>
          <a:xfrm>
            <a:off x="6012127" y="1542256"/>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t>
                </a:r>
              </mc:Fallback>
            </mc:AlternateContent>
          </a:p>
        </p:txBody>
      </p:sp>
      <p:sp>
        <p:nvSpPr>
          <p:cNvPr id="8" name="TextBox 7"/>
          <p:cNvSpPr txBox="1"/>
          <p:nvPr/>
        </p:nvSpPr>
        <p:spPr>
          <a:xfrm>
            <a:off x="6264407" y="1544902"/>
            <a:ext cx="3792008" cy="270140"/>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2</m:t>
                    </m:r>
                    <m:r>
                      <m:rPr>
                        <m:sty m:val="p"/>
                      </m:rPr>
                      <a:rPr lang="en-US" i="0" sz="1665">
                        <a:latin typeface="Cambria Math"/>
                      </a:rPr>
                      <m:t>(</m:t>
                    </m:r>
                    <m:sSub>
                      <m:e>
                        <m:r>
                          <m:rPr>
                            <m:sty m:val="i"/>
                          </m:rPr>
                          <a:rPr lang="en-US" i="1" sz="1665">
                            <a:latin typeface="Cambria Math"/>
                          </a:rPr>
                          <m:t>H</m:t>
                        </m:r>
                      </m:e>
                      <m:sub>
                        <m:r>
                          <m:rPr>
                            <m:sty m:val="p"/>
                          </m:rPr>
                          <a:rPr lang="en-US" i="0" sz="1665">
                            <a:latin typeface="Cambria Math"/>
                          </a:rPr>
                          <m:t>0</m:t>
                        </m:r>
                      </m:sub>
                    </m:sSub>
                    <m:r>
                      <m:rPr>
                        <m:sty m:val="p"/>
                      </m:rPr>
                      <a:rPr lang="en-US" i="0" sz="1665">
                        <a:latin typeface="Cambria Math"/>
                      </a:rPr>
                      <m:t>+</m:t>
                    </m:r>
                    <m:r>
                      <m:rPr>
                        <m:sty m:val="i"/>
                      </m:rPr>
                      <a:rPr lang="en-US" i="1" sz="1665">
                        <a:latin typeface="Cambria Math"/>
                      </a:rPr>
                      <m:t>e</m:t>
                    </m:r>
                    <m:r>
                      <m:rPr>
                        <m:sty m:val="i"/>
                      </m:rPr>
                      <a:rPr lang="en-US" i="1" sz="1665">
                        <a:latin typeface="Cambria Math"/>
                      </a:rPr>
                      <m:t>V</m:t>
                    </m:r>
                    <m:r>
                      <m:rPr>
                        <m:sty m:val="p"/>
                      </m:rPr>
                      <a:rPr lang="en-US" i="0" sz="1665">
                        <a:latin typeface="Cambria Math"/>
                      </a:rPr>
                      <m:t>)</m:t>
                    </m:r>
                    <m:sSub>
                      <m:e>
                        <m:r>
                          <m:rPr>
                            <m:sty m:val="i"/>
                          </m:rPr>
                          <a:rPr lang="en-US" i="1" sz="1665">
                            <a:latin typeface="Cambria Math"/>
                          </a:rPr>
                          <m:t>n</m:t>
                        </m:r>
                      </m:e>
                      <m:sub>
                        <m:r>
                          <m:rPr>
                            <m:sty m:val="i"/>
                          </m:rPr>
                          <a:rPr lang="en-US" i="1" sz="1665">
                            <a:latin typeface="Cambria Math"/>
                          </a:rPr>
                          <m:t>A</m:t>
                        </m:r>
                      </m:sub>
                    </m:sSub>
                    <m:r>
                      <m:rPr>
                        <m:sty m:val="p"/>
                      </m:rPr>
                      <a:rPr lang="en-US" i="0" sz="1665">
                        <a:latin typeface="Cambria Math"/>
                      </a:rPr>
                      <m:t>+</m:t>
                    </m:r>
                    <m:r>
                      <m:rPr>
                        <m:sty m:val="p"/>
                      </m:rPr>
                      <a:rPr lang="en-US" i="0" sz="1665">
                        <a:latin typeface="Cambria Math"/>
                      </a:rPr>
                      <m:t>2</m:t>
                    </m:r>
                    <m:r>
                      <m:rPr>
                        <m:sty m:val="i"/>
                      </m:rPr>
                      <a:rPr lang="en-US" i="1" sz="1665">
                        <a:latin typeface="Cambria Math"/>
                      </a:rPr>
                      <m:t>K</m:t>
                    </m:r>
                    <m:rad>
                      <m:radPr>
                        <m:degHide m:val="1"/>
                      </m:radPr>
                      <m:deg/>
                      <m:e>
                        <m:box>
                          <m:e>
                            <m:sSub>
                              <m:e>
                                <m:r>
                                  <m:rPr>
                                    <m:sty m:val="i"/>
                                  </m:rPr>
                                  <a:rPr lang="en-US" i="1" sz="1665">
                                    <a:latin typeface="Cambria Math"/>
                                  </a:rPr>
                                  <m:t>n</m:t>
                                </m:r>
                              </m:e>
                              <m:sub>
                                <m:r>
                                  <m:rPr>
                                    <m:sty m:val="i"/>
                                  </m:rPr>
                                  <a:rPr lang="en-US" i="1" sz="1665">
                                    <a:latin typeface="Cambria Math"/>
                                  </a:rPr>
                                  <m:t>A</m:t>
                                </m:r>
                              </m:sub>
                            </m:sSub>
                            <m:sSub>
                              <m:e>
                                <m:r>
                                  <m:rPr>
                                    <m:sty m:val="i"/>
                                  </m:rPr>
                                  <a:rPr lang="en-US" i="1" sz="1665">
                                    <a:latin typeface="Cambria Math"/>
                                  </a:rPr>
                                  <m:t>n</m:t>
                                </m:r>
                              </m:e>
                              <m:sub>
                                <m:r>
                                  <m:rPr>
                                    <m:sty m:val="i"/>
                                  </m:rPr>
                                  <a:rPr lang="en-US" i="1" sz="1665">
                                    <a:latin typeface="Cambria Math"/>
                                  </a:rPr>
                                  <m:t>B</m:t>
                                </m:r>
                              </m:sub>
                            </m:sSub>
                          </m:e>
                        </m:box>
                      </m:e>
                    </m:rad>
                    <m:box>
                      <m:e>
                        <m:r>
                          <a:rPr lang="en-US" i="1" sz="1665">
                            <a:latin typeface="Cambria Math"/>
                          </a:rPr>
                          <m:t/>
                        </m:r>
                      </m:e>
                    </m:box>
                    <m:r>
                      <m:rPr>
                        <m:sty m:val="p"/>
                      </m:rPr>
                      <a:rPr lang="en-US" i="0" sz="1665">
                        <a:latin typeface="Cambria Math"/>
                      </a:rPr>
                      <m:t>cos</m:t>
                    </m:r>
                    <m:r>
                      <m:rPr>
                        <m:sty m:val="p"/>
                      </m:rPr>
                      <a:rPr lang="en-US" i="0" sz="1665">
                        <a:latin typeface="Cambria Math"/>
                      </a:rPr>
                      <m:t/>
                    </m:r>
                    <m:r>
                      <m:rPr>
                        <m:sty m:val="p"/>
                      </m:rPr>
                      <a:rPr lang="en-US" i="0" sz="1665">
                        <a:latin typeface="Cambria Math"/>
                      </a:rPr>
                      <m:t>(</m:t>
                    </m:r>
                    <m:sSub>
                      <m:e>
                        <m:r>
                          <m:rPr>
                            <m:sty m:val="i"/>
                          </m:rPr>
                          <a:rPr lang="en-US" i="1" sz="1665">
                            <a:latin typeface="Cambria Math"/>
                          </a:rPr>
                          <m:t>θ</m:t>
                        </m:r>
                      </m:e>
                      <m:sub>
                        <m:r>
                          <m:rPr>
                            <m:sty m:val="i"/>
                          </m:rPr>
                          <a:rPr lang="en-US" i="1" sz="1665">
                            <a:latin typeface="Cambria Math"/>
                          </a:rPr>
                          <m:t>B</m:t>
                        </m:r>
                      </m:sub>
                    </m:sSub>
                    <m:r>
                      <m:rPr>
                        <m:sty m:val="p"/>
                      </m:rPr>
                      <a:rPr lang="en-US" i="0" sz="1665">
                        <a:latin typeface="Cambria Math"/>
                      </a:rPr>
                      <m:t>−</m:t>
                    </m:r>
                    <m:sSub>
                      <m:e>
                        <m:r>
                          <m:rPr>
                            <m:sty m:val="i"/>
                          </m:rPr>
                          <a:rPr lang="en-US" i="1" sz="1665">
                            <a:latin typeface="Cambria Math"/>
                          </a:rPr>
                          <m:t>θ</m:t>
                        </m:r>
                      </m:e>
                      <m:sub>
                        <m:r>
                          <m:rPr>
                            <m:sty m:val="i"/>
                          </m:rPr>
                          <a:rPr lang="en-US" i="1" sz="1665">
                            <a:latin typeface="Cambria Math"/>
                          </a:rPr>
                          <m:t>A</m:t>
                        </m:r>
                      </m:sub>
                    </m:sSub>
                    <m:r>
                      <m:rPr>
                        <m:sty m:val="p"/>
                      </m:rPr>
                      <a:rPr lang="en-US" i="0" sz="1665">
                        <a:latin typeface="Cambria Math"/>
                      </a:rPr>
                      <m:t>)</m:t>
                    </m:r>
                  </m:oMath>
                </a14:m>
              </mc:Choice>
              <mc:Fallback>
                <a:r>
                  <a:rPr lang="en-US" sz="1664" i="1"/>
                  <a:t>2(H_0+eV)n_A +
                                2K\sqrt{n_An_B}\,\cos(\theta_B-\theta_A)</a:t>
                </a:r>
              </mc:Fallback>
            </mc:AlternateContent>
          </a:p>
        </p:txBody>
      </p:sp>
      <p:sp>
        <p:nvSpPr>
          <p:cNvPr id="9" name="TextBox 8"/>
          <p:cNvSpPr txBox="1"/>
          <p:nvPr/>
        </p:nvSpPr>
        <p:spPr>
          <a:xfrm>
            <a:off x="5545005" y="1970617"/>
            <a:ext cx="382455" cy="281384"/>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ℏ</m:t>
                    </m:r>
                    <m:box>
                      <m:e>
                        <m:r>
                          <a:rPr lang="en-US" i="1" sz="1665">
                            <a:latin typeface="Cambria Math"/>
                          </a:rPr>
                          <m:t/>
                        </m:r>
                      </m:e>
                    </m:box>
                    <m:sSub>
                      <m:e>
                        <m:box>
                          <m:e>
                            <m:limUpp>
                              <m:e>
                                <m:r>
                                  <m:rPr>
                                    <m:sty m:val="i"/>
                                  </m:rPr>
                                  <a:rPr lang="en-US" i="1" sz="1665">
                                    <a:latin typeface="Cambria Math"/>
                                  </a:rPr>
                                  <m:t>θ</m:t>
                                </m:r>
                              </m:e>
                              <m:lim>
                                <m:r>
                                  <m:rPr>
                                    <m:sty m:val="p"/>
                                  </m:rPr>
                                  <a:rPr lang="en-US" i="0" sz="1665">
                                    <a:latin typeface="Cambria Math"/>
                                  </a:rPr>
                                  <m:t>˙</m:t>
                                </m:r>
                              </m:lim>
                            </m:limUpp>
                          </m:e>
                        </m:box>
                      </m:e>
                      <m:sub>
                        <m:r>
                          <m:rPr>
                            <m:sty m:val="i"/>
                          </m:rPr>
                          <a:rPr lang="en-US" i="1" sz="1665">
                            <a:latin typeface="Cambria Math"/>
                          </a:rPr>
                          <m:t>A</m:t>
                        </m:r>
                      </m:sub>
                    </m:sSub>
                  </m:oMath>
                </a14:m>
              </mc:Choice>
              <mc:Fallback>
                <a:r>
                  <a:rPr lang="en-US" sz="1664" i="1"/>
                  <a:t>\hbar\,\dot\theta_A</a:t>
                </a:r>
              </mc:Fallback>
            </mc:AlternateContent>
          </a:p>
        </p:txBody>
      </p:sp>
      <p:sp>
        <p:nvSpPr>
          <p:cNvPr id="10" name="TextBox 9"/>
          <p:cNvSpPr txBox="1"/>
          <p:nvPr/>
        </p:nvSpPr>
        <p:spPr>
          <a:xfrm>
            <a:off x="6012127" y="1973527"/>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t>
                </a:r>
              </mc:Fallback>
            </mc:AlternateContent>
          </a:p>
        </p:txBody>
      </p:sp>
      <p:sp>
        <p:nvSpPr>
          <p:cNvPr id="11" name="TextBox 10"/>
          <p:cNvSpPr txBox="1"/>
          <p:nvPr/>
        </p:nvSpPr>
        <p:spPr>
          <a:xfrm>
            <a:off x="6264407" y="1905397"/>
            <a:ext cx="3285464" cy="411956"/>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r>
                      <m:rPr>
                        <m:sty m:val="p"/>
                      </m:rPr>
                      <a:rPr lang="en-US" i="0" sz="1665">
                        <a:latin typeface="Cambria Math"/>
                      </a:rPr>
                      <m:t>(</m:t>
                    </m:r>
                    <m:sSub>
                      <m:e>
                        <m:r>
                          <m:rPr>
                            <m:sty m:val="i"/>
                          </m:rPr>
                          <a:rPr lang="en-US" i="1" sz="1665">
                            <a:latin typeface="Cambria Math"/>
                          </a:rPr>
                          <m:t>H</m:t>
                        </m:r>
                      </m:e>
                      <m:sub>
                        <m:r>
                          <m:rPr>
                            <m:sty m:val="p"/>
                          </m:rPr>
                          <a:rPr lang="en-US" i="0" sz="1665">
                            <a:latin typeface="Cambria Math"/>
                          </a:rPr>
                          <m:t>0</m:t>
                        </m:r>
                      </m:sub>
                    </m:sSub>
                    <m:r>
                      <m:rPr>
                        <m:sty m:val="p"/>
                      </m:rPr>
                      <a:rPr lang="en-US" i="0" sz="1665">
                        <a:latin typeface="Cambria Math"/>
                      </a:rPr>
                      <m:t>+</m:t>
                    </m:r>
                    <m:r>
                      <m:rPr>
                        <m:sty m:val="i"/>
                      </m:rPr>
                      <a:rPr lang="en-US" i="1" sz="1665">
                        <a:latin typeface="Cambria Math"/>
                      </a:rPr>
                      <m:t>e</m:t>
                    </m:r>
                    <m:r>
                      <m:rPr>
                        <m:sty m:val="i"/>
                      </m:rPr>
                      <a:rPr lang="en-US" i="1" sz="1665">
                        <a:latin typeface="Cambria Math"/>
                      </a:rPr>
                      <m:t>V</m:t>
                    </m:r>
                    <m:r>
                      <m:rPr>
                        <m:sty m:val="p"/>
                      </m:rPr>
                      <a:rPr lang="en-US" i="0" sz="1665">
                        <a:latin typeface="Cambria Math"/>
                      </a:rPr>
                      <m:t>)</m:t>
                    </m:r>
                    <m:r>
                      <m:rPr>
                        <m:sty m:val="p"/>
                      </m:rPr>
                      <a:rPr lang="en-US" i="0" sz="1665">
                        <a:latin typeface="Cambria Math"/>
                      </a:rPr>
                      <m:t>−</m:t>
                    </m:r>
                    <m:r>
                      <m:rPr>
                        <m:sty m:val="i"/>
                      </m:rPr>
                      <a:rPr lang="en-US" i="1" sz="1665">
                        <a:latin typeface="Cambria Math"/>
                      </a:rPr>
                      <m:t>K</m:t>
                    </m:r>
                    <m:rad>
                      <m:radPr>
                        <m:degHide m:val="1"/>
                      </m:radPr>
                      <m:deg/>
                      <m:e>
                        <m:box>
                          <m:e>
                            <m:f>
                              <m:num>
                                <m:sSub>
                                  <m:e>
                                    <m:r>
                                      <m:rPr>
                                        <m:sty m:val="i"/>
                                      </m:rPr>
                                      <a:rPr lang="en-US" i="1" sz="1665">
                                        <a:latin typeface="Cambria Math"/>
                                      </a:rPr>
                                      <m:t>n</m:t>
                                    </m:r>
                                  </m:e>
                                  <m:sub>
                                    <m:r>
                                      <m:rPr>
                                        <m:sty m:val="i"/>
                                      </m:rPr>
                                      <a:rPr lang="en-US" i="1" sz="1665">
                                        <a:latin typeface="Cambria Math"/>
                                      </a:rPr>
                                      <m:t>B</m:t>
                                    </m:r>
                                  </m:sub>
                                </m:sSub>
                              </m:num>
                              <m:den>
                                <m:sSub>
                                  <m:e>
                                    <m:r>
                                      <m:rPr>
                                        <m:sty m:val="i"/>
                                      </m:rPr>
                                      <a:rPr lang="en-US" i="1" sz="1665">
                                        <a:latin typeface="Cambria Math"/>
                                      </a:rPr>
                                      <m:t>n</m:t>
                                    </m:r>
                                  </m:e>
                                  <m:sub>
                                    <m:r>
                                      <m:rPr>
                                        <m:sty m:val="i"/>
                                      </m:rPr>
                                      <a:rPr lang="en-US" i="1" sz="1665">
                                        <a:latin typeface="Cambria Math"/>
                                      </a:rPr>
                                      <m:t>A</m:t>
                                    </m:r>
                                  </m:sub>
                                </m:sSub>
                              </m:den>
                            </m:f>
                          </m:e>
                        </m:box>
                      </m:e>
                    </m:rad>
                    <m:box>
                      <m:e>
                        <m:r>
                          <a:rPr lang="en-US" i="1" sz="1665">
                            <a:latin typeface="Cambria Math"/>
                          </a:rPr>
                          <m:t/>
                        </m:r>
                      </m:e>
                    </m:box>
                    <m:r>
                      <m:rPr>
                        <m:sty m:val="p"/>
                      </m:rPr>
                      <a:rPr lang="en-US" i="0" sz="1665">
                        <a:latin typeface="Cambria Math"/>
                      </a:rPr>
                      <m:t>cos</m:t>
                    </m:r>
                    <m:r>
                      <m:rPr>
                        <m:sty m:val="p"/>
                      </m:rPr>
                      <a:rPr lang="en-US" i="0" sz="1665">
                        <a:latin typeface="Cambria Math"/>
                      </a:rPr>
                      <m:t/>
                    </m:r>
                    <m:r>
                      <m:rPr>
                        <m:sty m:val="p"/>
                      </m:rPr>
                      <a:rPr lang="en-US" i="0" sz="1665">
                        <a:latin typeface="Cambria Math"/>
                      </a:rPr>
                      <m:t>(</m:t>
                    </m:r>
                    <m:sSub>
                      <m:e>
                        <m:r>
                          <m:rPr>
                            <m:sty m:val="i"/>
                          </m:rPr>
                          <a:rPr lang="en-US" i="1" sz="1665">
                            <a:latin typeface="Cambria Math"/>
                          </a:rPr>
                          <m:t>θ</m:t>
                        </m:r>
                      </m:e>
                      <m:sub>
                        <m:r>
                          <m:rPr>
                            <m:sty m:val="i"/>
                          </m:rPr>
                          <a:rPr lang="en-US" i="1" sz="1665">
                            <a:latin typeface="Cambria Math"/>
                          </a:rPr>
                          <m:t>B</m:t>
                        </m:r>
                      </m:sub>
                    </m:sSub>
                    <m:r>
                      <m:rPr>
                        <m:sty m:val="p"/>
                      </m:rPr>
                      <a:rPr lang="en-US" i="0" sz="1665">
                        <a:latin typeface="Cambria Math"/>
                      </a:rPr>
                      <m:t>−</m:t>
                    </m:r>
                    <m:sSub>
                      <m:e>
                        <m:r>
                          <m:rPr>
                            <m:sty m:val="i"/>
                          </m:rPr>
                          <a:rPr lang="en-US" i="1" sz="1665">
                            <a:latin typeface="Cambria Math"/>
                          </a:rPr>
                          <m:t>θ</m:t>
                        </m:r>
                      </m:e>
                      <m:sub>
                        <m:r>
                          <m:rPr>
                            <m:sty m:val="i"/>
                          </m:rPr>
                          <a:rPr lang="en-US" i="1" sz="1665">
                            <a:latin typeface="Cambria Math"/>
                          </a:rPr>
                          <m:t>A</m:t>
                        </m:r>
                      </m:sub>
                    </m:sSub>
                    <m:r>
                      <m:rPr>
                        <m:sty m:val="p"/>
                      </m:rPr>
                      <a:rPr lang="en-US" i="0" sz="1665">
                        <a:latin typeface="Cambria Math"/>
                      </a:rPr>
                      <m:t>)</m:t>
                    </m:r>
                  </m:oMath>
                </a14:m>
              </mc:Choice>
              <mc:Fallback>
                <a:r>
                  <a:rPr lang="en-US" sz="1664" i="1"/>
                  <a:t>-(H_0+eV) -
                                K\sqrt{\frac{n_B}{n_A}}\,\cos(\theta_B-\theta_A)</a:t>
                </a:r>
              </mc:Fallback>
            </mc:AlternateContent>
          </a:p>
        </p:txBody>
      </p:sp>
      <p:sp>
        <p:nvSpPr>
          <p:cNvPr id="12" name="TextBox 11"/>
          <p:cNvSpPr txBox="1"/>
          <p:nvPr/>
        </p:nvSpPr>
        <p:spPr>
          <a:xfrm>
            <a:off x="5444464" y="2404666"/>
            <a:ext cx="482997" cy="270140"/>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i</m:t>
                    </m:r>
                    <m:r>
                      <m:rPr>
                        <m:sty m:val="i"/>
                      </m:rPr>
                      <a:rPr lang="en-US" i="1" sz="1665">
                        <a:latin typeface="Cambria Math"/>
                      </a:rPr>
                      <m:t>ℏ</m:t>
                    </m:r>
                    <m:box>
                      <m:e>
                        <m:r>
                          <a:rPr lang="en-US" i="1" sz="1665">
                            <a:latin typeface="Cambria Math"/>
                          </a:rPr>
                          <m:t/>
                        </m:r>
                      </m:e>
                    </m:box>
                    <m:sSub>
                      <m:e>
                        <m:box>
                          <m:e>
                            <m:limUpp>
                              <m:e>
                                <m:r>
                                  <m:rPr>
                                    <m:sty m:val="i"/>
                                  </m:rPr>
                                  <a:rPr lang="en-US" i="1" sz="1665">
                                    <a:latin typeface="Cambria Math"/>
                                  </a:rPr>
                                  <m:t>n</m:t>
                                </m:r>
                              </m:e>
                              <m:lim>
                                <m:r>
                                  <m:rPr>
                                    <m:sty m:val="p"/>
                                  </m:rPr>
                                  <a:rPr lang="en-US" i="0" sz="1665">
                                    <a:latin typeface="Cambria Math"/>
                                  </a:rPr>
                                  <m:t>˙</m:t>
                                </m:r>
                              </m:lim>
                            </m:limUpp>
                          </m:e>
                        </m:box>
                      </m:e>
                      <m:sub>
                        <m:r>
                          <m:rPr>
                            <m:sty m:val="i"/>
                          </m:rPr>
                          <a:rPr lang="en-US" i="1" sz="1665">
                            <a:latin typeface="Cambria Math"/>
                          </a:rPr>
                          <m:t>A</m:t>
                        </m:r>
                      </m:sub>
                    </m:sSub>
                  </m:oMath>
                </a14:m>
              </mc:Choice>
              <mc:Fallback>
                <a:r>
                  <a:rPr lang="en-US" sz="1664" i="1"/>
                  <a:t>i\hbar\,\dot n_A</a:t>
                </a:r>
              </mc:Fallback>
            </mc:AlternateContent>
          </a:p>
        </p:txBody>
      </p:sp>
      <p:sp>
        <p:nvSpPr>
          <p:cNvPr id="13" name="TextBox 12"/>
          <p:cNvSpPr txBox="1"/>
          <p:nvPr/>
        </p:nvSpPr>
        <p:spPr>
          <a:xfrm>
            <a:off x="6012127" y="2402020"/>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t>
                </a:r>
              </mc:Fallback>
            </mc:AlternateContent>
          </a:p>
        </p:txBody>
      </p:sp>
      <p:sp>
        <p:nvSpPr>
          <p:cNvPr id="14" name="TextBox 13"/>
          <p:cNvSpPr txBox="1"/>
          <p:nvPr/>
        </p:nvSpPr>
        <p:spPr>
          <a:xfrm>
            <a:off x="6264407" y="2404666"/>
            <a:ext cx="2270786" cy="270140"/>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2</m:t>
                    </m:r>
                    <m:r>
                      <m:rPr>
                        <m:sty m:val="i"/>
                      </m:rPr>
                      <a:rPr lang="en-US" i="1" sz="1665">
                        <a:latin typeface="Cambria Math"/>
                      </a:rPr>
                      <m:t>i</m:t>
                    </m:r>
                    <m:r>
                      <m:rPr>
                        <m:sty m:val="i"/>
                      </m:rPr>
                      <a:rPr lang="en-US" i="1" sz="1665">
                        <a:latin typeface="Cambria Math"/>
                      </a:rPr>
                      <m:t>K</m:t>
                    </m:r>
                    <m:rad>
                      <m:radPr>
                        <m:degHide m:val="1"/>
                      </m:radPr>
                      <m:deg/>
                      <m:e>
                        <m:box>
                          <m:e>
                            <m:sSub>
                              <m:e>
                                <m:r>
                                  <m:rPr>
                                    <m:sty m:val="i"/>
                                  </m:rPr>
                                  <a:rPr lang="en-US" i="1" sz="1665">
                                    <a:latin typeface="Cambria Math"/>
                                  </a:rPr>
                                  <m:t>n</m:t>
                                </m:r>
                              </m:e>
                              <m:sub>
                                <m:r>
                                  <m:rPr>
                                    <m:sty m:val="i"/>
                                  </m:rPr>
                                  <a:rPr lang="en-US" i="1" sz="1665">
                                    <a:latin typeface="Cambria Math"/>
                                  </a:rPr>
                                  <m:t>A</m:t>
                                </m:r>
                              </m:sub>
                            </m:sSub>
                            <m:sSub>
                              <m:e>
                                <m:r>
                                  <m:rPr>
                                    <m:sty m:val="i"/>
                                  </m:rPr>
                                  <a:rPr lang="en-US" i="1" sz="1665">
                                    <a:latin typeface="Cambria Math"/>
                                  </a:rPr>
                                  <m:t>n</m:t>
                                </m:r>
                              </m:e>
                              <m:sub>
                                <m:r>
                                  <m:rPr>
                                    <m:sty m:val="i"/>
                                  </m:rPr>
                                  <a:rPr lang="en-US" i="1" sz="1665">
                                    <a:latin typeface="Cambria Math"/>
                                  </a:rPr>
                                  <m:t>B</m:t>
                                </m:r>
                              </m:sub>
                            </m:sSub>
                          </m:e>
                        </m:box>
                      </m:e>
                    </m:rad>
                    <m:box>
                      <m:e>
                        <m:r>
                          <a:rPr lang="en-US" i="1" sz="1665">
                            <a:latin typeface="Cambria Math"/>
                          </a:rPr>
                          <m:t/>
                        </m:r>
                      </m:e>
                    </m:box>
                    <m:r>
                      <m:rPr>
                        <m:sty m:val="p"/>
                      </m:rPr>
                      <a:rPr lang="en-US" i="0" sz="1665">
                        <a:latin typeface="Cambria Math"/>
                      </a:rPr>
                      <m:t>sin</m:t>
                    </m:r>
                    <m:r>
                      <m:rPr>
                        <m:sty m:val="p"/>
                      </m:rPr>
                      <a:rPr lang="en-US" i="0" sz="1665">
                        <a:latin typeface="Cambria Math"/>
                      </a:rPr>
                      <m:t/>
                    </m:r>
                    <m:r>
                      <m:rPr>
                        <m:sty m:val="p"/>
                      </m:rPr>
                      <a:rPr lang="en-US" i="0" sz="1665">
                        <a:latin typeface="Cambria Math"/>
                      </a:rPr>
                      <m:t>(</m:t>
                    </m:r>
                    <m:sSub>
                      <m:e>
                        <m:r>
                          <m:rPr>
                            <m:sty m:val="i"/>
                          </m:rPr>
                          <a:rPr lang="en-US" i="1" sz="1665">
                            <a:latin typeface="Cambria Math"/>
                          </a:rPr>
                          <m:t>θ</m:t>
                        </m:r>
                      </m:e>
                      <m:sub>
                        <m:r>
                          <m:rPr>
                            <m:sty m:val="i"/>
                          </m:rPr>
                          <a:rPr lang="en-US" i="1" sz="1665">
                            <a:latin typeface="Cambria Math"/>
                          </a:rPr>
                          <m:t>B</m:t>
                        </m:r>
                      </m:sub>
                    </m:sSub>
                    <m:r>
                      <m:rPr>
                        <m:sty m:val="p"/>
                      </m:rPr>
                      <a:rPr lang="en-US" i="0" sz="1665">
                        <a:latin typeface="Cambria Math"/>
                      </a:rPr>
                      <m:t>−</m:t>
                    </m:r>
                    <m:sSub>
                      <m:e>
                        <m:r>
                          <m:rPr>
                            <m:sty m:val="i"/>
                          </m:rPr>
                          <a:rPr lang="en-US" i="1" sz="1665">
                            <a:latin typeface="Cambria Math"/>
                          </a:rPr>
                          <m:t>θ</m:t>
                        </m:r>
                      </m:e>
                      <m:sub>
                        <m:r>
                          <m:rPr>
                            <m:sty m:val="i"/>
                          </m:rPr>
                          <a:rPr lang="en-US" i="1" sz="1665">
                            <a:latin typeface="Cambria Math"/>
                          </a:rPr>
                          <m:t>A</m:t>
                        </m:r>
                      </m:sub>
                    </m:sSub>
                    <m:r>
                      <m:rPr>
                        <m:sty m:val="p"/>
                      </m:rPr>
                      <a:rPr lang="en-US" i="0" sz="1665">
                        <a:latin typeface="Cambria Math"/>
                      </a:rPr>
                      <m:t>)</m:t>
                    </m:r>
                  </m:oMath>
                </a14:m>
              </mc:Choice>
              <mc:Fallback>
                <a:r>
                  <a:rPr lang="en-US" sz="1664" i="1"/>
                  <a:t>2iK\sqrt{n_An_B}\,\sin(\theta_B-\theta_A)</a:t>
                </a:r>
              </mc:Fallback>
            </mc:AlternateContent>
          </a:p>
        </p:txBody>
      </p:sp>
      <p:sp>
        <p:nvSpPr>
          <p:cNvPr id="15" name="TextBox 14"/>
          <p:cNvSpPr txBox="1"/>
          <p:nvPr/>
        </p:nvSpPr>
        <p:spPr>
          <a:xfrm>
            <a:off x="5517356" y="2764896"/>
            <a:ext cx="410104" cy="270140"/>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ℏ</m:t>
                    </m:r>
                    <m:box>
                      <m:e>
                        <m:r>
                          <a:rPr lang="en-US" i="1" sz="1665">
                            <a:latin typeface="Cambria Math"/>
                          </a:rPr>
                          <m:t/>
                        </m:r>
                      </m:e>
                    </m:box>
                    <m:sSub>
                      <m:e>
                        <m:box>
                          <m:e>
                            <m:limUpp>
                              <m:e>
                                <m:r>
                                  <m:rPr>
                                    <m:sty m:val="i"/>
                                  </m:rPr>
                                  <a:rPr lang="en-US" i="1" sz="1665">
                                    <a:latin typeface="Cambria Math"/>
                                  </a:rPr>
                                  <m:t>n</m:t>
                                </m:r>
                              </m:e>
                              <m:lim>
                                <m:r>
                                  <m:rPr>
                                    <m:sty m:val="p"/>
                                  </m:rPr>
                                  <a:rPr lang="en-US" i="0" sz="1665">
                                    <a:latin typeface="Cambria Math"/>
                                  </a:rPr>
                                  <m:t>˙</m:t>
                                </m:r>
                              </m:lim>
                            </m:limUpp>
                          </m:e>
                        </m:box>
                      </m:e>
                      <m:sub>
                        <m:r>
                          <m:rPr>
                            <m:sty m:val="i"/>
                          </m:rPr>
                          <a:rPr lang="en-US" i="1" sz="1665">
                            <a:latin typeface="Cambria Math"/>
                          </a:rPr>
                          <m:t>A</m:t>
                        </m:r>
                      </m:sub>
                    </m:sSub>
                  </m:oMath>
                </a14:m>
              </mc:Choice>
              <mc:Fallback>
                <a:r>
                  <a:rPr lang="en-US" sz="1664" i="1"/>
                  <a:t>\hbar\,\dot n_A</a:t>
                </a:r>
              </mc:Fallback>
            </mc:AlternateContent>
          </a:p>
        </p:txBody>
      </p:sp>
      <p:sp>
        <p:nvSpPr>
          <p:cNvPr id="16" name="TextBox 15"/>
          <p:cNvSpPr txBox="1"/>
          <p:nvPr/>
        </p:nvSpPr>
        <p:spPr>
          <a:xfrm>
            <a:off x="6012127" y="2762250"/>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t>
                </a:r>
              </mc:Fallback>
            </mc:AlternateContent>
          </a:p>
        </p:txBody>
      </p:sp>
      <p:sp>
        <p:nvSpPr>
          <p:cNvPr id="17" name="TextBox 16"/>
          <p:cNvSpPr txBox="1"/>
          <p:nvPr/>
        </p:nvSpPr>
        <p:spPr>
          <a:xfrm>
            <a:off x="6264407" y="2764896"/>
            <a:ext cx="2197894" cy="270140"/>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2</m:t>
                    </m:r>
                    <m:r>
                      <m:rPr>
                        <m:sty m:val="i"/>
                      </m:rPr>
                      <a:rPr lang="en-US" i="1" sz="1665">
                        <a:latin typeface="Cambria Math"/>
                      </a:rPr>
                      <m:t>K</m:t>
                    </m:r>
                    <m:rad>
                      <m:radPr>
                        <m:degHide m:val="1"/>
                      </m:radPr>
                      <m:deg/>
                      <m:e>
                        <m:box>
                          <m:e>
                            <m:sSub>
                              <m:e>
                                <m:r>
                                  <m:rPr>
                                    <m:sty m:val="i"/>
                                  </m:rPr>
                                  <a:rPr lang="en-US" i="1" sz="1665">
                                    <a:latin typeface="Cambria Math"/>
                                  </a:rPr>
                                  <m:t>n</m:t>
                                </m:r>
                              </m:e>
                              <m:sub>
                                <m:r>
                                  <m:rPr>
                                    <m:sty m:val="i"/>
                                  </m:rPr>
                                  <a:rPr lang="en-US" i="1" sz="1665">
                                    <a:latin typeface="Cambria Math"/>
                                  </a:rPr>
                                  <m:t>A</m:t>
                                </m:r>
                              </m:sub>
                            </m:sSub>
                            <m:sSub>
                              <m:e>
                                <m:r>
                                  <m:rPr>
                                    <m:sty m:val="i"/>
                                  </m:rPr>
                                  <a:rPr lang="en-US" i="1" sz="1665">
                                    <a:latin typeface="Cambria Math"/>
                                  </a:rPr>
                                  <m:t>n</m:t>
                                </m:r>
                              </m:e>
                              <m:sub>
                                <m:r>
                                  <m:rPr>
                                    <m:sty m:val="i"/>
                                  </m:rPr>
                                  <a:rPr lang="en-US" i="1" sz="1665">
                                    <a:latin typeface="Cambria Math"/>
                                  </a:rPr>
                                  <m:t>B</m:t>
                                </m:r>
                              </m:sub>
                            </m:sSub>
                          </m:e>
                        </m:box>
                      </m:e>
                    </m:rad>
                    <m:box>
                      <m:e>
                        <m:r>
                          <a:rPr lang="en-US" i="1" sz="1665">
                            <a:latin typeface="Cambria Math"/>
                          </a:rPr>
                          <m:t/>
                        </m:r>
                      </m:e>
                    </m:box>
                    <m:r>
                      <m:rPr>
                        <m:sty m:val="p"/>
                      </m:rPr>
                      <a:rPr lang="en-US" i="0" sz="1665">
                        <a:latin typeface="Cambria Math"/>
                      </a:rPr>
                      <m:t>sin</m:t>
                    </m:r>
                    <m:r>
                      <m:rPr>
                        <m:sty m:val="p"/>
                      </m:rPr>
                      <a:rPr lang="en-US" i="0" sz="1665">
                        <a:latin typeface="Cambria Math"/>
                      </a:rPr>
                      <m:t/>
                    </m:r>
                    <m:r>
                      <m:rPr>
                        <m:sty m:val="p"/>
                      </m:rPr>
                      <a:rPr lang="en-US" i="0" sz="1665">
                        <a:latin typeface="Cambria Math"/>
                      </a:rPr>
                      <m:t>(</m:t>
                    </m:r>
                    <m:sSub>
                      <m:e>
                        <m:r>
                          <m:rPr>
                            <m:sty m:val="i"/>
                          </m:rPr>
                          <a:rPr lang="en-US" i="1" sz="1665">
                            <a:latin typeface="Cambria Math"/>
                          </a:rPr>
                          <m:t>θ</m:t>
                        </m:r>
                      </m:e>
                      <m:sub>
                        <m:r>
                          <m:rPr>
                            <m:sty m:val="i"/>
                          </m:rPr>
                          <a:rPr lang="en-US" i="1" sz="1665">
                            <a:latin typeface="Cambria Math"/>
                          </a:rPr>
                          <m:t>B</m:t>
                        </m:r>
                      </m:sub>
                    </m:sSub>
                    <m:r>
                      <m:rPr>
                        <m:sty m:val="p"/>
                      </m:rPr>
                      <a:rPr lang="en-US" i="0" sz="1665">
                        <a:latin typeface="Cambria Math"/>
                      </a:rPr>
                      <m:t>−</m:t>
                    </m:r>
                    <m:sSub>
                      <m:e>
                        <m:r>
                          <m:rPr>
                            <m:sty m:val="i"/>
                          </m:rPr>
                          <a:rPr lang="en-US" i="1" sz="1665">
                            <a:latin typeface="Cambria Math"/>
                          </a:rPr>
                          <m:t>θ</m:t>
                        </m:r>
                      </m:e>
                      <m:sub>
                        <m:r>
                          <m:rPr>
                            <m:sty m:val="i"/>
                          </m:rPr>
                          <a:rPr lang="en-US" i="1" sz="1665">
                            <a:latin typeface="Cambria Math"/>
                          </a:rPr>
                          <m:t>A</m:t>
                        </m:r>
                      </m:sub>
                    </m:sSub>
                    <m:r>
                      <m:rPr>
                        <m:sty m:val="p"/>
                      </m:rPr>
                      <a:rPr lang="en-US" i="0" sz="1665">
                        <a:latin typeface="Cambria Math"/>
                      </a:rPr>
                      <m:t>)</m:t>
                    </m:r>
                  </m:oMath>
                </a14:m>
              </mc:Choice>
              <mc:Fallback>
                <a:r>
                  <a:rPr lang="en-US" sz="1664" i="1"/>
                  <a:t>2K\sqrt{n_An_B}\,\sin(\theta_B-\theta_A)</a:t>
                </a:r>
              </mc:Fallback>
            </mc:AlternateContent>
          </a:p>
        </p:txBody>
      </p:sp>
      <p:sp>
        <p:nvSpPr>
          <p:cNvPr id="18" name="Rectangle 17"/>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20" name="TextBox 19"/>
          <p:cNvSpPr txBox="1"/>
          <p:nvPr/>
        </p:nvSpPr>
        <p:spPr>
          <a:xfrm>
            <a:off x="11226139" y="6565900"/>
            <a:ext cx="474795"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68 / 100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Repeating the same add/subtract procedure for site B:</a:t>
            </a:r>
          </a:p>
        </p:txBody>
      </p:sp>
      <p:sp>
        <p:nvSpPr>
          <p:cNvPr id="6" name="TextBox 5"/>
          <p:cNvSpPr txBox="1"/>
          <p:nvPr/>
        </p:nvSpPr>
        <p:spPr>
          <a:xfrm>
            <a:off x="5543682" y="1334691"/>
            <a:ext cx="383778" cy="280988"/>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ℏ</m:t>
                    </m:r>
                    <m:box>
                      <m:e>
                        <m:r>
                          <a:rPr lang="en-US" i="1" sz="1665">
                            <a:latin typeface="Cambria Math"/>
                          </a:rPr>
                          <m:t/>
                        </m:r>
                      </m:e>
                    </m:box>
                    <m:sSub>
                      <m:e>
                        <m:box>
                          <m:e>
                            <m:limUpp>
                              <m:e>
                                <m:r>
                                  <m:rPr>
                                    <m:sty m:val="i"/>
                                  </m:rPr>
                                  <a:rPr lang="en-US" i="1" sz="1665">
                                    <a:latin typeface="Cambria Math"/>
                                  </a:rPr>
                                  <m:t>θ</m:t>
                                </m:r>
                              </m:e>
                              <m:lim>
                                <m:r>
                                  <m:rPr>
                                    <m:sty m:val="p"/>
                                  </m:rPr>
                                  <a:rPr lang="en-US" i="0" sz="1665">
                                    <a:latin typeface="Cambria Math"/>
                                  </a:rPr>
                                  <m:t>˙</m:t>
                                </m:r>
                              </m:lim>
                            </m:limUpp>
                          </m:e>
                        </m:box>
                      </m:e>
                      <m:sub>
                        <m:r>
                          <m:rPr>
                            <m:sty m:val="i"/>
                          </m:rPr>
                          <a:rPr lang="en-US" i="1" sz="1665">
                            <a:latin typeface="Cambria Math"/>
                          </a:rPr>
                          <m:t>B</m:t>
                        </m:r>
                      </m:sub>
                    </m:sSub>
                  </m:oMath>
                </a14:m>
              </mc:Choice>
              <mc:Fallback>
                <a:r>
                  <a:rPr lang="en-US" sz="1664" i="1"/>
                  <a:t>\hbar\,\dot\theta_B</a:t>
                </a:r>
              </mc:Fallback>
            </mc:AlternateContent>
          </a:p>
        </p:txBody>
      </p:sp>
      <p:sp>
        <p:nvSpPr>
          <p:cNvPr id="7" name="TextBox 6"/>
          <p:cNvSpPr txBox="1"/>
          <p:nvPr/>
        </p:nvSpPr>
        <p:spPr>
          <a:xfrm>
            <a:off x="6012127" y="1337336"/>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t>
                </a:r>
              </mc:Fallback>
            </mc:AlternateContent>
          </a:p>
        </p:txBody>
      </p:sp>
      <p:sp>
        <p:nvSpPr>
          <p:cNvPr id="8" name="TextBox 7"/>
          <p:cNvSpPr txBox="1"/>
          <p:nvPr/>
        </p:nvSpPr>
        <p:spPr>
          <a:xfrm>
            <a:off x="6264407" y="1269206"/>
            <a:ext cx="3285464" cy="411956"/>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r>
                      <m:rPr>
                        <m:sty m:val="p"/>
                      </m:rPr>
                      <a:rPr lang="en-US" i="0" sz="1665">
                        <a:latin typeface="Cambria Math"/>
                      </a:rPr>
                      <m:t>(</m:t>
                    </m:r>
                    <m:sSub>
                      <m:e>
                        <m:r>
                          <m:rPr>
                            <m:sty m:val="i"/>
                          </m:rPr>
                          <a:rPr lang="en-US" i="1" sz="1665">
                            <a:latin typeface="Cambria Math"/>
                          </a:rPr>
                          <m:t>H</m:t>
                        </m:r>
                      </m:e>
                      <m:sub>
                        <m:r>
                          <m:rPr>
                            <m:sty m:val="p"/>
                          </m:rPr>
                          <a:rPr lang="en-US" i="0" sz="1665">
                            <a:latin typeface="Cambria Math"/>
                          </a:rPr>
                          <m:t>0</m:t>
                        </m:r>
                      </m:sub>
                    </m:sSub>
                    <m:r>
                      <m:rPr>
                        <m:sty m:val="p"/>
                      </m:rPr>
                      <a:rPr lang="en-US" i="0" sz="1665">
                        <a:latin typeface="Cambria Math"/>
                      </a:rPr>
                      <m:t>−</m:t>
                    </m:r>
                    <m:r>
                      <m:rPr>
                        <m:sty m:val="i"/>
                      </m:rPr>
                      <a:rPr lang="en-US" i="1" sz="1665">
                        <a:latin typeface="Cambria Math"/>
                      </a:rPr>
                      <m:t>e</m:t>
                    </m:r>
                    <m:r>
                      <m:rPr>
                        <m:sty m:val="i"/>
                      </m:rPr>
                      <a:rPr lang="en-US" i="1" sz="1665">
                        <a:latin typeface="Cambria Math"/>
                      </a:rPr>
                      <m:t>V</m:t>
                    </m:r>
                    <m:r>
                      <m:rPr>
                        <m:sty m:val="p"/>
                      </m:rPr>
                      <a:rPr lang="en-US" i="0" sz="1665">
                        <a:latin typeface="Cambria Math"/>
                      </a:rPr>
                      <m:t>)</m:t>
                    </m:r>
                    <m:r>
                      <m:rPr>
                        <m:sty m:val="p"/>
                      </m:rPr>
                      <a:rPr lang="en-US" i="0" sz="1665">
                        <a:latin typeface="Cambria Math"/>
                      </a:rPr>
                      <m:t>−</m:t>
                    </m:r>
                    <m:r>
                      <m:rPr>
                        <m:sty m:val="i"/>
                      </m:rPr>
                      <a:rPr lang="en-US" i="1" sz="1665">
                        <a:latin typeface="Cambria Math"/>
                      </a:rPr>
                      <m:t>K</m:t>
                    </m:r>
                    <m:rad>
                      <m:radPr>
                        <m:degHide m:val="1"/>
                      </m:radPr>
                      <m:deg/>
                      <m:e>
                        <m:box>
                          <m:e>
                            <m:f>
                              <m:num>
                                <m:sSub>
                                  <m:e>
                                    <m:r>
                                      <m:rPr>
                                        <m:sty m:val="i"/>
                                      </m:rPr>
                                      <a:rPr lang="en-US" i="1" sz="1665">
                                        <a:latin typeface="Cambria Math"/>
                                      </a:rPr>
                                      <m:t>n</m:t>
                                    </m:r>
                                  </m:e>
                                  <m:sub>
                                    <m:r>
                                      <m:rPr>
                                        <m:sty m:val="i"/>
                                      </m:rPr>
                                      <a:rPr lang="en-US" i="1" sz="1665">
                                        <a:latin typeface="Cambria Math"/>
                                      </a:rPr>
                                      <m:t>A</m:t>
                                    </m:r>
                                  </m:sub>
                                </m:sSub>
                              </m:num>
                              <m:den>
                                <m:sSub>
                                  <m:e>
                                    <m:r>
                                      <m:rPr>
                                        <m:sty m:val="i"/>
                                      </m:rPr>
                                      <a:rPr lang="en-US" i="1" sz="1665">
                                        <a:latin typeface="Cambria Math"/>
                                      </a:rPr>
                                      <m:t>n</m:t>
                                    </m:r>
                                  </m:e>
                                  <m:sub>
                                    <m:r>
                                      <m:rPr>
                                        <m:sty m:val="i"/>
                                      </m:rPr>
                                      <a:rPr lang="en-US" i="1" sz="1665">
                                        <a:latin typeface="Cambria Math"/>
                                      </a:rPr>
                                      <m:t>B</m:t>
                                    </m:r>
                                  </m:sub>
                                </m:sSub>
                              </m:den>
                            </m:f>
                          </m:e>
                        </m:box>
                      </m:e>
                    </m:rad>
                    <m:box>
                      <m:e>
                        <m:r>
                          <a:rPr lang="en-US" i="1" sz="1665">
                            <a:latin typeface="Cambria Math"/>
                          </a:rPr>
                          <m:t/>
                        </m:r>
                      </m:e>
                    </m:box>
                    <m:r>
                      <m:rPr>
                        <m:sty m:val="p"/>
                      </m:rPr>
                      <a:rPr lang="en-US" i="0" sz="1665">
                        <a:latin typeface="Cambria Math"/>
                      </a:rPr>
                      <m:t>cos</m:t>
                    </m:r>
                    <m:r>
                      <m:rPr>
                        <m:sty m:val="p"/>
                      </m:rPr>
                      <a:rPr lang="en-US" i="0" sz="1665">
                        <a:latin typeface="Cambria Math"/>
                      </a:rPr>
                      <m:t/>
                    </m:r>
                    <m:r>
                      <m:rPr>
                        <m:sty m:val="p"/>
                      </m:rPr>
                      <a:rPr lang="en-US" i="0" sz="1665">
                        <a:latin typeface="Cambria Math"/>
                      </a:rPr>
                      <m:t>(</m:t>
                    </m:r>
                    <m:sSub>
                      <m:e>
                        <m:r>
                          <m:rPr>
                            <m:sty m:val="i"/>
                          </m:rPr>
                          <a:rPr lang="en-US" i="1" sz="1665">
                            <a:latin typeface="Cambria Math"/>
                          </a:rPr>
                          <m:t>θ</m:t>
                        </m:r>
                      </m:e>
                      <m:sub>
                        <m:r>
                          <m:rPr>
                            <m:sty m:val="i"/>
                          </m:rPr>
                          <a:rPr lang="en-US" i="1" sz="1665">
                            <a:latin typeface="Cambria Math"/>
                          </a:rPr>
                          <m:t>B</m:t>
                        </m:r>
                      </m:sub>
                    </m:sSub>
                    <m:r>
                      <m:rPr>
                        <m:sty m:val="p"/>
                      </m:rPr>
                      <a:rPr lang="en-US" i="0" sz="1665">
                        <a:latin typeface="Cambria Math"/>
                      </a:rPr>
                      <m:t>−</m:t>
                    </m:r>
                    <m:sSub>
                      <m:e>
                        <m:r>
                          <m:rPr>
                            <m:sty m:val="i"/>
                          </m:rPr>
                          <a:rPr lang="en-US" i="1" sz="1665">
                            <a:latin typeface="Cambria Math"/>
                          </a:rPr>
                          <m:t>θ</m:t>
                        </m:r>
                      </m:e>
                      <m:sub>
                        <m:r>
                          <m:rPr>
                            <m:sty m:val="i"/>
                          </m:rPr>
                          <a:rPr lang="en-US" i="1" sz="1665">
                            <a:latin typeface="Cambria Math"/>
                          </a:rPr>
                          <m:t>A</m:t>
                        </m:r>
                      </m:sub>
                    </m:sSub>
                    <m:r>
                      <m:rPr>
                        <m:sty m:val="p"/>
                      </m:rPr>
                      <a:rPr lang="en-US" i="0" sz="1665">
                        <a:latin typeface="Cambria Math"/>
                      </a:rPr>
                      <m:t>)</m:t>
                    </m:r>
                  </m:oMath>
                </a14:m>
              </mc:Choice>
              <mc:Fallback>
                <a:r>
                  <a:rPr lang="en-US" sz="1664" i="1"/>
                  <a:t>-(H_0-eV) -
                                K\sqrt{\frac{n_A}{n_B}}\,\cos(\theta_B-\theta_A)</a:t>
                </a:r>
              </mc:Fallback>
            </mc:AlternateContent>
          </a:p>
        </p:txBody>
      </p:sp>
      <p:sp>
        <p:nvSpPr>
          <p:cNvPr id="9" name="TextBox 8"/>
          <p:cNvSpPr txBox="1"/>
          <p:nvPr/>
        </p:nvSpPr>
        <p:spPr>
          <a:xfrm>
            <a:off x="5516033" y="1768475"/>
            <a:ext cx="411427" cy="270140"/>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ℏ</m:t>
                    </m:r>
                    <m:box>
                      <m:e>
                        <m:r>
                          <a:rPr lang="en-US" i="1" sz="1665">
                            <a:latin typeface="Cambria Math"/>
                          </a:rPr>
                          <m:t/>
                        </m:r>
                      </m:e>
                    </m:box>
                    <m:sSub>
                      <m:e>
                        <m:box>
                          <m:e>
                            <m:limUpp>
                              <m:e>
                                <m:r>
                                  <m:rPr>
                                    <m:sty m:val="i"/>
                                  </m:rPr>
                                  <a:rPr lang="en-US" i="1" sz="1665">
                                    <a:latin typeface="Cambria Math"/>
                                  </a:rPr>
                                  <m:t>n</m:t>
                                </m:r>
                              </m:e>
                              <m:lim>
                                <m:r>
                                  <m:rPr>
                                    <m:sty m:val="p"/>
                                  </m:rPr>
                                  <a:rPr lang="en-US" i="0" sz="1665">
                                    <a:latin typeface="Cambria Math"/>
                                  </a:rPr>
                                  <m:t>˙</m:t>
                                </m:r>
                              </m:lim>
                            </m:limUpp>
                          </m:e>
                        </m:box>
                      </m:e>
                      <m:sub>
                        <m:r>
                          <m:rPr>
                            <m:sty m:val="i"/>
                          </m:rPr>
                          <a:rPr lang="en-US" i="1" sz="1665">
                            <a:latin typeface="Cambria Math"/>
                          </a:rPr>
                          <m:t>B</m:t>
                        </m:r>
                      </m:sub>
                    </m:sSub>
                  </m:oMath>
                </a14:m>
              </mc:Choice>
              <mc:Fallback>
                <a:r>
                  <a:rPr lang="en-US" sz="1664" i="1"/>
                  <a:t>\hbar\,\dot n_B</a:t>
                </a:r>
              </mc:Fallback>
            </mc:AlternateContent>
          </a:p>
        </p:txBody>
      </p:sp>
      <p:sp>
        <p:nvSpPr>
          <p:cNvPr id="10" name="TextBox 9"/>
          <p:cNvSpPr txBox="1"/>
          <p:nvPr/>
        </p:nvSpPr>
        <p:spPr>
          <a:xfrm>
            <a:off x="6012127" y="1765829"/>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t>
                </a:r>
              </mc:Fallback>
            </mc:AlternateContent>
          </a:p>
        </p:txBody>
      </p:sp>
      <p:sp>
        <p:nvSpPr>
          <p:cNvPr id="11" name="TextBox 10"/>
          <p:cNvSpPr txBox="1"/>
          <p:nvPr/>
        </p:nvSpPr>
        <p:spPr>
          <a:xfrm>
            <a:off x="6264407" y="1768475"/>
            <a:ext cx="2362332" cy="270140"/>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r>
                      <m:rPr>
                        <m:sty m:val="p"/>
                      </m:rPr>
                      <a:rPr lang="en-US" i="0" sz="1665">
                        <a:latin typeface="Cambria Math"/>
                      </a:rPr>
                      <m:t>2</m:t>
                    </m:r>
                    <m:r>
                      <m:rPr>
                        <m:sty m:val="i"/>
                      </m:rPr>
                      <a:rPr lang="en-US" i="1" sz="1665">
                        <a:latin typeface="Cambria Math"/>
                      </a:rPr>
                      <m:t>K</m:t>
                    </m:r>
                    <m:rad>
                      <m:radPr>
                        <m:degHide m:val="1"/>
                      </m:radPr>
                      <m:deg/>
                      <m:e>
                        <m:box>
                          <m:e>
                            <m:sSub>
                              <m:e>
                                <m:r>
                                  <m:rPr>
                                    <m:sty m:val="i"/>
                                  </m:rPr>
                                  <a:rPr lang="en-US" i="1" sz="1665">
                                    <a:latin typeface="Cambria Math"/>
                                  </a:rPr>
                                  <m:t>n</m:t>
                                </m:r>
                              </m:e>
                              <m:sub>
                                <m:r>
                                  <m:rPr>
                                    <m:sty m:val="i"/>
                                  </m:rPr>
                                  <a:rPr lang="en-US" i="1" sz="1665">
                                    <a:latin typeface="Cambria Math"/>
                                  </a:rPr>
                                  <m:t>A</m:t>
                                </m:r>
                              </m:sub>
                            </m:sSub>
                            <m:sSub>
                              <m:e>
                                <m:r>
                                  <m:rPr>
                                    <m:sty m:val="i"/>
                                  </m:rPr>
                                  <a:rPr lang="en-US" i="1" sz="1665">
                                    <a:latin typeface="Cambria Math"/>
                                  </a:rPr>
                                  <m:t>n</m:t>
                                </m:r>
                              </m:e>
                              <m:sub>
                                <m:r>
                                  <m:rPr>
                                    <m:sty m:val="i"/>
                                  </m:rPr>
                                  <a:rPr lang="en-US" i="1" sz="1665">
                                    <a:latin typeface="Cambria Math"/>
                                  </a:rPr>
                                  <m:t>B</m:t>
                                </m:r>
                              </m:sub>
                            </m:sSub>
                          </m:e>
                        </m:box>
                      </m:e>
                    </m:rad>
                    <m:box>
                      <m:e>
                        <m:r>
                          <a:rPr lang="en-US" i="1" sz="1665">
                            <a:latin typeface="Cambria Math"/>
                          </a:rPr>
                          <m:t/>
                        </m:r>
                      </m:e>
                    </m:box>
                    <m:r>
                      <m:rPr>
                        <m:sty m:val="p"/>
                      </m:rPr>
                      <a:rPr lang="en-US" i="0" sz="1665">
                        <a:latin typeface="Cambria Math"/>
                      </a:rPr>
                      <m:t>sin</m:t>
                    </m:r>
                    <m:r>
                      <m:rPr>
                        <m:sty m:val="p"/>
                      </m:rPr>
                      <a:rPr lang="en-US" i="0" sz="1665">
                        <a:latin typeface="Cambria Math"/>
                      </a:rPr>
                      <m:t/>
                    </m:r>
                    <m:r>
                      <m:rPr>
                        <m:sty m:val="p"/>
                      </m:rPr>
                      <a:rPr lang="en-US" i="0" sz="1665">
                        <a:latin typeface="Cambria Math"/>
                      </a:rPr>
                      <m:t>(</m:t>
                    </m:r>
                    <m:sSub>
                      <m:e>
                        <m:r>
                          <m:rPr>
                            <m:sty m:val="i"/>
                          </m:rPr>
                          <a:rPr lang="en-US" i="1" sz="1665">
                            <a:latin typeface="Cambria Math"/>
                          </a:rPr>
                          <m:t>θ</m:t>
                        </m:r>
                      </m:e>
                      <m:sub>
                        <m:r>
                          <m:rPr>
                            <m:sty m:val="i"/>
                          </m:rPr>
                          <a:rPr lang="en-US" i="1" sz="1665">
                            <a:latin typeface="Cambria Math"/>
                          </a:rPr>
                          <m:t>B</m:t>
                        </m:r>
                      </m:sub>
                    </m:sSub>
                    <m:r>
                      <m:rPr>
                        <m:sty m:val="p"/>
                      </m:rPr>
                      <a:rPr lang="en-US" i="0" sz="1665">
                        <a:latin typeface="Cambria Math"/>
                      </a:rPr>
                      <m:t>−</m:t>
                    </m:r>
                    <m:sSub>
                      <m:e>
                        <m:r>
                          <m:rPr>
                            <m:sty m:val="i"/>
                          </m:rPr>
                          <a:rPr lang="en-US" i="1" sz="1665">
                            <a:latin typeface="Cambria Math"/>
                          </a:rPr>
                          <m:t>θ</m:t>
                        </m:r>
                      </m:e>
                      <m:sub>
                        <m:r>
                          <m:rPr>
                            <m:sty m:val="i"/>
                          </m:rPr>
                          <a:rPr lang="en-US" i="1" sz="1665">
                            <a:latin typeface="Cambria Math"/>
                          </a:rPr>
                          <m:t>A</m:t>
                        </m:r>
                      </m:sub>
                    </m:sSub>
                    <m:r>
                      <m:rPr>
                        <m:sty m:val="p"/>
                      </m:rPr>
                      <a:rPr lang="en-US" i="0" sz="1665">
                        <a:latin typeface="Cambria Math"/>
                      </a:rPr>
                      <m:t>)</m:t>
                    </m:r>
                  </m:oMath>
                </a14:m>
              </mc:Choice>
              <mc:Fallback>
                <a:r>
                  <a:rPr lang="en-US" sz="1664" i="1"/>
                  <a:t>-2K\sqrt{n_An_B}\,\sin(\theta_B-\theta_A)</a:t>
                </a:r>
              </mc:Fallback>
            </mc:AlternateContent>
          </a:p>
        </p:txBody>
      </p:sp>
      <p:sp>
        <p:nvSpPr>
          <p:cNvPr id="12" name="Rectangle 11"/>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4" name="TextBox 13"/>
          <p:cNvSpPr txBox="1"/>
          <p:nvPr/>
        </p:nvSpPr>
        <p:spPr>
          <a:xfrm>
            <a:off x="11228784" y="6565900"/>
            <a:ext cx="472149"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69 / 100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Define the phase difference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Δ</m:t>
                    </m:r>
                    <m:r>
                      <m:rPr>
                        <m:sty m:val="i"/>
                      </m:rPr>
                      <a:rPr lang="en-US" i="1" sz="1665">
                        <a:latin typeface="Cambria Math"/>
                      </a:rPr>
                      <m:t>θ</m:t>
                    </m:r>
                    <m:r>
                      <m:rPr>
                        <m:sty m:val="p"/>
                      </m:rPr>
                      <a:rPr lang="en-US" i="0" sz="1665">
                        <a:latin typeface="Cambria Math"/>
                      </a:rPr>
                      <m:t>≡</m:t>
                    </m:r>
                    <m:sSub>
                      <m:e>
                        <m:r>
                          <m:rPr>
                            <m:sty m:val="i"/>
                          </m:rPr>
                          <a:rPr lang="en-US" i="1" sz="1665">
                            <a:latin typeface="Cambria Math"/>
                          </a:rPr>
                          <m:t>θ</m:t>
                        </m:r>
                      </m:e>
                      <m:sub>
                        <m:r>
                          <m:rPr>
                            <m:sty m:val="i"/>
                          </m:rPr>
                          <a:rPr lang="en-US" i="1" sz="1665">
                            <a:latin typeface="Cambria Math"/>
                          </a:rPr>
                          <m:t>B</m:t>
                        </m:r>
                      </m:sub>
                    </m:sSub>
                    <m:r>
                      <m:rPr>
                        <m:sty m:val="p"/>
                      </m:rPr>
                      <a:rPr lang="en-US" i="0" sz="1665">
                        <a:latin typeface="Cambria Math"/>
                      </a:rPr>
                      <m:t>−</m:t>
                    </m:r>
                    <m:sSub>
                      <m:e>
                        <m:r>
                          <m:rPr>
                            <m:sty m:val="i"/>
                          </m:rPr>
                          <a:rPr lang="en-US" i="1" sz="1665">
                            <a:latin typeface="Cambria Math"/>
                          </a:rPr>
                          <m:t>θ</m:t>
                        </m:r>
                      </m:e>
                      <m:sub>
                        <m:r>
                          <m:rPr>
                            <m:sty m:val="i"/>
                          </m:rPr>
                          <a:rPr lang="en-US" i="1" sz="1665">
                            <a:latin typeface="Cambria Math"/>
                          </a:rPr>
                          <m:t>A</m:t>
                        </m:r>
                      </m:sub>
                    </m:sSub>
                  </m:oMath>
                </a14:m>
              </mc:Choice>
              <mc:Fallback>
                <a:r>
                  <a:rPr lang="en-US" sz="1664" i="1"/>
                  <a:t>\Delta\theta\equiv\theta_B-\theta_A</a:t>
                </a:r>
              </mc:Fallback>
            </mc:AlternateContent>
            <a:r>
              <a:rPr sz="1400" b="0" i="0">
                <a:solidFill>
                  <a:srgbClr val="4F4C56"/>
                </a:solidFill>
                <a:latin typeface="Montserrat"/>
                <a:ea typeface="Montserrat"/>
                <a:cs typeface="Montserrat"/>
              </a:rPr>
              <a:t>. Subtract the two phase equations and combine the two population equations with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I</m:t>
                    </m:r>
                    <m:r>
                      <m:rPr>
                        <m:sty m:val="p"/>
                      </m:rPr>
                      <a:rPr lang="en-US" i="0" sz="1665">
                        <a:latin typeface="Cambria Math"/>
                      </a:rPr>
                      <m:t>≡</m:t>
                    </m:r>
                    <m:r>
                      <m:rPr>
                        <m:sty m:val="p"/>
                      </m:rPr>
                      <a:rPr lang="en-US" i="0" sz="1665">
                        <a:latin typeface="Cambria Math"/>
                      </a:rPr>
                      <m:t>−</m:t>
                    </m:r>
                    <m:r>
                      <m:rPr>
                        <m:sty m:val="p"/>
                      </m:rPr>
                      <a:rPr lang="en-US" i="0" sz="1665">
                        <a:latin typeface="Cambria Math"/>
                      </a:rPr>
                      <m:t>2</m:t>
                    </m:r>
                    <m:r>
                      <m:rPr>
                        <m:sty m:val="i"/>
                      </m:rPr>
                      <a:rPr lang="en-US" i="1" sz="1665">
                        <a:latin typeface="Cambria Math"/>
                      </a:rPr>
                      <m:t>e</m:t>
                    </m:r>
                    <m:box>
                      <m:e>
                        <m:r>
                          <a:rPr lang="en-US" i="1" sz="1665">
                            <a:latin typeface="Cambria Math"/>
                          </a:rPr>
                          <m:t/>
                        </m:r>
                      </m:e>
                    </m:box>
                    <m:sSub>
                      <m:e>
                        <m:box>
                          <m:e>
                            <m:limUpp>
                              <m:e>
                                <m:r>
                                  <m:rPr>
                                    <m:sty m:val="i"/>
                                  </m:rPr>
                                  <a:rPr lang="en-US" i="1" sz="1665">
                                    <a:latin typeface="Cambria Math"/>
                                  </a:rPr>
                                  <m:t>n</m:t>
                                </m:r>
                              </m:e>
                              <m:lim>
                                <m:r>
                                  <m:rPr>
                                    <m:sty m:val="p"/>
                                  </m:rPr>
                                  <a:rPr lang="en-US" i="0" sz="1665">
                                    <a:latin typeface="Cambria Math"/>
                                  </a:rPr>
                                  <m:t>˙</m:t>
                                </m:r>
                              </m:lim>
                            </m:limUpp>
                          </m:e>
                        </m:box>
                      </m:e>
                      <m:sub>
                        <m:r>
                          <m:rPr>
                            <m:sty m:val="i"/>
                          </m:rPr>
                          <a:rPr lang="en-US" i="1" sz="1665">
                            <a:latin typeface="Cambria Math"/>
                          </a:rPr>
                          <m:t>A</m:t>
                        </m:r>
                      </m:sub>
                    </m:sSub>
                  </m:oMath>
                </a14:m>
              </mc:Choice>
              <mc:Fallback>
                <a:r>
                  <a:rPr lang="en-US" sz="1664" i="1"/>
                  <a:t>I\equiv -2e\,\dot n_A</a:t>
                </a:r>
              </mc:Fallback>
            </mc:AlternateContent>
            <a:r>
              <a:rPr sz="1400" b="0" i="0">
                <a:solidFill>
                  <a:srgbClr val="4F4C56"/>
                </a:solidFill>
                <a:latin typeface="Montserrat"/>
                <a:ea typeface="Montserrat"/>
                <a:cs typeface="Montserrat"/>
              </a:rPr>
              <a:t>:</a:t>
            </a:r>
          </a:p>
        </p:txBody>
      </p:sp>
      <p:sp>
        <p:nvSpPr>
          <p:cNvPr id="6" name="TextBox 5"/>
          <p:cNvSpPr txBox="1"/>
          <p:nvPr/>
        </p:nvSpPr>
        <p:spPr>
          <a:xfrm>
            <a:off x="5498306" y="1602846"/>
            <a:ext cx="429154" cy="270140"/>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ℏ</m:t>
                    </m:r>
                    <m:box>
                      <m:e>
                        <m:r>
                          <a:rPr lang="en-US" i="1" sz="1665">
                            <a:latin typeface="Cambria Math"/>
                          </a:rPr>
                          <m:t/>
                        </m:r>
                      </m:e>
                    </m:box>
                    <m:box>
                      <m:e>
                        <m:limUpp>
                          <m:e>
                            <m:box>
                              <m:e>
                                <m:r>
                                  <m:rPr>
                                    <m:sty m:val="p"/>
                                  </m:rPr>
                                  <a:rPr lang="en-US" i="0" sz="1665">
                                    <a:latin typeface="Cambria Math"/>
                                  </a:rPr>
                                  <m:t>Δ</m:t>
                                </m:r>
                                <m:r>
                                  <m:rPr>
                                    <m:sty m:val="i"/>
                                  </m:rPr>
                                  <a:rPr lang="en-US" i="1" sz="1665">
                                    <a:latin typeface="Cambria Math"/>
                                  </a:rPr>
                                  <m:t>θ</m:t>
                                </m:r>
                              </m:e>
                            </m:box>
                          </m:e>
                          <m:lim>
                            <m:r>
                              <m:rPr>
                                <m:sty m:val="p"/>
                              </m:rPr>
                              <a:rPr lang="en-US" i="0" sz="1665">
                                <a:latin typeface="Cambria Math"/>
                              </a:rPr>
                              <m:t>˙</m:t>
                            </m:r>
                          </m:lim>
                        </m:limUpp>
                      </m:e>
                    </m:box>
                  </m:oMath>
                </a14:m>
              </mc:Choice>
              <mc:Fallback>
                <a:r>
                  <a:rPr lang="en-US" sz="1664" i="1"/>
                  <a:t>\hbar\,\dot{\Delta\theta}</a:t>
                </a:r>
              </mc:Fallback>
            </mc:AlternateContent>
          </a:p>
        </p:txBody>
      </p:sp>
      <p:sp>
        <p:nvSpPr>
          <p:cNvPr id="7" name="TextBox 6"/>
          <p:cNvSpPr txBox="1"/>
          <p:nvPr/>
        </p:nvSpPr>
        <p:spPr>
          <a:xfrm>
            <a:off x="6012127" y="1600068"/>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t>
                </a:r>
              </mc:Fallback>
            </mc:AlternateContent>
          </a:p>
        </p:txBody>
      </p:sp>
      <p:sp>
        <p:nvSpPr>
          <p:cNvPr id="8" name="TextBox 7"/>
          <p:cNvSpPr txBox="1"/>
          <p:nvPr/>
        </p:nvSpPr>
        <p:spPr>
          <a:xfrm>
            <a:off x="6264407" y="1539346"/>
            <a:ext cx="2244064" cy="397140"/>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2</m:t>
                    </m:r>
                    <m:r>
                      <m:rPr>
                        <m:sty m:val="i"/>
                      </m:rPr>
                      <a:rPr lang="en-US" i="1" sz="1665">
                        <a:latin typeface="Cambria Math"/>
                      </a:rPr>
                      <m:t>e</m:t>
                    </m:r>
                    <m:r>
                      <m:rPr>
                        <m:sty m:val="i"/>
                      </m:rPr>
                      <a:rPr lang="en-US" i="1" sz="1665">
                        <a:latin typeface="Cambria Math"/>
                      </a:rPr>
                      <m:t>V</m:t>
                    </m:r>
                    <m:r>
                      <m:rPr>
                        <m:sty m:val="p"/>
                      </m:rPr>
                      <a:rPr lang="en-US" i="0" sz="1665">
                        <a:latin typeface="Cambria Math"/>
                      </a:rPr>
                      <m:t>+</m:t>
                    </m:r>
                    <m:f>
                      <m:num>
                        <m:r>
                          <m:rPr>
                            <m:sty m:val="i"/>
                          </m:rPr>
                          <a:rPr lang="en-US" i="1" sz="1665">
                            <a:latin typeface="Cambria Math"/>
                          </a:rPr>
                          <m:t>K</m:t>
                        </m:r>
                      </m:num>
                      <m:den>
                        <m:r>
                          <m:rPr>
                            <m:sty m:val="i"/>
                          </m:rPr>
                          <a:rPr lang="en-US" i="1" sz="1665">
                            <a:latin typeface="Cambria Math"/>
                          </a:rPr>
                          <m:t>ℏ</m:t>
                        </m:r>
                      </m:den>
                    </m:f>
                    <m:box>
                      <m:e>
                        <m:r>
                          <a:rPr lang="en-US" i="1" sz="1665">
                            <a:latin typeface="Cambria Math"/>
                          </a:rPr>
                          <m:t/>
                        </m:r>
                      </m:e>
                    </m:box>
                    <m:box>
                      <m:e>
                        <m:d>
                          <m:dPr>
                            <m:begChr m:val="("/>
                            <m:endChr m:val=")"/>
                          </m:dPr>
                          <m:e>
                            <m:box>
                              <m:e>
                                <m:f>
                                  <m:num>
                                    <m:box>
                                      <m:e>
                                        <m:sSub>
                                          <m:e>
                                            <m:r>
                                              <m:rPr>
                                                <m:sty m:val="i"/>
                                              </m:rPr>
                                              <a:rPr lang="en-US" i="1" sz="1665">
                                                <a:latin typeface="Cambria Math"/>
                                              </a:rPr>
                                              <m:t>n</m:t>
                                            </m:r>
                                          </m:e>
                                          <m:sub>
                                            <m:r>
                                              <m:rPr>
                                                <m:sty m:val="i"/>
                                              </m:rPr>
                                              <a:rPr lang="en-US" i="1" sz="1665">
                                                <a:latin typeface="Cambria Math"/>
                                              </a:rPr>
                                              <m:t>B</m:t>
                                            </m:r>
                                          </m:sub>
                                        </m:sSub>
                                        <m:r>
                                          <m:rPr>
                                            <m:sty m:val="p"/>
                                          </m:rPr>
                                          <a:rPr lang="en-US" i="0" sz="1665">
                                            <a:latin typeface="Cambria Math"/>
                                          </a:rPr>
                                          <m:t>−</m:t>
                                        </m:r>
                                        <m:sSub>
                                          <m:e>
                                            <m:r>
                                              <m:rPr>
                                                <m:sty m:val="i"/>
                                              </m:rPr>
                                              <a:rPr lang="en-US" i="1" sz="1665">
                                                <a:latin typeface="Cambria Math"/>
                                              </a:rPr>
                                              <m:t>n</m:t>
                                            </m:r>
                                          </m:e>
                                          <m:sub>
                                            <m:r>
                                              <m:rPr>
                                                <m:sty m:val="i"/>
                                              </m:rPr>
                                              <a:rPr lang="en-US" i="1" sz="1665">
                                                <a:latin typeface="Cambria Math"/>
                                              </a:rPr>
                                              <m:t>A</m:t>
                                            </m:r>
                                          </m:sub>
                                        </m:sSub>
                                      </m:e>
                                    </m:box>
                                  </m:num>
                                  <m:den>
                                    <m:rad>
                                      <m:radPr>
                                        <m:degHide m:val="1"/>
                                      </m:radPr>
                                      <m:deg/>
                                      <m:e>
                                        <m:box>
                                          <m:e>
                                            <m:sSub>
                                              <m:e>
                                                <m:r>
                                                  <m:rPr>
                                                    <m:sty m:val="i"/>
                                                  </m:rPr>
                                                  <a:rPr lang="en-US" i="1" sz="1665">
                                                    <a:latin typeface="Cambria Math"/>
                                                  </a:rPr>
                                                  <m:t>n</m:t>
                                                </m:r>
                                              </m:e>
                                              <m:sub>
                                                <m:r>
                                                  <m:rPr>
                                                    <m:sty m:val="i"/>
                                                  </m:rPr>
                                                  <a:rPr lang="en-US" i="1" sz="1665">
                                                    <a:latin typeface="Cambria Math"/>
                                                  </a:rPr>
                                                  <m:t>A</m:t>
                                                </m:r>
                                              </m:sub>
                                            </m:sSub>
                                            <m:sSub>
                                              <m:e>
                                                <m:r>
                                                  <m:rPr>
                                                    <m:sty m:val="i"/>
                                                  </m:rPr>
                                                  <a:rPr lang="en-US" i="1" sz="1665">
                                                    <a:latin typeface="Cambria Math"/>
                                                  </a:rPr>
                                                  <m:t>n</m:t>
                                                </m:r>
                                              </m:e>
                                              <m:sub>
                                                <m:r>
                                                  <m:rPr>
                                                    <m:sty m:val="i"/>
                                                  </m:rPr>
                                                  <a:rPr lang="en-US" i="1" sz="1665">
                                                    <a:latin typeface="Cambria Math"/>
                                                  </a:rPr>
                                                  <m:t>B</m:t>
                                                </m:r>
                                              </m:sub>
                                            </m:sSub>
                                          </m:e>
                                        </m:box>
                                      </m:e>
                                    </m:rad>
                                  </m:den>
                                </m:f>
                              </m:e>
                            </m:box>
                          </m:e>
                        </m:d>
                      </m:e>
                    </m:box>
                    <m:box>
                      <m:e>
                        <m:r>
                          <a:rPr lang="en-US" i="1" sz="1665">
                            <a:latin typeface="Cambria Math"/>
                          </a:rPr>
                          <m:t/>
                        </m:r>
                      </m:e>
                    </m:box>
                    <m:r>
                      <m:rPr>
                        <m:sty m:val="p"/>
                      </m:rPr>
                      <a:rPr lang="en-US" i="0" sz="1665">
                        <a:latin typeface="Cambria Math"/>
                      </a:rPr>
                      <m:t>cos</m:t>
                    </m:r>
                    <m:r>
                      <m:rPr>
                        <m:sty m:val="p"/>
                      </m:rPr>
                      <a:rPr lang="en-US" i="0" sz="1665">
                        <a:latin typeface="Cambria Math"/>
                      </a:rPr>
                      <m:t/>
                    </m:r>
                    <m:r>
                      <m:rPr>
                        <m:sty m:val="p"/>
                      </m:rPr>
                      <a:rPr lang="en-US" i="0" sz="1665">
                        <a:latin typeface="Cambria Math"/>
                      </a:rPr>
                      <m:t>Δ</m:t>
                    </m:r>
                    <m:r>
                      <m:rPr>
                        <m:sty m:val="i"/>
                      </m:rPr>
                      <a:rPr lang="en-US" i="1" sz="1665">
                        <a:latin typeface="Cambria Math"/>
                      </a:rPr>
                      <m:t>θ</m:t>
                    </m:r>
                  </m:oMath>
                </a14:m>
              </mc:Choice>
              <mc:Fallback>
                <a:r>
                  <a:rPr lang="en-US" sz="1664" i="1"/>
                  <a:t>2eV +
                                \frac{K}{\hbar}\!\left(\frac{n_B-n_A}{\sqrt{n_An_B}}\right)\!\cos\Delta\theta</a:t>
                </a:r>
              </mc:Fallback>
            </mc:AlternateContent>
          </a:p>
        </p:txBody>
      </p:sp>
      <p:sp>
        <p:nvSpPr>
          <p:cNvPr id="9" name="TextBox 8"/>
          <p:cNvSpPr txBox="1"/>
          <p:nvPr/>
        </p:nvSpPr>
        <p:spPr>
          <a:xfrm>
            <a:off x="5820966" y="2029222"/>
            <a:ext cx="106495" cy="270140"/>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I</m:t>
                    </m:r>
                  </m:oMath>
                </a14:m>
              </mc:Choice>
              <mc:Fallback>
                <a:r>
                  <a:rPr lang="en-US" sz="1664" i="1"/>
                  <a:t>I</a:t>
                </a:r>
              </mc:Fallback>
            </mc:AlternateContent>
          </a:p>
        </p:txBody>
      </p:sp>
      <p:sp>
        <p:nvSpPr>
          <p:cNvPr id="10" name="TextBox 9"/>
          <p:cNvSpPr txBox="1"/>
          <p:nvPr/>
        </p:nvSpPr>
        <p:spPr>
          <a:xfrm>
            <a:off x="6012127" y="2026444"/>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t>
                </a:r>
              </mc:Fallback>
            </mc:AlternateContent>
          </a:p>
        </p:txBody>
      </p:sp>
      <p:sp>
        <p:nvSpPr>
          <p:cNvPr id="11" name="TextBox 10"/>
          <p:cNvSpPr txBox="1"/>
          <p:nvPr/>
        </p:nvSpPr>
        <p:spPr>
          <a:xfrm>
            <a:off x="6264407" y="2021152"/>
            <a:ext cx="1727465" cy="286279"/>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f>
                      <m:num>
                        <m:box>
                          <m:e>
                            <m:r>
                              <m:rPr>
                                <m:sty m:val="p"/>
                              </m:rPr>
                              <a:rPr lang="en-US" i="0" sz="1665">
                                <a:latin typeface="Cambria Math"/>
                              </a:rPr>
                              <m:t>4</m:t>
                            </m:r>
                            <m:r>
                              <m:rPr>
                                <m:sty m:val="i"/>
                              </m:rPr>
                              <a:rPr lang="en-US" i="1" sz="1665">
                                <a:latin typeface="Cambria Math"/>
                              </a:rPr>
                              <m:t>e</m:t>
                            </m:r>
                            <m:r>
                              <m:rPr>
                                <m:sty m:val="i"/>
                              </m:rPr>
                              <a:rPr lang="en-US" i="1" sz="1665">
                                <a:latin typeface="Cambria Math"/>
                              </a:rPr>
                              <m:t>K</m:t>
                            </m:r>
                          </m:e>
                        </m:box>
                      </m:num>
                      <m:den>
                        <m:r>
                          <m:rPr>
                            <m:sty m:val="i"/>
                          </m:rPr>
                          <a:rPr lang="en-US" i="1" sz="1665">
                            <a:latin typeface="Cambria Math"/>
                          </a:rPr>
                          <m:t>ℏ</m:t>
                        </m:r>
                      </m:den>
                    </m:f>
                    <m:rad>
                      <m:radPr>
                        <m:degHide m:val="1"/>
                      </m:radPr>
                      <m:deg/>
                      <m:e>
                        <m:box>
                          <m:e>
                            <m:sSub>
                              <m:e>
                                <m:r>
                                  <m:rPr>
                                    <m:sty m:val="i"/>
                                  </m:rPr>
                                  <a:rPr lang="en-US" i="1" sz="1665">
                                    <a:latin typeface="Cambria Math"/>
                                  </a:rPr>
                                  <m:t>n</m:t>
                                </m:r>
                              </m:e>
                              <m:sub>
                                <m:r>
                                  <m:rPr>
                                    <m:sty m:val="i"/>
                                  </m:rPr>
                                  <a:rPr lang="en-US" i="1" sz="1665">
                                    <a:latin typeface="Cambria Math"/>
                                  </a:rPr>
                                  <m:t>A</m:t>
                                </m:r>
                              </m:sub>
                            </m:sSub>
                            <m:sSub>
                              <m:e>
                                <m:r>
                                  <m:rPr>
                                    <m:sty m:val="i"/>
                                  </m:rPr>
                                  <a:rPr lang="en-US" i="1" sz="1665">
                                    <a:latin typeface="Cambria Math"/>
                                  </a:rPr>
                                  <m:t>n</m:t>
                                </m:r>
                              </m:e>
                              <m:sub>
                                <m:r>
                                  <m:rPr>
                                    <m:sty m:val="i"/>
                                  </m:rPr>
                                  <a:rPr lang="en-US" i="1" sz="1665">
                                    <a:latin typeface="Cambria Math"/>
                                  </a:rPr>
                                  <m:t>B</m:t>
                                </m:r>
                              </m:sub>
                            </m:sSub>
                          </m:e>
                        </m:box>
                      </m:e>
                    </m:rad>
                    <m:box>
                      <m:e>
                        <m:r>
                          <a:rPr lang="en-US" i="1" sz="1665">
                            <a:latin typeface="Cambria Math"/>
                          </a:rPr>
                          <m:t/>
                        </m:r>
                      </m:e>
                    </m:box>
                    <m:r>
                      <m:rPr>
                        <m:sty m:val="p"/>
                      </m:rPr>
                      <a:rPr lang="en-US" i="0" sz="1665">
                        <a:latin typeface="Cambria Math"/>
                      </a:rPr>
                      <m:t>sin</m:t>
                    </m:r>
                    <m:r>
                      <m:rPr>
                        <m:sty m:val="p"/>
                      </m:rPr>
                      <a:rPr lang="en-US" i="0" sz="1665">
                        <a:latin typeface="Cambria Math"/>
                      </a:rPr>
                      <m:t/>
                    </m:r>
                    <m:r>
                      <m:rPr>
                        <m:sty m:val="p"/>
                      </m:rPr>
                      <a:rPr lang="en-US" i="0" sz="1665">
                        <a:latin typeface="Cambria Math"/>
                      </a:rPr>
                      <m:t>Δ</m:t>
                    </m:r>
                    <m:r>
                      <m:rPr>
                        <m:sty m:val="i"/>
                      </m:rPr>
                      <a:rPr lang="en-US" i="1" sz="1665">
                        <a:latin typeface="Cambria Math"/>
                      </a:rPr>
                      <m:t>θ</m:t>
                    </m:r>
                  </m:oMath>
                </a14:m>
              </mc:Choice>
              <mc:Fallback>
                <a:r>
                  <a:rPr lang="en-US" sz="1664" i="1"/>
                  <a:t>\frac{4eK}{\hbar}\sqrt{n_An_B}\;\sin\Delta\theta</a:t>
                </a:r>
              </mc:Fallback>
            </mc:AlternateContent>
          </a:p>
        </p:txBody>
      </p:sp>
      <p:sp>
        <p:nvSpPr>
          <p:cNvPr id="12" name="TextBox 11"/>
          <p:cNvSpPr txBox="1"/>
          <p:nvPr/>
        </p:nvSpPr>
        <p:spPr>
          <a:xfrm>
            <a:off x="5820966" y="2394744"/>
            <a:ext cx="106495" cy="270140"/>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I</m:t>
                    </m:r>
                  </m:oMath>
                </a14:m>
              </mc:Choice>
              <mc:Fallback>
                <a:r>
                  <a:rPr lang="en-US" sz="1664" i="1"/>
                  <a:t>I</a:t>
                </a:r>
              </mc:Fallback>
            </mc:AlternateContent>
          </a:p>
        </p:txBody>
      </p:sp>
      <p:sp>
        <p:nvSpPr>
          <p:cNvPr id="13" name="TextBox 12"/>
          <p:cNvSpPr txBox="1"/>
          <p:nvPr/>
        </p:nvSpPr>
        <p:spPr>
          <a:xfrm>
            <a:off x="6012127" y="2392098"/>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\equiv</a:t>
                </a:r>
              </mc:Fallback>
            </mc:AlternateContent>
          </a:p>
        </p:txBody>
      </p:sp>
      <p:sp>
        <p:nvSpPr>
          <p:cNvPr id="14" name="TextBox 13"/>
          <p:cNvSpPr txBox="1"/>
          <p:nvPr/>
        </p:nvSpPr>
        <p:spPr>
          <a:xfrm>
            <a:off x="6264407" y="2394744"/>
            <a:ext cx="815181" cy="270140"/>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I</m:t>
                        </m:r>
                      </m:e>
                      <m:sub>
                        <m:r>
                          <m:rPr>
                            <m:sty m:val="i"/>
                          </m:rPr>
                          <a:rPr lang="en-US" i="1" sz="1665">
                            <a:latin typeface="Cambria Math"/>
                          </a:rPr>
                          <m:t>c</m:t>
                        </m:r>
                      </m:sub>
                    </m:sSub>
                    <m:box>
                      <m:e>
                        <m:r>
                          <a:rPr lang="en-US" i="1" sz="1665">
                            <a:latin typeface="Cambria Math"/>
                          </a:rPr>
                          <m:t/>
                        </m:r>
                      </m:e>
                    </m:box>
                    <m:r>
                      <m:rPr>
                        <m:sty m:val="p"/>
                      </m:rPr>
                      <a:rPr lang="en-US" i="0" sz="1665">
                        <a:latin typeface="Cambria Math"/>
                      </a:rPr>
                      <m:t>sin</m:t>
                    </m:r>
                    <m:r>
                      <m:rPr>
                        <m:sty m:val="p"/>
                      </m:rPr>
                      <a:rPr lang="en-US" i="0" sz="1665">
                        <a:latin typeface="Cambria Math"/>
                      </a:rPr>
                      <m:t/>
                    </m:r>
                    <m:r>
                      <m:rPr>
                        <m:sty m:val="p"/>
                      </m:rPr>
                      <a:rPr lang="en-US" i="0" sz="1665">
                        <a:latin typeface="Cambria Math"/>
                      </a:rPr>
                      <m:t>Δ</m:t>
                    </m:r>
                    <m:r>
                      <m:rPr>
                        <m:sty m:val="i"/>
                      </m:rPr>
                      <a:rPr lang="en-US" i="1" sz="1665">
                        <a:latin typeface="Cambria Math"/>
                      </a:rPr>
                      <m:t>θ</m:t>
                    </m:r>
                  </m:oMath>
                </a14:m>
              </mc:Choice>
              <mc:Fallback>
                <a:r>
                  <a:rPr lang="en-US" sz="1664" i="1"/>
                  <a:t>I_c\,\sin\Delta\theta</a:t>
                </a:r>
              </mc:Fallback>
            </mc:AlternateContent>
          </a:p>
        </p:txBody>
      </p:sp>
      <p:sp>
        <p:nvSpPr>
          <p:cNvPr id="15" name="TextBox 14"/>
          <p:cNvSpPr txBox="1"/>
          <p:nvPr/>
        </p:nvSpPr>
        <p:spPr>
          <a:xfrm>
            <a:off x="575733" y="2752328"/>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where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I</m:t>
                        </m:r>
                      </m:e>
                      <m:sub>
                        <m:r>
                          <m:rPr>
                            <m:sty m:val="i"/>
                          </m:rPr>
                          <a:rPr lang="en-US" i="1" sz="1665">
                            <a:latin typeface="Cambria Math"/>
                          </a:rPr>
                          <m:t>c</m:t>
                        </m:r>
                      </m:sub>
                    </m:sSub>
                  </m:oMath>
                </a14:m>
              </mc:Choice>
              <mc:Fallback>
                <a:r>
                  <a:rPr lang="en-US" sz="1664" i="1"/>
                  <a:t>I_c</a:t>
                </a:r>
              </mc:Fallback>
            </mc:AlternateContent>
            <a:r>
              <a:rPr sz="1400" b="0" i="0">
                <a:solidFill>
                  <a:srgbClr val="4F4C56"/>
                </a:solidFill>
                <a:latin typeface="Montserrat"/>
                <a:ea typeface="Montserrat"/>
                <a:cs typeface="Montserrat"/>
              </a:rPr>
              <a:t> is the critical current of the Josephson junction.</a:t>
            </a:r>
          </a:p>
        </p:txBody>
      </p:sp>
      <p:sp>
        <p:nvSpPr>
          <p:cNvPr id="16" name="Rectangle 15"/>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8" name="TextBox 17"/>
          <p:cNvSpPr txBox="1"/>
          <p:nvPr/>
        </p:nvSpPr>
        <p:spPr>
          <a:xfrm>
            <a:off x="11228388" y="6565900"/>
            <a:ext cx="472546"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70 / 100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394156" y="324115"/>
            <a:ext cx="1306777"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Nonlinear LC Circuit</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Superconducting Qubit: A Nonlinear LC Circuit</a:t>
            </a:r>
          </a:p>
        </p:txBody>
      </p:sp>
      <p:pic>
        <p:nvPicPr>
          <p:cNvPr id="6" name="Two superconductors A and B separated by a thin barrier, with overlapping wavefu" descr="s25-jj-phase-schematic.png"/>
          <p:cNvPicPr>
            <a:picLocks noChangeAspect="1"/>
          </p:cNvPicPr>
          <p:nvPr/>
        </p:nvPicPr>
        <p:blipFill>
          <a:blip r:embed="rId2"/>
          <a:stretch>
            <a:fillRect/>
          </a:stretch>
        </p:blipFill>
        <p:spPr>
          <a:xfrm>
            <a:off x="1946407" y="1452834"/>
            <a:ext cx="1627452" cy="1439320"/>
          </a:xfrm>
          <a:prstGeom prst="rect">
            <a:avLst/>
          </a:prstGeom>
        </p:spPr>
      </p:pic>
      <p:sp>
        <p:nvSpPr>
          <p:cNvPr id="7" name="TextBox 6"/>
          <p:cNvSpPr txBox="1"/>
          <p:nvPr/>
        </p:nvSpPr>
        <p:spPr>
          <a:xfrm>
            <a:off x="575733" y="2951427"/>
            <a:ext cx="4368800" cy="554434"/>
          </a:xfrm>
          <a:prstGeom prst="rect">
            <a:avLst/>
          </a:prstGeom>
          <a:noFill/>
        </p:spPr>
        <p:txBody>
          <a:bodyPr wrap="square" lIns="0" rIns="0" tIns="0" bIns="0" anchor="t">
            <a:noAutofit/>
          </a:bodyPr>
          <a:lstStyle/>
          <a:p>
            <a:pPr algn="l">
              <a:lnSpc>
                <a:spcPts val="1380"/>
              </a:lnSpc>
            </a:pPr>
            <a:r>
              <a:rPr sz="1080" b="1" i="0">
                <a:solidFill>
                  <a:srgbClr val="302840"/>
                </a:solidFill>
                <a:latin typeface="Montserrat"/>
                <a:ea typeface="Montserrat"/>
                <a:cs typeface="Montserrat"/>
              </a:rPr>
              <a:t>Two condensates, one barrier.</a:t>
            </a:r>
            <a:r>
              <a:rPr sz="1080" b="0" i="0">
                <a:solidFill>
                  <a:srgbClr val="5F5865"/>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282">
                            <a:latin typeface="Cambria Math"/>
                          </a:rPr>
                          <m:t>ψ</m:t>
                        </m:r>
                      </m:e>
                      <m:sub>
                        <m:box>
                          <m:e>
                            <m:r>
                              <m:rPr>
                                <m:sty m:val="i"/>
                              </m:rPr>
                              <a:rPr lang="en-US" i="1" sz="1282">
                                <a:latin typeface="Cambria Math"/>
                              </a:rPr>
                              <m:t>A</m:t>
                            </m:r>
                            <m:r>
                              <m:rPr>
                                <m:sty m:val="p"/>
                              </m:rPr>
                              <a:rPr lang="en-US" i="0" sz="1282">
                                <a:latin typeface="Cambria Math"/>
                              </a:rPr>
                              <m:t>,</m:t>
                            </m:r>
                            <m:r>
                              <m:rPr>
                                <m:sty m:val="i"/>
                              </m:rPr>
                              <a:rPr lang="en-US" i="1" sz="1282">
                                <a:latin typeface="Cambria Math"/>
                              </a:rPr>
                              <m:t>B</m:t>
                            </m:r>
                          </m:e>
                        </m:box>
                      </m:sub>
                    </m:sSub>
                    <m:r>
                      <m:rPr>
                        <m:sty m:val="p"/>
                      </m:rPr>
                      <a:rPr lang="en-US" i="0" sz="1282">
                        <a:latin typeface="Cambria Math"/>
                      </a:rPr>
                      <m:t>=</m:t>
                    </m:r>
                    <m:rad>
                      <m:radPr>
                        <m:degHide m:val="1"/>
                      </m:radPr>
                      <m:deg/>
                      <m:e>
                        <m:box>
                          <m:e>
                            <m:r>
                              <m:rPr>
                                <m:sty m:val="i"/>
                              </m:rPr>
                              <a:rPr lang="en-US" i="1" sz="1282">
                                <a:latin typeface="Cambria Math"/>
                              </a:rPr>
                              <m:t>n</m:t>
                            </m:r>
                          </m:e>
                        </m:box>
                      </m:e>
                    </m:rad>
                    <m:box>
                      <m:e>
                        <m:r>
                          <a:rPr lang="en-US" i="1" sz="1282">
                            <a:latin typeface="Cambria Math"/>
                          </a:rPr>
                          <m:t/>
                        </m:r>
                      </m:e>
                    </m:box>
                    <m:sSup>
                      <m:e>
                        <m:r>
                          <m:rPr>
                            <m:sty m:val="i"/>
                          </m:rPr>
                          <a:rPr lang="en-US" i="1" sz="1282">
                            <a:latin typeface="Cambria Math"/>
                          </a:rPr>
                          <m:t>e</m:t>
                        </m:r>
                      </m:e>
                      <m:sup>
                        <m:box>
                          <m:e>
                            <m:r>
                              <m:rPr>
                                <m:sty m:val="i"/>
                              </m:rPr>
                              <a:rPr lang="en-US" i="1" sz="1282">
                                <a:latin typeface="Cambria Math"/>
                              </a:rPr>
                              <m:t>i</m:t>
                            </m:r>
                            <m:sSub>
                              <m:e>
                                <m:r>
                                  <m:rPr>
                                    <m:sty m:val="i"/>
                                  </m:rPr>
                                  <a:rPr lang="en-US" i="1" sz="1282">
                                    <a:latin typeface="Cambria Math"/>
                                  </a:rPr>
                                  <m:t>θ</m:t>
                                </m:r>
                              </m:e>
                              <m:sub>
                                <m:box>
                                  <m:e>
                                    <m:r>
                                      <m:rPr>
                                        <m:sty m:val="i"/>
                                      </m:rPr>
                                      <a:rPr lang="en-US" i="1" sz="1282">
                                        <a:latin typeface="Cambria Math"/>
                                      </a:rPr>
                                      <m:t>A</m:t>
                                    </m:r>
                                    <m:r>
                                      <m:rPr>
                                        <m:sty m:val="p"/>
                                      </m:rPr>
                                      <a:rPr lang="en-US" i="0" sz="1282">
                                        <a:latin typeface="Cambria Math"/>
                                      </a:rPr>
                                      <m:t>,</m:t>
                                    </m:r>
                                    <m:r>
                                      <m:rPr>
                                        <m:sty m:val="i"/>
                                      </m:rPr>
                                      <a:rPr lang="en-US" i="1" sz="1282">
                                        <a:latin typeface="Cambria Math"/>
                                      </a:rPr>
                                      <m:t>B</m:t>
                                    </m:r>
                                  </m:e>
                                </m:box>
                              </m:sub>
                            </m:sSub>
                          </m:e>
                        </m:box>
                      </m:sup>
                    </m:sSup>
                  </m:oMath>
                </a14:m>
              </mc:Choice>
              <mc:Fallback>
                <a:r>
                  <a:rPr lang="en-US" sz="1281" i="1"/>
                  <a:t>\psi_{A,B}=\sqrt{n}\,e^{i\theta_{A,B}}</a:t>
                </a:r>
              </mc:Fallback>
            </mc:AlternateContent>
            <a:r>
              <a:rPr sz="1080" b="0" i="0">
                <a:solidFill>
                  <a:srgbClr val="5F5865"/>
                </a:solidFill>
                <a:latin typeface="Montserrat"/>
                <a:ea typeface="Montserrat"/>
                <a:cs typeface="Montserrat"/>
              </a:rPr>
              <a:t>; the phase difference </a:t>
            </a:r>
            <mc:AlternateContent xmlns:mc="http://schemas.openxmlformats.org/markup-compatibility/2006">
              <mc:Choice xmlns:a14="http://schemas.microsoft.com/office/drawing/2010/main" Requires="a14">
                <a14:m>
                  <m:oMath xmlns:m="http://schemas.openxmlformats.org/officeDocument/2006/math">
                    <m:r>
                      <m:rPr>
                        <m:sty m:val="p"/>
                      </m:rPr>
                      <a:rPr lang="en-US" i="0" sz="1282">
                        <a:latin typeface="Cambria Math"/>
                      </a:rPr>
                      <m:t>Δ</m:t>
                    </m:r>
                    <m:r>
                      <m:rPr>
                        <m:sty m:val="i"/>
                      </m:rPr>
                      <a:rPr lang="en-US" i="1" sz="1282">
                        <a:latin typeface="Cambria Math"/>
                      </a:rPr>
                      <m:t>θ</m:t>
                    </m:r>
                    <m:r>
                      <m:rPr>
                        <m:sty m:val="p"/>
                      </m:rPr>
                      <a:rPr lang="en-US" i="0" sz="1282">
                        <a:latin typeface="Cambria Math"/>
                      </a:rPr>
                      <m:t>=</m:t>
                    </m:r>
                    <m:sSub>
                      <m:e>
                        <m:r>
                          <m:rPr>
                            <m:sty m:val="i"/>
                          </m:rPr>
                          <a:rPr lang="en-US" i="1" sz="1282">
                            <a:latin typeface="Cambria Math"/>
                          </a:rPr>
                          <m:t>θ</m:t>
                        </m:r>
                      </m:e>
                      <m:sub>
                        <m:r>
                          <m:rPr>
                            <m:sty m:val="i"/>
                          </m:rPr>
                          <a:rPr lang="en-US" i="1" sz="1282">
                            <a:latin typeface="Cambria Math"/>
                          </a:rPr>
                          <m:t>B</m:t>
                        </m:r>
                      </m:sub>
                    </m:sSub>
                    <m:r>
                      <m:rPr>
                        <m:sty m:val="p"/>
                      </m:rPr>
                      <a:rPr lang="en-US" i="0" sz="1282">
                        <a:latin typeface="Cambria Math"/>
                      </a:rPr>
                      <m:t>−</m:t>
                    </m:r>
                    <m:sSub>
                      <m:e>
                        <m:r>
                          <m:rPr>
                            <m:sty m:val="i"/>
                          </m:rPr>
                          <a:rPr lang="en-US" i="1" sz="1282">
                            <a:latin typeface="Cambria Math"/>
                          </a:rPr>
                          <m:t>θ</m:t>
                        </m:r>
                      </m:e>
                      <m:sub>
                        <m:r>
                          <m:rPr>
                            <m:sty m:val="i"/>
                          </m:rPr>
                          <a:rPr lang="en-US" i="1" sz="1282">
                            <a:latin typeface="Cambria Math"/>
                          </a:rPr>
                          <m:t>A</m:t>
                        </m:r>
                      </m:sub>
                    </m:sSub>
                  </m:oMath>
                </a14:m>
              </mc:Choice>
              <mc:Fallback>
                <a:r>
                  <a:rPr lang="en-US" sz="1281" i="1"/>
                  <a:t>\Delta\theta=\theta_B-\theta_A</a:t>
                </a:r>
              </mc:Fallback>
            </mc:AlternateContent>
            <a:r>
              <a:rPr sz="1080" b="0" i="0">
                <a:solidFill>
                  <a:srgbClr val="5F5865"/>
                </a:solidFill>
                <a:latin typeface="Montserrat"/>
                <a:ea typeface="Montserrat"/>
                <a:cs typeface="Montserrat"/>
              </a:rPr>
              <a:t> drives the supercurrent, and the wavefunctions leak through the barrier. Ref. [15]</a:t>
            </a:r>
          </a:p>
        </p:txBody>
      </p:sp>
      <p:pic>
        <p:nvPicPr>
          <p:cNvPr id="8" name="False-colour SEM image of an overlap Josephson junction; scale bar 500 nm" descr="club2-p82-niobium-junction.png"/>
          <p:cNvPicPr>
            <a:picLocks noChangeAspect="1"/>
          </p:cNvPicPr>
          <p:nvPr/>
        </p:nvPicPr>
        <p:blipFill>
          <a:blip r:embed="rId3"/>
          <a:stretch>
            <a:fillRect/>
          </a:stretch>
        </p:blipFill>
        <p:spPr>
          <a:xfrm>
            <a:off x="1072224" y="3590531"/>
            <a:ext cx="3375819" cy="1896527"/>
          </a:xfrm>
          <a:prstGeom prst="rect">
            <a:avLst/>
          </a:prstGeom>
        </p:spPr>
      </p:pic>
      <p:sp>
        <p:nvSpPr>
          <p:cNvPr id="9" name="TextBox 8"/>
          <p:cNvSpPr txBox="1"/>
          <p:nvPr/>
        </p:nvSpPr>
        <p:spPr>
          <a:xfrm>
            <a:off x="575733" y="5546328"/>
            <a:ext cx="4368800" cy="350308"/>
          </a:xfrm>
          <a:prstGeom prst="rect">
            <a:avLst/>
          </a:prstGeom>
          <a:noFill/>
        </p:spPr>
        <p:txBody>
          <a:bodyPr wrap="square" lIns="0" rIns="0" tIns="0" bIns="0" anchor="t">
            <a:noAutofit/>
          </a:bodyPr>
          <a:lstStyle/>
          <a:p>
            <a:pPr algn="l">
              <a:lnSpc>
                <a:spcPts val="1380"/>
              </a:lnSpc>
            </a:pPr>
            <a:r>
              <a:rPr sz="1080" b="1" i="0">
                <a:solidFill>
                  <a:srgbClr val="302840"/>
                </a:solidFill>
                <a:latin typeface="Montserrat"/>
                <a:ea typeface="Montserrat"/>
                <a:cs typeface="Montserrat"/>
              </a:rPr>
              <a:t>Real junction</a:t>
            </a:r>
            <a:r>
              <a:rPr sz="1080" b="0" i="0">
                <a:solidFill>
                  <a:srgbClr val="5F5865"/>
                </a:solidFill>
                <a:latin typeface="Montserrat"/>
                <a:ea typeface="Montserrat"/>
                <a:cs typeface="Montserrat"/>
              </a:rPr>
              <a:t> (SEM, scale bar 500 nm): electrode A crosses over electrode B through a thin oxide. Ref. [15]</a:t>
            </a:r>
          </a:p>
        </p:txBody>
      </p:sp>
      <p:sp>
        <p:nvSpPr>
          <p:cNvPr id="10" name="Rounded Rectangle 9"/>
          <p:cNvSpPr/>
          <p:nvPr/>
        </p:nvSpPr>
        <p:spPr>
          <a:xfrm>
            <a:off x="5063067" y="2693988"/>
            <a:ext cx="3217333" cy="1015603"/>
          </a:xfrm>
          <a:prstGeom prst="roundRect">
            <a:avLst>
              <a:gd name="adj" fmla="val 5001"/>
            </a:avLst>
          </a:prstGeom>
          <a:solidFill>
            <a:srgbClr val="F0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063067" y="2693988"/>
            <a:ext cx="33867" cy="1015603"/>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quation"/>
          <p:cNvSpPr txBox="1"/>
          <p:nvPr/>
        </p:nvSpPr>
        <p:spPr>
          <a:xfrm>
            <a:off x="5232400" y="2998788"/>
            <a:ext cx="2912533" cy="406003"/>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568">
                          <a:latin typeface="Cambria Math"/>
                        </a:rPr>
                        <m:t>Δ</m:t>
                      </m:r>
                      <m:box>
                        <m:e>
                          <m:limUpp>
                            <m:e>
                              <m:r>
                                <m:rPr>
                                  <m:sty m:val="i"/>
                                </m:rPr>
                                <a:rPr lang="en-US" i="1" sz="1568">
                                  <a:latin typeface="Cambria Math"/>
                                </a:rPr>
                                <m:t>θ</m:t>
                              </m:r>
                            </m:e>
                            <m:lim>
                              <m:r>
                                <m:rPr>
                                  <m:sty m:val="p"/>
                                </m:rPr>
                                <a:rPr lang="en-US" i="0" sz="1568">
                                  <a:latin typeface="Cambria Math"/>
                                </a:rPr>
                                <m:t>˙</m:t>
                              </m:r>
                            </m:lim>
                          </m:limUpp>
                        </m:e>
                      </m:box>
                      <m:r>
                        <m:rPr>
                          <m:sty m:val="p"/>
                        </m:rPr>
                        <a:rPr lang="en-US" i="0" sz="1568">
                          <a:latin typeface="Cambria Math"/>
                        </a:rPr>
                        <m:t>=</m:t>
                      </m:r>
                      <m:f>
                        <m:num>
                          <m:box>
                            <m:e>
                              <m:r>
                                <m:rPr>
                                  <m:sty m:val="p"/>
                                </m:rPr>
                                <a:rPr lang="en-US" i="0" sz="1568">
                                  <a:latin typeface="Cambria Math"/>
                                </a:rPr>
                                <m:t>2</m:t>
                              </m:r>
                              <m:r>
                                <m:rPr>
                                  <m:sty m:val="i"/>
                                </m:rPr>
                                <a:rPr lang="en-US" i="1" sz="1568">
                                  <a:latin typeface="Cambria Math"/>
                                </a:rPr>
                                <m:t>e</m:t>
                              </m:r>
                            </m:e>
                          </m:box>
                        </m:num>
                        <m:den>
                          <m:r>
                            <m:rPr>
                              <m:sty m:val="i"/>
                            </m:rPr>
                            <a:rPr lang="en-US" i="1" sz="1568">
                              <a:latin typeface="Cambria Math"/>
                            </a:rPr>
                            <m:t>ℏ</m:t>
                          </m:r>
                        </m:den>
                      </m:f>
                      <m:r>
                        <m:rPr>
                          <m:sty m:val="i"/>
                        </m:rPr>
                        <a:rPr lang="en-US" i="1" sz="1568">
                          <a:latin typeface="Cambria Math"/>
                        </a:rPr>
                        <m:t>V</m:t>
                      </m:r>
                    </m:oMath>
                  </m:oMathPara>
                </a14:m>
              </mc:Choice>
              <mc:Fallback>
                <a:r>
                  <a:rPr lang="en-US" sz="1567" i="1"/>
                  <a:t>\Delta\dot\theta=\frac{2e}{\hbar}V</a:t>
                </a:r>
              </mc:Fallback>
            </mc:AlternateContent>
          </a:p>
        </p:txBody>
      </p:sp>
      <p:sp>
        <p:nvSpPr>
          <p:cNvPr id="13" name="Rounded Rectangle 12"/>
          <p:cNvSpPr/>
          <p:nvPr/>
        </p:nvSpPr>
        <p:spPr>
          <a:xfrm>
            <a:off x="8398933" y="2693988"/>
            <a:ext cx="3217333" cy="808567"/>
          </a:xfrm>
          <a:prstGeom prst="roundRect">
            <a:avLst>
              <a:gd name="adj" fmla="val 6282"/>
            </a:avLst>
          </a:prstGeom>
          <a:solidFill>
            <a:srgbClr val="F0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398933" y="2693988"/>
            <a:ext cx="33867" cy="808567"/>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quation"/>
          <p:cNvSpPr txBox="1"/>
          <p:nvPr/>
        </p:nvSpPr>
        <p:spPr>
          <a:xfrm>
            <a:off x="8568267" y="2998788"/>
            <a:ext cx="2912533" cy="198967"/>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568">
                          <a:latin typeface="Cambria Math"/>
                        </a:rPr>
                        <m:t>I</m:t>
                      </m:r>
                      <m:r>
                        <m:rPr>
                          <m:sty m:val="p"/>
                        </m:rPr>
                        <a:rPr lang="en-US" i="0" sz="1568">
                          <a:latin typeface="Cambria Math"/>
                        </a:rPr>
                        <m:t>=</m:t>
                      </m:r>
                      <m:sSub>
                        <m:e>
                          <m:r>
                            <m:rPr>
                              <m:sty m:val="i"/>
                            </m:rPr>
                            <a:rPr lang="en-US" i="1" sz="1568">
                              <a:latin typeface="Cambria Math"/>
                            </a:rPr>
                            <m:t>I</m:t>
                          </m:r>
                        </m:e>
                        <m:sub>
                          <m:r>
                            <m:rPr>
                              <m:sty m:val="i"/>
                            </m:rPr>
                            <a:rPr lang="en-US" i="1" sz="1568">
                              <a:latin typeface="Cambria Math"/>
                            </a:rPr>
                            <m:t>c</m:t>
                          </m:r>
                        </m:sub>
                      </m:sSub>
                      <m:r>
                        <m:rPr>
                          <m:sty m:val="p"/>
                        </m:rPr>
                        <a:rPr lang="en-US" i="0" sz="1568">
                          <a:latin typeface="Cambria Math"/>
                        </a:rPr>
                        <m:t>sin</m:t>
                      </m:r>
                      <m:r>
                        <m:rPr>
                          <m:sty m:val="p"/>
                        </m:rPr>
                        <a:rPr lang="en-US" i="0" sz="1568">
                          <a:latin typeface="Cambria Math"/>
                        </a:rPr>
                        <m:t/>
                      </m:r>
                      <m:r>
                        <m:rPr>
                          <m:sty m:val="p"/>
                        </m:rPr>
                        <a:rPr lang="en-US" i="0" sz="1568">
                          <a:latin typeface="Cambria Math"/>
                        </a:rPr>
                        <m:t>(</m:t>
                      </m:r>
                      <m:r>
                        <m:rPr>
                          <m:sty m:val="p"/>
                        </m:rPr>
                        <a:rPr lang="en-US" i="0" sz="1568">
                          <a:latin typeface="Cambria Math"/>
                        </a:rPr>
                        <m:t>Δ</m:t>
                      </m:r>
                      <m:r>
                        <m:rPr>
                          <m:sty m:val="i"/>
                        </m:rPr>
                        <a:rPr lang="en-US" i="1" sz="1568">
                          <a:latin typeface="Cambria Math"/>
                        </a:rPr>
                        <m:t>θ</m:t>
                      </m:r>
                      <m:r>
                        <m:rPr>
                          <m:sty m:val="p"/>
                        </m:rPr>
                        <a:rPr lang="en-US" i="0" sz="1568">
                          <a:latin typeface="Cambria Math"/>
                        </a:rPr>
                        <m:t>)</m:t>
                      </m:r>
                    </m:oMath>
                  </m:oMathPara>
                </a14:m>
              </mc:Choice>
              <mc:Fallback>
                <a:r>
                  <a:rPr lang="en-US" sz="1567" i="1"/>
                  <a:t>I=I_c\sin(\Delta\theta)</a:t>
                </a:r>
              </mc:Fallback>
            </mc:AlternateContent>
          </a:p>
        </p:txBody>
      </p:sp>
      <p:sp>
        <p:nvSpPr>
          <p:cNvPr id="16" name="TextBox 15"/>
          <p:cNvSpPr txBox="1"/>
          <p:nvPr/>
        </p:nvSpPr>
        <p:spPr>
          <a:xfrm>
            <a:off x="5063067" y="3861991"/>
            <a:ext cx="6553200"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These two relations define the junction. The next slide combines them into a current-dependent inductance, which is what makes the LC circuit anharmonic.</a:t>
            </a:r>
          </a:p>
        </p:txBody>
      </p:sp>
      <p:sp>
        <p:nvSpPr>
          <p:cNvPr id="17" name="Rectangle 16"/>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9" name="TextBox 18"/>
          <p:cNvSpPr txBox="1"/>
          <p:nvPr/>
        </p:nvSpPr>
        <p:spPr>
          <a:xfrm>
            <a:off x="11258815" y="6565900"/>
            <a:ext cx="442119"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71 / 100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285288" y="324115"/>
            <a:ext cx="2415646"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The Junction as a Nonlinear Inductor</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The Junction as a Nonlinear Inductor</a:t>
            </a:r>
          </a:p>
        </p:txBody>
      </p:sp>
      <p:sp>
        <p:nvSpPr>
          <p:cNvPr id="6" name="equation"/>
          <p:cNvSpPr txBox="1"/>
          <p:nvPr/>
        </p:nvSpPr>
        <p:spPr>
          <a:xfrm>
            <a:off x="575733" y="1605227"/>
            <a:ext cx="5461000" cy="250428"/>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limUpp>
                            <m:e>
                              <m:r>
                                <m:rPr>
                                  <m:sty m:val="i"/>
                                </m:rPr>
                                <a:rPr lang="en-US" i="1" sz="1568">
                                  <a:latin typeface="Cambria Math"/>
                                </a:rPr>
                                <m:t>I</m:t>
                              </m:r>
                            </m:e>
                            <m:lim>
                              <m:r>
                                <m:rPr>
                                  <m:sty m:val="p"/>
                                </m:rPr>
                                <a:rPr lang="en-US" i="0" sz="1568">
                                  <a:latin typeface="Cambria Math"/>
                                </a:rPr>
                                <m:t>˙</m:t>
                              </m:r>
                            </m:lim>
                          </m:limUpp>
                        </m:e>
                      </m:box>
                      <m:r>
                        <m:rPr>
                          <m:sty m:val="p"/>
                        </m:rPr>
                        <a:rPr lang="en-US" i="0" sz="1568">
                          <a:latin typeface="Cambria Math"/>
                        </a:rPr>
                        <m:t>=</m:t>
                      </m:r>
                      <m:sSub>
                        <m:e>
                          <m:r>
                            <m:rPr>
                              <m:sty m:val="i"/>
                            </m:rPr>
                            <a:rPr lang="en-US" i="1" sz="1568">
                              <a:latin typeface="Cambria Math"/>
                            </a:rPr>
                            <m:t>I</m:t>
                          </m:r>
                        </m:e>
                        <m:sub>
                          <m:r>
                            <m:rPr>
                              <m:sty m:val="i"/>
                            </m:rPr>
                            <a:rPr lang="en-US" i="1" sz="1568">
                              <a:latin typeface="Cambria Math"/>
                            </a:rPr>
                            <m:t>c</m:t>
                          </m:r>
                        </m:sub>
                      </m:sSub>
                      <m:r>
                        <m:rPr>
                          <m:sty m:val="p"/>
                        </m:rPr>
                        <a:rPr lang="en-US" i="0" sz="1568">
                          <a:latin typeface="Cambria Math"/>
                        </a:rPr>
                        <m:t>cos</m:t>
                      </m:r>
                      <m:r>
                        <m:rPr>
                          <m:sty m:val="p"/>
                        </m:rPr>
                        <a:rPr lang="en-US" i="0" sz="1568">
                          <a:latin typeface="Cambria Math"/>
                        </a:rPr>
                        <m:t/>
                      </m:r>
                      <m:r>
                        <m:rPr>
                          <m:sty m:val="p"/>
                        </m:rPr>
                        <a:rPr lang="en-US" i="0" sz="1568">
                          <a:latin typeface="Cambria Math"/>
                        </a:rPr>
                        <m:t>(</m:t>
                      </m:r>
                      <m:r>
                        <m:rPr>
                          <m:sty m:val="p"/>
                        </m:rPr>
                        <a:rPr lang="en-US" i="0" sz="1568">
                          <a:latin typeface="Cambria Math"/>
                        </a:rPr>
                        <m:t>Δ</m:t>
                      </m:r>
                      <m:r>
                        <m:rPr>
                          <m:sty m:val="i"/>
                        </m:rPr>
                        <a:rPr lang="en-US" i="1" sz="1568">
                          <a:latin typeface="Cambria Math"/>
                        </a:rPr>
                        <m:t>θ</m:t>
                      </m:r>
                      <m:r>
                        <m:rPr>
                          <m:sty m:val="p"/>
                        </m:rPr>
                        <a:rPr lang="en-US" i="0" sz="1568">
                          <a:latin typeface="Cambria Math"/>
                        </a:rPr>
                        <m:t>)</m:t>
                      </m:r>
                    </m:oMath>
                  </m:oMathPara>
                </a14:m>
              </mc:Choice>
              <mc:Fallback>
                <a:r>
                  <a:rPr lang="en-US" sz="1567" i="1"/>
                  <a:t>\dot I=I_c\cos(\Delta\theta)</a:t>
                </a:r>
              </mc:Fallback>
            </mc:AlternateContent>
          </a:p>
        </p:txBody>
      </p:sp>
      <p:sp>
        <p:nvSpPr>
          <p:cNvPr id="7" name="equation"/>
          <p:cNvSpPr txBox="1"/>
          <p:nvPr/>
        </p:nvSpPr>
        <p:spPr>
          <a:xfrm>
            <a:off x="575733" y="2245122"/>
            <a:ext cx="5461000" cy="406003"/>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568">
                          <a:latin typeface="Cambria Math"/>
                        </a:rPr>
                        <m:t>Δ</m:t>
                      </m:r>
                      <m:box>
                        <m:e>
                          <m:limUpp>
                            <m:e>
                              <m:r>
                                <m:rPr>
                                  <m:sty m:val="i"/>
                                </m:rPr>
                                <a:rPr lang="en-US" i="1" sz="1568">
                                  <a:latin typeface="Cambria Math"/>
                                </a:rPr>
                                <m:t>θ</m:t>
                              </m:r>
                            </m:e>
                            <m:lim>
                              <m:r>
                                <m:rPr>
                                  <m:sty m:val="p"/>
                                </m:rPr>
                                <a:rPr lang="en-US" i="0" sz="1568">
                                  <a:latin typeface="Cambria Math"/>
                                </a:rPr>
                                <m:t>˙</m:t>
                              </m:r>
                            </m:lim>
                          </m:limUpp>
                        </m:e>
                      </m:box>
                      <m:r>
                        <m:rPr>
                          <m:sty m:val="p"/>
                        </m:rPr>
                        <a:rPr lang="en-US" i="0" sz="1568">
                          <a:latin typeface="Cambria Math"/>
                        </a:rPr>
                        <m:t>=</m:t>
                      </m:r>
                      <m:sSub>
                        <m:e>
                          <m:r>
                            <m:rPr>
                              <m:sty m:val="i"/>
                            </m:rPr>
                            <a:rPr lang="en-US" i="1" sz="1568">
                              <a:latin typeface="Cambria Math"/>
                            </a:rPr>
                            <m:t>I</m:t>
                          </m:r>
                        </m:e>
                        <m:sub>
                          <m:r>
                            <m:rPr>
                              <m:sty m:val="i"/>
                            </m:rPr>
                            <a:rPr lang="en-US" i="1" sz="1568">
                              <a:latin typeface="Cambria Math"/>
                            </a:rPr>
                            <m:t>c</m:t>
                          </m:r>
                        </m:sub>
                      </m:sSub>
                      <m:r>
                        <m:rPr>
                          <m:sty m:val="p"/>
                        </m:rPr>
                        <a:rPr lang="en-US" i="0" sz="1568">
                          <a:latin typeface="Cambria Math"/>
                        </a:rPr>
                        <m:t>cos</m:t>
                      </m:r>
                      <m:r>
                        <m:rPr>
                          <m:sty m:val="p"/>
                        </m:rPr>
                        <a:rPr lang="en-US" i="0" sz="1568">
                          <a:latin typeface="Cambria Math"/>
                        </a:rPr>
                        <m:t/>
                      </m:r>
                      <m:r>
                        <m:rPr>
                          <m:sty m:val="p"/>
                        </m:rPr>
                        <a:rPr lang="en-US" i="0" sz="1568">
                          <a:latin typeface="Cambria Math"/>
                        </a:rPr>
                        <m:t>(</m:t>
                      </m:r>
                      <m:r>
                        <m:rPr>
                          <m:sty m:val="p"/>
                        </m:rPr>
                        <a:rPr lang="en-US" i="0" sz="1568">
                          <a:latin typeface="Cambria Math"/>
                        </a:rPr>
                        <m:t>Δ</m:t>
                      </m:r>
                      <m:r>
                        <m:rPr>
                          <m:sty m:val="i"/>
                        </m:rPr>
                        <a:rPr lang="en-US" i="1" sz="1568">
                          <a:latin typeface="Cambria Math"/>
                        </a:rPr>
                        <m:t>θ</m:t>
                      </m:r>
                      <m:r>
                        <m:rPr>
                          <m:sty m:val="p"/>
                        </m:rPr>
                        <a:rPr lang="en-US" i="0" sz="1568">
                          <a:latin typeface="Cambria Math"/>
                        </a:rPr>
                        <m:t>)</m:t>
                      </m:r>
                      <m:box>
                        <m:e>
                          <m:r>
                            <a:rPr lang="en-US" i="1" sz="1568">
                              <a:latin typeface="Cambria Math"/>
                            </a:rPr>
                            <m:t/>
                          </m:r>
                        </m:e>
                      </m:box>
                      <m:f>
                        <m:num>
                          <m:box>
                            <m:e>
                              <m:r>
                                <m:rPr>
                                  <m:sty m:val="p"/>
                                </m:rPr>
                                <a:rPr lang="en-US" i="0" sz="1568">
                                  <a:latin typeface="Cambria Math"/>
                                </a:rPr>
                                <m:t>2</m:t>
                              </m:r>
                              <m:r>
                                <m:rPr>
                                  <m:sty m:val="i"/>
                                </m:rPr>
                                <a:rPr lang="en-US" i="1" sz="1568">
                                  <a:latin typeface="Cambria Math"/>
                                </a:rPr>
                                <m:t>e</m:t>
                              </m:r>
                            </m:e>
                          </m:box>
                        </m:num>
                        <m:den>
                          <m:r>
                            <m:rPr>
                              <m:sty m:val="i"/>
                            </m:rPr>
                            <a:rPr lang="en-US" i="1" sz="1568">
                              <a:latin typeface="Cambria Math"/>
                            </a:rPr>
                            <m:t>ℏ</m:t>
                          </m:r>
                        </m:den>
                      </m:f>
                      <m:r>
                        <m:rPr>
                          <m:sty m:val="i"/>
                        </m:rPr>
                        <a:rPr lang="en-US" i="1" sz="1568">
                          <a:latin typeface="Cambria Math"/>
                        </a:rPr>
                        <m:t>V</m:t>
                      </m:r>
                    </m:oMath>
                  </m:oMathPara>
                </a14:m>
              </mc:Choice>
              <mc:Fallback>
                <a:r>
                  <a:rPr lang="en-US" sz="1567" i="1"/>
                  <a:t>\Delta\dot\theta=I_c\cos(\Delta\theta)\,\frac{2e}{\hbar}V</a:t>
                </a:r>
              </mc:Fallback>
            </mc:AlternateContent>
          </a:p>
        </p:txBody>
      </p:sp>
      <p:sp>
        <p:nvSpPr>
          <p:cNvPr id="8" name="equation"/>
          <p:cNvSpPr txBox="1"/>
          <p:nvPr/>
        </p:nvSpPr>
        <p:spPr>
          <a:xfrm>
            <a:off x="575733" y="3040592"/>
            <a:ext cx="5461000" cy="517525"/>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568">
                          <a:latin typeface="Cambria Math"/>
                        </a:rPr>
                        <m:t>V</m:t>
                      </m:r>
                      <m:r>
                        <m:rPr>
                          <m:sty m:val="p"/>
                        </m:rPr>
                        <a:rPr lang="en-US" i="0" sz="1568">
                          <a:latin typeface="Cambria Math"/>
                        </a:rPr>
                        <m:t>=</m:t>
                      </m:r>
                      <m:f>
                        <m:num>
                          <m:r>
                            <m:rPr>
                              <m:sty m:val="i"/>
                            </m:rPr>
                            <a:rPr lang="en-US" i="1" sz="1568">
                              <a:latin typeface="Cambria Math"/>
                            </a:rPr>
                            <m:t>ℏ</m:t>
                          </m:r>
                        </m:num>
                        <m:den>
                          <m:box>
                            <m:e>
                              <m:r>
                                <m:rPr>
                                  <m:sty m:val="p"/>
                                </m:rPr>
                                <a:rPr lang="en-US" i="0" sz="1568">
                                  <a:latin typeface="Cambria Math"/>
                                </a:rPr>
                                <m:t>2</m:t>
                              </m:r>
                              <m:r>
                                <m:rPr>
                                  <m:sty m:val="i"/>
                                </m:rPr>
                                <a:rPr lang="en-US" i="1" sz="1568">
                                  <a:latin typeface="Cambria Math"/>
                                </a:rPr>
                                <m:t>e</m:t>
                              </m:r>
                            </m:e>
                          </m:box>
                        </m:den>
                      </m:f>
                      <m:f>
                        <m:num>
                          <m:r>
                            <m:rPr>
                              <m:sty m:val="p"/>
                            </m:rPr>
                            <a:rPr lang="en-US" i="0" sz="1568">
                              <a:latin typeface="Cambria Math"/>
                            </a:rPr>
                            <m:t>1</m:t>
                          </m:r>
                        </m:num>
                        <m:den>
                          <m:box>
                            <m:e>
                              <m:sSub>
                                <m:e>
                                  <m:r>
                                    <m:rPr>
                                      <m:sty m:val="i"/>
                                    </m:rPr>
                                    <a:rPr lang="en-US" i="1" sz="1568">
                                      <a:latin typeface="Cambria Math"/>
                                    </a:rPr>
                                    <m:t>I</m:t>
                                  </m:r>
                                </m:e>
                                <m:sub>
                                  <m:r>
                                    <m:rPr>
                                      <m:sty m:val="i"/>
                                    </m:rPr>
                                    <a:rPr lang="en-US" i="1" sz="1568">
                                      <a:latin typeface="Cambria Math"/>
                                    </a:rPr>
                                    <m:t>c</m:t>
                                  </m:r>
                                </m:sub>
                              </m:sSub>
                              <m:r>
                                <m:rPr>
                                  <m:sty m:val="p"/>
                                </m:rPr>
                                <a:rPr lang="en-US" i="0" sz="1568">
                                  <a:latin typeface="Cambria Math"/>
                                </a:rPr>
                                <m:t>cos</m:t>
                              </m:r>
                              <m:r>
                                <m:rPr>
                                  <m:sty m:val="p"/>
                                </m:rPr>
                                <a:rPr lang="en-US" i="0" sz="1568">
                                  <a:latin typeface="Cambria Math"/>
                                </a:rPr>
                                <m:t/>
                              </m:r>
                              <m:r>
                                <m:rPr>
                                  <m:sty m:val="p"/>
                                </m:rPr>
                                <a:rPr lang="en-US" i="0" sz="1568">
                                  <a:latin typeface="Cambria Math"/>
                                </a:rPr>
                                <m:t>(</m:t>
                              </m:r>
                              <m:r>
                                <m:rPr>
                                  <m:sty m:val="p"/>
                                </m:rPr>
                                <a:rPr lang="en-US" i="0" sz="1568">
                                  <a:latin typeface="Cambria Math"/>
                                </a:rPr>
                                <m:t>Δ</m:t>
                              </m:r>
                              <m:r>
                                <m:rPr>
                                  <m:sty m:val="i"/>
                                </m:rPr>
                                <a:rPr lang="en-US" i="1" sz="1568">
                                  <a:latin typeface="Cambria Math"/>
                                </a:rPr>
                                <m:t>θ</m:t>
                              </m:r>
                              <m:r>
                                <m:rPr>
                                  <m:sty m:val="p"/>
                                </m:rPr>
                                <a:rPr lang="en-US" i="0" sz="1568">
                                  <a:latin typeface="Cambria Math"/>
                                </a:rPr>
                                <m:t>)</m:t>
                              </m:r>
                            </m:e>
                          </m:box>
                        </m:den>
                      </m:f>
                      <m:box>
                        <m:e>
                          <m:r>
                            <a:rPr lang="en-US" i="1" sz="1568">
                              <a:latin typeface="Cambria Math"/>
                            </a:rPr>
                            <m:t/>
                          </m:r>
                        </m:e>
                      </m:box>
                      <m:box>
                        <m:e>
                          <m:limUpp>
                            <m:e>
                              <m:r>
                                <m:rPr>
                                  <m:sty m:val="i"/>
                                </m:rPr>
                                <a:rPr lang="en-US" i="1" sz="1568">
                                  <a:latin typeface="Cambria Math"/>
                                </a:rPr>
                                <m:t>I</m:t>
                              </m:r>
                            </m:e>
                            <m:lim>
                              <m:r>
                                <m:rPr>
                                  <m:sty m:val="p"/>
                                </m:rPr>
                                <a:rPr lang="en-US" i="0" sz="1568">
                                  <a:latin typeface="Cambria Math"/>
                                </a:rPr>
                                <m:t>˙</m:t>
                              </m:r>
                            </m:lim>
                          </m:limUpp>
                        </m:e>
                      </m:box>
                      <m:r>
                        <m:rPr>
                          <m:sty m:val="p"/>
                        </m:rPr>
                        <a:rPr lang="en-US" i="0" sz="1568">
                          <a:latin typeface="Cambria Math"/>
                        </a:rPr>
                        <m:t>=</m:t>
                      </m:r>
                      <m:f>
                        <m:num>
                          <m:r>
                            <m:rPr>
                              <m:sty m:val="i"/>
                            </m:rPr>
                            <a:rPr lang="en-US" i="1" sz="1568">
                              <a:latin typeface="Cambria Math"/>
                            </a:rPr>
                            <m:t>ℏ</m:t>
                          </m:r>
                        </m:num>
                        <m:den>
                          <m:box>
                            <m:e>
                              <m:r>
                                <m:rPr>
                                  <m:sty m:val="p"/>
                                </m:rPr>
                                <a:rPr lang="en-US" i="0" sz="1568">
                                  <a:latin typeface="Cambria Math"/>
                                </a:rPr>
                                <m:t>2</m:t>
                              </m:r>
                              <m:r>
                                <m:rPr>
                                  <m:sty m:val="i"/>
                                </m:rPr>
                                <a:rPr lang="en-US" i="1" sz="1568">
                                  <a:latin typeface="Cambria Math"/>
                                </a:rPr>
                                <m:t>e</m:t>
                              </m:r>
                            </m:e>
                          </m:box>
                        </m:den>
                      </m:f>
                      <m:f>
                        <m:num>
                          <m:r>
                            <m:rPr>
                              <m:sty m:val="p"/>
                            </m:rPr>
                            <a:rPr lang="en-US" i="0" sz="1568">
                              <a:latin typeface="Cambria Math"/>
                            </a:rPr>
                            <m:t>1</m:t>
                          </m:r>
                        </m:num>
                        <m:den>
                          <m:rad>
                            <m:radPr>
                              <m:degHide m:val="1"/>
                            </m:radPr>
                            <m:deg/>
                            <m:e>
                              <m:box>
                                <m:e>
                                  <m:sSubSup>
                                    <m:e>
                                      <m:r>
                                        <m:rPr>
                                          <m:sty m:val="i"/>
                                        </m:rPr>
                                        <a:rPr lang="en-US" i="1" sz="1568">
                                          <a:latin typeface="Cambria Math"/>
                                        </a:rPr>
                                        <m:t>I</m:t>
                                      </m:r>
                                    </m:e>
                                    <m:sub>
                                      <m:r>
                                        <m:rPr>
                                          <m:sty m:val="i"/>
                                        </m:rPr>
                                        <a:rPr lang="en-US" i="1" sz="1568">
                                          <a:latin typeface="Cambria Math"/>
                                        </a:rPr>
                                        <m:t>c</m:t>
                                      </m:r>
                                    </m:sub>
                                    <m:sup>
                                      <m:r>
                                        <m:rPr>
                                          <m:sty m:val="p"/>
                                        </m:rPr>
                                        <a:rPr lang="en-US" i="0" sz="1568">
                                          <a:latin typeface="Cambria Math"/>
                                        </a:rPr>
                                        <m:t>2</m:t>
                                      </m:r>
                                    </m:sup>
                                  </m:sSubSup>
                                  <m:r>
                                    <m:rPr>
                                      <m:sty m:val="p"/>
                                    </m:rPr>
                                    <a:rPr lang="en-US" i="0" sz="1568">
                                      <a:latin typeface="Cambria Math"/>
                                    </a:rPr>
                                    <m:t>−</m:t>
                                  </m:r>
                                  <m:sSup>
                                    <m:e>
                                      <m:r>
                                        <m:rPr>
                                          <m:sty m:val="i"/>
                                        </m:rPr>
                                        <a:rPr lang="en-US" i="1" sz="1568">
                                          <a:latin typeface="Cambria Math"/>
                                        </a:rPr>
                                        <m:t>I</m:t>
                                      </m:r>
                                    </m:e>
                                    <m:sup>
                                      <m:r>
                                        <m:rPr>
                                          <m:sty m:val="p"/>
                                        </m:rPr>
                                        <a:rPr lang="en-US" i="0" sz="1568">
                                          <a:latin typeface="Cambria Math"/>
                                        </a:rPr>
                                        <m:t>2</m:t>
                                      </m:r>
                                    </m:sup>
                                  </m:sSup>
                                </m:e>
                              </m:box>
                            </m:e>
                          </m:rad>
                        </m:den>
                      </m:f>
                      <m:box>
                        <m:e>
                          <m:r>
                            <a:rPr lang="en-US" i="1" sz="1568">
                              <a:latin typeface="Cambria Math"/>
                            </a:rPr>
                            <m:t/>
                          </m:r>
                        </m:e>
                      </m:box>
                      <m:box>
                        <m:e>
                          <m:limUpp>
                            <m:e>
                              <m:r>
                                <m:rPr>
                                  <m:sty m:val="i"/>
                                </m:rPr>
                                <a:rPr lang="en-US" i="1" sz="1568">
                                  <a:latin typeface="Cambria Math"/>
                                </a:rPr>
                                <m:t>I</m:t>
                              </m:r>
                            </m:e>
                            <m:lim>
                              <m:r>
                                <m:rPr>
                                  <m:sty m:val="p"/>
                                </m:rPr>
                                <a:rPr lang="en-US" i="0" sz="1568">
                                  <a:latin typeface="Cambria Math"/>
                                </a:rPr>
                                <m:t>˙</m:t>
                              </m:r>
                            </m:lim>
                          </m:limUpp>
                        </m:e>
                      </m:box>
                      <m:r>
                        <m:rPr>
                          <m:nor/>
                        </m:rPr>
                        <a:rPr lang="en-US" i="0" sz="1568">
                          <a:latin typeface="Cambria Math"/>
                        </a:rPr>
                        <m:t> </m:t>
                      </m:r>
                      <m:r>
                        <m:rPr>
                          <m:sty m:val="p"/>
                        </m:rPr>
                        <a:rPr lang="en-US" i="0" sz="1568">
                          <a:latin typeface="Cambria Math"/>
                        </a:rPr>
                        <m:t>≡</m:t>
                      </m:r>
                      <m:r>
                        <m:rPr>
                          <m:nor/>
                        </m:rPr>
                        <a:rPr lang="en-US" i="0" sz="1568">
                          <a:latin typeface="Cambria Math"/>
                        </a:rPr>
                        <m:t> </m:t>
                      </m:r>
                      <m:sSub>
                        <m:e>
                          <m:r>
                            <m:rPr>
                              <m:sty m:val="i"/>
                            </m:rPr>
                            <a:rPr lang="en-US" i="1" sz="1568">
                              <a:latin typeface="Cambria Math"/>
                            </a:rPr>
                            <m:t>L</m:t>
                          </m:r>
                        </m:e>
                        <m:sub>
                          <m:r>
                            <m:rPr>
                              <m:sty m:val="i"/>
                            </m:rPr>
                            <a:rPr lang="en-US" i="1" sz="1568">
                              <a:latin typeface="Cambria Math"/>
                            </a:rPr>
                            <m:t>J</m:t>
                          </m:r>
                        </m:sub>
                      </m:sSub>
                      <m:r>
                        <m:rPr>
                          <m:sty m:val="p"/>
                        </m:rPr>
                        <a:rPr lang="en-US" i="0" sz="1568">
                          <a:latin typeface="Cambria Math"/>
                        </a:rPr>
                        <m:t>(</m:t>
                      </m:r>
                      <m:r>
                        <m:rPr>
                          <m:sty m:val="i"/>
                        </m:rPr>
                        <a:rPr lang="en-US" i="1" sz="1568">
                          <a:latin typeface="Cambria Math"/>
                        </a:rPr>
                        <m:t>I</m:t>
                      </m:r>
                      <m:r>
                        <m:rPr>
                          <m:sty m:val="p"/>
                        </m:rPr>
                        <a:rPr lang="en-US" i="0" sz="1568">
                          <a:latin typeface="Cambria Math"/>
                        </a:rPr>
                        <m:t>)</m:t>
                      </m:r>
                      <m:box>
                        <m:e>
                          <m:r>
                            <a:rPr lang="en-US" i="1" sz="1568">
                              <a:latin typeface="Cambria Math"/>
                            </a:rPr>
                            <m:t/>
                          </m:r>
                        </m:e>
                      </m:box>
                      <m:box>
                        <m:e>
                          <m:limUpp>
                            <m:e>
                              <m:r>
                                <m:rPr>
                                  <m:sty m:val="i"/>
                                </m:rPr>
                                <a:rPr lang="en-US" i="1" sz="1568">
                                  <a:latin typeface="Cambria Math"/>
                                </a:rPr>
                                <m:t>I</m:t>
                              </m:r>
                            </m:e>
                            <m:lim>
                              <m:r>
                                <m:rPr>
                                  <m:sty m:val="p"/>
                                </m:rPr>
                                <a:rPr lang="en-US" i="0" sz="1568">
                                  <a:latin typeface="Cambria Math"/>
                                </a:rPr>
                                <m:t>˙</m:t>
                              </m:r>
                            </m:lim>
                          </m:limUpp>
                        </m:e>
                      </m:box>
                    </m:oMath>
                  </m:oMathPara>
                </a14:m>
              </mc:Choice>
              <mc:Fallback>
                <a:r>
                  <a:rPr lang="en-US" sz="1567" i="1"/>
                  <a:t>V=\frac{\hbar}{2e}\frac{1}{I_c\cos(\Delta\theta)}\,\dot
                    I=\frac{\hbar}{2e}\frac{1}{\sqrt{I_c^2-I^2}}\,\dot I\ \equiv\ L_J(I)\,\dot I</a:t>
                </a:r>
              </mc:Fallback>
            </mc:AlternateContent>
          </a:p>
        </p:txBody>
      </p:sp>
      <p:sp>
        <p:nvSpPr>
          <p:cNvPr id="9" name="Rounded Rectangle 8"/>
          <p:cNvSpPr/>
          <p:nvPr/>
        </p:nvSpPr>
        <p:spPr>
          <a:xfrm>
            <a:off x="575733" y="3896783"/>
            <a:ext cx="5461000" cy="1019704"/>
          </a:xfrm>
          <a:prstGeom prst="roundRect">
            <a:avLst>
              <a:gd name="adj" fmla="val 6642"/>
            </a:avLst>
          </a:prstGeom>
          <a:solidFill>
            <a:srgbClr val="FEF9E7"/>
          </a:solidFill>
          <a:ln w="16933">
            <a:solidFill>
              <a:srgbClr val="F0C0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quation"/>
          <p:cNvSpPr txBox="1"/>
          <p:nvPr/>
        </p:nvSpPr>
        <p:spPr>
          <a:xfrm>
            <a:off x="711200" y="4150783"/>
            <a:ext cx="5190067" cy="511704"/>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568">
                          <a:latin typeface="Cambria Math"/>
                        </a:rPr>
                        <m:t>ω</m:t>
                      </m:r>
                      <m:r>
                        <m:rPr>
                          <m:sty m:val="p"/>
                        </m:rPr>
                        <a:rPr lang="en-US" i="0" sz="1568">
                          <a:latin typeface="Cambria Math"/>
                        </a:rPr>
                        <m:t>=</m:t>
                      </m:r>
                      <m:f>
                        <m:num>
                          <m:r>
                            <m:rPr>
                              <m:sty m:val="p"/>
                            </m:rPr>
                            <a:rPr lang="en-US" i="0" sz="1568">
                              <a:latin typeface="Cambria Math"/>
                            </a:rPr>
                            <m:t>1</m:t>
                          </m:r>
                        </m:num>
                        <m:den>
                          <m:rad>
                            <m:radPr>
                              <m:degHide m:val="1"/>
                            </m:radPr>
                            <m:deg/>
                            <m:e>
                              <m:box>
                                <m:e>
                                  <m:sSub>
                                    <m:e>
                                      <m:r>
                                        <m:rPr>
                                          <m:sty m:val="i"/>
                                        </m:rPr>
                                        <a:rPr lang="en-US" i="1" sz="1568">
                                          <a:latin typeface="Cambria Math"/>
                                        </a:rPr>
                                        <m:t>L</m:t>
                                      </m:r>
                                    </m:e>
                                    <m:sub>
                                      <m:r>
                                        <m:rPr>
                                          <m:sty m:val="i"/>
                                        </m:rPr>
                                        <a:rPr lang="en-US" i="1" sz="1568">
                                          <a:latin typeface="Cambria Math"/>
                                        </a:rPr>
                                        <m:t>J</m:t>
                                      </m:r>
                                    </m:sub>
                                  </m:sSub>
                                  <m:r>
                                    <m:rPr>
                                      <m:sty m:val="i"/>
                                    </m:rPr>
                                    <a:rPr lang="en-US" i="1" sz="1568">
                                      <a:latin typeface="Cambria Math"/>
                                    </a:rPr>
                                    <m:t>C</m:t>
                                  </m:r>
                                </m:e>
                              </m:box>
                            </m:e>
                          </m:rad>
                        </m:den>
                      </m:f>
                      <m:r>
                        <m:rPr>
                          <m:nor/>
                        </m:rPr>
                        <a:rPr lang="en-US" i="0" sz="1568">
                          <a:latin typeface="Cambria Math"/>
                        </a:rPr>
                        <m:t> </m:t>
                      </m:r>
                      <m:r>
                        <m:rPr>
                          <m:sty m:val="p"/>
                        </m:rPr>
                        <a:rPr lang="en-US" i="0" sz="1568">
                          <a:latin typeface="Cambria Math"/>
                        </a:rPr>
                        <m:t>∝</m:t>
                      </m:r>
                      <m:r>
                        <m:rPr>
                          <m:nor/>
                        </m:rPr>
                        <a:rPr lang="en-US" i="0" sz="1568">
                          <a:latin typeface="Cambria Math"/>
                        </a:rPr>
                        <m:t> </m:t>
                      </m:r>
                      <m:rad>
                        <m:deg>
                          <m:r>
                            <m:rPr>
                              <m:sty m:val="p"/>
                            </m:rPr>
                            <a:rPr lang="en-US" i="0" sz="1568">
                              <a:latin typeface="Cambria Math"/>
                            </a:rPr>
                            <m:t>4</m:t>
                          </m:r>
                        </m:deg>
                        <m:e>
                          <m:box>
                            <m:e>
                              <m:sSubSup>
                                <m:e>
                                  <m:r>
                                    <m:rPr>
                                      <m:sty m:val="i"/>
                                    </m:rPr>
                                    <a:rPr lang="en-US" i="1" sz="1568">
                                      <a:latin typeface="Cambria Math"/>
                                    </a:rPr>
                                    <m:t>I</m:t>
                                  </m:r>
                                </m:e>
                                <m:sub>
                                  <m:r>
                                    <m:rPr>
                                      <m:sty m:val="i"/>
                                    </m:rPr>
                                    <a:rPr lang="en-US" i="1" sz="1568">
                                      <a:latin typeface="Cambria Math"/>
                                    </a:rPr>
                                    <m:t>c</m:t>
                                  </m:r>
                                </m:sub>
                                <m:sup>
                                  <m:r>
                                    <m:rPr>
                                      <m:sty m:val="p"/>
                                    </m:rPr>
                                    <a:rPr lang="en-US" i="0" sz="1568">
                                      <a:latin typeface="Cambria Math"/>
                                    </a:rPr>
                                    <m:t>2</m:t>
                                  </m:r>
                                </m:sup>
                              </m:sSubSup>
                              <m:r>
                                <m:rPr>
                                  <m:sty m:val="p"/>
                                </m:rPr>
                                <a:rPr lang="en-US" i="0" sz="1568">
                                  <a:latin typeface="Cambria Math"/>
                                </a:rPr>
                                <m:t>−</m:t>
                              </m:r>
                              <m:sSup>
                                <m:e>
                                  <m:r>
                                    <m:rPr>
                                      <m:sty m:val="i"/>
                                    </m:rPr>
                                    <a:rPr lang="en-US" i="1" sz="1568">
                                      <a:latin typeface="Cambria Math"/>
                                    </a:rPr>
                                    <m:t>I</m:t>
                                  </m:r>
                                </m:e>
                                <m:sup>
                                  <m:r>
                                    <m:rPr>
                                      <m:sty m:val="p"/>
                                    </m:rPr>
                                    <a:rPr lang="en-US" i="0" sz="1568">
                                      <a:latin typeface="Cambria Math"/>
                                    </a:rPr>
                                    <m:t>2</m:t>
                                  </m:r>
                                </m:sup>
                              </m:sSup>
                            </m:e>
                          </m:box>
                        </m:e>
                      </m:rad>
                    </m:oMath>
                  </m:oMathPara>
                </a14:m>
              </mc:Choice>
              <mc:Fallback>
                <a:r>
                  <a:rPr lang="en-US" sz="1567" i="1"/>
                  <a:t>\omega=\frac{1}{\sqrt{L_JC}}\ \propto\ \sqrt[4]{I_c^2-I^2}</a:t>
                </a:r>
              </mc:Fallback>
            </mc:AlternateContent>
          </a:p>
        </p:txBody>
      </p:sp>
      <p:pic>
        <p:nvPicPr>
          <p:cNvPr id="11" name="svg-diagram" descr="el-x14.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6155267" y="2085181"/>
            <a:ext cx="2446867" cy="1270000"/>
          </a:xfrm>
          <a:prstGeom prst="rect">
            <a:avLst/>
          </a:prstGeom>
        </p:spPr>
      </p:pic>
      <p:sp>
        <p:nvSpPr>
          <p:cNvPr id="12" name="TextBox 11"/>
          <p:cNvSpPr txBox="1"/>
          <p:nvPr/>
        </p:nvSpPr>
        <p:spPr>
          <a:xfrm>
            <a:off x="8669867" y="2429933"/>
            <a:ext cx="431800" cy="580496"/>
          </a:xfrm>
          <a:prstGeom prst="rect">
            <a:avLst/>
          </a:prstGeom>
          <a:noFill/>
        </p:spPr>
        <p:txBody>
          <a:bodyPr wrap="none" lIns="0" rIns="0" tIns="0" bIns="0" anchor="t">
            <a:noAutofit/>
          </a:bodyPr>
          <a:lstStyle/>
          <a:p>
            <a:pPr algn="l">
              <a:lnSpc>
                <a:spcPts val="4570"/>
              </a:lnSpc>
            </a:pPr>
            <a:r>
              <a:rPr sz="3200" b="0" i="0">
                <a:solidFill>
                  <a:srgbClr val="70549A"/>
                </a:solidFill>
                <a:latin typeface="Montserrat"/>
                <a:ea typeface="Montserrat"/>
                <a:cs typeface="Montserrat"/>
              </a:rPr>
              <a:t>⟶</a:t>
            </a:r>
          </a:p>
        </p:txBody>
      </p:sp>
      <p:pic>
        <p:nvPicPr>
          <p:cNvPr id="13" name="svg-diagram" descr="el-x15.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9169400" y="2085181"/>
            <a:ext cx="2446867" cy="1270000"/>
          </a:xfrm>
          <a:prstGeom prst="rect">
            <a:avLst/>
          </a:prstGeom>
        </p:spPr>
      </p:pic>
      <p:sp>
        <p:nvSpPr>
          <p:cNvPr id="14" name="TextBox 13"/>
          <p:cNvSpPr txBox="1"/>
          <p:nvPr/>
        </p:nvSpPr>
        <p:spPr>
          <a:xfrm>
            <a:off x="6155267" y="3439848"/>
            <a:ext cx="5461000"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The junction acts as a current-dependent, </a:t>
            </a:r>
            <a:r>
              <a:rPr sz="1400" b="1" i="0">
                <a:solidFill>
                  <a:srgbClr val="4F4C56"/>
                </a:solidFill>
                <a:latin typeface="Montserrat"/>
                <a:ea typeface="Montserrat"/>
                <a:cs typeface="Montserrat"/>
              </a:rPr>
              <a:t>nonlinear inductor</a:t>
            </a:r>
            <a:r>
              <a:rPr sz="1400" b="0" i="0">
                <a:solidFill>
                  <a:srgbClr val="4F4C56"/>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L</m:t>
                        </m:r>
                      </m:e>
                      <m:sub>
                        <m:r>
                          <m:rPr>
                            <m:sty m:val="i"/>
                          </m:rPr>
                          <a:rPr lang="en-US" i="1" sz="1665">
                            <a:latin typeface="Cambria Math"/>
                          </a:rPr>
                          <m:t>J</m:t>
                        </m:r>
                      </m:sub>
                    </m:sSub>
                    <m:r>
                      <m:rPr>
                        <m:sty m:val="p"/>
                      </m:rPr>
                      <a:rPr lang="en-US" i="0" sz="1665">
                        <a:latin typeface="Cambria Math"/>
                      </a:rPr>
                      <m:t>(</m:t>
                    </m:r>
                    <m:r>
                      <m:rPr>
                        <m:sty m:val="i"/>
                      </m:rPr>
                      <a:rPr lang="en-US" i="1" sz="1665">
                        <a:latin typeface="Cambria Math"/>
                      </a:rPr>
                      <m:t>I</m:t>
                    </m:r>
                    <m:r>
                      <m:rPr>
                        <m:sty m:val="p"/>
                      </m:rPr>
                      <a:rPr lang="en-US" i="0" sz="1665">
                        <a:latin typeface="Cambria Math"/>
                      </a:rPr>
                      <m:t>)</m:t>
                    </m:r>
                  </m:oMath>
                </a14:m>
              </mc:Choice>
              <mc:Fallback>
                <a:r>
                  <a:rPr lang="en-US" sz="1664" i="1"/>
                  <a:t>L_J(I)</a:t>
                </a:r>
              </mc:Fallback>
            </mc:AlternateContent>
            <a:r>
              <a:rPr sz="1400" b="0" i="0">
                <a:solidFill>
                  <a:srgbClr val="4F4C56"/>
                </a:solidFill>
                <a:latin typeface="Montserrat"/>
                <a:ea typeface="Montserrat"/>
                <a:cs typeface="Montserrat"/>
              </a:rPr>
              <a:t>: replace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L</m:t>
                    </m:r>
                  </m:oMath>
                </a14:m>
              </mc:Choice>
              <mc:Fallback>
                <a:r>
                  <a:rPr lang="en-US" sz="1664" i="1"/>
                  <a:t>L</a:t>
                </a:r>
              </mc:Fallback>
            </mc:AlternateContent>
            <a:r>
              <a:rPr sz="1400" b="0" i="0">
                <a:solidFill>
                  <a:srgbClr val="4F4C56"/>
                </a:solidFill>
                <a:latin typeface="Montserrat"/>
                <a:ea typeface="Montserrat"/>
                <a:cs typeface="Montserrat"/>
              </a:rPr>
              <a:t> by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L</m:t>
                        </m:r>
                      </m:e>
                      <m:sub>
                        <m:r>
                          <m:rPr>
                            <m:sty m:val="i"/>
                          </m:rPr>
                          <a:rPr lang="en-US" i="1" sz="1665">
                            <a:latin typeface="Cambria Math"/>
                          </a:rPr>
                          <m:t>J</m:t>
                        </m:r>
                      </m:sub>
                    </m:sSub>
                  </m:oMath>
                </a14:m>
              </mc:Choice>
              <mc:Fallback>
                <a:r>
                  <a:rPr lang="en-US" sz="1664" i="1"/>
                  <a:t>L_J</a:t>
                </a:r>
              </mc:Fallback>
            </mc:AlternateContent>
            <a:r>
              <a:rPr sz="1400" b="0" i="0">
                <a:solidFill>
                  <a:srgbClr val="4F4C56"/>
                </a:solidFill>
                <a:latin typeface="Montserrat"/>
                <a:ea typeface="Montserrat"/>
                <a:cs typeface="Montserrat"/>
              </a:rPr>
              <a:t> and the LC oscillator becomes anharmonic.</a:t>
            </a:r>
          </a:p>
        </p:txBody>
      </p:sp>
      <p:sp>
        <p:nvSpPr>
          <p:cNvPr id="15" name="Rectangle 14"/>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7" name="TextBox 16"/>
          <p:cNvSpPr txBox="1"/>
          <p:nvPr/>
        </p:nvSpPr>
        <p:spPr>
          <a:xfrm>
            <a:off x="11236457" y="6565900"/>
            <a:ext cx="464476"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72 / 100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pic>
        <p:nvPicPr>
          <p:cNvPr id="5" name="A simple pentagonal design element." descr="LC JJ circuit.png">
            <a:hlinkClick r:id="rId3"/>
          </p:cNvPr>
          <p:cNvPicPr>
            <a:picLocks noChangeAspect="1"/>
          </p:cNvPicPr>
          <p:nvPr/>
        </p:nvPicPr>
        <p:blipFill>
          <a:blip r:embed="rId2"/>
          <a:stretch>
            <a:fillRect/>
          </a:stretch>
        </p:blipFill>
        <p:spPr>
          <a:xfrm>
            <a:off x="3310467" y="1075267"/>
            <a:ext cx="5571067" cy="2743200"/>
          </a:xfrm>
          <a:prstGeom prst="rect">
            <a:avLst/>
          </a:prstGeom>
        </p:spPr>
      </p:pic>
      <p:sp>
        <p:nvSpPr>
          <p:cNvPr id="6" name="TextBox 5"/>
          <p:cNvSpPr txBox="1"/>
          <p:nvPr/>
        </p:nvSpPr>
        <p:spPr>
          <a:xfrm>
            <a:off x="575733" y="3818467"/>
            <a:ext cx="11040533"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 A linear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L</m:t>
                    </m:r>
                    <m:r>
                      <m:rPr>
                        <m:sty m:val="i"/>
                      </m:rPr>
                      <a:rPr lang="en-US" i="1" sz="1665">
                        <a:latin typeface="Cambria Math"/>
                      </a:rPr>
                      <m:t>C</m:t>
                    </m:r>
                  </m:oMath>
                </a14:m>
              </mc:Choice>
              <mc:Fallback>
                <a:r>
                  <a:rPr lang="en-US" sz="1664" i="1"/>
                  <a:t>LC</a:t>
                </a:r>
              </mc:Fallback>
            </mc:AlternateContent>
            <a:r>
              <a:rPr sz="1400" b="0" i="0">
                <a:solidFill>
                  <a:srgbClr val="4F4C56"/>
                </a:solidFill>
                <a:latin typeface="Montserrat"/>
                <a:ea typeface="Montserrat"/>
                <a:cs typeface="Montserrat"/>
              </a:rPr>
              <a:t> circuit becomes a nonlinear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L</m:t>
                    </m:r>
                    <m:r>
                      <m:rPr>
                        <m:sty m:val="i"/>
                      </m:rPr>
                      <a:rPr lang="en-US" i="1" sz="1665">
                        <a:latin typeface="Cambria Math"/>
                      </a:rPr>
                      <m:t>C</m:t>
                    </m:r>
                  </m:oMath>
                </a14:m>
              </mc:Choice>
              <mc:Fallback>
                <a:r>
                  <a:rPr lang="en-US" sz="1664" i="1"/>
                  <a:t>LC</a:t>
                </a:r>
              </mc:Fallback>
            </mc:AlternateContent>
            <a:r>
              <a:rPr sz="1400" b="0" i="0">
                <a:solidFill>
                  <a:srgbClr val="4F4C56"/>
                </a:solidFill>
                <a:latin typeface="Montserrat"/>
                <a:ea typeface="Montserrat"/>
                <a:cs typeface="Montserrat"/>
              </a:rPr>
              <a:t> circuit by incorporating the nonlinear inductance of a Josephson junction.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L</m:t>
                        </m:r>
                      </m:e>
                      <m:sub>
                        <m:r>
                          <m:rPr>
                            <m:sty m:val="i"/>
                          </m:rPr>
                          <a:rPr lang="en-US" i="1" sz="1665">
                            <a:latin typeface="Cambria Math"/>
                          </a:rPr>
                          <m:t>J</m:t>
                        </m:r>
                      </m:sub>
                    </m:sSub>
                  </m:oMath>
                </a14:m>
              </mc:Choice>
              <mc:Fallback>
                <a:r>
                  <a:rPr lang="en-US" sz="1664" i="1"/>
                  <a:t>L_J</a:t>
                </a:r>
              </mc:Fallback>
            </mc:AlternateContent>
            <a:r>
              <a:rPr sz="1400" b="0" i="0">
                <a:solidFill>
                  <a:srgbClr val="4F4C56"/>
                </a:solidFill>
                <a:latin typeface="Montserrat"/>
                <a:ea typeface="Montserrat"/>
                <a:cs typeface="Montserrat"/>
              </a:rPr>
              <a:t> is the junction inductance. </a:t>
            </a:r>
          </a:p>
        </p:txBody>
      </p:sp>
      <p:sp>
        <p:nvSpPr>
          <p:cNvPr id="7" name="TextBox 6"/>
          <p:cNvSpPr txBox="1"/>
          <p:nvPr/>
        </p:nvSpPr>
        <p:spPr>
          <a:xfrm>
            <a:off x="575733" y="4536546"/>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Nonlinear LC Circuit</a:t>
            </a:r>
          </a:p>
        </p:txBody>
      </p:sp>
      <p:sp>
        <p:nvSpPr>
          <p:cNvPr id="8" name="TextBox 7"/>
          <p:cNvSpPr txBox="1"/>
          <p:nvPr/>
        </p:nvSpPr>
        <p:spPr>
          <a:xfrm>
            <a:off x="575733" y="4913312"/>
            <a:ext cx="11040533"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A transmon can be understood as a nonlinear LC oscillator. It replaces an ordinary linear inductor with a Josephson junction and adds a large shunt capacitance. The Josephson junction supplies nonlinearity, while the shunt capacitor lowers the charging energy, making the qubit insensitive to offset-charge noise. </a:t>
            </a:r>
          </a:p>
        </p:txBody>
      </p:sp>
      <p:sp>
        <p:nvSpPr>
          <p:cNvPr id="9" name="Rectangle 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1" name="TextBox 10"/>
          <p:cNvSpPr txBox="1"/>
          <p:nvPr/>
        </p:nvSpPr>
        <p:spPr>
          <a:xfrm>
            <a:off x="11237119" y="6565900"/>
            <a:ext cx="463815"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73 / 100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Treat the quadratic part first, as a harmonic oscillator:</a:t>
            </a:r>
          </a:p>
        </p:txBody>
      </p:sp>
      <p:sp>
        <p:nvSpPr>
          <p:cNvPr id="6" name="TextBox 5"/>
          <p:cNvSpPr txBox="1"/>
          <p:nvPr/>
        </p:nvSpPr>
        <p:spPr>
          <a:xfrm>
            <a:off x="5659834" y="1272646"/>
            <a:ext cx="267626" cy="284824"/>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sSub>
                      <m:e>
                        <m:box>
                          <m:e>
                            <m:limUpp>
                              <m:e>
                                <m:r>
                                  <m:rPr>
                                    <m:sty m:val="i"/>
                                  </m:rPr>
                                  <a:rPr lang="en-US" i="1" sz="1665">
                                    <a:latin typeface="Cambria Math"/>
                                  </a:rPr>
                                  <m:t>H</m:t>
                                </m:r>
                              </m:e>
                              <m:lim>
                                <m:r>
                                  <m:rPr>
                                    <m:sty m:val="p"/>
                                  </m:rPr>
                                  <a:rPr lang="en-US" i="0" sz="1665">
                                    <a:latin typeface="Cambria Math"/>
                                  </a:rPr>
                                  <m:t>^</m:t>
                                </m:r>
                              </m:lim>
                            </m:limUpp>
                          </m:e>
                        </m:box>
                      </m:e>
                      <m:sub>
                        <m:r>
                          <m:rPr>
                            <m:sty m:val="p"/>
                          </m:rPr>
                          <a:rPr lang="en-US" i="0" sz="1665">
                            <a:latin typeface="Cambria Math"/>
                          </a:rPr>
                          <m:t>0</m:t>
                        </m:r>
                      </m:sub>
                    </m:sSub>
                  </m:oMath>
                </a14:m>
              </mc:Choice>
              <mc:Fallback>
                <a:r>
                  <a:rPr lang="en-US" sz="1664" i="1"/>
                  <a:t>\hat{H}_0</a:t>
                </a:r>
              </mc:Fallback>
            </mc:AlternateContent>
          </a:p>
        </p:txBody>
      </p:sp>
      <p:sp>
        <p:nvSpPr>
          <p:cNvPr id="7" name="TextBox 6"/>
          <p:cNvSpPr txBox="1"/>
          <p:nvPr/>
        </p:nvSpPr>
        <p:spPr>
          <a:xfrm>
            <a:off x="6012127" y="1277276"/>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t>
                </a:r>
              </mc:Fallback>
            </mc:AlternateContent>
          </a:p>
        </p:txBody>
      </p:sp>
      <p:sp>
        <p:nvSpPr>
          <p:cNvPr id="8" name="TextBox 7"/>
          <p:cNvSpPr txBox="1"/>
          <p:nvPr/>
        </p:nvSpPr>
        <p:spPr>
          <a:xfrm>
            <a:off x="6264407" y="1269206"/>
            <a:ext cx="1978157" cy="291703"/>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4</m:t>
                    </m:r>
                    <m:sSub>
                      <m:e>
                        <m:r>
                          <m:rPr>
                            <m:sty m:val="i"/>
                          </m:rPr>
                          <a:rPr lang="en-US" i="1" sz="1665">
                            <a:latin typeface="Cambria Math"/>
                          </a:rPr>
                          <m:t>E</m:t>
                        </m:r>
                      </m:e>
                      <m:sub>
                        <m:r>
                          <m:rPr>
                            <m:sty m:val="i"/>
                          </m:rPr>
                          <a:rPr lang="en-US" i="1" sz="1665">
                            <a:latin typeface="Cambria Math"/>
                          </a:rPr>
                          <m:t>C</m:t>
                        </m:r>
                      </m:sub>
                    </m:sSub>
                    <m:sSup>
                      <m:e>
                        <m:box>
                          <m:e>
                            <m:limUpp>
                              <m:e>
                                <m:r>
                                  <m:rPr>
                                    <m:sty m:val="i"/>
                                  </m:rPr>
                                  <a:rPr lang="en-US" i="1" sz="1665">
                                    <a:latin typeface="Cambria Math"/>
                                  </a:rPr>
                                  <m:t>n</m:t>
                                </m:r>
                              </m:e>
                              <m:lim>
                                <m:r>
                                  <m:rPr>
                                    <m:sty m:val="p"/>
                                  </m:rPr>
                                  <a:rPr lang="en-US" i="0" sz="1665">
                                    <a:latin typeface="Cambria Math"/>
                                  </a:rPr>
                                  <m:t>^</m:t>
                                </m:r>
                              </m:lim>
                            </m:limUpp>
                          </m:e>
                        </m:box>
                      </m:e>
                      <m:sup>
                        <m:box>
                          <m:e>
                            <m:box>
                              <m:e>
                                <m:r>
                                  <a:rPr lang="en-US" i="1" sz="1665">
                                    <a:latin typeface="Cambria Math"/>
                                  </a:rPr>
                                  <m:t/>
                                </m:r>
                              </m:e>
                            </m:box>
                            <m:r>
                              <m:rPr>
                                <m:sty m:val="p"/>
                              </m:rPr>
                              <a:rPr lang="en-US" i="0" sz="1665">
                                <a:latin typeface="Cambria Math"/>
                              </a:rPr>
                              <m:t>2</m:t>
                            </m:r>
                          </m:e>
                        </m:box>
                      </m:sup>
                    </m:sSup>
                    <m:r>
                      <m:rPr>
                        <m:sty m:val="p"/>
                      </m:rPr>
                      <a:rPr lang="en-US" i="0" sz="1665">
                        <a:latin typeface="Cambria Math"/>
                      </a:rPr>
                      <m:t>+</m:t>
                    </m:r>
                    <m:f>
                      <m:num>
                        <m:sSub>
                          <m:e>
                            <m:r>
                              <m:rPr>
                                <m:sty m:val="i"/>
                              </m:rPr>
                              <a:rPr lang="en-US" i="1" sz="1665">
                                <a:latin typeface="Cambria Math"/>
                              </a:rPr>
                              <m:t>E</m:t>
                            </m:r>
                          </m:e>
                          <m:sub>
                            <m:r>
                              <m:rPr>
                                <m:sty m:val="i"/>
                              </m:rPr>
                              <a:rPr lang="en-US" i="1" sz="1665">
                                <a:latin typeface="Cambria Math"/>
                              </a:rPr>
                              <m:t>J</m:t>
                            </m:r>
                          </m:sub>
                        </m:sSub>
                      </m:num>
                      <m:den>
                        <m:r>
                          <m:rPr>
                            <m:sty m:val="p"/>
                          </m:rPr>
                          <a:rPr lang="en-US" i="0" sz="1665">
                            <a:latin typeface="Cambria Math"/>
                          </a:rPr>
                          <m:t>2</m:t>
                        </m:r>
                      </m:den>
                    </m:f>
                    <m:sSup>
                      <m:e>
                        <m:box>
                          <m:e>
                            <m:limUpp>
                              <m:e>
                                <m:r>
                                  <m:rPr>
                                    <m:sty m:val="i"/>
                                  </m:rPr>
                                  <a:rPr lang="en-US" i="1" sz="1665">
                                    <a:latin typeface="Cambria Math"/>
                                  </a:rPr>
                                  <m:t>φ</m:t>
                                </m:r>
                              </m:e>
                              <m:lim>
                                <m:r>
                                  <m:rPr>
                                    <m:sty m:val="p"/>
                                  </m:rPr>
                                  <a:rPr lang="en-US" i="0" sz="1665">
                                    <a:latin typeface="Cambria Math"/>
                                  </a:rPr>
                                  <m:t>^</m:t>
                                </m:r>
                              </m:lim>
                            </m:limUpp>
                          </m:e>
                        </m:box>
                      </m:e>
                      <m:sup>
                        <m:box>
                          <m:e>
                            <m:box>
                              <m:e>
                                <m:r>
                                  <a:rPr lang="en-US" i="1" sz="1665">
                                    <a:latin typeface="Cambria Math"/>
                                  </a:rPr>
                                  <m:t/>
                                </m:r>
                              </m:e>
                            </m:box>
                            <m:r>
                              <m:rPr>
                                <m:sty m:val="p"/>
                              </m:rPr>
                              <a:rPr lang="en-US" i="0" sz="1665">
                                <a:latin typeface="Cambria Math"/>
                              </a:rPr>
                              <m:t>2</m:t>
                            </m:r>
                          </m:e>
                        </m:box>
                      </m:sup>
                    </m:sSup>
                    <m:r>
                      <m:rPr>
                        <m:sty m:val="p"/>
                      </m:rPr>
                      <a:rPr lang="en-US" i="0" sz="1665">
                        <a:latin typeface="Cambria Math"/>
                      </a:rPr>
                      <m:t>−</m:t>
                    </m:r>
                    <m:sSub>
                      <m:e>
                        <m:r>
                          <m:rPr>
                            <m:sty m:val="i"/>
                          </m:rPr>
                          <a:rPr lang="en-US" i="1" sz="1665">
                            <a:latin typeface="Cambria Math"/>
                          </a:rPr>
                          <m:t>E</m:t>
                        </m:r>
                      </m:e>
                      <m:sub>
                        <m:r>
                          <m:rPr>
                            <m:sty m:val="i"/>
                          </m:rPr>
                          <a:rPr lang="en-US" i="1" sz="1665">
                            <a:latin typeface="Cambria Math"/>
                          </a:rPr>
                          <m:t>J</m:t>
                        </m:r>
                      </m:sub>
                    </m:sSub>
                  </m:oMath>
                </a14:m>
              </mc:Choice>
              <mc:Fallback>
                <a:r>
                  <a:rPr lang="en-US" sz="1664" i="1"/>
                  <a:t>4E_C\hat{n}^{\,2} +
                                \frac{E_J}{2}\hat{\varphi}^{\,2} - E_J</a:t>
                </a:r>
              </mc:Fallback>
            </mc:AlternateContent>
          </a:p>
        </p:txBody>
      </p:sp>
      <p:sp>
        <p:nvSpPr>
          <p:cNvPr id="9" name="TextBox 8"/>
          <p:cNvSpPr txBox="1"/>
          <p:nvPr/>
        </p:nvSpPr>
        <p:spPr>
          <a:xfrm>
            <a:off x="5549635" y="1648222"/>
            <a:ext cx="377825" cy="270140"/>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ℏ</m:t>
                    </m:r>
                    <m:box>
                      <m:e>
                        <m:r>
                          <a:rPr lang="en-US" i="1" sz="1665">
                            <a:latin typeface="Cambria Math"/>
                          </a:rPr>
                          <m:t/>
                        </m:r>
                      </m:e>
                    </m:box>
                    <m:sSub>
                      <m:e>
                        <m:r>
                          <m:rPr>
                            <m:sty m:val="i"/>
                          </m:rPr>
                          <a:rPr lang="en-US" i="1" sz="1665">
                            <a:latin typeface="Cambria Math"/>
                          </a:rPr>
                          <m:t>ω</m:t>
                        </m:r>
                      </m:e>
                      <m:sub>
                        <m:r>
                          <m:rPr>
                            <m:sty m:val="i"/>
                          </m:rPr>
                          <a:rPr lang="en-US" i="1" sz="1665">
                            <a:latin typeface="Cambria Math"/>
                          </a:rPr>
                          <m:t>p</m:t>
                        </m:r>
                      </m:sub>
                    </m:sSub>
                  </m:oMath>
                </a14:m>
              </mc:Choice>
              <mc:Fallback>
                <a:r>
                  <a:rPr lang="en-US" sz="1664" i="1"/>
                  <a:t>\hbar\,\omega_p</a:t>
                </a:r>
              </mc:Fallback>
            </mc:AlternateContent>
          </a:p>
        </p:txBody>
      </p:sp>
      <p:sp>
        <p:nvSpPr>
          <p:cNvPr id="10" name="TextBox 9"/>
          <p:cNvSpPr txBox="1"/>
          <p:nvPr/>
        </p:nvSpPr>
        <p:spPr>
          <a:xfrm>
            <a:off x="6012127" y="1645576"/>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t>
                </a:r>
              </mc:Fallback>
            </mc:AlternateContent>
          </a:p>
        </p:txBody>
      </p:sp>
      <p:sp>
        <p:nvSpPr>
          <p:cNvPr id="11" name="TextBox 10"/>
          <p:cNvSpPr txBox="1"/>
          <p:nvPr/>
        </p:nvSpPr>
        <p:spPr>
          <a:xfrm>
            <a:off x="6264407" y="1648222"/>
            <a:ext cx="875903" cy="270140"/>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rad>
                      <m:radPr>
                        <m:degHide m:val="1"/>
                      </m:radPr>
                      <m:deg/>
                      <m:e>
                        <m:box>
                          <m:e>
                            <m:r>
                              <m:rPr>
                                <m:sty m:val="p"/>
                              </m:rPr>
                              <a:rPr lang="en-US" i="0" sz="1665">
                                <a:latin typeface="Cambria Math"/>
                              </a:rPr>
                              <m:t>8</m:t>
                            </m:r>
                            <m:box>
                              <m:e>
                                <m:r>
                                  <a:rPr lang="en-US" i="1" sz="1665">
                                    <a:latin typeface="Cambria Math"/>
                                  </a:rPr>
                                  <m:t/>
                                </m:r>
                              </m:e>
                            </m:box>
                            <m:sSub>
                              <m:e>
                                <m:r>
                                  <m:rPr>
                                    <m:sty m:val="i"/>
                                  </m:rPr>
                                  <a:rPr lang="en-US" i="1" sz="1665">
                                    <a:latin typeface="Cambria Math"/>
                                  </a:rPr>
                                  <m:t>E</m:t>
                                </m:r>
                              </m:e>
                              <m:sub>
                                <m:r>
                                  <m:rPr>
                                    <m:sty m:val="i"/>
                                  </m:rPr>
                                  <a:rPr lang="en-US" i="1" sz="1665">
                                    <a:latin typeface="Cambria Math"/>
                                  </a:rPr>
                                  <m:t>J</m:t>
                                </m:r>
                              </m:sub>
                            </m:sSub>
                            <m:sSub>
                              <m:e>
                                <m:r>
                                  <m:rPr>
                                    <m:sty m:val="i"/>
                                  </m:rPr>
                                  <a:rPr lang="en-US" i="1" sz="1665">
                                    <a:latin typeface="Cambria Math"/>
                                  </a:rPr>
                                  <m:t>E</m:t>
                                </m:r>
                              </m:e>
                              <m:sub>
                                <m:r>
                                  <m:rPr>
                                    <m:sty m:val="i"/>
                                  </m:rPr>
                                  <a:rPr lang="en-US" i="1" sz="1665">
                                    <a:latin typeface="Cambria Math"/>
                                  </a:rPr>
                                  <m:t>C</m:t>
                                </m:r>
                              </m:sub>
                            </m:sSub>
                          </m:e>
                        </m:box>
                      </m:e>
                    </m:rad>
                  </m:oMath>
                </a14:m>
              </mc:Choice>
              <mc:Fallback>
                <a:r>
                  <a:rPr lang="en-US" sz="1664" i="1"/>
                  <a:t>\sqrt{8\,E_J E_C}</a:t>
                </a:r>
              </mc:Fallback>
            </mc:AlternateContent>
          </a:p>
        </p:txBody>
      </p:sp>
      <p:sp>
        <p:nvSpPr>
          <p:cNvPr id="12" name="TextBox 11"/>
          <p:cNvSpPr txBox="1"/>
          <p:nvPr/>
        </p:nvSpPr>
        <p:spPr>
          <a:xfrm>
            <a:off x="575733" y="2005806"/>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With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ω</m:t>
                        </m:r>
                      </m:e>
                      <m:sub>
                        <m:r>
                          <m:rPr>
                            <m:sty m:val="i"/>
                          </m:rPr>
                          <a:rPr lang="en-US" i="1" sz="1665">
                            <a:latin typeface="Cambria Math"/>
                          </a:rPr>
                          <m:t>p</m:t>
                        </m:r>
                      </m:sub>
                    </m:sSub>
                  </m:oMath>
                </a14:m>
              </mc:Choice>
              <mc:Fallback>
                <a:r>
                  <a:rPr lang="en-US" sz="1664" i="1"/>
                  <a:t>\omega_p</a:t>
                </a:r>
              </mc:Fallback>
            </mc:AlternateContent>
            <a:r>
              <a:rPr sz="1400" b="0" i="0">
                <a:solidFill>
                  <a:srgbClr val="4F4C56"/>
                </a:solidFill>
                <a:latin typeface="Montserrat"/>
                <a:ea typeface="Montserrat"/>
                <a:cs typeface="Montserrat"/>
              </a:rPr>
              <a:t> set, the zero-point amplitudes follow from </a:t>
            </a:r>
            <mc:AlternateContent xmlns:mc="http://schemas.openxmlformats.org/markup-compatibility/2006">
              <mc:Choice xmlns:a14="http://schemas.microsoft.com/office/drawing/2010/main" Requires="a14">
                <a14:m>
                  <m:oMath xmlns:m="http://schemas.openxmlformats.org/officeDocument/2006/math">
                    <m:box>
                      <m:e>
                        <m:limUpp>
                          <m:e>
                            <m:r>
                              <m:rPr>
                                <m:sty m:val="i"/>
                              </m:rPr>
                              <a:rPr lang="en-US" i="1" sz="1665">
                                <a:latin typeface="Cambria Math"/>
                              </a:rPr>
                              <m:t>φ</m:t>
                            </m:r>
                          </m:e>
                          <m:lim>
                            <m:r>
                              <m:rPr>
                                <m:sty m:val="p"/>
                              </m:rPr>
                              <a:rPr lang="en-US" i="0" sz="1665">
                                <a:latin typeface="Cambria Math"/>
                              </a:rPr>
                              <m:t>^</m:t>
                            </m:r>
                          </m:lim>
                        </m:limUpp>
                      </m:e>
                    </m:box>
                    <m:r>
                      <m:rPr>
                        <m:sty m:val="p"/>
                      </m:rPr>
                      <a:rPr lang="en-US" i="0" sz="1665">
                        <a:latin typeface="Cambria Math"/>
                      </a:rPr>
                      <m:t>=</m:t>
                    </m:r>
                    <m:sSub>
                      <m:e>
                        <m:r>
                          <m:rPr>
                            <m:sty m:val="i"/>
                          </m:rPr>
                          <a:rPr lang="en-US" i="1" sz="1665">
                            <a:latin typeface="Cambria Math"/>
                          </a:rPr>
                          <m:t>φ</m:t>
                        </m:r>
                      </m:e>
                      <m:sub>
                        <m:box>
                          <m:e>
                            <m:r>
                              <m:rPr>
                                <m:sty m:val="p"/>
                              </m:rPr>
                              <a:rPr lang="en-US" i="0" sz="1665">
                                <a:latin typeface="Cambria Math"/>
                              </a:rPr>
                              <m:t>z</m:t>
                            </m:r>
                            <m:r>
                              <m:rPr>
                                <m:sty m:val="p"/>
                              </m:rPr>
                              <a:rPr lang="en-US" i="0" sz="1665">
                                <a:latin typeface="Cambria Math"/>
                              </a:rPr>
                              <m:t>p</m:t>
                            </m:r>
                            <m:r>
                              <m:rPr>
                                <m:sty m:val="p"/>
                              </m:rPr>
                              <a:rPr lang="en-US" i="0" sz="1665">
                                <a:latin typeface="Cambria Math"/>
                              </a:rPr>
                              <m:t>f</m:t>
                            </m:r>
                          </m:e>
                        </m:box>
                      </m:sub>
                    </m:sSub>
                    <m:r>
                      <m:rPr>
                        <m:sty m:val="p"/>
                      </m:rPr>
                      <a:rPr lang="en-US" i="0" sz="1665">
                        <a:latin typeface="Cambria Math"/>
                      </a:rPr>
                      <m:t>(</m:t>
                    </m:r>
                    <m:box>
                      <m:e>
                        <m:limUpp>
                          <m:e>
                            <m:r>
                              <m:rPr>
                                <m:sty m:val="i"/>
                              </m:rPr>
                              <a:rPr lang="en-US" i="1" sz="1665">
                                <a:latin typeface="Cambria Math"/>
                              </a:rPr>
                              <m:t>a</m:t>
                            </m:r>
                          </m:e>
                          <m:lim>
                            <m:r>
                              <m:rPr>
                                <m:sty m:val="p"/>
                              </m:rPr>
                              <a:rPr lang="en-US" i="0" sz="1665">
                                <a:latin typeface="Cambria Math"/>
                              </a:rPr>
                              <m:t>^</m:t>
                            </m:r>
                          </m:lim>
                        </m:limUpp>
                      </m:e>
                    </m:box>
                    <m:r>
                      <m:rPr>
                        <m:sty m:val="p"/>
                      </m:rPr>
                      <a:rPr lang="en-US" i="0" sz="1665">
                        <a:latin typeface="Cambria Math"/>
                      </a:rPr>
                      <m:t>+</m:t>
                    </m:r>
                    <m:sSup>
                      <m:e>
                        <m:box>
                          <m:e>
                            <m:limUpp>
                              <m:e>
                                <m:r>
                                  <m:rPr>
                                    <m:sty m:val="i"/>
                                  </m:rPr>
                                  <a:rPr lang="en-US" i="1" sz="1665">
                                    <a:latin typeface="Cambria Math"/>
                                  </a:rPr>
                                  <m:t>a</m:t>
                                </m:r>
                              </m:e>
                              <m:lim>
                                <m:r>
                                  <m:rPr>
                                    <m:sty m:val="p"/>
                                  </m:rPr>
                                  <a:rPr lang="en-US" i="0" sz="1665">
                                    <a:latin typeface="Cambria Math"/>
                                  </a:rPr>
                                  <m:t>^</m:t>
                                </m:r>
                              </m:lim>
                            </m:limUpp>
                          </m:e>
                        </m:box>
                      </m:e>
                      <m:sup>
                        <m:r>
                          <m:rPr>
                            <m:sty m:val="p"/>
                          </m:rPr>
                          <a:rPr lang="en-US" i="0" sz="1665">
                            <a:latin typeface="Cambria Math"/>
                          </a:rPr>
                          <m:t>†</m:t>
                        </m:r>
                      </m:sup>
                    </m:sSup>
                    <m:r>
                      <m:rPr>
                        <m:sty m:val="p"/>
                      </m:rPr>
                      <a:rPr lang="en-US" i="0" sz="1665">
                        <a:latin typeface="Cambria Math"/>
                      </a:rPr>
                      <m:t>)</m:t>
                    </m:r>
                  </m:oMath>
                </a14:m>
              </mc:Choice>
              <mc:Fallback>
                <a:r>
                  <a:rPr lang="en-US" sz="1664" i="1"/>
                  <a:t>\hat\varphi=\varphi_{\rm
                            zpf}(\hat a+\hat a^\dagger)</a:t>
                </a:r>
              </mc:Fallback>
            </mc:AlternateContent>
            <a:r>
              <a:rPr sz="1400" b="0" i="0">
                <a:solidFill>
                  <a:srgbClr val="4F4C56"/>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box>
                      <m:e>
                        <m:limUpp>
                          <m:e>
                            <m:r>
                              <m:rPr>
                                <m:sty m:val="i"/>
                              </m:rPr>
                              <a:rPr lang="en-US" i="1" sz="1665">
                                <a:latin typeface="Cambria Math"/>
                              </a:rPr>
                              <m:t>n</m:t>
                            </m:r>
                          </m:e>
                          <m:lim>
                            <m:r>
                              <m:rPr>
                                <m:sty m:val="p"/>
                              </m:rPr>
                              <a:rPr lang="en-US" i="0" sz="1665">
                                <a:latin typeface="Cambria Math"/>
                              </a:rPr>
                              <m:t>^</m:t>
                            </m:r>
                          </m:lim>
                        </m:limUpp>
                      </m:e>
                    </m:box>
                    <m:r>
                      <m:rPr>
                        <m:sty m:val="p"/>
                      </m:rPr>
                      <a:rPr lang="en-US" i="0" sz="1665">
                        <a:latin typeface="Cambria Math"/>
                      </a:rPr>
                      <m:t>=</m:t>
                    </m:r>
                    <m:r>
                      <m:rPr>
                        <m:sty m:val="i"/>
                      </m:rPr>
                      <a:rPr lang="en-US" i="1" sz="1665">
                        <a:latin typeface="Cambria Math"/>
                      </a:rPr>
                      <m:t>i</m:t>
                    </m:r>
                    <m:box>
                      <m:e>
                        <m:r>
                          <a:rPr lang="en-US" i="1" sz="1665">
                            <a:latin typeface="Cambria Math"/>
                          </a:rPr>
                          <m:t/>
                        </m:r>
                      </m:e>
                    </m:box>
                    <m:sSub>
                      <m:e>
                        <m:r>
                          <m:rPr>
                            <m:sty m:val="i"/>
                          </m:rPr>
                          <a:rPr lang="en-US" i="1" sz="1665">
                            <a:latin typeface="Cambria Math"/>
                          </a:rPr>
                          <m:t>n</m:t>
                        </m:r>
                      </m:e>
                      <m:sub>
                        <m:box>
                          <m:e>
                            <m:r>
                              <m:rPr>
                                <m:sty m:val="p"/>
                              </m:rPr>
                              <a:rPr lang="en-US" i="0" sz="1665">
                                <a:latin typeface="Cambria Math"/>
                              </a:rPr>
                              <m:t>z</m:t>
                            </m:r>
                            <m:r>
                              <m:rPr>
                                <m:sty m:val="p"/>
                              </m:rPr>
                              <a:rPr lang="en-US" i="0" sz="1665">
                                <a:latin typeface="Cambria Math"/>
                              </a:rPr>
                              <m:t>p</m:t>
                            </m:r>
                            <m:r>
                              <m:rPr>
                                <m:sty m:val="p"/>
                              </m:rPr>
                              <a:rPr lang="en-US" i="0" sz="1665">
                                <a:latin typeface="Cambria Math"/>
                              </a:rPr>
                              <m:t>f</m:t>
                            </m:r>
                          </m:e>
                        </m:box>
                      </m:sub>
                    </m:sSub>
                    <m:r>
                      <m:rPr>
                        <m:sty m:val="p"/>
                      </m:rPr>
                      <a:rPr lang="en-US" i="0" sz="1665">
                        <a:latin typeface="Cambria Math"/>
                      </a:rPr>
                      <m:t>(</m:t>
                    </m:r>
                    <m:sSup>
                      <m:e>
                        <m:box>
                          <m:e>
                            <m:limUpp>
                              <m:e>
                                <m:r>
                                  <m:rPr>
                                    <m:sty m:val="i"/>
                                  </m:rPr>
                                  <a:rPr lang="en-US" i="1" sz="1665">
                                    <a:latin typeface="Cambria Math"/>
                                  </a:rPr>
                                  <m:t>a</m:t>
                                </m:r>
                              </m:e>
                              <m:lim>
                                <m:r>
                                  <m:rPr>
                                    <m:sty m:val="p"/>
                                  </m:rPr>
                                  <a:rPr lang="en-US" i="0" sz="1665">
                                    <a:latin typeface="Cambria Math"/>
                                  </a:rPr>
                                  <m:t>^</m:t>
                                </m:r>
                              </m:lim>
                            </m:limUpp>
                          </m:e>
                        </m:box>
                      </m:e>
                      <m:sup>
                        <m:r>
                          <m:rPr>
                            <m:sty m:val="p"/>
                          </m:rPr>
                          <a:rPr lang="en-US" i="0" sz="1665">
                            <a:latin typeface="Cambria Math"/>
                          </a:rPr>
                          <m:t>†</m:t>
                        </m:r>
                      </m:sup>
                    </m:sSup>
                    <m:r>
                      <m:rPr>
                        <m:sty m:val="p"/>
                      </m:rPr>
                      <a:rPr lang="en-US" i="0" sz="1665">
                        <a:latin typeface="Cambria Math"/>
                      </a:rPr>
                      <m:t>−</m:t>
                    </m:r>
                    <m:box>
                      <m:e>
                        <m:limUpp>
                          <m:e>
                            <m:r>
                              <m:rPr>
                                <m:sty m:val="i"/>
                              </m:rPr>
                              <a:rPr lang="en-US" i="1" sz="1665">
                                <a:latin typeface="Cambria Math"/>
                              </a:rPr>
                              <m:t>a</m:t>
                            </m:r>
                          </m:e>
                          <m:lim>
                            <m:r>
                              <m:rPr>
                                <m:sty m:val="p"/>
                              </m:rPr>
                              <a:rPr lang="en-US" i="0" sz="1665">
                                <a:latin typeface="Cambria Math"/>
                              </a:rPr>
                              <m:t>^</m:t>
                            </m:r>
                          </m:lim>
                        </m:limUpp>
                      </m:e>
                    </m:box>
                    <m:r>
                      <m:rPr>
                        <m:sty m:val="p"/>
                      </m:rPr>
                      <a:rPr lang="en-US" i="0" sz="1665">
                        <a:latin typeface="Cambria Math"/>
                      </a:rPr>
                      <m:t>)</m:t>
                    </m:r>
                  </m:oMath>
                </a14:m>
              </mc:Choice>
              <mc:Fallback>
                <a:r>
                  <a:rPr lang="en-US" sz="1664" i="1"/>
                  <a:t>\hat n=i\,n_{\rm zpf}(\hat a^\dagger-\hat a)</a:t>
                </a:r>
              </mc:Fallback>
            </mc:AlternateContent>
            <a:r>
              <a:rPr sz="1400" b="0" i="0">
                <a:solidFill>
                  <a:srgbClr val="4F4C56"/>
                </a:solidFill>
                <a:latin typeface="Montserrat"/>
                <a:ea typeface="Montserrat"/>
                <a:cs typeface="Montserrat"/>
              </a:rPr>
              <a:t>:</a:t>
            </a:r>
          </a:p>
        </p:txBody>
      </p:sp>
      <p:sp>
        <p:nvSpPr>
          <p:cNvPr id="13" name="TextBox 12"/>
          <p:cNvSpPr txBox="1"/>
          <p:nvPr/>
        </p:nvSpPr>
        <p:spPr>
          <a:xfrm>
            <a:off x="5566966" y="2502032"/>
            <a:ext cx="360495" cy="270140"/>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φ</m:t>
                        </m:r>
                      </m:e>
                      <m:sub>
                        <m:box>
                          <m:e>
                            <m:r>
                              <m:rPr>
                                <m:sty m:val="p"/>
                              </m:rPr>
                              <a:rPr lang="en-US" i="0" sz="1665">
                                <a:latin typeface="Cambria Math"/>
                              </a:rPr>
                              <m:t>z</m:t>
                            </m:r>
                            <m:r>
                              <m:rPr>
                                <m:sty m:val="p"/>
                              </m:rPr>
                              <a:rPr lang="en-US" i="0" sz="1665">
                                <a:latin typeface="Cambria Math"/>
                              </a:rPr>
                              <m:t>p</m:t>
                            </m:r>
                            <m:r>
                              <m:rPr>
                                <m:sty m:val="p"/>
                              </m:rPr>
                              <a:rPr lang="en-US" i="0" sz="1665">
                                <a:latin typeface="Cambria Math"/>
                              </a:rPr>
                              <m:t>f</m:t>
                            </m:r>
                          </m:e>
                        </m:box>
                      </m:sub>
                    </m:sSub>
                  </m:oMath>
                </a14:m>
              </mc:Choice>
              <mc:Fallback>
                <a:r>
                  <a:rPr lang="en-US" sz="1664" i="1"/>
                  <a:t>\varphi_{\rm zpf}</a:t>
                </a:r>
              </mc:Fallback>
            </mc:AlternateContent>
          </a:p>
        </p:txBody>
      </p:sp>
      <p:sp>
        <p:nvSpPr>
          <p:cNvPr id="14" name="TextBox 13"/>
          <p:cNvSpPr txBox="1"/>
          <p:nvPr/>
        </p:nvSpPr>
        <p:spPr>
          <a:xfrm>
            <a:off x="6012127" y="2499386"/>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t>
                </a:r>
              </mc:Fallback>
            </mc:AlternateContent>
          </a:p>
        </p:txBody>
      </p:sp>
      <p:sp>
        <p:nvSpPr>
          <p:cNvPr id="15" name="TextBox 14"/>
          <p:cNvSpPr txBox="1"/>
          <p:nvPr/>
        </p:nvSpPr>
        <p:spPr>
          <a:xfrm>
            <a:off x="6264407" y="2411412"/>
            <a:ext cx="863997" cy="451511"/>
          </a:xfrm>
          <a:prstGeom prst="rect">
            <a:avLst/>
          </a:prstGeom>
          <a:noFill/>
        </p:spPr>
        <p:txBody>
          <a:bodyPr wrap="squar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sSup>
                      <m:e>
                        <m:box>
                          <m:e>
                            <m:d>
                              <m:dPr>
                                <m:begChr m:val="("/>
                                <m:endChr m:val=")"/>
                              </m:dPr>
                              <m:e>
                                <m:box>
                                  <m:e>
                                    <m:f>
                                      <m:num>
                                        <m:box>
                                          <m:e>
                                            <m:r>
                                              <m:rPr>
                                                <m:sty m:val="p"/>
                                              </m:rPr>
                                              <a:rPr lang="en-US" i="0" sz="1665">
                                                <a:latin typeface="Cambria Math"/>
                                              </a:rPr>
                                              <m:t>2</m:t>
                                            </m:r>
                                            <m:sSub>
                                              <m:e>
                                                <m:r>
                                                  <m:rPr>
                                                    <m:sty m:val="i"/>
                                                  </m:rPr>
                                                  <a:rPr lang="en-US" i="1" sz="1665">
                                                    <a:latin typeface="Cambria Math"/>
                                                  </a:rPr>
                                                  <m:t>E</m:t>
                                                </m:r>
                                              </m:e>
                                              <m:sub>
                                                <m:r>
                                                  <m:rPr>
                                                    <m:sty m:val="i"/>
                                                  </m:rPr>
                                                  <a:rPr lang="en-US" i="1" sz="1665">
                                                    <a:latin typeface="Cambria Math"/>
                                                  </a:rPr>
                                                  <m:t>C</m:t>
                                                </m:r>
                                              </m:sub>
                                            </m:sSub>
                                          </m:e>
                                        </m:box>
                                      </m:num>
                                      <m:den>
                                        <m:sSub>
                                          <m:e>
                                            <m:r>
                                              <m:rPr>
                                                <m:sty m:val="i"/>
                                              </m:rPr>
                                              <a:rPr lang="en-US" i="1" sz="1665">
                                                <a:latin typeface="Cambria Math"/>
                                              </a:rPr>
                                              <m:t>E</m:t>
                                            </m:r>
                                          </m:e>
                                          <m:sub>
                                            <m:r>
                                              <m:rPr>
                                                <m:sty m:val="i"/>
                                              </m:rPr>
                                              <a:rPr lang="en-US" i="1" sz="1665">
                                                <a:latin typeface="Cambria Math"/>
                                              </a:rPr>
                                              <m:t>J</m:t>
                                            </m:r>
                                          </m:sub>
                                        </m:sSub>
                                      </m:den>
                                    </m:f>
                                  </m:e>
                                </m:box>
                              </m:e>
                            </m:d>
                          </m:e>
                        </m:box>
                      </m:e>
                      <m:sup>
                        <m:box>
                          <m:e>
                            <m:r>
                              <m:rPr>
                                <m:sty m:val="p"/>
                              </m:rPr>
                              <a:rPr lang="en-US" i="0" sz="1665">
                                <a:latin typeface="Cambria Math"/>
                              </a:rPr>
                              <m:t>1</m:t>
                            </m:r>
                            <m:box>
                              <m:e>
                                <m:r>
                                  <m:rPr>
                                    <m:sty m:val="p"/>
                                  </m:rPr>
                                  <a:rPr lang="en-US" i="0" sz="1665">
                                    <a:latin typeface="Cambria Math"/>
                                  </a:rPr>
                                  <m:t>/</m:t>
                                </m:r>
                              </m:e>
                            </m:box>
                            <m:r>
                              <m:rPr>
                                <m:sty m:val="p"/>
                              </m:rPr>
                              <a:rPr lang="en-US" i="0" sz="1665">
                                <a:latin typeface="Cambria Math"/>
                              </a:rPr>
                              <m:t>4</m:t>
                            </m:r>
                          </m:e>
                        </m:box>
                      </m:sup>
                    </m:sSup>
                  </m:oMath>
                </a14:m>
              </mc:Choice>
              <mc:Fallback>
                <a:r>
                  <a:rPr lang="en-US" sz="1664" i="1"/>
                  <a:t>\left(\frac{2E_C}{E_J}\right)^{1/4}</a:t>
                </a:r>
              </mc:Fallback>
            </mc:AlternateContent>
          </a:p>
        </p:txBody>
      </p:sp>
      <p:sp>
        <p:nvSpPr>
          <p:cNvPr id="16" name="TextBox 15"/>
          <p:cNvSpPr txBox="1"/>
          <p:nvPr/>
        </p:nvSpPr>
        <p:spPr>
          <a:xfrm>
            <a:off x="5578475" y="3038210"/>
            <a:ext cx="348985" cy="270140"/>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n</m:t>
                        </m:r>
                      </m:e>
                      <m:sub>
                        <m:box>
                          <m:e>
                            <m:r>
                              <m:rPr>
                                <m:sty m:val="p"/>
                              </m:rPr>
                              <a:rPr lang="en-US" i="0" sz="1665">
                                <a:latin typeface="Cambria Math"/>
                              </a:rPr>
                              <m:t>z</m:t>
                            </m:r>
                            <m:r>
                              <m:rPr>
                                <m:sty m:val="p"/>
                              </m:rPr>
                              <a:rPr lang="en-US" i="0" sz="1665">
                                <a:latin typeface="Cambria Math"/>
                              </a:rPr>
                              <m:t>p</m:t>
                            </m:r>
                            <m:r>
                              <m:rPr>
                                <m:sty m:val="p"/>
                              </m:rPr>
                              <a:rPr lang="en-US" i="0" sz="1665">
                                <a:latin typeface="Cambria Math"/>
                              </a:rPr>
                              <m:t>f</m:t>
                            </m:r>
                          </m:e>
                        </m:box>
                      </m:sub>
                    </m:sSub>
                  </m:oMath>
                </a14:m>
              </mc:Choice>
              <mc:Fallback>
                <a:r>
                  <a:rPr lang="en-US" sz="1664" i="1"/>
                  <a:t>n_{\rm zpf}</a:t>
                </a:r>
              </mc:Fallback>
            </mc:AlternateContent>
          </a:p>
        </p:txBody>
      </p:sp>
      <p:sp>
        <p:nvSpPr>
          <p:cNvPr id="17" name="TextBox 16"/>
          <p:cNvSpPr txBox="1"/>
          <p:nvPr/>
        </p:nvSpPr>
        <p:spPr>
          <a:xfrm>
            <a:off x="6012127" y="3035565"/>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t>
                </a:r>
              </mc:Fallback>
            </mc:AlternateContent>
          </a:p>
        </p:txBody>
      </p:sp>
      <p:sp>
        <p:nvSpPr>
          <p:cNvPr id="18" name="TextBox 17"/>
          <p:cNvSpPr txBox="1"/>
          <p:nvPr/>
        </p:nvSpPr>
        <p:spPr>
          <a:xfrm>
            <a:off x="6264407" y="2947591"/>
            <a:ext cx="960305" cy="451511"/>
          </a:xfrm>
          <a:prstGeom prst="rect">
            <a:avLst/>
          </a:prstGeom>
          <a:noFill/>
        </p:spPr>
        <p:txBody>
          <a:bodyPr wrap="squar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sSup>
                      <m:e>
                        <m:box>
                          <m:e>
                            <m:d>
                              <m:dPr>
                                <m:begChr m:val="("/>
                                <m:endChr m:val=")"/>
                              </m:dPr>
                              <m:e>
                                <m:box>
                                  <m:e>
                                    <m:f>
                                      <m:num>
                                        <m:sSub>
                                          <m:e>
                                            <m:r>
                                              <m:rPr>
                                                <m:sty m:val="i"/>
                                              </m:rPr>
                                              <a:rPr lang="en-US" i="1" sz="1665">
                                                <a:latin typeface="Cambria Math"/>
                                              </a:rPr>
                                              <m:t>E</m:t>
                                            </m:r>
                                          </m:e>
                                          <m:sub>
                                            <m:r>
                                              <m:rPr>
                                                <m:sty m:val="i"/>
                                              </m:rPr>
                                              <a:rPr lang="en-US" i="1" sz="1665">
                                                <a:latin typeface="Cambria Math"/>
                                              </a:rPr>
                                              <m:t>C</m:t>
                                            </m:r>
                                          </m:sub>
                                        </m:sSub>
                                      </m:num>
                                      <m:den>
                                        <m:box>
                                          <m:e>
                                            <m:r>
                                              <m:rPr>
                                                <m:sty m:val="p"/>
                                              </m:rPr>
                                              <a:rPr lang="en-US" i="0" sz="1665">
                                                <a:latin typeface="Cambria Math"/>
                                              </a:rPr>
                                              <m:t>32</m:t>
                                            </m:r>
                                            <m:box>
                                              <m:e>
                                                <m:r>
                                                  <a:rPr lang="en-US" i="1" sz="1665">
                                                    <a:latin typeface="Cambria Math"/>
                                                  </a:rPr>
                                                  <m:t/>
                                                </m:r>
                                              </m:e>
                                            </m:box>
                                            <m:sSub>
                                              <m:e>
                                                <m:r>
                                                  <m:rPr>
                                                    <m:sty m:val="i"/>
                                                  </m:rPr>
                                                  <a:rPr lang="en-US" i="1" sz="1665">
                                                    <a:latin typeface="Cambria Math"/>
                                                  </a:rPr>
                                                  <m:t>E</m:t>
                                                </m:r>
                                              </m:e>
                                              <m:sub>
                                                <m:r>
                                                  <m:rPr>
                                                    <m:sty m:val="i"/>
                                                  </m:rPr>
                                                  <a:rPr lang="en-US" i="1" sz="1665">
                                                    <a:latin typeface="Cambria Math"/>
                                                  </a:rPr>
                                                  <m:t>J</m:t>
                                                </m:r>
                                              </m:sub>
                                            </m:sSub>
                                          </m:e>
                                        </m:box>
                                      </m:den>
                                    </m:f>
                                  </m:e>
                                </m:box>
                              </m:e>
                            </m:d>
                          </m:e>
                        </m:box>
                      </m:e>
                      <m:sup>
                        <m:box>
                          <m:e>
                            <m:r>
                              <m:rPr>
                                <m:sty m:val="p"/>
                              </m:rPr>
                              <a:rPr lang="en-US" i="0" sz="1665">
                                <a:latin typeface="Cambria Math"/>
                              </a:rPr>
                              <m:t>1</m:t>
                            </m:r>
                            <m:box>
                              <m:e>
                                <m:r>
                                  <m:rPr>
                                    <m:sty m:val="p"/>
                                  </m:rPr>
                                  <a:rPr lang="en-US" i="0" sz="1665">
                                    <a:latin typeface="Cambria Math"/>
                                  </a:rPr>
                                  <m:t>/</m:t>
                                </m:r>
                              </m:e>
                            </m:box>
                            <m:r>
                              <m:rPr>
                                <m:sty m:val="p"/>
                              </m:rPr>
                              <a:rPr lang="en-US" i="0" sz="1665">
                                <a:latin typeface="Cambria Math"/>
                              </a:rPr>
                              <m:t>4</m:t>
                            </m:r>
                          </m:e>
                        </m:box>
                      </m:sup>
                    </m:sSup>
                  </m:oMath>
                </a14:m>
              </mc:Choice>
              <mc:Fallback>
                <a:r>
                  <a:rPr lang="en-US" sz="1664" i="1"/>
                  <a:t>\left(\frac{E_C}{32\,E_J}\right)^{1/4}</a:t>
                </a:r>
              </mc:Fallback>
            </mc:AlternateContent>
          </a:p>
        </p:txBody>
      </p:sp>
      <p:sp>
        <p:nvSpPr>
          <p:cNvPr id="19" name="TextBox 18"/>
          <p:cNvSpPr txBox="1"/>
          <p:nvPr/>
        </p:nvSpPr>
        <p:spPr>
          <a:xfrm>
            <a:off x="5182791" y="3490648"/>
            <a:ext cx="744670" cy="270140"/>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φ</m:t>
                        </m:r>
                      </m:e>
                      <m:sub>
                        <m:box>
                          <m:e>
                            <m:r>
                              <m:rPr>
                                <m:sty m:val="p"/>
                              </m:rPr>
                              <a:rPr lang="en-US" i="0" sz="1665">
                                <a:latin typeface="Cambria Math"/>
                              </a:rPr>
                              <m:t>z</m:t>
                            </m:r>
                            <m:r>
                              <m:rPr>
                                <m:sty m:val="p"/>
                              </m:rPr>
                              <a:rPr lang="en-US" i="0" sz="1665">
                                <a:latin typeface="Cambria Math"/>
                              </a:rPr>
                              <m:t>p</m:t>
                            </m:r>
                            <m:r>
                              <m:rPr>
                                <m:sty m:val="p"/>
                              </m:rPr>
                              <a:rPr lang="en-US" i="0" sz="1665">
                                <a:latin typeface="Cambria Math"/>
                              </a:rPr>
                              <m:t>f</m:t>
                            </m:r>
                          </m:e>
                        </m:box>
                      </m:sub>
                    </m:sSub>
                    <m:box>
                      <m:e>
                        <m:r>
                          <a:rPr lang="en-US" i="1" sz="1665">
                            <a:latin typeface="Cambria Math"/>
                          </a:rPr>
                          <m:t/>
                        </m:r>
                      </m:e>
                    </m:box>
                    <m:sSub>
                      <m:e>
                        <m:r>
                          <m:rPr>
                            <m:sty m:val="i"/>
                          </m:rPr>
                          <a:rPr lang="en-US" i="1" sz="1665">
                            <a:latin typeface="Cambria Math"/>
                          </a:rPr>
                          <m:t>n</m:t>
                        </m:r>
                      </m:e>
                      <m:sub>
                        <m:box>
                          <m:e>
                            <m:r>
                              <m:rPr>
                                <m:sty m:val="p"/>
                              </m:rPr>
                              <a:rPr lang="en-US" i="0" sz="1665">
                                <a:latin typeface="Cambria Math"/>
                              </a:rPr>
                              <m:t>z</m:t>
                            </m:r>
                            <m:r>
                              <m:rPr>
                                <m:sty m:val="p"/>
                              </m:rPr>
                              <a:rPr lang="en-US" i="0" sz="1665">
                                <a:latin typeface="Cambria Math"/>
                              </a:rPr>
                              <m:t>p</m:t>
                            </m:r>
                            <m:r>
                              <m:rPr>
                                <m:sty m:val="p"/>
                              </m:rPr>
                              <a:rPr lang="en-US" i="0" sz="1665">
                                <a:latin typeface="Cambria Math"/>
                              </a:rPr>
                              <m:t>f</m:t>
                            </m:r>
                          </m:e>
                        </m:box>
                      </m:sub>
                    </m:sSub>
                  </m:oMath>
                </a14:m>
              </mc:Choice>
              <mc:Fallback>
                <a:r>
                  <a:rPr lang="en-US" sz="1664" i="1"/>
                  <a:t>\varphi_{\rm zpf}\,n_{\rm zpf}</a:t>
                </a:r>
              </mc:Fallback>
            </mc:AlternateContent>
          </a:p>
        </p:txBody>
      </p:sp>
      <p:sp>
        <p:nvSpPr>
          <p:cNvPr id="20" name="TextBox 19"/>
          <p:cNvSpPr txBox="1"/>
          <p:nvPr/>
        </p:nvSpPr>
        <p:spPr>
          <a:xfrm>
            <a:off x="6012127" y="3488002"/>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t>
                </a:r>
              </mc:Fallback>
            </mc:AlternateContent>
          </a:p>
        </p:txBody>
      </p:sp>
      <p:sp>
        <p:nvSpPr>
          <p:cNvPr id="21" name="TextBox 20"/>
          <p:cNvSpPr txBox="1"/>
          <p:nvPr/>
        </p:nvSpPr>
        <p:spPr>
          <a:xfrm>
            <a:off x="6264407" y="3483769"/>
            <a:ext cx="167481" cy="284030"/>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box>
                      <m:e>
                        <m:f>
                          <m:num>
                            <m:r>
                              <m:rPr>
                                <m:sty m:val="p"/>
                              </m:rPr>
                              <a:rPr lang="en-US" i="0" sz="1665">
                                <a:latin typeface="Cambria Math"/>
                              </a:rPr>
                              <m:t>1</m:t>
                            </m:r>
                          </m:num>
                          <m:den>
                            <m:r>
                              <m:rPr>
                                <m:sty m:val="p"/>
                              </m:rPr>
                              <a:rPr lang="en-US" i="0" sz="1665">
                                <a:latin typeface="Cambria Math"/>
                              </a:rPr>
                              <m:t>2</m:t>
                            </m:r>
                          </m:den>
                        </m:f>
                      </m:e>
                    </m:box>
                  </m:oMath>
                </a14:m>
              </mc:Choice>
              <mc:Fallback>
                <a:r>
                  <a:rPr lang="en-US" sz="1664" i="1"/>
                  <a:t>\tfrac{1}{2}</a:t>
                </a:r>
              </mc:Fallback>
            </mc:AlternateContent>
          </a:p>
        </p:txBody>
      </p:sp>
      <p:sp>
        <p:nvSpPr>
          <p:cNvPr id="22" name="Rectangle 21"/>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24" name="TextBox 23"/>
          <p:cNvSpPr txBox="1"/>
          <p:nvPr/>
        </p:nvSpPr>
        <p:spPr>
          <a:xfrm>
            <a:off x="11232489" y="6565900"/>
            <a:ext cx="468445"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74 / 100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Now treat the quartic term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sSub>
                      <m:e>
                        <m:r>
                          <m:rPr>
                            <m:sty m:val="i"/>
                          </m:rPr>
                          <a:rPr lang="en-US" i="1" sz="1665">
                            <a:latin typeface="Cambria Math"/>
                          </a:rPr>
                          <m:t>E</m:t>
                        </m:r>
                      </m:e>
                      <m:sub>
                        <m:r>
                          <m:rPr>
                            <m:sty m:val="i"/>
                          </m:rPr>
                          <a:rPr lang="en-US" i="1" sz="1665">
                            <a:latin typeface="Cambria Math"/>
                          </a:rPr>
                          <m:t>J</m:t>
                        </m:r>
                      </m:sub>
                    </m:sSub>
                    <m:sSup>
                      <m:e>
                        <m:box>
                          <m:e>
                            <m:limUpp>
                              <m:e>
                                <m:r>
                                  <m:rPr>
                                    <m:sty m:val="i"/>
                                  </m:rPr>
                                  <a:rPr lang="en-US" i="1" sz="1665">
                                    <a:latin typeface="Cambria Math"/>
                                  </a:rPr>
                                  <m:t>φ</m:t>
                                </m:r>
                              </m:e>
                              <m:lim>
                                <m:r>
                                  <m:rPr>
                                    <m:sty m:val="p"/>
                                  </m:rPr>
                                  <a:rPr lang="en-US" i="0" sz="1665">
                                    <a:latin typeface="Cambria Math"/>
                                  </a:rPr>
                                  <m:t>^</m:t>
                                </m:r>
                              </m:lim>
                            </m:limUpp>
                          </m:e>
                        </m:box>
                      </m:e>
                      <m:sup>
                        <m:r>
                          <m:rPr>
                            <m:sty m:val="p"/>
                          </m:rPr>
                          <a:rPr lang="en-US" i="0" sz="1665">
                            <a:latin typeface="Cambria Math"/>
                          </a:rPr>
                          <m:t>4</m:t>
                        </m:r>
                      </m:sup>
                    </m:sSup>
                    <m:box>
                      <m:e>
                        <m:r>
                          <m:rPr>
                            <m:sty m:val="p"/>
                          </m:rPr>
                          <a:rPr lang="en-US" i="0" sz="1665">
                            <a:latin typeface="Cambria Math"/>
                          </a:rPr>
                          <m:t>/</m:t>
                        </m:r>
                      </m:e>
                    </m:box>
                    <m:r>
                      <m:rPr>
                        <m:sty m:val="p"/>
                      </m:rPr>
                      <a:rPr lang="en-US" i="0" sz="1665">
                        <a:latin typeface="Cambria Math"/>
                      </a:rPr>
                      <m:t>24</m:t>
                    </m:r>
                  </m:oMath>
                </a14:m>
              </mc:Choice>
              <mc:Fallback>
                <a:r>
                  <a:rPr lang="en-US" sz="1664" i="1"/>
                  <a:t>-E_J\hat\varphi^4/24</a:t>
                </a:r>
              </mc:Fallback>
            </mc:AlternateContent>
            <a:r>
              <a:rPr sz="1400" b="0" i="0">
                <a:solidFill>
                  <a:srgbClr val="4F4C56"/>
                </a:solidFill>
                <a:latin typeface="Montserrat"/>
                <a:ea typeface="Montserrat"/>
                <a:cs typeface="Montserrat"/>
              </a:rPr>
              <a:t> as a first-order perturbation. The key matrix element:</a:t>
            </a:r>
          </a:p>
        </p:txBody>
      </p:sp>
      <p:sp>
        <p:nvSpPr>
          <p:cNvPr id="6" name="TextBox 5"/>
          <p:cNvSpPr txBox="1"/>
          <p:nvPr/>
        </p:nvSpPr>
        <p:spPr>
          <a:xfrm>
            <a:off x="4452938" y="1270000"/>
            <a:ext cx="1474523" cy="273844"/>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r>
                      <m:rPr>
                        <m:sty m:val="i"/>
                      </m:rPr>
                      <a:rPr lang="en-US" i="1" sz="1665">
                        <a:latin typeface="Cambria Math"/>
                      </a:rPr>
                      <m:t>m</m:t>
                    </m:r>
                    <m:r>
                      <m:rPr>
                        <m:sty m:val="p"/>
                      </m:rPr>
                      <a:rPr lang="en-US" i="0" sz="1665">
                        <a:latin typeface="Cambria Math"/>
                      </a:rPr>
                      <m:t>|</m:t>
                    </m:r>
                    <m:r>
                      <m:rPr>
                        <m:sty m:val="p"/>
                      </m:rPr>
                      <a:rPr lang="en-US" i="0" sz="1665">
                        <a:latin typeface="Cambria Math"/>
                      </a:rPr>
                      <m:t>(</m:t>
                    </m:r>
                    <m:box>
                      <m:e>
                        <m:limUpp>
                          <m:e>
                            <m:r>
                              <m:rPr>
                                <m:sty m:val="i"/>
                              </m:rPr>
                              <a:rPr lang="en-US" i="1" sz="1665">
                                <a:latin typeface="Cambria Math"/>
                              </a:rPr>
                              <m:t>a</m:t>
                            </m:r>
                          </m:e>
                          <m:lim>
                            <m:r>
                              <m:rPr>
                                <m:sty m:val="p"/>
                              </m:rPr>
                              <a:rPr lang="en-US" i="0" sz="1665">
                                <a:latin typeface="Cambria Math"/>
                              </a:rPr>
                              <m:t>^</m:t>
                            </m:r>
                          </m:lim>
                        </m:limUpp>
                      </m:e>
                    </m:box>
                    <m:r>
                      <m:rPr>
                        <m:sty m:val="p"/>
                      </m:rPr>
                      <a:rPr lang="en-US" i="0" sz="1665">
                        <a:latin typeface="Cambria Math"/>
                      </a:rPr>
                      <m:t>+</m:t>
                    </m:r>
                    <m:sSup>
                      <m:e>
                        <m:box>
                          <m:e>
                            <m:limUpp>
                              <m:e>
                                <m:r>
                                  <m:rPr>
                                    <m:sty m:val="i"/>
                                  </m:rPr>
                                  <a:rPr lang="en-US" i="1" sz="1665">
                                    <a:latin typeface="Cambria Math"/>
                                  </a:rPr>
                                  <m:t>a</m:t>
                                </m:r>
                              </m:e>
                              <m:lim>
                                <m:r>
                                  <m:rPr>
                                    <m:sty m:val="p"/>
                                  </m:rPr>
                                  <a:rPr lang="en-US" i="0" sz="1665">
                                    <a:latin typeface="Cambria Math"/>
                                  </a:rPr>
                                  <m:t>^</m:t>
                                </m:r>
                              </m:lim>
                            </m:limUpp>
                          </m:e>
                        </m:box>
                      </m:e>
                      <m:sup>
                        <m:r>
                          <m:rPr>
                            <m:sty m:val="p"/>
                          </m:rPr>
                          <a:rPr lang="en-US" i="0" sz="1665">
                            <a:latin typeface="Cambria Math"/>
                          </a:rPr>
                          <m:t>†</m:t>
                        </m:r>
                      </m:sup>
                    </m:sSup>
                    <m:sSup>
                      <m:e>
                        <m:r>
                          <m:rPr>
                            <m:sty m:val="p"/>
                          </m:rPr>
                          <a:rPr lang="en-US" i="0" sz="1665">
                            <a:latin typeface="Cambria Math"/>
                          </a:rPr>
                          <m:t>)</m:t>
                        </m:r>
                      </m:e>
                      <m:sup>
                        <m:r>
                          <m:rPr>
                            <m:sty m:val="p"/>
                          </m:rPr>
                          <a:rPr lang="en-US" i="0" sz="1665">
                            <a:latin typeface="Cambria Math"/>
                          </a:rPr>
                          <m:t>4</m:t>
                        </m:r>
                      </m:sup>
                    </m:sSup>
                    <m:r>
                      <m:rPr>
                        <m:sty m:val="p"/>
                      </m:rPr>
                      <a:rPr lang="en-US" i="0" sz="1665">
                        <a:latin typeface="Cambria Math"/>
                      </a:rPr>
                      <m:t>|</m:t>
                    </m:r>
                    <m:r>
                      <m:rPr>
                        <m:sty m:val="i"/>
                      </m:rPr>
                      <a:rPr lang="en-US" i="1" sz="1665">
                        <a:latin typeface="Cambria Math"/>
                      </a:rPr>
                      <m:t>m</m:t>
                    </m:r>
                    <m:r>
                      <m:rPr>
                        <m:sty m:val="p"/>
                      </m:rPr>
                      <a:rPr lang="en-US" i="0" sz="1665">
                        <a:latin typeface="Cambria Math"/>
                      </a:rPr>
                      <m:t>⟩</m:t>
                    </m:r>
                  </m:oMath>
                </a14:m>
              </mc:Choice>
              <mc:Fallback>
                <a:r>
                  <a:rPr lang="en-US" sz="1664" i="1"/>
                  <a:t>\langle m|(\hat a+\hat
                                a^\dagger)^4|m\rangle</a:t>
                </a:r>
              </mc:Fallback>
            </mc:AlternateContent>
          </a:p>
        </p:txBody>
      </p:sp>
      <p:sp>
        <p:nvSpPr>
          <p:cNvPr id="7" name="TextBox 6"/>
          <p:cNvSpPr txBox="1"/>
          <p:nvPr/>
        </p:nvSpPr>
        <p:spPr>
          <a:xfrm>
            <a:off x="6012127" y="1269206"/>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t>
                </a:r>
              </mc:Fallback>
            </mc:AlternateContent>
          </a:p>
        </p:txBody>
      </p:sp>
      <p:sp>
        <p:nvSpPr>
          <p:cNvPr id="8" name="TextBox 7"/>
          <p:cNvSpPr txBox="1"/>
          <p:nvPr/>
        </p:nvSpPr>
        <p:spPr>
          <a:xfrm>
            <a:off x="6264407" y="1271852"/>
            <a:ext cx="1296458" cy="270140"/>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6</m:t>
                    </m:r>
                    <m:sSup>
                      <m:e>
                        <m:r>
                          <m:rPr>
                            <m:sty m:val="i"/>
                          </m:rPr>
                          <a:rPr lang="en-US" i="1" sz="1665">
                            <a:latin typeface="Cambria Math"/>
                          </a:rPr>
                          <m:t>m</m:t>
                        </m:r>
                      </m:e>
                      <m:sup>
                        <m:r>
                          <m:rPr>
                            <m:sty m:val="p"/>
                          </m:rPr>
                          <a:rPr lang="en-US" i="0" sz="1665">
                            <a:latin typeface="Cambria Math"/>
                          </a:rPr>
                          <m:t>2</m:t>
                        </m:r>
                      </m:sup>
                    </m:sSup>
                    <m:r>
                      <m:rPr>
                        <m:sty m:val="p"/>
                      </m:rPr>
                      <a:rPr lang="en-US" i="0" sz="1665">
                        <a:latin typeface="Cambria Math"/>
                      </a:rPr>
                      <m:t>+</m:t>
                    </m:r>
                    <m:r>
                      <m:rPr>
                        <m:sty m:val="p"/>
                      </m:rPr>
                      <a:rPr lang="en-US" i="0" sz="1665">
                        <a:latin typeface="Cambria Math"/>
                      </a:rPr>
                      <m:t>6</m:t>
                    </m:r>
                    <m:r>
                      <m:rPr>
                        <m:sty m:val="i"/>
                      </m:rPr>
                      <a:rPr lang="en-US" i="1" sz="1665">
                        <a:latin typeface="Cambria Math"/>
                      </a:rPr>
                      <m:t>m</m:t>
                    </m:r>
                    <m:r>
                      <m:rPr>
                        <m:sty m:val="p"/>
                      </m:rPr>
                      <a:rPr lang="en-US" i="0" sz="1665">
                        <a:latin typeface="Cambria Math"/>
                      </a:rPr>
                      <m:t>+</m:t>
                    </m:r>
                    <m:r>
                      <m:rPr>
                        <m:sty m:val="p"/>
                      </m:rPr>
                      <a:rPr lang="en-US" i="0" sz="1665">
                        <a:latin typeface="Cambria Math"/>
                      </a:rPr>
                      <m:t>3</m:t>
                    </m:r>
                  </m:oMath>
                </a14:m>
              </mc:Choice>
              <mc:Fallback>
                <a:r>
                  <a:rPr lang="en-US" sz="1664" i="1"/>
                  <a:t>6m^2+6m+3</a:t>
                </a:r>
              </mc:Fallback>
            </mc:AlternateContent>
          </a:p>
        </p:txBody>
      </p:sp>
      <p:sp>
        <p:nvSpPr>
          <p:cNvPr id="9" name="TextBox 8"/>
          <p:cNvSpPr txBox="1"/>
          <p:nvPr/>
        </p:nvSpPr>
        <p:spPr>
          <a:xfrm>
            <a:off x="5623057" y="1640946"/>
            <a:ext cx="304403" cy="270140"/>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m</m:t>
                        </m:r>
                      </m:sub>
                    </m:sSub>
                  </m:oMath>
                </a14:m>
              </mc:Choice>
              <mc:Fallback>
                <a:r>
                  <a:rPr lang="en-US" sz="1664" i="1"/>
                  <a:t>E_m</a:t>
                </a:r>
              </mc:Fallback>
            </mc:AlternateContent>
          </a:p>
        </p:txBody>
      </p:sp>
      <p:sp>
        <p:nvSpPr>
          <p:cNvPr id="10" name="TextBox 9"/>
          <p:cNvSpPr txBox="1"/>
          <p:nvPr/>
        </p:nvSpPr>
        <p:spPr>
          <a:xfrm>
            <a:off x="6012127" y="1638168"/>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\approx</a:t>
                </a:r>
              </mc:Fallback>
            </mc:AlternateContent>
          </a:p>
        </p:txBody>
      </p:sp>
      <p:sp>
        <p:nvSpPr>
          <p:cNvPr id="11" name="TextBox 10"/>
          <p:cNvSpPr txBox="1"/>
          <p:nvPr/>
        </p:nvSpPr>
        <p:spPr>
          <a:xfrm>
            <a:off x="6264407" y="1629436"/>
            <a:ext cx="3852333" cy="293158"/>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sSub>
                      <m:e>
                        <m:r>
                          <m:rPr>
                            <m:sty m:val="i"/>
                          </m:rPr>
                          <a:rPr lang="en-US" i="1" sz="1665">
                            <a:latin typeface="Cambria Math"/>
                          </a:rPr>
                          <m:t>E</m:t>
                        </m:r>
                      </m:e>
                      <m:sub>
                        <m:r>
                          <m:rPr>
                            <m:sty m:val="i"/>
                          </m:rPr>
                          <a:rPr lang="en-US" i="1" sz="1665">
                            <a:latin typeface="Cambria Math"/>
                          </a:rPr>
                          <m:t>J</m:t>
                        </m:r>
                      </m:sub>
                    </m:sSub>
                    <m:r>
                      <m:rPr>
                        <m:sty m:val="p"/>
                      </m:rPr>
                      <a:rPr lang="en-US" i="0" sz="1665">
                        <a:latin typeface="Cambria Math"/>
                      </a:rPr>
                      <m:t>+</m:t>
                    </m:r>
                    <m:r>
                      <m:rPr>
                        <m:sty m:val="i"/>
                      </m:rPr>
                      <a:rPr lang="en-US" i="1" sz="1665">
                        <a:latin typeface="Cambria Math"/>
                      </a:rPr>
                      <m:t>ℏ</m:t>
                    </m:r>
                    <m:sSub>
                      <m:e>
                        <m:r>
                          <m:rPr>
                            <m:sty m:val="i"/>
                          </m:rPr>
                          <a:rPr lang="en-US" i="1" sz="1665">
                            <a:latin typeface="Cambria Math"/>
                          </a:rPr>
                          <m:t>ω</m:t>
                        </m:r>
                      </m:e>
                      <m:sub>
                        <m:r>
                          <m:rPr>
                            <m:sty m:val="i"/>
                          </m:rPr>
                          <a:rPr lang="en-US" i="1" sz="1665">
                            <a:latin typeface="Cambria Math"/>
                          </a:rPr>
                          <m:t>p</m:t>
                        </m:r>
                      </m:sub>
                    </m:sSub>
                    <m:box>
                      <m:e>
                        <m:r>
                          <a:rPr lang="en-US" i="1" sz="1665">
                            <a:latin typeface="Cambria Math"/>
                          </a:rPr>
                          <m:t/>
                        </m:r>
                      </m:e>
                    </m:box>
                    <m:box>
                      <m:e>
                        <m:d>
                          <m:dPr>
                            <m:begChr m:val="("/>
                            <m:endChr m:val=")"/>
                          </m:dPr>
                          <m:e>
                            <m:box>
                              <m:e>
                                <m:r>
                                  <m:rPr>
                                    <m:sty m:val="i"/>
                                  </m:rPr>
                                  <a:rPr lang="en-US" i="1" sz="1665">
                                    <a:latin typeface="Cambria Math"/>
                                  </a:rPr>
                                  <m:t>m</m:t>
                                </m:r>
                                <m:r>
                                  <m:rPr>
                                    <m:sty m:val="p"/>
                                  </m:rPr>
                                  <a:rPr lang="en-US" i="0" sz="1665">
                                    <a:latin typeface="Cambria Math"/>
                                  </a:rPr>
                                  <m:t>+</m:t>
                                </m:r>
                                <m:box>
                                  <m:e>
                                    <m:f>
                                      <m:num>
                                        <m:r>
                                          <m:rPr>
                                            <m:sty m:val="p"/>
                                          </m:rPr>
                                          <a:rPr lang="en-US" i="0" sz="1665">
                                            <a:latin typeface="Cambria Math"/>
                                          </a:rPr>
                                          <m:t>1</m:t>
                                        </m:r>
                                      </m:num>
                                      <m:den>
                                        <m:r>
                                          <m:rPr>
                                            <m:sty m:val="p"/>
                                          </m:rPr>
                                          <a:rPr lang="en-US" i="0" sz="1665">
                                            <a:latin typeface="Cambria Math"/>
                                          </a:rPr>
                                          <m:t>2</m:t>
                                        </m:r>
                                      </m:den>
                                    </m:f>
                                  </m:e>
                                </m:box>
                              </m:e>
                            </m:box>
                          </m:e>
                        </m:d>
                      </m:e>
                    </m:box>
                    <m:r>
                      <m:rPr>
                        <m:sty m:val="p"/>
                      </m:rPr>
                      <a:rPr lang="en-US" i="0" sz="1665">
                        <a:latin typeface="Cambria Math"/>
                      </a:rPr>
                      <m:t>−</m:t>
                    </m:r>
                    <m:f>
                      <m:num>
                        <m:sSub>
                          <m:e>
                            <m:r>
                              <m:rPr>
                                <m:sty m:val="i"/>
                              </m:rPr>
                              <a:rPr lang="en-US" i="1" sz="1665">
                                <a:latin typeface="Cambria Math"/>
                              </a:rPr>
                              <m:t>E</m:t>
                            </m:r>
                          </m:e>
                          <m:sub>
                            <m:r>
                              <m:rPr>
                                <m:sty m:val="i"/>
                              </m:rPr>
                              <a:rPr lang="en-US" i="1" sz="1665">
                                <a:latin typeface="Cambria Math"/>
                              </a:rPr>
                              <m:t>C</m:t>
                            </m:r>
                          </m:sub>
                        </m:sSub>
                      </m:num>
                      <m:den>
                        <m:r>
                          <m:rPr>
                            <m:sty m:val="p"/>
                          </m:rPr>
                          <a:rPr lang="en-US" i="0" sz="1665">
                            <a:latin typeface="Cambria Math"/>
                          </a:rPr>
                          <m:t>12</m:t>
                        </m:r>
                      </m:den>
                    </m:f>
                    <m:r>
                      <m:rPr>
                        <m:sty m:val="p"/>
                      </m:rPr>
                      <a:rPr lang="en-US" i="0" sz="1665">
                        <a:latin typeface="Cambria Math"/>
                      </a:rPr>
                      <m:t>(</m:t>
                    </m:r>
                    <m:r>
                      <m:rPr>
                        <m:sty m:val="p"/>
                      </m:rPr>
                      <a:rPr lang="en-US" i="0" sz="1665">
                        <a:latin typeface="Cambria Math"/>
                      </a:rPr>
                      <m:t>6</m:t>
                    </m:r>
                    <m:sSup>
                      <m:e>
                        <m:r>
                          <m:rPr>
                            <m:sty m:val="i"/>
                          </m:rPr>
                          <a:rPr lang="en-US" i="1" sz="1665">
                            <a:latin typeface="Cambria Math"/>
                          </a:rPr>
                          <m:t>m</m:t>
                        </m:r>
                      </m:e>
                      <m:sup>
                        <m:r>
                          <m:rPr>
                            <m:sty m:val="p"/>
                          </m:rPr>
                          <a:rPr lang="en-US" i="0" sz="1665">
                            <a:latin typeface="Cambria Math"/>
                          </a:rPr>
                          <m:t>2</m:t>
                        </m:r>
                      </m:sup>
                    </m:sSup>
                    <m:r>
                      <m:rPr>
                        <m:sty m:val="p"/>
                      </m:rPr>
                      <a:rPr lang="en-US" i="0" sz="1665">
                        <a:latin typeface="Cambria Math"/>
                      </a:rPr>
                      <m:t>+</m:t>
                    </m:r>
                    <m:r>
                      <m:rPr>
                        <m:sty m:val="p"/>
                      </m:rPr>
                      <a:rPr lang="en-US" i="0" sz="1665">
                        <a:latin typeface="Cambria Math"/>
                      </a:rPr>
                      <m:t>6</m:t>
                    </m:r>
                    <m:r>
                      <m:rPr>
                        <m:sty m:val="i"/>
                      </m:rPr>
                      <a:rPr lang="en-US" i="1" sz="1665">
                        <a:latin typeface="Cambria Math"/>
                      </a:rPr>
                      <m:t>m</m:t>
                    </m:r>
                    <m:r>
                      <m:rPr>
                        <m:sty m:val="p"/>
                      </m:rPr>
                      <a:rPr lang="en-US" i="0" sz="1665">
                        <a:latin typeface="Cambria Math"/>
                      </a:rPr>
                      <m:t>+</m:t>
                    </m:r>
                    <m:r>
                      <m:rPr>
                        <m:sty m:val="p"/>
                      </m:rPr>
                      <a:rPr lang="en-US" i="0" sz="1665">
                        <a:latin typeface="Cambria Math"/>
                      </a:rPr>
                      <m:t>3</m:t>
                    </m:r>
                    <m:r>
                      <m:rPr>
                        <m:sty m:val="p"/>
                      </m:rPr>
                      <a:rPr lang="en-US" i="0" sz="1665">
                        <a:latin typeface="Cambria Math"/>
                      </a:rPr>
                      <m:t>)</m:t>
                    </m:r>
                  </m:oMath>
                </a14:m>
              </mc:Choice>
              <mc:Fallback>
                <a:r>
                  <a:rPr lang="en-US" sz="1664" i="1"/>
                  <a:t>-E_J +
                                \hbar\omega_p\!\left(m+\tfrac12\right) - \frac{E_C}{12}(6m^2+6m+3)</a:t>
                </a:r>
              </mc:Fallback>
            </mc:AlternateContent>
          </a:p>
        </p:txBody>
      </p:sp>
      <p:sp>
        <p:nvSpPr>
          <p:cNvPr id="12" name="TextBox 11"/>
          <p:cNvSpPr txBox="1"/>
          <p:nvPr/>
        </p:nvSpPr>
        <p:spPr>
          <a:xfrm>
            <a:off x="575733" y="2007261"/>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Adjacent transitions no longer coincide:</a:t>
            </a:r>
          </a:p>
        </p:txBody>
      </p:sp>
      <p:sp>
        <p:nvSpPr>
          <p:cNvPr id="13" name="TextBox 12"/>
          <p:cNvSpPr txBox="1"/>
          <p:nvPr/>
        </p:nvSpPr>
        <p:spPr>
          <a:xfrm>
            <a:off x="5130271" y="2415514"/>
            <a:ext cx="797190" cy="270140"/>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ℏ</m:t>
                    </m:r>
                    <m:box>
                      <m:e>
                        <m:r>
                          <a:rPr lang="en-US" i="1" sz="1665">
                            <a:latin typeface="Cambria Math"/>
                          </a:rPr>
                          <m:t/>
                        </m:r>
                      </m:e>
                    </m:box>
                    <m:sSub>
                      <m:e>
                        <m:r>
                          <m:rPr>
                            <m:sty m:val="i"/>
                          </m:rPr>
                          <a:rPr lang="en-US" i="1" sz="1665">
                            <a:latin typeface="Cambria Math"/>
                          </a:rPr>
                          <m:t>ω</m:t>
                        </m:r>
                      </m:e>
                      <m:sub>
                        <m:box>
                          <m:e>
                            <m:r>
                              <m:rPr>
                                <m:sty m:val="i"/>
                              </m:rPr>
                              <a:rPr lang="en-US" i="1" sz="1665">
                                <a:latin typeface="Cambria Math"/>
                              </a:rPr>
                              <m:t>m</m:t>
                            </m:r>
                            <m:r>
                              <m:rPr>
                                <m:sty m:val="p"/>
                              </m:rPr>
                              <a:rPr lang="en-US" i="0" sz="1665">
                                <a:latin typeface="Cambria Math"/>
                              </a:rPr>
                              <m:t>,</m:t>
                            </m:r>
                            <m:r>
                              <m:rPr>
                                <m:sty m:val="i"/>
                              </m:rPr>
                              <a:rPr lang="en-US" i="1" sz="1665">
                                <a:latin typeface="Cambria Math"/>
                              </a:rPr>
                              <m:t>m</m:t>
                            </m:r>
                            <m:r>
                              <m:rPr>
                                <m:sty m:val="p"/>
                              </m:rPr>
                              <a:rPr lang="en-US" i="0" sz="1665">
                                <a:latin typeface="Cambria Math"/>
                              </a:rPr>
                              <m:t>+</m:t>
                            </m:r>
                            <m:r>
                              <m:rPr>
                                <m:sty m:val="p"/>
                              </m:rPr>
                              <a:rPr lang="en-US" i="0" sz="1665">
                                <a:latin typeface="Cambria Math"/>
                              </a:rPr>
                              <m:t>1</m:t>
                            </m:r>
                          </m:e>
                        </m:box>
                      </m:sub>
                    </m:sSub>
                  </m:oMath>
                </a14:m>
              </mc:Choice>
              <mc:Fallback>
                <a:r>
                  <a:rPr lang="en-US" sz="1664" i="1"/>
                  <a:t>\hbar\,\omega_{m,m+1}</a:t>
                </a:r>
              </mc:Fallback>
            </mc:AlternateContent>
          </a:p>
        </p:txBody>
      </p:sp>
      <p:sp>
        <p:nvSpPr>
          <p:cNvPr id="14" name="TextBox 13"/>
          <p:cNvSpPr txBox="1"/>
          <p:nvPr/>
        </p:nvSpPr>
        <p:spPr>
          <a:xfrm>
            <a:off x="6012127" y="2412868"/>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\approx</a:t>
                </a:r>
              </mc:Fallback>
            </mc:AlternateContent>
          </a:p>
        </p:txBody>
      </p:sp>
      <p:sp>
        <p:nvSpPr>
          <p:cNvPr id="15" name="TextBox 14"/>
          <p:cNvSpPr txBox="1"/>
          <p:nvPr/>
        </p:nvSpPr>
        <p:spPr>
          <a:xfrm>
            <a:off x="6264407" y="2413000"/>
            <a:ext cx="2216811" cy="275167"/>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rad>
                      <m:radPr>
                        <m:degHide m:val="1"/>
                      </m:radPr>
                      <m:deg/>
                      <m:e>
                        <m:box>
                          <m:e>
                            <m:r>
                              <m:rPr>
                                <m:sty m:val="p"/>
                              </m:rPr>
                              <a:rPr lang="en-US" i="0" sz="1665">
                                <a:latin typeface="Cambria Math"/>
                              </a:rPr>
                              <m:t>8</m:t>
                            </m:r>
                            <m:sSub>
                              <m:e>
                                <m:r>
                                  <m:rPr>
                                    <m:sty m:val="i"/>
                                  </m:rPr>
                                  <a:rPr lang="en-US" i="1" sz="1665">
                                    <a:latin typeface="Cambria Math"/>
                                  </a:rPr>
                                  <m:t>E</m:t>
                                </m:r>
                              </m:e>
                              <m:sub>
                                <m:r>
                                  <m:rPr>
                                    <m:sty m:val="i"/>
                                  </m:rPr>
                                  <a:rPr lang="en-US" i="1" sz="1665">
                                    <a:latin typeface="Cambria Math"/>
                                  </a:rPr>
                                  <m:t>J</m:t>
                                </m:r>
                              </m:sub>
                            </m:sSub>
                            <m:sSub>
                              <m:e>
                                <m:r>
                                  <m:rPr>
                                    <m:sty m:val="i"/>
                                  </m:rPr>
                                  <a:rPr lang="en-US" i="1" sz="1665">
                                    <a:latin typeface="Cambria Math"/>
                                  </a:rPr>
                                  <m:t>E</m:t>
                                </m:r>
                              </m:e>
                              <m:sub>
                                <m:r>
                                  <m:rPr>
                                    <m:sty m:val="i"/>
                                  </m:rPr>
                                  <a:rPr lang="en-US" i="1" sz="1665">
                                    <a:latin typeface="Cambria Math"/>
                                  </a:rPr>
                                  <m:t>C</m:t>
                                </m:r>
                              </m:sub>
                            </m:sSub>
                          </m:e>
                        </m:box>
                      </m:e>
                    </m:rad>
                    <m:box>
                      <m:e>
                        <m:r>
                          <a:rPr lang="en-US" i="1" sz="1665">
                            <a:latin typeface="Cambria Math"/>
                          </a:rPr>
                          <m:t/>
                        </m:r>
                      </m:e>
                    </m:box>
                    <m:r>
                      <m:rPr>
                        <m:sty m:val="p"/>
                      </m:rPr>
                      <a:rPr lang="en-US" i="0" sz="1665">
                        <a:latin typeface="Cambria Math"/>
                      </a:rPr>
                      <m:t>−</m:t>
                    </m:r>
                    <m:box>
                      <m:e>
                        <m:r>
                          <a:rPr lang="en-US" i="1" sz="1665">
                            <a:latin typeface="Cambria Math"/>
                          </a:rPr>
                          <m:t/>
                        </m:r>
                      </m:e>
                    </m:box>
                    <m:sSub>
                      <m:e>
                        <m:r>
                          <m:rPr>
                            <m:sty m:val="i"/>
                          </m:rPr>
                          <a:rPr lang="en-US" i="1" sz="1665">
                            <a:latin typeface="Cambria Math"/>
                          </a:rPr>
                          <m:t>E</m:t>
                        </m:r>
                      </m:e>
                      <m:sub>
                        <m:r>
                          <m:rPr>
                            <m:sty m:val="i"/>
                          </m:rPr>
                          <a:rPr lang="en-US" i="1" sz="1665">
                            <a:latin typeface="Cambria Math"/>
                          </a:rPr>
                          <m:t>C</m:t>
                        </m:r>
                      </m:sub>
                    </m:sSub>
                    <m:r>
                      <m:rPr>
                        <m:sty m:val="p"/>
                      </m:rPr>
                      <a:rPr lang="en-US" i="0" sz="1665">
                        <a:latin typeface="Cambria Math"/>
                      </a:rPr>
                      <m:t>(</m:t>
                    </m:r>
                    <m:r>
                      <m:rPr>
                        <m:sty m:val="i"/>
                      </m:rPr>
                      <a:rPr lang="en-US" i="1" sz="1665">
                        <a:latin typeface="Cambria Math"/>
                      </a:rPr>
                      <m:t>m</m:t>
                    </m:r>
                    <m:r>
                      <m:rPr>
                        <m:sty m:val="p"/>
                      </m:rPr>
                      <a:rPr lang="en-US" i="0" sz="1665">
                        <a:latin typeface="Cambria Math"/>
                      </a:rPr>
                      <m:t>+</m:t>
                    </m:r>
                    <m:r>
                      <m:rPr>
                        <m:sty m:val="p"/>
                      </m:rPr>
                      <a:rPr lang="en-US" i="0" sz="1665">
                        <a:latin typeface="Cambria Math"/>
                      </a:rPr>
                      <m:t>1</m:t>
                    </m:r>
                    <m:r>
                      <m:rPr>
                        <m:sty m:val="p"/>
                      </m:rPr>
                      <a:rPr lang="en-US" i="0" sz="1665">
                        <a:latin typeface="Cambria Math"/>
                      </a:rPr>
                      <m:t>)</m:t>
                    </m:r>
                  </m:oMath>
                </a14:m>
              </mc:Choice>
              <mc:Fallback>
                <a:r>
                  <a:rPr lang="en-US" sz="1664" i="1"/>
                  <a:t>\sqrt{8E_JE_C}\;-\;E_C(m+1)</a:t>
                </a:r>
              </mc:Fallback>
            </mc:AlternateContent>
          </a:p>
        </p:txBody>
      </p:sp>
      <p:sp>
        <p:nvSpPr>
          <p:cNvPr id="16" name="TextBox 15"/>
          <p:cNvSpPr txBox="1"/>
          <p:nvPr/>
        </p:nvSpPr>
        <p:spPr>
          <a:xfrm>
            <a:off x="5475552" y="2775744"/>
            <a:ext cx="451908" cy="270140"/>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ℏ</m:t>
                    </m:r>
                    <m:box>
                      <m:e>
                        <m:r>
                          <a:rPr lang="en-US" i="1" sz="1665">
                            <a:latin typeface="Cambria Math"/>
                          </a:rPr>
                          <m:t/>
                        </m:r>
                      </m:e>
                    </m:box>
                    <m:sSub>
                      <m:e>
                        <m:r>
                          <m:rPr>
                            <m:sty m:val="i"/>
                          </m:rPr>
                          <a:rPr lang="en-US" i="1" sz="1665">
                            <a:latin typeface="Cambria Math"/>
                          </a:rPr>
                          <m:t>ω</m:t>
                        </m:r>
                      </m:e>
                      <m:sub>
                        <m:box>
                          <m:e>
                            <m:r>
                              <m:rPr>
                                <m:sty m:val="p"/>
                              </m:rPr>
                              <a:rPr lang="en-US" i="0" sz="1665">
                                <a:latin typeface="Cambria Math"/>
                              </a:rPr>
                              <m:t>01</m:t>
                            </m:r>
                          </m:e>
                        </m:box>
                      </m:sub>
                    </m:sSub>
                  </m:oMath>
                </a14:m>
              </mc:Choice>
              <mc:Fallback>
                <a:r>
                  <a:rPr lang="en-US" sz="1664" i="1"/>
                  <a:t>\hbar\,\omega_{01}</a:t>
                </a:r>
              </mc:Fallback>
            </mc:AlternateContent>
          </a:p>
        </p:txBody>
      </p:sp>
      <p:sp>
        <p:nvSpPr>
          <p:cNvPr id="17" name="TextBox 16"/>
          <p:cNvSpPr txBox="1"/>
          <p:nvPr/>
        </p:nvSpPr>
        <p:spPr>
          <a:xfrm>
            <a:off x="6012127" y="2773098"/>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\approx</a:t>
                </a:r>
              </mc:Fallback>
            </mc:AlternateContent>
          </a:p>
        </p:txBody>
      </p:sp>
      <p:sp>
        <p:nvSpPr>
          <p:cNvPr id="18" name="TextBox 17"/>
          <p:cNvSpPr txBox="1"/>
          <p:nvPr/>
        </p:nvSpPr>
        <p:spPr>
          <a:xfrm>
            <a:off x="6264407" y="2775744"/>
            <a:ext cx="1503098" cy="270140"/>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rad>
                      <m:radPr>
                        <m:degHide m:val="1"/>
                      </m:radPr>
                      <m:deg/>
                      <m:e>
                        <m:box>
                          <m:e>
                            <m:r>
                              <m:rPr>
                                <m:sty m:val="p"/>
                              </m:rPr>
                              <a:rPr lang="en-US" i="0" sz="1665">
                                <a:latin typeface="Cambria Math"/>
                              </a:rPr>
                              <m:t>8</m:t>
                            </m:r>
                            <m:sSub>
                              <m:e>
                                <m:r>
                                  <m:rPr>
                                    <m:sty m:val="i"/>
                                  </m:rPr>
                                  <a:rPr lang="en-US" i="1" sz="1665">
                                    <a:latin typeface="Cambria Math"/>
                                  </a:rPr>
                                  <m:t>E</m:t>
                                </m:r>
                              </m:e>
                              <m:sub>
                                <m:r>
                                  <m:rPr>
                                    <m:sty m:val="i"/>
                                  </m:rPr>
                                  <a:rPr lang="en-US" i="1" sz="1665">
                                    <a:latin typeface="Cambria Math"/>
                                  </a:rPr>
                                  <m:t>J</m:t>
                                </m:r>
                              </m:sub>
                            </m:sSub>
                            <m:sSub>
                              <m:e>
                                <m:r>
                                  <m:rPr>
                                    <m:sty m:val="i"/>
                                  </m:rPr>
                                  <a:rPr lang="en-US" i="1" sz="1665">
                                    <a:latin typeface="Cambria Math"/>
                                  </a:rPr>
                                  <m:t>E</m:t>
                                </m:r>
                              </m:e>
                              <m:sub>
                                <m:r>
                                  <m:rPr>
                                    <m:sty m:val="i"/>
                                  </m:rPr>
                                  <a:rPr lang="en-US" i="1" sz="1665">
                                    <a:latin typeface="Cambria Math"/>
                                  </a:rPr>
                                  <m:t>C</m:t>
                                </m:r>
                              </m:sub>
                            </m:sSub>
                          </m:e>
                        </m:box>
                      </m:e>
                    </m:rad>
                    <m:box>
                      <m:e>
                        <m:r>
                          <a:rPr lang="en-US" i="1" sz="1665">
                            <a:latin typeface="Cambria Math"/>
                          </a:rPr>
                          <m:t/>
                        </m:r>
                      </m:e>
                    </m:box>
                    <m:r>
                      <m:rPr>
                        <m:sty m:val="p"/>
                      </m:rPr>
                      <a:rPr lang="en-US" i="0" sz="1665">
                        <a:latin typeface="Cambria Math"/>
                      </a:rPr>
                      <m:t>−</m:t>
                    </m:r>
                    <m:box>
                      <m:e>
                        <m:r>
                          <a:rPr lang="en-US" i="1" sz="1665">
                            <a:latin typeface="Cambria Math"/>
                          </a:rPr>
                          <m:t/>
                        </m:r>
                      </m:e>
                    </m:box>
                    <m:sSub>
                      <m:e>
                        <m:r>
                          <m:rPr>
                            <m:sty m:val="i"/>
                          </m:rPr>
                          <a:rPr lang="en-US" i="1" sz="1665">
                            <a:latin typeface="Cambria Math"/>
                          </a:rPr>
                          <m:t>E</m:t>
                        </m:r>
                      </m:e>
                      <m:sub>
                        <m:r>
                          <m:rPr>
                            <m:sty m:val="i"/>
                          </m:rPr>
                          <a:rPr lang="en-US" i="1" sz="1665">
                            <a:latin typeface="Cambria Math"/>
                          </a:rPr>
                          <m:t>C</m:t>
                        </m:r>
                      </m:sub>
                    </m:sSub>
                  </m:oMath>
                </a14:m>
              </mc:Choice>
              <mc:Fallback>
                <a:r>
                  <a:rPr lang="en-US" sz="1664" i="1"/>
                  <a:t>\sqrt{8E_JE_C}\;-\;E_C</a:t>
                </a:r>
              </mc:Fallback>
            </mc:AlternateContent>
          </a:p>
        </p:txBody>
      </p:sp>
      <p:sp>
        <p:nvSpPr>
          <p:cNvPr id="19" name="TextBox 18"/>
          <p:cNvSpPr txBox="1"/>
          <p:nvPr/>
        </p:nvSpPr>
        <p:spPr>
          <a:xfrm>
            <a:off x="5475552" y="3135974"/>
            <a:ext cx="451908" cy="270140"/>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ℏ</m:t>
                    </m:r>
                    <m:box>
                      <m:e>
                        <m:r>
                          <a:rPr lang="en-US" i="1" sz="1665">
                            <a:latin typeface="Cambria Math"/>
                          </a:rPr>
                          <m:t/>
                        </m:r>
                      </m:e>
                    </m:box>
                    <m:sSub>
                      <m:e>
                        <m:r>
                          <m:rPr>
                            <m:sty m:val="i"/>
                          </m:rPr>
                          <a:rPr lang="en-US" i="1" sz="1665">
                            <a:latin typeface="Cambria Math"/>
                          </a:rPr>
                          <m:t>ω</m:t>
                        </m:r>
                      </m:e>
                      <m:sub>
                        <m:box>
                          <m:e>
                            <m:r>
                              <m:rPr>
                                <m:sty m:val="p"/>
                              </m:rPr>
                              <a:rPr lang="en-US" i="0" sz="1665">
                                <a:latin typeface="Cambria Math"/>
                              </a:rPr>
                              <m:t>12</m:t>
                            </m:r>
                          </m:e>
                        </m:box>
                      </m:sub>
                    </m:sSub>
                  </m:oMath>
                </a14:m>
              </mc:Choice>
              <mc:Fallback>
                <a:r>
                  <a:rPr lang="en-US" sz="1664" i="1"/>
                  <a:t>\hbar\,\omega_{12}</a:t>
                </a:r>
              </mc:Fallback>
            </mc:AlternateContent>
          </a:p>
        </p:txBody>
      </p:sp>
      <p:sp>
        <p:nvSpPr>
          <p:cNvPr id="20" name="TextBox 19"/>
          <p:cNvSpPr txBox="1"/>
          <p:nvPr/>
        </p:nvSpPr>
        <p:spPr>
          <a:xfrm>
            <a:off x="6012127" y="3133328"/>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\approx</a:t>
                </a:r>
              </mc:Fallback>
            </mc:AlternateContent>
          </a:p>
        </p:txBody>
      </p:sp>
      <p:sp>
        <p:nvSpPr>
          <p:cNvPr id="21" name="TextBox 20"/>
          <p:cNvSpPr txBox="1"/>
          <p:nvPr/>
        </p:nvSpPr>
        <p:spPr>
          <a:xfrm>
            <a:off x="6264407" y="3135974"/>
            <a:ext cx="1608799" cy="270140"/>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rad>
                      <m:radPr>
                        <m:degHide m:val="1"/>
                      </m:radPr>
                      <m:deg/>
                      <m:e>
                        <m:box>
                          <m:e>
                            <m:r>
                              <m:rPr>
                                <m:sty m:val="p"/>
                              </m:rPr>
                              <a:rPr lang="en-US" i="0" sz="1665">
                                <a:latin typeface="Cambria Math"/>
                              </a:rPr>
                              <m:t>8</m:t>
                            </m:r>
                            <m:sSub>
                              <m:e>
                                <m:r>
                                  <m:rPr>
                                    <m:sty m:val="i"/>
                                  </m:rPr>
                                  <a:rPr lang="en-US" i="1" sz="1665">
                                    <a:latin typeface="Cambria Math"/>
                                  </a:rPr>
                                  <m:t>E</m:t>
                                </m:r>
                              </m:e>
                              <m:sub>
                                <m:r>
                                  <m:rPr>
                                    <m:sty m:val="i"/>
                                  </m:rPr>
                                  <a:rPr lang="en-US" i="1" sz="1665">
                                    <a:latin typeface="Cambria Math"/>
                                  </a:rPr>
                                  <m:t>J</m:t>
                                </m:r>
                              </m:sub>
                            </m:sSub>
                            <m:sSub>
                              <m:e>
                                <m:r>
                                  <m:rPr>
                                    <m:sty m:val="i"/>
                                  </m:rPr>
                                  <a:rPr lang="en-US" i="1" sz="1665">
                                    <a:latin typeface="Cambria Math"/>
                                  </a:rPr>
                                  <m:t>E</m:t>
                                </m:r>
                              </m:e>
                              <m:sub>
                                <m:r>
                                  <m:rPr>
                                    <m:sty m:val="i"/>
                                  </m:rPr>
                                  <a:rPr lang="en-US" i="1" sz="1665">
                                    <a:latin typeface="Cambria Math"/>
                                  </a:rPr>
                                  <m:t>C</m:t>
                                </m:r>
                              </m:sub>
                            </m:sSub>
                          </m:e>
                        </m:box>
                      </m:e>
                    </m:rad>
                    <m:box>
                      <m:e>
                        <m:r>
                          <a:rPr lang="en-US" i="1" sz="1665">
                            <a:latin typeface="Cambria Math"/>
                          </a:rPr>
                          <m:t/>
                        </m:r>
                      </m:e>
                    </m:box>
                    <m:r>
                      <m:rPr>
                        <m:sty m:val="p"/>
                      </m:rPr>
                      <a:rPr lang="en-US" i="0" sz="1665">
                        <a:latin typeface="Cambria Math"/>
                      </a:rPr>
                      <m:t>−</m:t>
                    </m:r>
                    <m:box>
                      <m:e>
                        <m:r>
                          <a:rPr lang="en-US" i="1" sz="1665">
                            <a:latin typeface="Cambria Math"/>
                          </a:rPr>
                          <m:t/>
                        </m:r>
                      </m:e>
                    </m:box>
                    <m:r>
                      <m:rPr>
                        <m:sty m:val="p"/>
                      </m:rPr>
                      <a:rPr lang="en-US" i="0" sz="1665">
                        <a:latin typeface="Cambria Math"/>
                      </a:rPr>
                      <m:t>2</m:t>
                    </m:r>
                    <m:sSub>
                      <m:e>
                        <m:r>
                          <m:rPr>
                            <m:sty m:val="i"/>
                          </m:rPr>
                          <a:rPr lang="en-US" i="1" sz="1665">
                            <a:latin typeface="Cambria Math"/>
                          </a:rPr>
                          <m:t>E</m:t>
                        </m:r>
                      </m:e>
                      <m:sub>
                        <m:r>
                          <m:rPr>
                            <m:sty m:val="i"/>
                          </m:rPr>
                          <a:rPr lang="en-US" i="1" sz="1665">
                            <a:latin typeface="Cambria Math"/>
                          </a:rPr>
                          <m:t>C</m:t>
                        </m:r>
                      </m:sub>
                    </m:sSub>
                  </m:oMath>
                </a14:m>
              </mc:Choice>
              <mc:Fallback>
                <a:r>
                  <a:rPr lang="en-US" sz="1664" i="1"/>
                  <a:t>\sqrt{8E_JE_C}\;-\;2E_C</a:t>
                </a:r>
              </mc:Fallback>
            </mc:AlternateContent>
          </a:p>
        </p:txBody>
      </p:sp>
      <p:sp>
        <p:nvSpPr>
          <p:cNvPr id="22" name="TextBox 21"/>
          <p:cNvSpPr txBox="1"/>
          <p:nvPr/>
        </p:nvSpPr>
        <p:spPr>
          <a:xfrm>
            <a:off x="4656402" y="3504803"/>
            <a:ext cx="1271058" cy="270140"/>
          </a:xfrm>
          <a:prstGeom prst="rect">
            <a:avLst/>
          </a:prstGeom>
          <a:noFill/>
        </p:spPr>
        <p:txBody>
          <a:bodyPr wrap="none" lIns="0" rIns="0" tIns="0" bIns="0" anchor="t">
            <a:noAutofit/>
          </a:bodyPr>
          <a:lstStyle/>
          <a:p>
            <a:pPr algn="r">
              <a:lnSpc>
                <a:spcPts val="2130"/>
              </a:lnSpc>
            </a:pP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α</m:t>
                    </m:r>
                    <m:r>
                      <m:rPr>
                        <m:sty m:val="p"/>
                      </m:rPr>
                      <a:rPr lang="en-US" i="0" sz="1665">
                        <a:latin typeface="Cambria Math"/>
                      </a:rPr>
                      <m:t>≡</m:t>
                    </m:r>
                    <m:sSub>
                      <m:e>
                        <m:r>
                          <m:rPr>
                            <m:sty m:val="i"/>
                          </m:rPr>
                          <a:rPr lang="en-US" i="1" sz="1665">
                            <a:latin typeface="Cambria Math"/>
                          </a:rPr>
                          <m:t>ω</m:t>
                        </m:r>
                      </m:e>
                      <m:sub>
                        <m:box>
                          <m:e>
                            <m:r>
                              <m:rPr>
                                <m:sty m:val="p"/>
                              </m:rPr>
                              <a:rPr lang="en-US" i="0" sz="1665">
                                <a:latin typeface="Cambria Math"/>
                              </a:rPr>
                              <m:t>12</m:t>
                            </m:r>
                          </m:e>
                        </m:box>
                      </m:sub>
                    </m:sSub>
                    <m:r>
                      <m:rPr>
                        <m:sty m:val="p"/>
                      </m:rPr>
                      <a:rPr lang="en-US" i="0" sz="1665">
                        <a:latin typeface="Cambria Math"/>
                      </a:rPr>
                      <m:t>−</m:t>
                    </m:r>
                    <m:sSub>
                      <m:e>
                        <m:r>
                          <m:rPr>
                            <m:sty m:val="i"/>
                          </m:rPr>
                          <a:rPr lang="en-US" i="1" sz="1665">
                            <a:latin typeface="Cambria Math"/>
                          </a:rPr>
                          <m:t>ω</m:t>
                        </m:r>
                      </m:e>
                      <m:sub>
                        <m:box>
                          <m:e>
                            <m:r>
                              <m:rPr>
                                <m:sty m:val="p"/>
                              </m:rPr>
                              <a:rPr lang="en-US" i="0" sz="1665">
                                <a:latin typeface="Cambria Math"/>
                              </a:rPr>
                              <m:t>01</m:t>
                            </m:r>
                          </m:e>
                        </m:box>
                      </m:sub>
                    </m:sSub>
                  </m:oMath>
                </a14:m>
              </mc:Choice>
              <mc:Fallback>
                <a:r>
                  <a:rPr lang="en-US" sz="1664" i="1"/>
                  <a:t>\alpha\equiv\omega_{12}-\omega_{01}</a:t>
                </a:r>
              </mc:Fallback>
            </mc:AlternateContent>
          </a:p>
        </p:txBody>
      </p:sp>
      <p:sp>
        <p:nvSpPr>
          <p:cNvPr id="23" name="TextBox 22"/>
          <p:cNvSpPr txBox="1"/>
          <p:nvPr/>
        </p:nvSpPr>
        <p:spPr>
          <a:xfrm>
            <a:off x="6012127" y="3502025"/>
            <a:ext cx="167614" cy="275564"/>
          </a:xfrm>
          <a:prstGeom prst="rect">
            <a:avLst/>
          </a:prstGeom>
          <a:noFill/>
        </p:spPr>
        <p:txBody>
          <a:bodyPr wrap="none" lIns="0" rIns="0" tIns="0" bIns="0" anchor="t">
            <a:noAutofit/>
          </a:bodyPr>
          <a:lstStyle/>
          <a:p>
            <a:pPr algn="ctr">
              <a:lnSpc>
                <a:spcPts val="217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96">
                        <a:latin typeface="Cambria Math"/>
                      </a:rPr>
                      <m:t>≈</m:t>
                    </m:r>
                  </m:oMath>
                </a14:m>
              </mc:Choice>
              <mc:Fallback>
                <a:r>
                  <a:rPr lang="en-US" sz="1696" i="1"/>
                  <a:t>\approx</a:t>
                </a:r>
              </mc:Fallback>
            </mc:AlternateContent>
          </a:p>
        </p:txBody>
      </p:sp>
      <p:sp>
        <p:nvSpPr>
          <p:cNvPr id="24" name="TextBox 23"/>
          <p:cNvSpPr txBox="1"/>
          <p:nvPr/>
        </p:nvSpPr>
        <p:spPr>
          <a:xfrm>
            <a:off x="6264407" y="3493558"/>
            <a:ext cx="495432" cy="292629"/>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box>
                      <m:e>
                        <m:r>
                          <a:rPr lang="en-US" i="1" sz="1665">
                            <a:latin typeface="Cambria Math"/>
                          </a:rPr>
                          <m:t/>
                        </m:r>
                      </m:e>
                    </m:box>
                    <m:f>
                      <m:num>
                        <m:sSub>
                          <m:e>
                            <m:r>
                              <m:rPr>
                                <m:sty m:val="i"/>
                              </m:rPr>
                              <a:rPr lang="en-US" i="1" sz="1665">
                                <a:latin typeface="Cambria Math"/>
                              </a:rPr>
                              <m:t>E</m:t>
                            </m:r>
                          </m:e>
                          <m:sub>
                            <m:r>
                              <m:rPr>
                                <m:sty m:val="i"/>
                              </m:rPr>
                              <a:rPr lang="en-US" i="1" sz="1665">
                                <a:latin typeface="Cambria Math"/>
                              </a:rPr>
                              <m:t>C</m:t>
                            </m:r>
                          </m:sub>
                        </m:sSub>
                      </m:num>
                      <m:den>
                        <m:r>
                          <m:rPr>
                            <m:sty m:val="i"/>
                          </m:rPr>
                          <a:rPr lang="en-US" i="1" sz="1665">
                            <a:latin typeface="Cambria Math"/>
                          </a:rPr>
                          <m:t>ℏ</m:t>
                        </m:r>
                      </m:den>
                    </m:f>
                  </m:oMath>
                </a14:m>
              </mc:Choice>
              <mc:Fallback>
                <a:r>
                  <a:rPr lang="en-US" sz="1664" i="1"/>
                  <a:t>-\,\frac{E_C}{\hbar}</a:t>
                </a:r>
              </mc:Fallback>
            </mc:AlternateContent>
          </a:p>
        </p:txBody>
      </p:sp>
      <p:sp>
        <p:nvSpPr>
          <p:cNvPr id="25" name="TextBox 24"/>
          <p:cNvSpPr txBox="1"/>
          <p:nvPr/>
        </p:nvSpPr>
        <p:spPr>
          <a:xfrm>
            <a:off x="575733" y="3870854"/>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The anharmonicity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α</m:t>
                    </m:r>
                  </m:oMath>
                </a14:m>
              </mc:Choice>
              <mc:Fallback>
                <a:r>
                  <a:rPr lang="en-US" sz="1664" i="1"/>
                  <a:t>\alpha</a:t>
                </a:r>
              </mc:Fallback>
            </mc:AlternateContent>
            <a:r>
              <a:rPr sz="1400" b="0" i="0">
                <a:solidFill>
                  <a:srgbClr val="4F4C56"/>
                </a:solidFill>
                <a:latin typeface="Montserrat"/>
                <a:ea typeface="Montserrat"/>
                <a:cs typeface="Montserrat"/>
              </a:rPr>
              <a:t> scales as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C</m:t>
                        </m:r>
                      </m:sub>
                    </m:sSub>
                  </m:oMath>
                </a14:m>
              </mc:Choice>
              <mc:Fallback>
                <a:r>
                  <a:rPr lang="en-US" sz="1664" i="1"/>
                  <a:t>E_C</a:t>
                </a:r>
              </mc:Fallback>
            </mc:AlternateContent>
            <a:r>
              <a:rPr sz="1400" b="0" i="0">
                <a:solidFill>
                  <a:srgbClr val="4F4C56"/>
                </a:solidFill>
                <a:latin typeface="Montserrat"/>
                <a:ea typeface="Montserrat"/>
                <a:cs typeface="Montserrat"/>
              </a:rPr>
              <a:t>, and the transition is selective precisely because the spectrum is no longer equally spaced.</a:t>
            </a:r>
          </a:p>
        </p:txBody>
      </p:sp>
      <p:sp>
        <p:nvSpPr>
          <p:cNvPr id="26" name="Rectangle 25"/>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28" name="TextBox 27"/>
          <p:cNvSpPr txBox="1"/>
          <p:nvPr/>
        </p:nvSpPr>
        <p:spPr>
          <a:xfrm>
            <a:off x="11237912" y="6565900"/>
            <a:ext cx="463021"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75 / 100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370" cy="388252"/>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Transmon Qubit</a:t>
            </a:r>
          </a:p>
        </p:txBody>
      </p:sp>
      <p:sp>
        <p:nvSpPr>
          <p:cNvPr id="6" name="TextBox 5"/>
          <p:cNvSpPr txBox="1"/>
          <p:nvPr/>
        </p:nvSpPr>
        <p:spPr>
          <a:xfrm>
            <a:off x="575733" y="1409881"/>
            <a:ext cx="11040370" cy="244568"/>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Transmon Hamiltonian</a:t>
            </a:r>
          </a:p>
        </p:txBody>
      </p:sp>
      <p:sp>
        <p:nvSpPr>
          <p:cNvPr id="7" name="TextBox 6"/>
          <p:cNvSpPr txBox="1"/>
          <p:nvPr/>
        </p:nvSpPr>
        <p:spPr>
          <a:xfrm>
            <a:off x="575733" y="1744751"/>
            <a:ext cx="11040370" cy="24010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 The transmon Hamiltonian can be written as: </a:t>
            </a:r>
          </a:p>
        </p:txBody>
      </p:sp>
      <p:sp>
        <p:nvSpPr>
          <p:cNvPr id="8" name="equation"/>
          <p:cNvSpPr txBox="1"/>
          <p:nvPr/>
        </p:nvSpPr>
        <p:spPr>
          <a:xfrm>
            <a:off x="575733" y="2120304"/>
            <a:ext cx="11040370" cy="237983"/>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box>
                            <m:e>
                              <m:limUpp>
                                <m:e>
                                  <m:r>
                                    <m:rPr>
                                      <m:sty m:val="i"/>
                                    </m:rPr>
                                    <a:rPr lang="en-US" i="1" sz="1568">
                                      <a:latin typeface="Cambria Math"/>
                                    </a:rPr>
                                    <m:t>H</m:t>
                                  </m:r>
                                </m:e>
                                <m:lim>
                                  <m:r>
                                    <m:rPr>
                                      <m:sty m:val="p"/>
                                    </m:rPr>
                                    <a:rPr lang="en-US" i="0" sz="1568">
                                      <a:latin typeface="Cambria Math"/>
                                    </a:rPr>
                                    <m:t>^</m:t>
                                  </m:r>
                                </m:lim>
                              </m:limUpp>
                            </m:e>
                          </m:box>
                        </m:e>
                        <m:sub>
                          <m:box>
                            <m:e>
                              <m:box>
                                <m:e>
                                  <m:r>
                                    <m:rPr>
                                      <m:sty m:val="p"/>
                                    </m:rPr>
                                    <a:rPr lang="en-US" i="0" sz="1568">
                                      <a:latin typeface="Cambria Math"/>
                                    </a:rPr>
                                    <m:t>transmon</m:t>
                                  </m:r>
                                </m:e>
                              </m:box>
                            </m:e>
                          </m:box>
                        </m:sub>
                      </m:sSub>
                      <m:r>
                        <m:rPr>
                          <m:sty m:val="p"/>
                        </m:rPr>
                        <a:rPr lang="en-US" i="0" sz="1568">
                          <a:latin typeface="Cambria Math"/>
                        </a:rPr>
                        <m:t>=</m:t>
                      </m:r>
                      <m:r>
                        <m:rPr>
                          <m:sty m:val="p"/>
                        </m:rPr>
                        <a:rPr lang="en-US" i="0" sz="1568">
                          <a:latin typeface="Cambria Math"/>
                        </a:rPr>
                        <m:t>4</m:t>
                      </m:r>
                      <m:sSub>
                        <m:e>
                          <m:r>
                            <m:rPr>
                              <m:sty m:val="i"/>
                            </m:rPr>
                            <a:rPr lang="en-US" i="1" sz="1568">
                              <a:latin typeface="Cambria Math"/>
                            </a:rPr>
                            <m:t>E</m:t>
                          </m:r>
                        </m:e>
                        <m:sub>
                          <m:r>
                            <m:rPr>
                              <m:sty m:val="i"/>
                            </m:rPr>
                            <a:rPr lang="en-US" i="1" sz="1568">
                              <a:latin typeface="Cambria Math"/>
                            </a:rPr>
                            <m:t>C</m:t>
                          </m:r>
                        </m:sub>
                      </m:sSub>
                      <m:r>
                        <m:rPr>
                          <m:sty m:val="p"/>
                        </m:rPr>
                        <a:rPr lang="en-US" i="0" sz="1568">
                          <a:latin typeface="Cambria Math"/>
                        </a:rPr>
                        <m:t>(</m:t>
                      </m:r>
                      <m:box>
                        <m:e>
                          <m:limUpp>
                            <m:e>
                              <m:r>
                                <m:rPr>
                                  <m:sty m:val="i"/>
                                </m:rPr>
                                <a:rPr lang="en-US" i="1" sz="1568">
                                  <a:latin typeface="Cambria Math"/>
                                </a:rPr>
                                <m:t>n</m:t>
                              </m:r>
                            </m:e>
                            <m:lim>
                              <m:r>
                                <m:rPr>
                                  <m:sty m:val="p"/>
                                </m:rPr>
                                <a:rPr lang="en-US" i="0" sz="1568">
                                  <a:latin typeface="Cambria Math"/>
                                </a:rPr>
                                <m:t>^</m:t>
                              </m:r>
                            </m:lim>
                          </m:limUpp>
                        </m:e>
                      </m:box>
                      <m:r>
                        <m:rPr>
                          <m:sty m:val="p"/>
                        </m:rPr>
                        <a:rPr lang="en-US" i="0" sz="1568">
                          <a:latin typeface="Cambria Math"/>
                        </a:rPr>
                        <m:t>−</m:t>
                      </m:r>
                      <m:sSub>
                        <m:e>
                          <m:r>
                            <m:rPr>
                              <m:sty m:val="i"/>
                            </m:rPr>
                            <a:rPr lang="en-US" i="1" sz="1568">
                              <a:latin typeface="Cambria Math"/>
                            </a:rPr>
                            <m:t>n</m:t>
                          </m:r>
                        </m:e>
                        <m:sub>
                          <m:r>
                            <m:rPr>
                              <m:sty m:val="i"/>
                            </m:rPr>
                            <a:rPr lang="en-US" i="1" sz="1568">
                              <a:latin typeface="Cambria Math"/>
                            </a:rPr>
                            <m:t>g</m:t>
                          </m:r>
                        </m:sub>
                      </m:sSub>
                      <m:sSup>
                        <m:e>
                          <m:r>
                            <m:rPr>
                              <m:sty m:val="p"/>
                            </m:rPr>
                            <a:rPr lang="en-US" i="0" sz="1568">
                              <a:latin typeface="Cambria Math"/>
                            </a:rPr>
                            <m:t>)</m:t>
                          </m:r>
                        </m:e>
                        <m:sup>
                          <m:r>
                            <m:rPr>
                              <m:sty m:val="p"/>
                            </m:rPr>
                            <a:rPr lang="en-US" i="0" sz="1568">
                              <a:latin typeface="Cambria Math"/>
                            </a:rPr>
                            <m:t>2</m:t>
                          </m:r>
                        </m:sup>
                      </m:sSup>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J</m:t>
                          </m:r>
                        </m:sub>
                      </m:sSub>
                      <m:r>
                        <m:rPr>
                          <m:sty m:val="p"/>
                        </m:rPr>
                        <a:rPr lang="en-US" i="0" sz="1568">
                          <a:latin typeface="Cambria Math"/>
                        </a:rPr>
                        <m:t>cos</m:t>
                      </m:r>
                      <m:r>
                        <m:rPr>
                          <m:sty m:val="p"/>
                        </m:rPr>
                        <a:rPr lang="en-US" i="0" sz="1568">
                          <a:latin typeface="Cambria Math"/>
                        </a:rPr>
                        <m:t/>
                      </m:r>
                      <m:box>
                        <m:e>
                          <m:limUpp>
                            <m:e>
                              <m:r>
                                <m:rPr>
                                  <m:sty m:val="i"/>
                                </m:rPr>
                                <a:rPr lang="en-US" i="1" sz="1568">
                                  <a:latin typeface="Cambria Math"/>
                                </a:rPr>
                                <m:t>φ</m:t>
                              </m:r>
                            </m:e>
                            <m:lim>
                              <m:r>
                                <m:rPr>
                                  <m:sty m:val="p"/>
                                </m:rPr>
                                <a:rPr lang="en-US" i="0" sz="1568">
                                  <a:latin typeface="Cambria Math"/>
                                </a:rPr>
                                <m:t>^</m:t>
                              </m:r>
                            </m:lim>
                          </m:limUpp>
                        </m:e>
                      </m:box>
                    </m:oMath>
                  </m:oMathPara>
                </a14:m>
              </mc:Choice>
              <mc:Fallback>
                <a:r>
                  <a:rPr lang="en-US" sz="1567" i="1"/>
                  <a:t>
                    \hat{H}_{\mathrm{transmon}}
                    =
                    4E_C(\hat{n} - n_g)^2
                    -
                    E_J\cos\hat{\varphi}
                    </a:t>
                </a:r>
              </mc:Fallback>
            </mc:AlternateContent>
          </a:p>
        </p:txBody>
      </p:sp>
      <p:sp>
        <p:nvSpPr>
          <p:cNvPr id="9" name="TextBox 8"/>
          <p:cNvSpPr txBox="1"/>
          <p:nvPr/>
        </p:nvSpPr>
        <p:spPr>
          <a:xfrm>
            <a:off x="575733" y="2493741"/>
            <a:ext cx="11040370" cy="24010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 where: </a:t>
            </a:r>
          </a:p>
        </p:txBody>
      </p:sp>
      <p:sp>
        <p:nvSpPr>
          <p:cNvPr id="10" name="TextBox 9"/>
          <p:cNvSpPr txBox="1"/>
          <p:nvPr/>
        </p:nvSpPr>
        <p:spPr>
          <a:xfrm>
            <a:off x="801489" y="2854244"/>
            <a:ext cx="10814614" cy="240100"/>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box>
                      <m:e>
                        <m:limUpp>
                          <m:e>
                            <m:r>
                              <m:rPr>
                                <m:sty m:val="i"/>
                              </m:rPr>
                              <a:rPr lang="en-US" i="1" sz="1665">
                                <a:latin typeface="Cambria Math"/>
                              </a:rPr>
                              <m:t>n</m:t>
                            </m:r>
                          </m:e>
                          <m:lim>
                            <m:r>
                              <m:rPr>
                                <m:sty m:val="p"/>
                              </m:rPr>
                              <a:rPr lang="en-US" i="0" sz="1665">
                                <a:latin typeface="Cambria Math"/>
                              </a:rPr>
                              <m:t>^</m:t>
                            </m:r>
                          </m:lim>
                        </m:limUpp>
                      </m:e>
                    </m:box>
                  </m:oMath>
                </a14:m>
              </mc:Choice>
              <mc:Fallback>
                <a:r>
                  <a:rPr lang="en-US" sz="1664" i="1"/>
                  <a:t>\hat{n}</a:t>
                </a:r>
              </mc:Fallback>
            </mc:AlternateContent>
            <a:r>
              <a:rPr sz="1400" b="0" i="0">
                <a:solidFill>
                  <a:srgbClr val="4F4C56"/>
                </a:solidFill>
                <a:latin typeface="Montserrat"/>
                <a:ea typeface="Montserrat"/>
                <a:cs typeface="Montserrat"/>
              </a:rPr>
              <a:t>: Cooper pair number operator.</a:t>
            </a:r>
          </a:p>
        </p:txBody>
      </p:sp>
      <p:sp>
        <p:nvSpPr>
          <p:cNvPr id="11" name="TextBox 10"/>
          <p:cNvSpPr txBox="1"/>
          <p:nvPr/>
        </p:nvSpPr>
        <p:spPr>
          <a:xfrm>
            <a:off x="801489" y="3139495"/>
            <a:ext cx="10814614" cy="240100"/>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box>
                      <m:e>
                        <m:limUpp>
                          <m:e>
                            <m:r>
                              <m:rPr>
                                <m:sty m:val="i"/>
                              </m:rPr>
                              <a:rPr lang="en-US" i="1" sz="1665">
                                <a:latin typeface="Cambria Math"/>
                              </a:rPr>
                              <m:t>φ</m:t>
                            </m:r>
                          </m:e>
                          <m:lim>
                            <m:r>
                              <m:rPr>
                                <m:sty m:val="p"/>
                              </m:rPr>
                              <a:rPr lang="en-US" i="0" sz="1665">
                                <a:latin typeface="Cambria Math"/>
                              </a:rPr>
                              <m:t>^</m:t>
                            </m:r>
                          </m:lim>
                        </m:limUpp>
                      </m:e>
                    </m:box>
                  </m:oMath>
                </a14:m>
              </mc:Choice>
              <mc:Fallback>
                <a:r>
                  <a:rPr lang="en-US" sz="1664" i="1"/>
                  <a:t>\hat{\varphi}</a:t>
                </a:r>
              </mc:Fallback>
            </mc:AlternateContent>
            <a:r>
              <a:rPr sz="1400" b="0" i="0">
                <a:solidFill>
                  <a:srgbClr val="4F4C56"/>
                </a:solidFill>
                <a:latin typeface="Montserrat"/>
                <a:ea typeface="Montserrat"/>
                <a:cs typeface="Montserrat"/>
              </a:rPr>
              <a:t>: the superconducting phase difference across the Josephson junction.</a:t>
            </a:r>
          </a:p>
        </p:txBody>
      </p:sp>
      <p:sp>
        <p:nvSpPr>
          <p:cNvPr id="12" name="TextBox 11"/>
          <p:cNvSpPr txBox="1"/>
          <p:nvPr/>
        </p:nvSpPr>
        <p:spPr>
          <a:xfrm>
            <a:off x="801489" y="3424746"/>
            <a:ext cx="10814614" cy="240100"/>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n</m:t>
                        </m:r>
                      </m:e>
                      <m:sub>
                        <m:r>
                          <m:rPr>
                            <m:sty m:val="i"/>
                          </m:rPr>
                          <a:rPr lang="en-US" i="1" sz="1665">
                            <a:latin typeface="Cambria Math"/>
                          </a:rPr>
                          <m:t>g</m:t>
                        </m:r>
                      </m:sub>
                    </m:sSub>
                  </m:oMath>
                </a14:m>
              </mc:Choice>
              <mc:Fallback>
                <a:r>
                  <a:rPr lang="en-US" sz="1664" i="1"/>
                  <a:t>n_g</a:t>
                </a:r>
              </mc:Fallback>
            </mc:AlternateContent>
            <a:r>
              <a:rPr sz="1400" b="0" i="0">
                <a:solidFill>
                  <a:srgbClr val="4F4C56"/>
                </a:solidFill>
                <a:latin typeface="Montserrat"/>
                <a:ea typeface="Montserrat"/>
                <a:cs typeface="Montserrat"/>
              </a:rPr>
              <a:t>: offset charge, representing environmental charge noise or gate-induced charge.</a:t>
            </a:r>
          </a:p>
        </p:txBody>
      </p:sp>
      <p:sp>
        <p:nvSpPr>
          <p:cNvPr id="13" name="TextBox 12"/>
          <p:cNvSpPr txBox="1"/>
          <p:nvPr/>
        </p:nvSpPr>
        <p:spPr>
          <a:xfrm>
            <a:off x="801489" y="3709997"/>
            <a:ext cx="10814614" cy="240100"/>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C</m:t>
                        </m:r>
                      </m:sub>
                    </m:sSub>
                    <m:r>
                      <m:rPr>
                        <m:sty m:val="p"/>
                      </m:rPr>
                      <a:rPr lang="en-US" i="0" sz="1665">
                        <a:latin typeface="Cambria Math"/>
                      </a:rPr>
                      <m:t>=</m:t>
                    </m:r>
                    <m:sSup>
                      <m:e>
                        <m:r>
                          <m:rPr>
                            <m:sty m:val="i"/>
                          </m:rPr>
                          <a:rPr lang="en-US" i="1" sz="1665">
                            <a:latin typeface="Cambria Math"/>
                          </a:rPr>
                          <m:t>e</m:t>
                        </m:r>
                      </m:e>
                      <m:sup>
                        <m:r>
                          <m:rPr>
                            <m:sty m:val="p"/>
                          </m:rPr>
                          <a:rPr lang="en-US" i="0" sz="1665">
                            <a:latin typeface="Cambria Math"/>
                          </a:rPr>
                          <m:t>2</m:t>
                        </m:r>
                      </m:sup>
                    </m:sSup>
                    <m:box>
                      <m:e>
                        <m:r>
                          <m:rPr>
                            <m:sty m:val="p"/>
                          </m:rPr>
                          <a:rPr lang="en-US" i="0" sz="1665">
                            <a:latin typeface="Cambria Math"/>
                          </a:rPr>
                          <m:t>/</m:t>
                        </m:r>
                      </m:e>
                    </m:box>
                    <m:r>
                      <m:rPr>
                        <m:sty m:val="p"/>
                      </m:rPr>
                      <a:rPr lang="en-US" i="0" sz="1665">
                        <a:latin typeface="Cambria Math"/>
                      </a:rPr>
                      <m:t>2</m:t>
                    </m:r>
                    <m:sSub>
                      <m:e>
                        <m:r>
                          <m:rPr>
                            <m:sty m:val="i"/>
                          </m:rPr>
                          <a:rPr lang="en-US" i="1" sz="1665">
                            <a:latin typeface="Cambria Math"/>
                          </a:rPr>
                          <m:t>C</m:t>
                        </m:r>
                      </m:e>
                      <m:sub>
                        <m:r>
                          <m:rPr>
                            <m:sty m:val="p"/>
                          </m:rPr>
                          <a:rPr lang="en-US" i="0" sz="1665">
                            <a:latin typeface="Cambria Math"/>
                          </a:rPr>
                          <m:t>Σ</m:t>
                        </m:r>
                      </m:sub>
                    </m:sSub>
                  </m:oMath>
                </a14:m>
              </mc:Choice>
              <mc:Fallback>
                <a:r>
                  <a:rPr lang="en-US" sz="1664" i="1"/>
                  <a:t>E_C = e^2 / 2C_\Sigma</a:t>
                </a:r>
              </mc:Fallback>
            </mc:AlternateContent>
            <a:r>
              <a:rPr sz="1400" b="0" i="0">
                <a:solidFill>
                  <a:srgbClr val="4F4C56"/>
                </a:solidFill>
                <a:latin typeface="Montserrat"/>
                <a:ea typeface="Montserrat"/>
                <a:cs typeface="Montserrat"/>
              </a:rPr>
              <a:t>: the charging energy, set by the total capacitance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C</m:t>
                        </m:r>
                      </m:e>
                      <m:sub>
                        <m:r>
                          <m:rPr>
                            <m:sty m:val="p"/>
                          </m:rPr>
                          <a:rPr lang="en-US" i="0" sz="1665">
                            <a:latin typeface="Cambria Math"/>
                          </a:rPr>
                          <m:t>Σ</m:t>
                        </m:r>
                      </m:sub>
                    </m:sSub>
                  </m:oMath>
                </a14:m>
              </mc:Choice>
              <mc:Fallback>
                <a:r>
                  <a:rPr lang="en-US" sz="1664" i="1"/>
                  <a:t>C_\Sigma</a:t>
                </a:r>
              </mc:Fallback>
            </mc:AlternateContent>
            <a:r>
              <a:rPr sz="1400" b="0" i="0">
                <a:solidFill>
                  <a:srgbClr val="4F4C56"/>
                </a:solidFill>
                <a:latin typeface="Montserrat"/>
                <a:ea typeface="Montserrat"/>
                <a:cs typeface="Montserrat"/>
              </a:rPr>
              <a:t>.</a:t>
            </a:r>
          </a:p>
        </p:txBody>
      </p:sp>
      <p:sp>
        <p:nvSpPr>
          <p:cNvPr id="14" name="TextBox 13"/>
          <p:cNvSpPr txBox="1"/>
          <p:nvPr/>
        </p:nvSpPr>
        <p:spPr>
          <a:xfrm>
            <a:off x="801489" y="3995248"/>
            <a:ext cx="10814614" cy="240100"/>
          </a:xfrm>
          <a:prstGeom prst="rect">
            <a:avLst/>
          </a:prstGeom>
          <a:noFill/>
        </p:spPr>
        <p:txBody>
          <a:bodyPr wrap="non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J</m:t>
                        </m:r>
                      </m:sub>
                    </m:sSub>
                    <m:r>
                      <m:rPr>
                        <m:sty m:val="p"/>
                      </m:rPr>
                      <a:rPr lang="en-US" i="0" sz="1665">
                        <a:latin typeface="Cambria Math"/>
                      </a:rPr>
                      <m:t>=</m:t>
                    </m:r>
                    <m:sSub>
                      <m:e>
                        <m:r>
                          <m:rPr>
                            <m:sty m:val="p"/>
                          </m:rPr>
                          <a:rPr lang="en-US" i="0" sz="1665">
                            <a:latin typeface="Cambria Math"/>
                          </a:rPr>
                          <m:t>Φ</m:t>
                        </m:r>
                      </m:e>
                      <m:sub>
                        <m:r>
                          <m:rPr>
                            <m:sty m:val="p"/>
                          </m:rPr>
                          <a:rPr lang="en-US" i="0" sz="1665">
                            <a:latin typeface="Cambria Math"/>
                          </a:rPr>
                          <m:t>0</m:t>
                        </m:r>
                      </m:sub>
                    </m:sSub>
                    <m:sSub>
                      <m:e>
                        <m:r>
                          <m:rPr>
                            <m:sty m:val="i"/>
                          </m:rPr>
                          <a:rPr lang="en-US" i="1" sz="1665">
                            <a:latin typeface="Cambria Math"/>
                          </a:rPr>
                          <m:t>I</m:t>
                        </m:r>
                      </m:e>
                      <m:sub>
                        <m:r>
                          <m:rPr>
                            <m:sty m:val="i"/>
                          </m:rPr>
                          <a:rPr lang="en-US" i="1" sz="1665">
                            <a:latin typeface="Cambria Math"/>
                          </a:rPr>
                          <m:t>c</m:t>
                        </m:r>
                      </m:sub>
                    </m:sSub>
                    <m:box>
                      <m:e>
                        <m:r>
                          <m:rPr>
                            <m:sty m:val="p"/>
                          </m:rPr>
                          <a:rPr lang="en-US" i="0" sz="1665">
                            <a:latin typeface="Cambria Math"/>
                          </a:rPr>
                          <m:t>/</m:t>
                        </m:r>
                      </m:e>
                    </m:box>
                    <m:r>
                      <m:rPr>
                        <m:sty m:val="p"/>
                      </m:rPr>
                      <a:rPr lang="en-US" i="0" sz="1665">
                        <a:latin typeface="Cambria Math"/>
                      </a:rPr>
                      <m:t>2</m:t>
                    </m:r>
                    <m:r>
                      <m:rPr>
                        <m:sty m:val="i"/>
                      </m:rPr>
                      <a:rPr lang="en-US" i="1" sz="1665">
                        <a:latin typeface="Cambria Math"/>
                      </a:rPr>
                      <m:t>π</m:t>
                    </m:r>
                  </m:oMath>
                </a14:m>
              </mc:Choice>
              <mc:Fallback>
                <a:r>
                  <a:rPr lang="en-US" sz="1664" i="1"/>
                  <a:t>E_J = \Phi_0 I_c / 2\pi</a:t>
                </a:r>
              </mc:Fallback>
            </mc:AlternateContent>
            <a:r>
              <a:rPr sz="1400" b="0" i="0">
                <a:solidFill>
                  <a:srgbClr val="4F4C56"/>
                </a:solidFill>
                <a:latin typeface="Montserrat"/>
                <a:ea typeface="Montserrat"/>
                <a:cs typeface="Montserrat"/>
              </a:rPr>
              <a:t>: the Josephson energy, set by the junction critical current.</a:t>
            </a:r>
          </a:p>
        </p:txBody>
      </p:sp>
      <p:sp>
        <p:nvSpPr>
          <p:cNvPr id="15" name="TextBox 14"/>
          <p:cNvSpPr txBox="1"/>
          <p:nvPr/>
        </p:nvSpPr>
        <p:spPr>
          <a:xfrm>
            <a:off x="575733" y="4385851"/>
            <a:ext cx="11040370" cy="24010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 An important transmon design condition is: </a:t>
            </a:r>
          </a:p>
        </p:txBody>
      </p:sp>
      <p:sp>
        <p:nvSpPr>
          <p:cNvPr id="16" name="equation"/>
          <p:cNvSpPr txBox="1"/>
          <p:nvPr/>
        </p:nvSpPr>
        <p:spPr>
          <a:xfrm>
            <a:off x="575733" y="4761404"/>
            <a:ext cx="11040370" cy="390251"/>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f>
                        <m:num>
                          <m:sSub>
                            <m:e>
                              <m:r>
                                <m:rPr>
                                  <m:sty m:val="i"/>
                                </m:rPr>
                                <a:rPr lang="en-US" i="1" sz="1568">
                                  <a:latin typeface="Cambria Math"/>
                                </a:rPr>
                                <m:t>E</m:t>
                              </m:r>
                            </m:e>
                            <m:sub>
                              <m:r>
                                <m:rPr>
                                  <m:sty m:val="i"/>
                                </m:rPr>
                                <a:rPr lang="en-US" i="1" sz="1568">
                                  <a:latin typeface="Cambria Math"/>
                                </a:rPr>
                                <m:t>J</m:t>
                              </m:r>
                            </m:sub>
                          </m:sSub>
                        </m:num>
                        <m:den>
                          <m:sSub>
                            <m:e>
                              <m:r>
                                <m:rPr>
                                  <m:sty m:val="i"/>
                                </m:rPr>
                                <a:rPr lang="en-US" i="1" sz="1568">
                                  <a:latin typeface="Cambria Math"/>
                                </a:rPr>
                                <m:t>E</m:t>
                              </m:r>
                            </m:e>
                            <m:sub>
                              <m:r>
                                <m:rPr>
                                  <m:sty m:val="i"/>
                                </m:rPr>
                                <a:rPr lang="en-US" i="1" sz="1568">
                                  <a:latin typeface="Cambria Math"/>
                                </a:rPr>
                                <m:t>C</m:t>
                              </m:r>
                            </m:sub>
                          </m:sSub>
                        </m:den>
                      </m:f>
                      <m:r>
                        <m:rPr>
                          <m:sty m:val="p"/>
                        </m:rPr>
                        <a:rPr lang="en-US" i="0" sz="1568">
                          <a:latin typeface="Cambria Math"/>
                        </a:rPr>
                        <m:t>≫</m:t>
                      </m:r>
                      <m:r>
                        <m:rPr>
                          <m:sty m:val="p"/>
                        </m:rPr>
                        <a:rPr lang="en-US" i="0" sz="1568">
                          <a:latin typeface="Cambria Math"/>
                        </a:rPr>
                        <m:t>1</m:t>
                      </m:r>
                    </m:oMath>
                  </m:oMathPara>
                </a14:m>
              </mc:Choice>
              <mc:Fallback>
                <a:r>
                  <a:rPr lang="en-US" sz="1567" i="1"/>
                  <a:t>
                    \frac{E_J}{E_C} \gg 1
                    </a:t>
                </a:r>
              </mc:Fallback>
            </mc:AlternateContent>
          </a:p>
        </p:txBody>
      </p:sp>
      <p:sp>
        <p:nvSpPr>
          <p:cNvPr id="17" name="TextBox 16"/>
          <p:cNvSpPr txBox="1"/>
          <p:nvPr/>
        </p:nvSpPr>
        <p:spPr>
          <a:xfrm>
            <a:off x="575733" y="5287109"/>
            <a:ext cx="11040370" cy="480200"/>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In this regime, the sensitivity of the energy levels to offset charge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n</m:t>
                        </m:r>
                      </m:e>
                      <m:sub>
                        <m:r>
                          <m:rPr>
                            <m:sty m:val="i"/>
                          </m:rPr>
                          <a:rPr lang="en-US" i="1" sz="1665">
                            <a:latin typeface="Cambria Math"/>
                          </a:rPr>
                          <m:t>g</m:t>
                        </m:r>
                      </m:sub>
                    </m:sSub>
                  </m:oMath>
                </a14:m>
              </mc:Choice>
              <mc:Fallback>
                <a:r>
                  <a:rPr lang="en-US" sz="1664" i="1"/>
                  <a:t>n_g</a:t>
                </a:r>
              </mc:Fallback>
            </mc:AlternateContent>
            <a:r>
              <a:rPr sz="1400" b="0" i="0">
                <a:solidFill>
                  <a:srgbClr val="4F4C56"/>
                </a:solidFill>
                <a:latin typeface="Montserrat"/>
                <a:ea typeface="Montserrat"/>
                <a:cs typeface="Montserrat"/>
              </a:rPr>
              <a:t> is strongly suppressed, while enough anharmonicity remains for the two lowest levels to serve as a qubit. </a:t>
            </a:r>
          </a:p>
        </p:txBody>
      </p:sp>
      <p:sp>
        <p:nvSpPr>
          <p:cNvPr id="18" name="Rectangle 17"/>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20" name="TextBox 19"/>
          <p:cNvSpPr txBox="1"/>
          <p:nvPr/>
        </p:nvSpPr>
        <p:spPr>
          <a:xfrm>
            <a:off x="11233282" y="6565900"/>
            <a:ext cx="467651"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76 / 100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1041400"/>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Energy Spectrum and Anharmonicity</a:t>
            </a:r>
          </a:p>
        </p:txBody>
      </p:sp>
      <p:sp>
        <p:nvSpPr>
          <p:cNvPr id="6" name="TextBox 5"/>
          <p:cNvSpPr txBox="1"/>
          <p:nvPr/>
        </p:nvSpPr>
        <p:spPr>
          <a:xfrm>
            <a:off x="575733" y="1418167"/>
            <a:ext cx="11040533"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Under the approximation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J</m:t>
                        </m:r>
                      </m:sub>
                    </m:sSub>
                    <m:box>
                      <m:e>
                        <m:r>
                          <m:rPr>
                            <m:sty m:val="p"/>
                          </m:rPr>
                          <a:rPr lang="en-US" i="0" sz="1665">
                            <a:latin typeface="Cambria Math"/>
                          </a:rPr>
                          <m:t>/</m:t>
                        </m:r>
                      </m:e>
                    </m:box>
                    <m:sSub>
                      <m:e>
                        <m:r>
                          <m:rPr>
                            <m:sty m:val="i"/>
                          </m:rPr>
                          <a:rPr lang="en-US" i="1" sz="1665">
                            <a:latin typeface="Cambria Math"/>
                          </a:rPr>
                          <m:t>E</m:t>
                        </m:r>
                      </m:e>
                      <m:sub>
                        <m:r>
                          <m:rPr>
                            <m:sty m:val="i"/>
                          </m:rPr>
                          <a:rPr lang="en-US" i="1" sz="1665">
                            <a:latin typeface="Cambria Math"/>
                          </a:rPr>
                          <m:t>C</m:t>
                        </m:r>
                      </m:sub>
                    </m:sSub>
                    <m:r>
                      <m:rPr>
                        <m:sty m:val="p"/>
                      </m:rPr>
                      <a:rPr lang="en-US" i="0" sz="1665">
                        <a:latin typeface="Cambria Math"/>
                      </a:rPr>
                      <m:t>≫</m:t>
                    </m:r>
                    <m:r>
                      <m:rPr>
                        <m:sty m:val="p"/>
                      </m:rPr>
                      <a:rPr lang="en-US" i="0" sz="1665">
                        <a:latin typeface="Cambria Math"/>
                      </a:rPr>
                      <m:t>1</m:t>
                    </m:r>
                  </m:oMath>
                </a14:m>
              </mc:Choice>
              <mc:Fallback>
                <a:r>
                  <a:rPr lang="en-US" sz="1664" i="1"/>
                  <a:t>E_J/E_C \gg 1</a:t>
                </a:r>
              </mc:Fallback>
            </mc:AlternateContent>
            <a:r>
              <a:rPr sz="1400" b="0" i="0">
                <a:solidFill>
                  <a:srgbClr val="4F4C56"/>
                </a:solidFill>
                <a:latin typeface="Montserrat"/>
                <a:ea typeface="Montserrat"/>
                <a:cs typeface="Montserrat"/>
              </a:rPr>
              <a:t>, the lowest transmon levels form an approximate weakly anharmonic oscillator. Its </a:t>
            </a:r>
            <mc:AlternateContent xmlns:mc="http://schemas.openxmlformats.org/markup-compatibility/2006">
              <mc:Choice xmlns:a14="http://schemas.microsoft.com/office/drawing/2010/main" Requires="a14">
                <a14:m>
                  <m:oMath xmlns:m="http://schemas.openxmlformats.org/officeDocument/2006/math">
                    <m:box>
                      <m:e>
                        <m:r>
                          <m:rPr>
                            <m:sty m:val="p"/>
                          </m:rPr>
                          <a:rPr lang="en-US" i="0" sz="1665">
                            <a:latin typeface="Cambria Math"/>
                          </a:rPr>
                          <m:t>|</m:t>
                        </m:r>
                        <m:box>
                          <m:e>
                            <m:r>
                              <m:rPr>
                                <m:sty m:val="p"/>
                              </m:rPr>
                              <a:rPr lang="en-US" i="0" sz="1665">
                                <a:latin typeface="Cambria Math"/>
                              </a:rPr>
                              <m:t>0</m:t>
                            </m:r>
                          </m:e>
                        </m:box>
                        <m:r>
                          <m:rPr>
                            <m:sty m:val="p"/>
                          </m:rPr>
                          <a:rPr lang="en-US" i="0" sz="1665">
                            <a:latin typeface="Cambria Math"/>
                          </a:rPr>
                          <m:t>⟩</m:t>
                        </m:r>
                      </m:e>
                    </m:box>
                    <m:r>
                      <m:rPr>
                        <m:sty m:val="p"/>
                      </m:rPr>
                      <a:rPr lang="en-US" i="0" sz="1665">
                        <a:latin typeface="Cambria Math"/>
                      </a:rPr>
                      <m:t>→</m:t>
                    </m:r>
                    <m:box>
                      <m:e>
                        <m:r>
                          <m:rPr>
                            <m:sty m:val="p"/>
                          </m:rPr>
                          <a:rPr lang="en-US" i="0" sz="1665">
                            <a:latin typeface="Cambria Math"/>
                          </a:rPr>
                          <m:t>|</m:t>
                        </m:r>
                        <m:box>
                          <m:e>
                            <m:r>
                              <m:rPr>
                                <m:sty m:val="p"/>
                              </m:rPr>
                              <a:rPr lang="en-US" i="0" sz="1665">
                                <a:latin typeface="Cambria Math"/>
                              </a:rPr>
                              <m:t>1</m:t>
                            </m:r>
                          </m:e>
                        </m:box>
                        <m:r>
                          <m:rPr>
                            <m:sty m:val="p"/>
                          </m:rPr>
                          <a:rPr lang="en-US" i="0" sz="1665">
                            <a:latin typeface="Cambria Math"/>
                          </a:rPr>
                          <m:t>⟩</m:t>
                        </m:r>
                      </m:e>
                    </m:box>
                  </m:oMath>
                </a14:m>
              </mc:Choice>
              <mc:Fallback>
                <a:r>
                  <a:rPr lang="en-US" sz="1664" i="1"/>
                  <a:t>\ket{0} \rightarrow \ket{1}</a:t>
                </a:r>
              </mc:Fallback>
            </mc:AlternateContent>
            <a:r>
              <a:rPr sz="1400" b="0" i="0">
                <a:solidFill>
                  <a:srgbClr val="4F4C56"/>
                </a:solidFill>
                <a:latin typeface="Montserrat"/>
                <a:ea typeface="Montserrat"/>
                <a:cs typeface="Montserrat"/>
              </a:rPr>
              <a:t> transition frequency is approximately: </a:t>
            </a:r>
          </a:p>
        </p:txBody>
      </p:sp>
      <p:sp>
        <p:nvSpPr>
          <p:cNvPr id="7" name="equation"/>
          <p:cNvSpPr txBox="1"/>
          <p:nvPr/>
        </p:nvSpPr>
        <p:spPr>
          <a:xfrm>
            <a:off x="575733" y="2110846"/>
            <a:ext cx="11040533" cy="447940"/>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568">
                              <a:latin typeface="Cambria Math"/>
                            </a:rPr>
                            <m:t>ω</m:t>
                          </m:r>
                        </m:e>
                        <m:sub>
                          <m:box>
                            <m:e>
                              <m:r>
                                <m:rPr>
                                  <m:sty m:val="p"/>
                                </m:rPr>
                                <a:rPr lang="en-US" i="0" sz="1568">
                                  <a:latin typeface="Cambria Math"/>
                                </a:rPr>
                                <m:t>01</m:t>
                              </m:r>
                            </m:e>
                          </m:box>
                        </m:sub>
                      </m:sSub>
                      <m:r>
                        <m:rPr>
                          <m:sty m:val="p"/>
                        </m:rPr>
                        <a:rPr lang="en-US" i="0" sz="1568">
                          <a:latin typeface="Cambria Math"/>
                        </a:rPr>
                        <m:t>≈</m:t>
                      </m:r>
                      <m:f>
                        <m:num>
                          <m:box>
                            <m:e>
                              <m:rad>
                                <m:radPr>
                                  <m:degHide m:val="1"/>
                                </m:radPr>
                                <m:deg/>
                                <m:e>
                                  <m:box>
                                    <m:e>
                                      <m:r>
                                        <m:rPr>
                                          <m:sty m:val="p"/>
                                        </m:rPr>
                                        <a:rPr lang="en-US" i="0" sz="1568">
                                          <a:latin typeface="Cambria Math"/>
                                        </a:rPr>
                                        <m:t>8</m:t>
                                      </m:r>
                                      <m:sSub>
                                        <m:e>
                                          <m:r>
                                            <m:rPr>
                                              <m:sty m:val="i"/>
                                            </m:rPr>
                                            <a:rPr lang="en-US" i="1" sz="1568">
                                              <a:latin typeface="Cambria Math"/>
                                            </a:rPr>
                                            <m:t>E</m:t>
                                          </m:r>
                                        </m:e>
                                        <m:sub>
                                          <m:r>
                                            <m:rPr>
                                              <m:sty m:val="i"/>
                                            </m:rPr>
                                            <a:rPr lang="en-US" i="1" sz="1568">
                                              <a:latin typeface="Cambria Math"/>
                                            </a:rPr>
                                            <m:t>J</m:t>
                                          </m:r>
                                        </m:sub>
                                      </m:sSub>
                                      <m:sSub>
                                        <m:e>
                                          <m:r>
                                            <m:rPr>
                                              <m:sty m:val="i"/>
                                            </m:rPr>
                                            <a:rPr lang="en-US" i="1" sz="1568">
                                              <a:latin typeface="Cambria Math"/>
                                            </a:rPr>
                                            <m:t>E</m:t>
                                          </m:r>
                                        </m:e>
                                        <m:sub>
                                          <m:r>
                                            <m:rPr>
                                              <m:sty m:val="i"/>
                                            </m:rPr>
                                            <a:rPr lang="en-US" i="1" sz="1568">
                                              <a:latin typeface="Cambria Math"/>
                                            </a:rPr>
                                            <m:t>C</m:t>
                                          </m:r>
                                        </m:sub>
                                      </m:sSub>
                                    </m:e>
                                  </m:box>
                                </m:e>
                              </m:rad>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C</m:t>
                                  </m:r>
                                </m:sub>
                              </m:sSub>
                            </m:e>
                          </m:box>
                        </m:num>
                        <m:den>
                          <m:r>
                            <m:rPr>
                              <m:sty m:val="i"/>
                            </m:rPr>
                            <a:rPr lang="en-US" i="1" sz="1568">
                              <a:latin typeface="Cambria Math"/>
                            </a:rPr>
                            <m:t>ℏ</m:t>
                          </m:r>
                        </m:den>
                      </m:f>
                    </m:oMath>
                  </m:oMathPara>
                </a14:m>
              </mc:Choice>
              <mc:Fallback>
                <a:r>
                  <a:rPr lang="en-US" sz="1567" i="1"/>
                  <a:t>
                    \omega_{01}
                    \approx
                    \frac{\sqrt{8E_JE_C} - E_C}{\hbar}
                    </a:t>
                </a:r>
              </mc:Fallback>
            </mc:AlternateContent>
          </a:p>
        </p:txBody>
      </p:sp>
      <p:sp>
        <p:nvSpPr>
          <p:cNvPr id="8" name="TextBox 7"/>
          <p:cNvSpPr txBox="1"/>
          <p:nvPr/>
        </p:nvSpPr>
        <p:spPr>
          <a:xfrm>
            <a:off x="575733" y="2711185"/>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 The transmon anharmonicity is approximately: </a:t>
            </a:r>
          </a:p>
        </p:txBody>
      </p:sp>
      <p:sp>
        <p:nvSpPr>
          <p:cNvPr id="9" name="equation"/>
          <p:cNvSpPr txBox="1"/>
          <p:nvPr/>
        </p:nvSpPr>
        <p:spPr>
          <a:xfrm>
            <a:off x="575733" y="3133725"/>
            <a:ext cx="11040533" cy="408781"/>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568">
                          <a:latin typeface="Cambria Math"/>
                        </a:rPr>
                        <m:t>α</m:t>
                      </m:r>
                      <m:r>
                        <m:rPr>
                          <m:sty m:val="p"/>
                        </m:rPr>
                        <a:rPr lang="en-US" i="0" sz="1568">
                          <a:latin typeface="Cambria Math"/>
                        </a:rPr>
                        <m:t>=</m:t>
                      </m:r>
                      <m:sSub>
                        <m:e>
                          <m:r>
                            <m:rPr>
                              <m:sty m:val="i"/>
                            </m:rPr>
                            <a:rPr lang="en-US" i="1" sz="1568">
                              <a:latin typeface="Cambria Math"/>
                            </a:rPr>
                            <m:t>ω</m:t>
                          </m:r>
                        </m:e>
                        <m:sub>
                          <m:box>
                            <m:e>
                              <m:r>
                                <m:rPr>
                                  <m:sty m:val="p"/>
                                </m:rPr>
                                <a:rPr lang="en-US" i="0" sz="1568">
                                  <a:latin typeface="Cambria Math"/>
                                </a:rPr>
                                <m:t>12</m:t>
                              </m:r>
                            </m:e>
                          </m:box>
                        </m:sub>
                      </m:sSub>
                      <m:r>
                        <m:rPr>
                          <m:sty m:val="p"/>
                        </m:rPr>
                        <a:rPr lang="en-US" i="0" sz="1568">
                          <a:latin typeface="Cambria Math"/>
                        </a:rPr>
                        <m:t>−</m:t>
                      </m:r>
                      <m:sSub>
                        <m:e>
                          <m:r>
                            <m:rPr>
                              <m:sty m:val="i"/>
                            </m:rPr>
                            <a:rPr lang="en-US" i="1" sz="1568">
                              <a:latin typeface="Cambria Math"/>
                            </a:rPr>
                            <m:t>ω</m:t>
                          </m:r>
                        </m:e>
                        <m:sub>
                          <m:box>
                            <m:e>
                              <m:r>
                                <m:rPr>
                                  <m:sty m:val="p"/>
                                </m:rPr>
                                <a:rPr lang="en-US" i="0" sz="1568">
                                  <a:latin typeface="Cambria Math"/>
                                </a:rPr>
                                <m:t>01</m:t>
                              </m:r>
                            </m:e>
                          </m:box>
                        </m:sub>
                      </m:sSub>
                      <m:r>
                        <m:rPr>
                          <m:sty m:val="p"/>
                        </m:rPr>
                        <a:rPr lang="en-US" i="0" sz="1568">
                          <a:latin typeface="Cambria Math"/>
                        </a:rPr>
                        <m:t>≈</m:t>
                      </m:r>
                      <m:r>
                        <m:rPr>
                          <m:sty m:val="p"/>
                        </m:rPr>
                        <a:rPr lang="en-US" i="0" sz="1568">
                          <a:latin typeface="Cambria Math"/>
                        </a:rPr>
                        <m:t>−</m:t>
                      </m:r>
                      <m:f>
                        <m:num>
                          <m:sSub>
                            <m:e>
                              <m:r>
                                <m:rPr>
                                  <m:sty m:val="i"/>
                                </m:rPr>
                                <a:rPr lang="en-US" i="1" sz="1568">
                                  <a:latin typeface="Cambria Math"/>
                                </a:rPr>
                                <m:t>E</m:t>
                              </m:r>
                            </m:e>
                            <m:sub>
                              <m:r>
                                <m:rPr>
                                  <m:sty m:val="i"/>
                                </m:rPr>
                                <a:rPr lang="en-US" i="1" sz="1568">
                                  <a:latin typeface="Cambria Math"/>
                                </a:rPr>
                                <m:t>C</m:t>
                              </m:r>
                            </m:sub>
                          </m:sSub>
                        </m:num>
                        <m:den>
                          <m:r>
                            <m:rPr>
                              <m:sty m:val="i"/>
                            </m:rPr>
                            <a:rPr lang="en-US" i="1" sz="1568">
                              <a:latin typeface="Cambria Math"/>
                            </a:rPr>
                            <m:t>ℏ</m:t>
                          </m:r>
                        </m:den>
                      </m:f>
                    </m:oMath>
                  </m:oMathPara>
                </a14:m>
              </mc:Choice>
              <mc:Fallback>
                <a:r>
                  <a:rPr lang="en-US" sz="1567" i="1"/>
                  <a:t>
                    \alpha
                    =
                    \omega_{12} - \omega_{01}
                    \approx
                    -\frac{E_C}{\hbar}
                    </a:t>
                </a:r>
              </mc:Fallback>
            </mc:AlternateContent>
          </a:p>
        </p:txBody>
      </p:sp>
      <p:sp>
        <p:nvSpPr>
          <p:cNvPr id="10" name="TextBox 9"/>
          <p:cNvSpPr txBox="1"/>
          <p:nvPr/>
        </p:nvSpPr>
        <p:spPr>
          <a:xfrm>
            <a:off x="575733" y="3694906"/>
            <a:ext cx="11040533"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Anharmonicity is an important parameter for quantum-gate control. If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r>
                      <m:rPr>
                        <m:sty m:val="i"/>
                      </m:rPr>
                      <a:rPr lang="en-US" i="1" sz="1665">
                        <a:latin typeface="Cambria Math"/>
                      </a:rPr>
                      <m:t>α</m:t>
                    </m:r>
                    <m:r>
                      <m:rPr>
                        <m:sty m:val="p"/>
                      </m:rPr>
                      <a:rPr lang="en-US" i="0" sz="1665">
                        <a:latin typeface="Cambria Math"/>
                      </a:rPr>
                      <m:t>|</m:t>
                    </m:r>
                  </m:oMath>
                </a14:m>
              </mc:Choice>
              <mc:Fallback>
                <a:r>
                  <a:rPr lang="en-US" sz="1664" i="1"/>
                  <a:t>|\alpha|</a:t>
                </a:r>
              </mc:Fallback>
            </mc:AlternateContent>
            <a:r>
              <a:rPr sz="1400" b="0" i="0">
                <a:solidFill>
                  <a:srgbClr val="4F4C56"/>
                </a:solidFill>
                <a:latin typeface="Montserrat"/>
                <a:ea typeface="Montserrat"/>
                <a:cs typeface="Montserrat"/>
              </a:rPr>
              <a:t> is too small, microwave pulses readily cause leakage into </a:t>
            </a:r>
            <mc:AlternateContent xmlns:mc="http://schemas.openxmlformats.org/markup-compatibility/2006">
              <mc:Choice xmlns:a14="http://schemas.microsoft.com/office/drawing/2010/main" Requires="a14">
                <a14:m>
                  <m:oMath xmlns:m="http://schemas.openxmlformats.org/officeDocument/2006/math">
                    <m:box>
                      <m:e>
                        <m:r>
                          <m:rPr>
                            <m:sty m:val="p"/>
                          </m:rPr>
                          <a:rPr lang="en-US" i="0" sz="1665">
                            <a:latin typeface="Cambria Math"/>
                          </a:rPr>
                          <m:t>|</m:t>
                        </m:r>
                        <m:box>
                          <m:e>
                            <m:r>
                              <m:rPr>
                                <m:sty m:val="p"/>
                              </m:rPr>
                              <a:rPr lang="en-US" i="0" sz="1665">
                                <a:latin typeface="Cambria Math"/>
                              </a:rPr>
                              <m:t>2</m:t>
                            </m:r>
                          </m:e>
                        </m:box>
                        <m:r>
                          <m:rPr>
                            <m:sty m:val="p"/>
                          </m:rPr>
                          <a:rPr lang="en-US" i="0" sz="1665">
                            <a:latin typeface="Cambria Math"/>
                          </a:rPr>
                          <m:t>⟩</m:t>
                        </m:r>
                      </m:e>
                    </m:box>
                  </m:oMath>
                </a14:m>
              </mc:Choice>
              <mc:Fallback>
                <a:r>
                  <a:rPr lang="en-US" sz="1664" i="1"/>
                  <a:t>\ket{2}</a:t>
                </a:r>
              </mc:Fallback>
            </mc:AlternateContent>
            <a:r>
              <a:rPr sz="1400" b="0" i="0">
                <a:solidFill>
                  <a:srgbClr val="4F4C56"/>
                </a:solidFill>
                <a:latin typeface="Montserrat"/>
                <a:ea typeface="Montserrat"/>
                <a:cs typeface="Montserrat"/>
              </a:rPr>
              <a:t>; if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r>
                      <m:rPr>
                        <m:sty m:val="i"/>
                      </m:rPr>
                      <a:rPr lang="en-US" i="1" sz="1665">
                        <a:latin typeface="Cambria Math"/>
                      </a:rPr>
                      <m:t>α</m:t>
                    </m:r>
                    <m:r>
                      <m:rPr>
                        <m:sty m:val="p"/>
                      </m:rPr>
                      <a:rPr lang="en-US" i="0" sz="1665">
                        <a:latin typeface="Cambria Math"/>
                      </a:rPr>
                      <m:t>|</m:t>
                    </m:r>
                  </m:oMath>
                </a14:m>
              </mc:Choice>
              <mc:Fallback>
                <a:r>
                  <a:rPr lang="en-US" sz="1664" i="1"/>
                  <a:t>|\alpha|</a:t>
                </a:r>
              </mc:Fallback>
            </mc:AlternateContent>
            <a:r>
              <a:rPr sz="1400" b="0" i="0">
                <a:solidFill>
                  <a:srgbClr val="4F4C56"/>
                </a:solidFill>
                <a:latin typeface="Montserrat"/>
                <a:ea typeface="Montserrat"/>
                <a:cs typeface="Montserrat"/>
              </a:rPr>
              <a:t> is too large, it usually implies larger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C</m:t>
                        </m:r>
                      </m:sub>
                    </m:sSub>
                  </m:oMath>
                </a14:m>
              </mc:Choice>
              <mc:Fallback>
                <a:r>
                  <a:rPr lang="en-US" sz="1664" i="1"/>
                  <a:t>E_C</a:t>
                </a:r>
              </mc:Fallback>
            </mc:AlternateContent>
            <a:r>
              <a:rPr sz="1400" b="0" i="0">
                <a:solidFill>
                  <a:srgbClr val="4F4C56"/>
                </a:solidFill>
                <a:latin typeface="Montserrat"/>
                <a:ea typeface="Montserrat"/>
                <a:cs typeface="Montserrat"/>
              </a:rPr>
              <a:t> and potentially greater charge-noise sensitivity. A transmon must therefore balance charge-noise protection against control selectivity. </a:t>
            </a:r>
          </a:p>
        </p:txBody>
      </p:sp>
      <p:sp>
        <p:nvSpPr>
          <p:cNvPr id="11" name="Rectangle 10"/>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3" name="TextBox 12"/>
          <p:cNvSpPr txBox="1"/>
          <p:nvPr/>
        </p:nvSpPr>
        <p:spPr>
          <a:xfrm>
            <a:off x="11233018" y="6565900"/>
            <a:ext cx="467916"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77 / 100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1041400"/>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Design of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982">
                            <a:latin typeface="Cambria Math"/>
                          </a:rPr>
                          <m:t>E</m:t>
                        </m:r>
                      </m:e>
                      <m:sub>
                        <m:r>
                          <m:rPr>
                            <m:sty m:val="i"/>
                          </m:rPr>
                          <a:rPr lang="en-US" i="1" sz="1982">
                            <a:latin typeface="Cambria Math"/>
                          </a:rPr>
                          <m:t>C</m:t>
                        </m:r>
                      </m:sub>
                    </m:sSub>
                  </m:oMath>
                </a14:m>
              </mc:Choice>
              <mc:Fallback>
                <a:r>
                  <a:rPr lang="en-US" sz="1981" i="1"/>
                  <a:t>E_C</a:t>
                </a:r>
              </mc:Fallback>
            </mc:AlternateContent>
            <a:r>
              <a:rPr sz="1670" b="0" i="0">
                <a:solidFill>
                  <a:srgbClr val="302546"/>
                </a:solidFill>
                <a:latin typeface="Montserrat"/>
                <a:ea typeface="Montserrat"/>
                <a:cs typeface="Montserrat"/>
              </a:rPr>
              <a:t> and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982">
                            <a:latin typeface="Cambria Math"/>
                          </a:rPr>
                          <m:t>E</m:t>
                        </m:r>
                      </m:e>
                      <m:sub>
                        <m:r>
                          <m:rPr>
                            <m:sty m:val="i"/>
                          </m:rPr>
                          <a:rPr lang="en-US" i="1" sz="1982">
                            <a:latin typeface="Cambria Math"/>
                          </a:rPr>
                          <m:t>J</m:t>
                        </m:r>
                      </m:sub>
                    </m:sSub>
                  </m:oMath>
                </a14:m>
              </mc:Choice>
              <mc:Fallback>
                <a:r>
                  <a:rPr lang="en-US" sz="1981" i="1"/>
                  <a:t>E_J</a:t>
                </a:r>
              </mc:Fallback>
            </mc:AlternateContent>
          </a:p>
        </p:txBody>
      </p:sp>
      <p:sp>
        <p:nvSpPr>
          <p:cNvPr id="6" name="TextBox 5"/>
          <p:cNvSpPr txBox="1"/>
          <p:nvPr/>
        </p:nvSpPr>
        <p:spPr>
          <a:xfrm>
            <a:off x="575733" y="1418167"/>
            <a:ext cx="11040533"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The core of transmon design is choosing suitable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C</m:t>
                        </m:r>
                      </m:sub>
                    </m:sSub>
                  </m:oMath>
                </a14:m>
              </mc:Choice>
              <mc:Fallback>
                <a:r>
                  <a:rPr lang="en-US" sz="1664" i="1"/>
                  <a:t>E_C</a:t>
                </a:r>
              </mc:Fallback>
            </mc:AlternateContent>
            <a:r>
              <a:rPr sz="1400" b="0" i="0">
                <a:solidFill>
                  <a:srgbClr val="4F4C56"/>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J</m:t>
                        </m:r>
                      </m:sub>
                    </m:sSub>
                  </m:oMath>
                </a14:m>
              </mc:Choice>
              <mc:Fallback>
                <a:r>
                  <a:rPr lang="en-US" sz="1664" i="1"/>
                  <a:t>E_J</a:t>
                </a:r>
              </mc:Fallback>
            </mc:AlternateContent>
            <a:r>
              <a:rPr sz="1400" b="0" i="0">
                <a:solidFill>
                  <a:srgbClr val="4F4C56"/>
                </a:solidFill>
                <a:latin typeface="Montserrat"/>
                <a:ea typeface="Montserrat"/>
                <a:cs typeface="Montserrat"/>
              </a:rPr>
              <a:t>, and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J</m:t>
                        </m:r>
                      </m:sub>
                    </m:sSub>
                    <m:box>
                      <m:e>
                        <m:r>
                          <m:rPr>
                            <m:sty m:val="p"/>
                          </m:rPr>
                          <a:rPr lang="en-US" i="0" sz="1665">
                            <a:latin typeface="Cambria Math"/>
                          </a:rPr>
                          <m:t>/</m:t>
                        </m:r>
                      </m:e>
                    </m:box>
                    <m:sSub>
                      <m:e>
                        <m:r>
                          <m:rPr>
                            <m:sty m:val="i"/>
                          </m:rPr>
                          <a:rPr lang="en-US" i="1" sz="1665">
                            <a:latin typeface="Cambria Math"/>
                          </a:rPr>
                          <m:t>E</m:t>
                        </m:r>
                      </m:e>
                      <m:sub>
                        <m:r>
                          <m:rPr>
                            <m:sty m:val="i"/>
                          </m:rPr>
                          <a:rPr lang="en-US" i="1" sz="1665">
                            <a:latin typeface="Cambria Math"/>
                          </a:rPr>
                          <m:t>C</m:t>
                        </m:r>
                      </m:sub>
                    </m:sSub>
                  </m:oMath>
                </a14:m>
              </mc:Choice>
              <mc:Fallback>
                <a:r>
                  <a:rPr lang="en-US" sz="1664" i="1"/>
                  <a:t>E_J/E_C</a:t>
                </a:r>
              </mc:Fallback>
            </mc:AlternateContent>
            <a:r>
              <a:rPr sz="1400" b="0" i="0">
                <a:solidFill>
                  <a:srgbClr val="4F4C56"/>
                </a:solidFill>
                <a:latin typeface="Montserrat"/>
                <a:ea typeface="Montserrat"/>
                <a:cs typeface="Montserrat"/>
              </a:rPr>
              <a:t>. These parameters are set respectively by chip geometry, materials, and the Josephson-junction process. </a:t>
            </a:r>
          </a:p>
        </p:txBody>
      </p:sp>
      <p:graphicFrame>
        <p:nvGraphicFramePr>
          <p:cNvPr id="7" name="Table 6"/>
          <p:cNvGraphicFramePr>
            <a:graphicFrameLocks noGrp="1"/>
          </p:cNvGraphicFramePr>
          <p:nvPr/>
        </p:nvGraphicFramePr>
        <p:xfrm>
          <a:off x="575733" y="2093912"/>
          <a:ext cx="11032068" cy="2070628"/>
        </p:xfrm>
        <a:graphic>
          <a:graphicData uri="http://schemas.openxmlformats.org/drawingml/2006/table">
            <a:tbl>
              <a:tblPr firstRow="1" bandRow="1">
                <a:tableStyleId>{5C22544A-7EE6-4342-B048-85BDC9FD1C3A}</a:tableStyleId>
              </a:tblPr>
              <a:tblGrid>
                <a:gridCol w="1004491"/>
                <a:gridCol w="2492243"/>
                <a:gridCol w="3964517"/>
                <a:gridCol w="3570817"/>
              </a:tblGrid>
              <a:tr h="372004">
                <a:tc>
                  <a:txBody>
                    <a:bodyPr wrap="square"/>
                    <a:lstStyle/>
                    <a:p>
                      <a:pPr algn="l"/>
                      <a:r>
                        <a:rPr sz="1130" b="1" i="0">
                          <a:solidFill>
                            <a:srgbClr val="302840"/>
                          </a:solidFill>
                          <a:latin typeface="Montserrat"/>
                          <a:ea typeface="Montserrat"/>
                          <a:cs typeface="Montserrat"/>
                        </a:rPr>
                        <a:t>Parameter</a:t>
                      </a:r>
                    </a:p>
                  </a:txBody>
                  <a:tcPr marT="84667" marR="101600" marB="84667" marL="101600" anchor="t">
                    <a:solidFill>
                      <a:srgbClr val="F4F4F4"/>
                    </a:solidFill>
                  </a:tcPr>
                </a:tc>
                <a:tc>
                  <a:txBody>
                    <a:bodyPr wrap="square"/>
                    <a:lstStyle/>
                    <a:p>
                      <a:pPr algn="l"/>
                      <a:r>
                        <a:rPr sz="1130" b="1" i="0">
                          <a:solidFill>
                            <a:srgbClr val="302840"/>
                          </a:solidFill>
                          <a:latin typeface="Montserrat"/>
                          <a:ea typeface="Montserrat"/>
                          <a:cs typeface="Montserrat"/>
                        </a:rPr>
                        <a:t>Definition</a:t>
                      </a:r>
                    </a:p>
                  </a:txBody>
                  <a:tcPr marT="84667" marR="101600" marB="84667" marL="101600" anchor="t">
                    <a:solidFill>
                      <a:srgbClr val="F4F4F4"/>
                    </a:solidFill>
                  </a:tcPr>
                </a:tc>
                <a:tc>
                  <a:txBody>
                    <a:bodyPr wrap="square"/>
                    <a:lstStyle/>
                    <a:p>
                      <a:pPr algn="l"/>
                      <a:r>
                        <a:rPr sz="1130" b="1" i="0">
                          <a:solidFill>
                            <a:srgbClr val="302840"/>
                          </a:solidFill>
                          <a:latin typeface="Montserrat"/>
                          <a:ea typeface="Montserrat"/>
                          <a:cs typeface="Montserrat"/>
                        </a:rPr>
                        <a:t>Determined by</a:t>
                      </a:r>
                    </a:p>
                  </a:txBody>
                  <a:tcPr marT="84667" marR="101600" marB="84667" marL="101600" anchor="t">
                    <a:solidFill>
                      <a:srgbClr val="F4F4F4"/>
                    </a:solidFill>
                  </a:tcPr>
                </a:tc>
                <a:tc>
                  <a:txBody>
                    <a:bodyPr wrap="square"/>
                    <a:lstStyle/>
                    <a:p>
                      <a:pPr algn="l"/>
                      <a:r>
                        <a:rPr sz="1130" b="1" i="0">
                          <a:solidFill>
                            <a:srgbClr val="302840"/>
                          </a:solidFill>
                          <a:latin typeface="Montserrat"/>
                          <a:ea typeface="Montserrat"/>
                          <a:cs typeface="Montserrat"/>
                        </a:rPr>
                        <a:t>Design impact</a:t>
                      </a:r>
                    </a:p>
                  </a:txBody>
                  <a:tcPr marT="84667" marR="101600" marB="84667" marL="101600" anchor="t">
                    <a:solidFill>
                      <a:srgbClr val="F4F4F4"/>
                    </a:solidFill>
                  </a:tcPr>
                </a:tc>
              </a:tr>
              <a:tr h="566208">
                <a:tc>
                  <a:txBody>
                    <a:bodyPr wrap="square"/>
                    <a:lstStyle/>
                    <a:p>
                      <a:pPr algn="l"/>
                      <mc:AlternateContent xmlns:mc="http://schemas.openxmlformats.org/markup-compatibility/2006">
                        <mc:Choice xmlns:a14="http://schemas.microsoft.com/office/drawing/2010/main" Requires="a14">
                          <a14:m>
                            <m:oMath xmlns:m="http://schemas.openxmlformats.org/officeDocument/2006/math">
                              <m:sSub>
                                <m:e>
                                  <m:r>
                                    <m:rPr>
                                      <m:sty m:val="i"/>
                                    </m:rPr>
                                    <a:rPr lang="en-US" i="1" sz="1348">
                                      <a:latin typeface="Cambria Math"/>
                                    </a:rPr>
                                    <m:t>E</m:t>
                                  </m:r>
                                </m:e>
                                <m:sub>
                                  <m:r>
                                    <m:rPr>
                                      <m:sty m:val="i"/>
                                    </m:rPr>
                                    <a:rPr lang="en-US" i="1" sz="1348">
                                      <a:latin typeface="Cambria Math"/>
                                    </a:rPr>
                                    <m:t>C</m:t>
                                  </m:r>
                                </m:sub>
                              </m:sSub>
                            </m:oMath>
                          </a14:m>
                        </mc:Choice>
                        <mc:Fallback>
                          <a:r>
                            <a:rPr lang="en-US" sz="1347" i="1"/>
                            <a:t>E_C</a:t>
                          </a:r>
                        </mc:Fallback>
                      </mc:AlternateContent>
                    </a:p>
                  </a:txBody>
                  <a:tcPr marT="84667" marR="101600" marB="84667" marL="101600" anchor="t">
                    <a:noFill/>
                  </a:tcPr>
                </a:tc>
                <a:tc>
                  <a:txBody>
                    <a:bodyPr wrap="square"/>
                    <a:lstStyle/>
                    <a:p>
                      <a:pPr algn="l"/>
                      <mc:AlternateContent xmlns:mc="http://schemas.openxmlformats.org/markup-compatibility/2006">
                        <mc:Choice xmlns:a14="http://schemas.microsoft.com/office/drawing/2010/main" Requires="a14">
                          <a14:m>
                            <m:oMath xmlns:m="http://schemas.openxmlformats.org/officeDocument/2006/math">
                              <m:sSup>
                                <m:e>
                                  <m:r>
                                    <m:rPr>
                                      <m:sty m:val="i"/>
                                    </m:rPr>
                                    <a:rPr lang="en-US" i="1" sz="1348">
                                      <a:latin typeface="Cambria Math"/>
                                    </a:rPr>
                                    <m:t>e</m:t>
                                  </m:r>
                                </m:e>
                                <m:sup>
                                  <m:r>
                                    <m:rPr>
                                      <m:sty m:val="p"/>
                                    </m:rPr>
                                    <a:rPr lang="en-US" i="0" sz="1348">
                                      <a:latin typeface="Cambria Math"/>
                                    </a:rPr>
                                    <m:t>2</m:t>
                                  </m:r>
                                </m:sup>
                              </m:sSup>
                              <m:box>
                                <m:e>
                                  <m:r>
                                    <m:rPr>
                                      <m:sty m:val="p"/>
                                    </m:rPr>
                                    <a:rPr lang="en-US" i="0" sz="1348">
                                      <a:latin typeface="Cambria Math"/>
                                    </a:rPr>
                                    <m:t>/</m:t>
                                  </m:r>
                                </m:e>
                              </m:box>
                              <m:r>
                                <m:rPr>
                                  <m:sty m:val="p"/>
                                </m:rPr>
                                <a:rPr lang="en-US" i="0" sz="1348">
                                  <a:latin typeface="Cambria Math"/>
                                </a:rPr>
                                <m:t>2</m:t>
                              </m:r>
                              <m:sSub>
                                <m:e>
                                  <m:r>
                                    <m:rPr>
                                      <m:sty m:val="i"/>
                                    </m:rPr>
                                    <a:rPr lang="en-US" i="1" sz="1348">
                                      <a:latin typeface="Cambria Math"/>
                                    </a:rPr>
                                    <m:t>C</m:t>
                                  </m:r>
                                </m:e>
                                <m:sub>
                                  <m:r>
                                    <m:rPr>
                                      <m:sty m:val="p"/>
                                    </m:rPr>
                                    <a:rPr lang="en-US" i="0" sz="1348">
                                      <a:latin typeface="Cambria Math"/>
                                    </a:rPr>
                                    <m:t>Σ</m:t>
                                  </m:r>
                                </m:sub>
                              </m:sSub>
                            </m:oMath>
                          </a14:m>
                        </mc:Choice>
                        <mc:Fallback>
                          <a:r>
                            <a:rPr lang="en-US" sz="1347" i="1"/>
                            <a:t>e^2/2C_\Sigma</a:t>
                          </a:r>
                        </mc:Fallback>
                      </mc:AlternateContent>
                    </a:p>
                  </a:txBody>
                  <a:tcPr marT="84667" marR="101600" marB="84667" marL="101600" anchor="t">
                    <a:noFill/>
                  </a:tcPr>
                </a:tc>
                <a:tc>
                  <a:txBody>
                    <a:bodyPr wrap="square"/>
                    <a:lstStyle/>
                    <a:p>
                      <a:pPr algn="l"/>
                      <a:r>
                        <a:rPr sz="1130" b="0" i="0">
                          <a:solidFill>
                            <a:srgbClr val="22232A"/>
                          </a:solidFill>
                          <a:latin typeface="Montserrat"/>
                          <a:ea typeface="Montserrat"/>
                          <a:cs typeface="Montserrat"/>
                        </a:rPr>
                        <a:t>Total capacitance, pad area, coupling capacitance, and packaging environment</a:t>
                      </a:r>
                    </a:p>
                  </a:txBody>
                  <a:tcPr marT="84667" marR="101600" marB="84667" marL="101600" anchor="t">
                    <a:noFill/>
                  </a:tcPr>
                </a:tc>
                <a:tc>
                  <a:txBody>
                    <a:bodyPr wrap="square"/>
                    <a:lstStyle/>
                    <a:p>
                      <a:pPr algn="l"/>
                      <a:r>
                        <a:rPr sz="1130" b="0" i="0">
                          <a:solidFill>
                            <a:srgbClr val="22232A"/>
                          </a:solidFill>
                          <a:latin typeface="Montserrat"/>
                          <a:ea typeface="Montserrat"/>
                          <a:cs typeface="Montserrat"/>
                        </a:rPr>
                        <a:t>Sets anharmonicity and charge-noise sensitivity</a:t>
                      </a:r>
                    </a:p>
                  </a:txBody>
                  <a:tcPr marT="84667" marR="101600" marB="84667" marL="101600" anchor="t">
                    <a:noFill/>
                  </a:tcPr>
                </a:tc>
              </a:tr>
              <a:tr h="566208">
                <a:tc>
                  <a:txBody>
                    <a:bodyPr wrap="square"/>
                    <a:lstStyle/>
                    <a:p>
                      <a:pPr algn="l"/>
                      <mc:AlternateContent xmlns:mc="http://schemas.openxmlformats.org/markup-compatibility/2006">
                        <mc:Choice xmlns:a14="http://schemas.microsoft.com/office/drawing/2010/main" Requires="a14">
                          <a14:m>
                            <m:oMath xmlns:m="http://schemas.openxmlformats.org/officeDocument/2006/math">
                              <m:sSub>
                                <m:e>
                                  <m:r>
                                    <m:rPr>
                                      <m:sty m:val="i"/>
                                    </m:rPr>
                                    <a:rPr lang="en-US" i="1" sz="1348">
                                      <a:latin typeface="Cambria Math"/>
                                    </a:rPr>
                                    <m:t>E</m:t>
                                  </m:r>
                                </m:e>
                                <m:sub>
                                  <m:r>
                                    <m:rPr>
                                      <m:sty m:val="i"/>
                                    </m:rPr>
                                    <a:rPr lang="en-US" i="1" sz="1348">
                                      <a:latin typeface="Cambria Math"/>
                                    </a:rPr>
                                    <m:t>J</m:t>
                                  </m:r>
                                </m:sub>
                              </m:sSub>
                            </m:oMath>
                          </a14:m>
                        </mc:Choice>
                        <mc:Fallback>
                          <a:r>
                            <a:rPr lang="en-US" sz="1347" i="1"/>
                            <a:t>E_J</a:t>
                          </a:r>
                        </mc:Fallback>
                      </mc:AlternateContent>
                    </a:p>
                  </a:txBody>
                  <a:tcPr marT="84667" marR="101600" marB="84667" marL="101600" anchor="t">
                    <a:noFill/>
                  </a:tcPr>
                </a:tc>
                <a:tc>
                  <a:txBody>
                    <a:bodyPr wrap="square"/>
                    <a:lstStyle/>
                    <a:p>
                      <a:pPr algn="l"/>
                      <mc:AlternateContent xmlns:mc="http://schemas.openxmlformats.org/markup-compatibility/2006">
                        <mc:Choice xmlns:a14="http://schemas.microsoft.com/office/drawing/2010/main" Requires="a14">
                          <a14:m>
                            <m:oMath xmlns:m="http://schemas.openxmlformats.org/officeDocument/2006/math">
                              <m:sSub>
                                <m:e>
                                  <m:r>
                                    <m:rPr>
                                      <m:sty m:val="p"/>
                                    </m:rPr>
                                    <a:rPr lang="en-US" i="0" sz="1348">
                                      <a:latin typeface="Cambria Math"/>
                                    </a:rPr>
                                    <m:t>Φ</m:t>
                                  </m:r>
                                </m:e>
                                <m:sub>
                                  <m:r>
                                    <m:rPr>
                                      <m:sty m:val="p"/>
                                    </m:rPr>
                                    <a:rPr lang="en-US" i="0" sz="1348">
                                      <a:latin typeface="Cambria Math"/>
                                    </a:rPr>
                                    <m:t>0</m:t>
                                  </m:r>
                                </m:sub>
                              </m:sSub>
                              <m:sSub>
                                <m:e>
                                  <m:r>
                                    <m:rPr>
                                      <m:sty m:val="i"/>
                                    </m:rPr>
                                    <a:rPr lang="en-US" i="1" sz="1348">
                                      <a:latin typeface="Cambria Math"/>
                                    </a:rPr>
                                    <m:t>I</m:t>
                                  </m:r>
                                </m:e>
                                <m:sub>
                                  <m:r>
                                    <m:rPr>
                                      <m:sty m:val="i"/>
                                    </m:rPr>
                                    <a:rPr lang="en-US" i="1" sz="1348">
                                      <a:latin typeface="Cambria Math"/>
                                    </a:rPr>
                                    <m:t>c</m:t>
                                  </m:r>
                                </m:sub>
                              </m:sSub>
                              <m:box>
                                <m:e>
                                  <m:r>
                                    <m:rPr>
                                      <m:sty m:val="p"/>
                                    </m:rPr>
                                    <a:rPr lang="en-US" i="0" sz="1348">
                                      <a:latin typeface="Cambria Math"/>
                                    </a:rPr>
                                    <m:t>/</m:t>
                                  </m:r>
                                </m:e>
                              </m:box>
                              <m:r>
                                <m:rPr>
                                  <m:sty m:val="p"/>
                                </m:rPr>
                                <a:rPr lang="en-US" i="0" sz="1348">
                                  <a:latin typeface="Cambria Math"/>
                                </a:rPr>
                                <m:t>2</m:t>
                              </m:r>
                              <m:r>
                                <m:rPr>
                                  <m:sty m:val="i"/>
                                </m:rPr>
                                <a:rPr lang="en-US" i="1" sz="1348">
                                  <a:latin typeface="Cambria Math"/>
                                </a:rPr>
                                <m:t>π</m:t>
                              </m:r>
                            </m:oMath>
                          </a14:m>
                        </mc:Choice>
                        <mc:Fallback>
                          <a:r>
                            <a:rPr lang="en-US" sz="1347" i="1"/>
                            <a:t>\Phi_0 I_c/2\pi</a:t>
                          </a:r>
                        </mc:Fallback>
                      </mc:AlternateContent>
                    </a:p>
                  </a:txBody>
                  <a:tcPr marT="84667" marR="101600" marB="84667" marL="101600" anchor="t">
                    <a:noFill/>
                  </a:tcPr>
                </a:tc>
                <a:tc>
                  <a:txBody>
                    <a:bodyPr wrap="square"/>
                    <a:lstStyle/>
                    <a:p>
                      <a:pPr algn="l"/>
                      <a:r>
                        <a:rPr sz="1130" b="0" i="0">
                          <a:solidFill>
                            <a:srgbClr val="22232A"/>
                          </a:solidFill>
                          <a:latin typeface="Montserrat"/>
                          <a:ea typeface="Montserrat"/>
                          <a:cs typeface="Montserrat"/>
                        </a:rPr>
                        <a:t>Josephson-junction area, oxide thickness, and critical-current density</a:t>
                      </a:r>
                    </a:p>
                  </a:txBody>
                  <a:tcPr marT="84667" marR="101600" marB="84667" marL="101600" anchor="t">
                    <a:noFill/>
                  </a:tcPr>
                </a:tc>
                <a:tc>
                  <a:txBody>
                    <a:bodyPr wrap="square"/>
                    <a:lstStyle/>
                    <a:p>
                      <a:pPr algn="l"/>
                      <a:r>
                        <a:rPr sz="1130" b="0" i="0">
                          <a:solidFill>
                            <a:srgbClr val="22232A"/>
                          </a:solidFill>
                          <a:latin typeface="Montserrat"/>
                          <a:ea typeface="Montserrat"/>
                          <a:cs typeface="Montserrat"/>
                        </a:rPr>
                        <a:t>Sets qubit frequency and potential depth</a:t>
                      </a:r>
                    </a:p>
                  </a:txBody>
                  <a:tcPr marT="84667" marR="101600" marB="84667" marL="101600" anchor="t">
                    <a:noFill/>
                  </a:tcPr>
                </a:tc>
              </a:tr>
              <a:tr h="566208">
                <a:tc>
                  <a:txBody>
                    <a:bodyPr wrap="square"/>
                    <a:lstStyle/>
                    <a:p>
                      <a:pPr algn="l"/>
                      <mc:AlternateContent xmlns:mc="http://schemas.openxmlformats.org/markup-compatibility/2006">
                        <mc:Choice xmlns:a14="http://schemas.microsoft.com/office/drawing/2010/main" Requires="a14">
                          <a14:m>
                            <m:oMath xmlns:m="http://schemas.openxmlformats.org/officeDocument/2006/math">
                              <m:sSub>
                                <m:e>
                                  <m:r>
                                    <m:rPr>
                                      <m:sty m:val="i"/>
                                    </m:rPr>
                                    <a:rPr lang="en-US" i="1" sz="1348">
                                      <a:latin typeface="Cambria Math"/>
                                    </a:rPr>
                                    <m:t>E</m:t>
                                  </m:r>
                                </m:e>
                                <m:sub>
                                  <m:r>
                                    <m:rPr>
                                      <m:sty m:val="i"/>
                                    </m:rPr>
                                    <a:rPr lang="en-US" i="1" sz="1348">
                                      <a:latin typeface="Cambria Math"/>
                                    </a:rPr>
                                    <m:t>J</m:t>
                                  </m:r>
                                </m:sub>
                              </m:sSub>
                              <m:box>
                                <m:e>
                                  <m:r>
                                    <m:rPr>
                                      <m:sty m:val="p"/>
                                    </m:rPr>
                                    <a:rPr lang="en-US" i="0" sz="1348">
                                      <a:latin typeface="Cambria Math"/>
                                    </a:rPr>
                                    <m:t>/</m:t>
                                  </m:r>
                                </m:e>
                              </m:box>
                              <m:sSub>
                                <m:e>
                                  <m:r>
                                    <m:rPr>
                                      <m:sty m:val="i"/>
                                    </m:rPr>
                                    <a:rPr lang="en-US" i="1" sz="1348">
                                      <a:latin typeface="Cambria Math"/>
                                    </a:rPr>
                                    <m:t>E</m:t>
                                  </m:r>
                                </m:e>
                                <m:sub>
                                  <m:r>
                                    <m:rPr>
                                      <m:sty m:val="i"/>
                                    </m:rPr>
                                    <a:rPr lang="en-US" i="1" sz="1348">
                                      <a:latin typeface="Cambria Math"/>
                                    </a:rPr>
                                    <m:t>C</m:t>
                                  </m:r>
                                </m:sub>
                              </m:sSub>
                            </m:oMath>
                          </a14:m>
                        </mc:Choice>
                        <mc:Fallback>
                          <a:r>
                            <a:rPr lang="en-US" sz="1347" i="1"/>
                            <a:t>E_J/E_C</a:t>
                          </a:r>
                        </mc:Fallback>
                      </mc:AlternateContent>
                    </a:p>
                  </a:txBody>
                  <a:tcPr marT="84667" marR="101600" marB="84667" marL="101600" anchor="t">
                    <a:noFill/>
                  </a:tcPr>
                </a:tc>
                <a:tc>
                  <a:txBody>
                    <a:bodyPr wrap="square"/>
                    <a:lstStyle/>
                    <a:p>
                      <a:pPr algn="l"/>
                      <a:r>
                        <a:rPr sz="1130" b="0" i="0">
                          <a:solidFill>
                            <a:srgbClr val="22232A"/>
                          </a:solidFill>
                          <a:latin typeface="Montserrat"/>
                          <a:ea typeface="Montserrat"/>
                          <a:cs typeface="Montserrat"/>
                        </a:rPr>
                        <a:t>Ratio of Josephson energy to charging energy</a:t>
                      </a:r>
                    </a:p>
                  </a:txBody>
                  <a:tcPr marT="84667" marR="101600" marB="84667" marL="101600" anchor="t">
                    <a:noFill/>
                  </a:tcPr>
                </a:tc>
                <a:tc>
                  <a:txBody>
                    <a:bodyPr wrap="square"/>
                    <a:lstStyle/>
                    <a:p>
                      <a:pPr algn="l"/>
                      <a:r>
                        <a:rPr sz="1130" b="0" i="0">
                          <a:solidFill>
                            <a:srgbClr val="22232A"/>
                          </a:solidFill>
                          <a:latin typeface="Montserrat"/>
                          <a:ea typeface="Montserrat"/>
                          <a:cs typeface="Montserrat"/>
                        </a:rPr>
                        <a:t>Joint design of the junction and capacitor</a:t>
                      </a:r>
                    </a:p>
                  </a:txBody>
                  <a:tcPr marT="84667" marR="101600" marB="84667" marL="101600" anchor="t">
                    <a:noFill/>
                  </a:tcPr>
                </a:tc>
                <a:tc>
                  <a:txBody>
                    <a:bodyPr wrap="square"/>
                    <a:lstStyle/>
                    <a:p>
                      <a:pPr algn="l"/>
                      <a:r>
                        <a:rPr sz="1130" b="0" i="0">
                          <a:solidFill>
                            <a:srgbClr val="22232A"/>
                          </a:solidFill>
                          <a:latin typeface="Montserrat"/>
                          <a:ea typeface="Montserrat"/>
                          <a:cs typeface="Montserrat"/>
                        </a:rPr>
                        <a:t>Controls the trade-off between charge dispersion and anharmonicity</a:t>
                      </a:r>
                    </a:p>
                  </a:txBody>
                  <a:tcPr marT="84667" marR="101600" marB="84667" marL="101600" anchor="t">
                    <a:noFill/>
                  </a:tcPr>
                </a:tc>
              </a:tr>
            </a:tbl>
          </a:graphicData>
        </a:graphic>
      </p:graphicFrame>
      <p:sp>
        <p:nvSpPr>
          <p:cNvPr id="8" name="TextBox 7"/>
          <p:cNvSpPr txBox="1"/>
          <p:nvPr/>
        </p:nvSpPr>
        <p:spPr>
          <a:xfrm>
            <a:off x="575733" y="4350808"/>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Fixed-Frequency and Tunable Transmon</a:t>
            </a:r>
          </a:p>
        </p:txBody>
      </p:sp>
      <p:sp>
        <p:nvSpPr>
          <p:cNvPr id="9" name="Rectangle 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1" name="TextBox 10"/>
          <p:cNvSpPr txBox="1"/>
          <p:nvPr/>
        </p:nvSpPr>
        <p:spPr>
          <a:xfrm>
            <a:off x="11230240" y="6565900"/>
            <a:ext cx="470694"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78 / 100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A macroscopic circuit can therefore exhibit quantum energy levels only after four links are established in sequence:</a:t>
            </a:r>
          </a:p>
        </p:txBody>
      </p:sp>
      <p:sp>
        <p:nvSpPr>
          <p:cNvPr id="6" name="TextBox 5"/>
          <p:cNvSpPr txBox="1"/>
          <p:nvPr/>
        </p:nvSpPr>
        <p:spPr>
          <a:xfrm>
            <a:off x="829733" y="1269206"/>
            <a:ext cx="10786533" cy="540279"/>
          </a:xfrm>
          <a:prstGeom prst="rect">
            <a:avLst/>
          </a:prstGeom>
          <a:noFill/>
        </p:spPr>
        <p:txBody>
          <a:bodyPr wrap="square" lIns="0" rIns="0" tIns="0" bIns="0" anchor="t">
            <a:noAutofit/>
          </a:bodyPr>
          <a:lstStyle/>
          <a:p>
            <a:pPr algn="l">
              <a:lnSpc>
                <a:spcPts val="2130"/>
              </a:lnSpc>
            </a:pPr>
            <a:r>
              <a:rPr sz="1400" b="1" i="0">
                <a:solidFill>
                  <a:srgbClr val="4F4C56"/>
                </a:solidFill>
                <a:latin typeface="Montserrat"/>
                <a:ea typeface="Montserrat"/>
                <a:cs typeface="Montserrat"/>
              </a:rPr>
              <a:t>Superconducting condensate and Cooper-pair condensate:</a:t>
            </a:r>
            <a:r>
              <a:rPr sz="1400" b="0" i="0">
                <a:solidFill>
                  <a:srgbClr val="4F4C56"/>
                </a:solidFill>
                <a:latin typeface="Montserrat"/>
                <a:ea typeface="Montserrat"/>
                <a:cs typeface="Montserrat"/>
              </a:rPr>
              <a:t> organize many electrons into a phase-coherent low-energy many-body state. </a:t>
            </a:r>
          </a:p>
        </p:txBody>
      </p:sp>
      <p:sp>
        <p:nvSpPr>
          <p:cNvPr id="7" name="TextBox 6"/>
          <p:cNvSpPr txBox="1"/>
          <p:nvPr/>
        </p:nvSpPr>
        <p:spPr>
          <a:xfrm>
            <a:off x="829733" y="1860285"/>
            <a:ext cx="10786533" cy="540279"/>
          </a:xfrm>
          <a:prstGeom prst="rect">
            <a:avLst/>
          </a:prstGeom>
          <a:noFill/>
        </p:spPr>
        <p:txBody>
          <a:bodyPr wrap="square" lIns="0" rIns="0" tIns="0" bIns="0" anchor="t">
            <a:noAutofit/>
          </a:bodyPr>
          <a:lstStyle/>
          <a:p>
            <a:pPr algn="l">
              <a:lnSpc>
                <a:spcPts val="2130"/>
              </a:lnSpc>
            </a:pPr>
            <a:r>
              <a:rPr sz="1400" b="1" i="0">
                <a:solidFill>
                  <a:srgbClr val="4F4C56"/>
                </a:solidFill>
                <a:latin typeface="Montserrat"/>
                <a:ea typeface="Montserrat"/>
                <a:cs typeface="Montserrat"/>
              </a:rPr>
              <a:t>Macroscopic quantum phase:</a:t>
            </a:r>
            <a:r>
              <a:rPr sz="1400" b="0" i="0">
                <a:solidFill>
                  <a:srgbClr val="4F4C56"/>
                </a:solidFill>
                <a:latin typeface="Montserrat"/>
                <a:ea typeface="Montserrat"/>
                <a:cs typeface="Montserrat"/>
              </a:rPr>
              <a:t> makes the phase difference between nodes a collective variable that enters circuit dynamics. </a:t>
            </a:r>
          </a:p>
        </p:txBody>
      </p:sp>
      <p:sp>
        <p:nvSpPr>
          <p:cNvPr id="8" name="TextBox 7"/>
          <p:cNvSpPr txBox="1"/>
          <p:nvPr/>
        </p:nvSpPr>
        <p:spPr>
          <a:xfrm>
            <a:off x="829733" y="2451365"/>
            <a:ext cx="10786533" cy="540279"/>
          </a:xfrm>
          <a:prstGeom prst="rect">
            <a:avLst/>
          </a:prstGeom>
          <a:noFill/>
        </p:spPr>
        <p:txBody>
          <a:bodyPr wrap="square" lIns="0" rIns="0" tIns="0" bIns="0" anchor="t">
            <a:noAutofit/>
          </a:bodyPr>
          <a:lstStyle/>
          <a:p>
            <a:pPr algn="l">
              <a:lnSpc>
                <a:spcPts val="2130"/>
              </a:lnSpc>
            </a:pPr>
            <a:r>
              <a:rPr sz="1400" b="1" i="0">
                <a:solidFill>
                  <a:srgbClr val="4F4C56"/>
                </a:solidFill>
                <a:latin typeface="Montserrat"/>
                <a:ea typeface="Montserrat"/>
                <a:cs typeface="Montserrat"/>
              </a:rPr>
              <a:t>Low-loss circuit and low-temperature environment:</a:t>
            </a:r>
            <a:r>
              <a:rPr sz="1400" b="0" i="0">
                <a:solidFill>
                  <a:srgbClr val="4F4C56"/>
                </a:solidFill>
                <a:latin typeface="Montserrat"/>
                <a:ea typeface="Montserrat"/>
                <a:cs typeface="Montserrat"/>
              </a:rPr>
              <a:t> keep both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k</m:t>
                        </m:r>
                      </m:e>
                      <m:sub>
                        <m:r>
                          <m:rPr>
                            <m:sty m:val="i"/>
                          </m:rPr>
                          <a:rPr lang="en-US" i="1" sz="1665">
                            <a:latin typeface="Cambria Math"/>
                          </a:rPr>
                          <m:t>B</m:t>
                        </m:r>
                      </m:sub>
                    </m:sSub>
                    <m:r>
                      <m:rPr>
                        <m:sty m:val="i"/>
                      </m:rPr>
                      <a:rPr lang="en-US" i="1" sz="1665">
                        <a:latin typeface="Cambria Math"/>
                      </a:rPr>
                      <m:t>T</m:t>
                    </m:r>
                  </m:oMath>
                </a14:m>
              </mc:Choice>
              <mc:Fallback>
                <a:r>
                  <a:rPr lang="en-US" sz="1664" i="1"/>
                  <a:t>k_BT</a:t>
                </a:r>
              </mc:Fallback>
            </mc:AlternateContent>
            <a:r>
              <a:rPr sz="1400" b="0" i="0">
                <a:solidFill>
                  <a:srgbClr val="4F4C56"/>
                </a:solidFill>
                <a:latin typeface="Montserrat"/>
                <a:ea typeface="Montserrat"/>
                <a:cs typeface="Montserrat"/>
              </a:rPr>
              <a:t> and the energy linewidth below the mode quantum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ℏ</m:t>
                    </m:r>
                    <m:r>
                      <m:rPr>
                        <m:sty m:val="i"/>
                      </m:rPr>
                      <a:rPr lang="en-US" i="1" sz="1665">
                        <a:latin typeface="Cambria Math"/>
                      </a:rPr>
                      <m:t>ω</m:t>
                    </m:r>
                  </m:oMath>
                </a14:m>
              </mc:Choice>
              <mc:Fallback>
                <a:r>
                  <a:rPr lang="en-US" sz="1664" i="1"/>
                  <a:t>\hbar\omega</a:t>
                </a:r>
              </mc:Fallback>
            </mc:AlternateContent>
            <a:r>
              <a:rPr sz="1400" b="0" i="0">
                <a:solidFill>
                  <a:srgbClr val="4F4C56"/>
                </a:solidFill>
                <a:latin typeface="Montserrat"/>
                <a:ea typeface="Montserrat"/>
                <a:cs typeface="Montserrat"/>
              </a:rPr>
              <a:t>. </a:t>
            </a:r>
          </a:p>
        </p:txBody>
      </p:sp>
      <p:sp>
        <p:nvSpPr>
          <p:cNvPr id="9" name="TextBox 8"/>
          <p:cNvSpPr txBox="1"/>
          <p:nvPr/>
        </p:nvSpPr>
        <p:spPr>
          <a:xfrm>
            <a:off x="829733" y="3042444"/>
            <a:ext cx="10786533" cy="540279"/>
          </a:xfrm>
          <a:prstGeom prst="rect">
            <a:avLst/>
          </a:prstGeom>
          <a:noFill/>
        </p:spPr>
        <p:txBody>
          <a:bodyPr wrap="square" lIns="0" rIns="0" tIns="0" bIns="0" anchor="t">
            <a:noAutofit/>
          </a:bodyPr>
          <a:lstStyle/>
          <a:p>
            <a:pPr algn="l">
              <a:lnSpc>
                <a:spcPts val="2130"/>
              </a:lnSpc>
            </a:pPr>
            <a:r>
              <a:rPr sz="1400" b="1" i="0">
                <a:solidFill>
                  <a:srgbClr val="4F4C56"/>
                </a:solidFill>
                <a:latin typeface="Montserrat"/>
                <a:ea typeface="Montserrat"/>
                <a:cs typeface="Montserrat"/>
              </a:rPr>
              <a:t>Quantization of a collective circuit mode:</a:t>
            </a:r>
            <a:r>
              <a:rPr sz="1400" b="0" i="0">
                <a:solidFill>
                  <a:srgbClr val="4F4C56"/>
                </a:solidFill>
                <a:latin typeface="Montserrat"/>
                <a:ea typeface="Montserrat"/>
                <a:cs typeface="Montserrat"/>
              </a:rPr>
              <a:t> identify a bounded normal mode from the circuit energy and obtain discrete levels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m</m:t>
                        </m:r>
                      </m:sub>
                    </m:sSub>
                  </m:oMath>
                </a14:m>
              </mc:Choice>
              <mc:Fallback>
                <a:r>
                  <a:rPr lang="en-US" sz="1664" i="1"/>
                  <a:t>E_m</a:t>
                </a:r>
              </mc:Fallback>
            </mc:AlternateContent>
            <a:r>
              <a:rPr sz="1400" b="0" i="0">
                <a:solidFill>
                  <a:srgbClr val="4F4C56"/>
                </a:solidFill>
                <a:latin typeface="Montserrat"/>
                <a:ea typeface="Montserrat"/>
                <a:cs typeface="Montserrat"/>
              </a:rPr>
              <a:t>. </a:t>
            </a:r>
          </a:p>
        </p:txBody>
      </p:sp>
      <p:sp>
        <p:nvSpPr>
          <p:cNvPr id="10" name="TextBox 9"/>
          <p:cNvSpPr txBox="1"/>
          <p:nvPr/>
        </p:nvSpPr>
        <p:spPr>
          <a:xfrm>
            <a:off x="575733" y="3752056"/>
            <a:ext cx="11040533" cy="1080558"/>
          </a:xfrm>
          <a:prstGeom prst="rect">
            <a:avLst/>
          </a:prstGeom>
          <a:noFill/>
        </p:spPr>
        <p:txBody>
          <a:bodyPr wrap="square" lIns="0" rIns="0" tIns="0" bIns="0" anchor="t">
            <a:noAutofit/>
          </a:bodyPr>
          <a:lstStyle/>
          <a:p>
            <a:pPr algn="l">
              <a:lnSpc>
                <a:spcPts val="2130"/>
              </a:lnSpc>
            </a:pPr>
            <a:r>
              <a:rPr sz="1400" b="1" i="0">
                <a:solidFill>
                  <a:srgbClr val="4F4C56"/>
                </a:solidFill>
                <a:latin typeface="Montserrat"/>
                <a:ea typeface="Montserrat"/>
                <a:cs typeface="Montserrat"/>
              </a:rPr>
              <a:t>Core criterion:</a:t>
            </a:r>
            <a:r>
              <a:rPr sz="1400" b="0" i="0">
                <a:solidFill>
                  <a:srgbClr val="4F4C56"/>
                </a:solidFill>
                <a:latin typeface="Montserrat"/>
                <a:ea typeface="Montserrat"/>
                <a:cs typeface="Montserrat"/>
              </a:rPr>
              <a:t> Whether a circuit has quantum energy levels depends on whether it possesses a collective degree of freedom that can be identified, quantized, and isolated sufficiently well from the environment. “Having discrete levels” completes only the first step toward an artificial atom. Selective control of just two levels is the design problem addressed by the next three questions. </a:t>
            </a:r>
          </a:p>
        </p:txBody>
      </p:sp>
      <p:sp>
        <p:nvSpPr>
          <p:cNvPr id="11" name="Rectangle 10"/>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3" name="TextBox 12"/>
          <p:cNvSpPr txBox="1"/>
          <p:nvPr/>
        </p:nvSpPr>
        <p:spPr>
          <a:xfrm>
            <a:off x="11230901" y="6565900"/>
            <a:ext cx="470032"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79 / 100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Rectangle 4"/>
          <p:cNvSpPr/>
          <p:nvPr/>
        </p:nvSpPr>
        <p:spPr>
          <a:xfrm>
            <a:off x="1524000" y="2819797"/>
            <a:ext cx="9144000" cy="1472406"/>
          </a:xfrm>
          <a:prstGeom prst="rect">
            <a:avLst/>
          </a:prstGeom>
          <a:solidFill>
            <a:srgbClr val="F6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524000" y="2819797"/>
            <a:ext cx="33867" cy="1472406"/>
          </a:xfrm>
          <a:prstGeom prst="rect">
            <a:avLst/>
          </a:prstGeom>
          <a:solidFill>
            <a:srgbClr val="5F4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44133" y="2972197"/>
            <a:ext cx="8737600" cy="609600"/>
          </a:xfrm>
          <a:prstGeom prst="rect">
            <a:avLst/>
          </a:prstGeom>
          <a:noFill/>
        </p:spPr>
        <p:txBody>
          <a:bodyPr wrap="none" lIns="0" rIns="0" tIns="0" bIns="0" anchor="t">
            <a:noAutofit/>
          </a:bodyPr>
          <a:lstStyle/>
          <a:p>
            <a:pPr algn="ctr">
              <a:lnSpc>
                <a:spcPts val="4800"/>
              </a:lnSpc>
            </a:pPr>
            <a:r>
              <a:rPr sz="4000" b="1" i="0">
                <a:solidFill>
                  <a:srgbClr val="22232A"/>
                </a:solidFill>
                <a:latin typeface="Montserrat"/>
                <a:ea typeface="Montserrat"/>
                <a:cs typeface="Montserrat"/>
              </a:rPr>
              <a:t>Preview of Week 3</a:t>
            </a:r>
          </a:p>
        </p:txBody>
      </p:sp>
      <p:sp>
        <p:nvSpPr>
          <p:cNvPr id="8" name="TextBox 7"/>
          <p:cNvSpPr txBox="1"/>
          <p:nvPr/>
        </p:nvSpPr>
        <p:spPr>
          <a:xfrm>
            <a:off x="1744133" y="3734197"/>
            <a:ext cx="8737600" cy="270140"/>
          </a:xfrm>
          <a:prstGeom prst="rect">
            <a:avLst/>
          </a:prstGeom>
          <a:noFill/>
        </p:spPr>
        <p:txBody>
          <a:bodyPr wrap="none" lIns="0" rIns="0" tIns="0" bIns="0" anchor="t">
            <a:noAutofit/>
          </a:bodyPr>
          <a:lstStyle/>
          <a:p>
            <a:pPr algn="ctr">
              <a:lnSpc>
                <a:spcPts val="2130"/>
              </a:lnSpc>
            </a:pPr>
            <a:r>
              <a:rPr sz="1400" b="0" i="0">
                <a:solidFill>
                  <a:srgbClr val="4F4C56"/>
                </a:solidFill>
                <a:latin typeface="Montserrat"/>
                <a:ea typeface="Montserrat"/>
                <a:cs typeface="Montserrat"/>
              </a:rPr>
              <a:t>SQUID tunability and Transmon parameter design are developed in the sections that follow</a:t>
            </a:r>
          </a:p>
        </p:txBody>
      </p:sp>
      <p:sp>
        <p:nvSpPr>
          <p:cNvPr id="9" name="Rectangle 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1" name="TextBox 10"/>
          <p:cNvSpPr txBox="1"/>
          <p:nvPr/>
        </p:nvSpPr>
        <p:spPr>
          <a:xfrm>
            <a:off x="11221244" y="6565900"/>
            <a:ext cx="479690"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80 / 100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533" cy="1080558"/>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Superconducting qubits can be classified into several types according to their dominant energy scales and circuit designs. Common examples include the charge qubit, flux qubit, phase qubit, transmon, fluxonium, and 0–π qubit. In modern gate-based superconducting quantum computing, the transmon is among the most widely used designs; fluxonium has also attracted substantial attention for its long coherence, low relaxation rate, and distinctive level structure. </a:t>
            </a:r>
          </a:p>
        </p:txBody>
      </p:sp>
      <p:graphicFrame>
        <p:nvGraphicFramePr>
          <p:cNvPr id="6" name="Table 5"/>
          <p:cNvGraphicFramePr>
            <a:graphicFrameLocks noGrp="1"/>
          </p:cNvGraphicFramePr>
          <p:nvPr/>
        </p:nvGraphicFramePr>
        <p:xfrm>
          <a:off x="575733" y="2079625"/>
          <a:ext cx="11032067" cy="2248428"/>
        </p:xfrm>
        <a:graphic>
          <a:graphicData uri="http://schemas.openxmlformats.org/drawingml/2006/table">
            <a:tbl>
              <a:tblPr firstRow="1" bandRow="1">
                <a:tableStyleId>{5C22544A-7EE6-4342-B048-85BDC9FD1C3A}</a:tableStyleId>
              </a:tblPr>
              <a:tblGrid>
                <a:gridCol w="1178851"/>
                <a:gridCol w="3869664"/>
                <a:gridCol w="5983552"/>
              </a:tblGrid>
              <a:tr h="372004">
                <a:tc>
                  <a:txBody>
                    <a:bodyPr wrap="square"/>
                    <a:lstStyle/>
                    <a:p>
                      <a:pPr algn="l"/>
                      <a:r>
                        <a:rPr sz="1130" b="1" i="0">
                          <a:solidFill>
                            <a:srgbClr val="302840"/>
                          </a:solidFill>
                          <a:latin typeface="Montserrat"/>
                          <a:ea typeface="Montserrat"/>
                          <a:cs typeface="Montserrat"/>
                        </a:rPr>
                        <a:t>Qubit type</a:t>
                      </a:r>
                    </a:p>
                  </a:txBody>
                  <a:tcPr marT="84667" marR="101600" marB="84667" marL="101600" anchor="t">
                    <a:solidFill>
                      <a:srgbClr val="F4F4F4"/>
                    </a:solidFill>
                  </a:tcPr>
                </a:tc>
                <a:tc>
                  <a:txBody>
                    <a:bodyPr wrap="square"/>
                    <a:lstStyle/>
                    <a:p>
                      <a:pPr algn="l"/>
                      <a:r>
                        <a:rPr sz="1130" b="1" i="0">
                          <a:solidFill>
                            <a:srgbClr val="302840"/>
                          </a:solidFill>
                          <a:latin typeface="Montserrat"/>
                          <a:ea typeface="Montserrat"/>
                          <a:cs typeface="Montserrat"/>
                        </a:rPr>
                        <a:t>Primary degree of freedom</a:t>
                      </a:r>
                    </a:p>
                  </a:txBody>
                  <a:tcPr marT="84667" marR="101600" marB="84667" marL="101600" anchor="t">
                    <a:solidFill>
                      <a:srgbClr val="F4F4F4"/>
                    </a:solidFill>
                  </a:tcPr>
                </a:tc>
                <a:tc>
                  <a:txBody>
                    <a:bodyPr wrap="square"/>
                    <a:lstStyle/>
                    <a:p>
                      <a:pPr algn="l"/>
                      <a:r>
                        <a:rPr sz="1130" b="1" i="0">
                          <a:solidFill>
                            <a:srgbClr val="302840"/>
                          </a:solidFill>
                          <a:latin typeface="Montserrat"/>
                          <a:ea typeface="Montserrat"/>
                          <a:cs typeface="Montserrat"/>
                        </a:rPr>
                        <a:t>Design features</a:t>
                      </a:r>
                    </a:p>
                  </a:txBody>
                  <a:tcPr marT="84667" marR="101600" marB="84667" marL="101600" anchor="t">
                    <a:solidFill>
                      <a:srgbClr val="F4F4F4"/>
                    </a:solidFill>
                  </a:tcPr>
                </a:tc>
              </a:tr>
              <a:tr h="566208">
                <a:tc>
                  <a:txBody>
                    <a:bodyPr wrap="square"/>
                    <a:lstStyle/>
                    <a:p>
                      <a:pPr algn="l"/>
                      <a:r>
                        <a:rPr sz="1130" b="0" i="0">
                          <a:solidFill>
                            <a:srgbClr val="22232A"/>
                          </a:solidFill>
                          <a:latin typeface="Montserrat"/>
                          <a:ea typeface="Montserrat"/>
                          <a:cs typeface="Montserrat"/>
                        </a:rPr>
                        <a:t>Charge Qubit</a:t>
                      </a:r>
                    </a:p>
                  </a:txBody>
                  <a:tcPr marT="84667" marR="101600" marB="84667" marL="101600" anchor="t">
                    <a:noFill/>
                  </a:tcPr>
                </a:tc>
                <a:tc>
                  <a:txBody>
                    <a:bodyPr wrap="square"/>
                    <a:lstStyle/>
                    <a:p>
                      <a:pPr algn="l"/>
                      <a:r>
                        <a:rPr sz="1130" b="0" i="0">
                          <a:solidFill>
                            <a:srgbClr val="22232A"/>
                          </a:solidFill>
                          <a:latin typeface="Montserrat"/>
                          <a:ea typeface="Montserrat"/>
                          <a:cs typeface="Montserrat"/>
                        </a:rPr>
                        <a:t>Cooper pair number</a:t>
                      </a:r>
                    </a:p>
                  </a:txBody>
                  <a:tcPr marT="84667" marR="101600" marB="84667" marL="101600" anchor="t">
                    <a:noFill/>
                  </a:tcPr>
                </a:tc>
                <a:tc>
                  <a:txBody>
                    <a:bodyPr wrap="square"/>
                    <a:lstStyle/>
                    <a:p>
                      <a:pPr algn="l"/>
                      <a:r>
                        <a:rPr sz="1130" b="0" i="0">
                          <a:solidFill>
                            <a:srgbClr val="22232A"/>
                          </a:solidFill>
                          <a:latin typeface="Montserrat"/>
                          <a:ea typeface="Montserrat"/>
                          <a:cs typeface="Montserrat"/>
                        </a:rPr>
                        <a:t>Charge-sensitive, with good controllability but strong susceptibility to charge noise </a:t>
                      </a:r>
                    </a:p>
                  </a:txBody>
                  <a:tcPr marT="84667" marR="101600" marB="84667" marL="101600" anchor="t">
                    <a:noFill/>
                  </a:tcPr>
                </a:tc>
              </a:tr>
              <a:tr h="372004">
                <a:tc>
                  <a:txBody>
                    <a:bodyPr wrap="square"/>
                    <a:lstStyle/>
                    <a:p>
                      <a:pPr algn="l"/>
                      <a:r>
                        <a:rPr sz="1130" b="0" i="0">
                          <a:solidFill>
                            <a:srgbClr val="22232A"/>
                          </a:solidFill>
                          <a:latin typeface="Montserrat"/>
                          <a:ea typeface="Montserrat"/>
                          <a:cs typeface="Montserrat"/>
                        </a:rPr>
                        <a:t>Flux Qubit</a:t>
                      </a:r>
                    </a:p>
                  </a:txBody>
                  <a:tcPr marT="84667" marR="101600" marB="84667" marL="101600" anchor="t">
                    <a:noFill/>
                  </a:tcPr>
                </a:tc>
                <a:tc>
                  <a:txBody>
                    <a:bodyPr wrap="square"/>
                    <a:lstStyle/>
                    <a:p>
                      <a:pPr algn="l"/>
                      <a:r>
                        <a:rPr sz="1130" b="0" i="0">
                          <a:solidFill>
                            <a:srgbClr val="22232A"/>
                          </a:solidFill>
                          <a:latin typeface="Montserrat"/>
                          <a:ea typeface="Montserrat"/>
                          <a:cs typeface="Montserrat"/>
                        </a:rPr>
                        <a:t>Magnetic flux and circulation direction</a:t>
                      </a:r>
                    </a:p>
                  </a:txBody>
                  <a:tcPr marT="84667" marR="101600" marB="84667" marL="101600" anchor="t">
                    <a:noFill/>
                  </a:tcPr>
                </a:tc>
                <a:tc>
                  <a:txBody>
                    <a:bodyPr wrap="square"/>
                    <a:lstStyle/>
                    <a:p>
                      <a:pPr algn="l"/>
                      <a:r>
                        <a:rPr sz="1130" b="0" i="0">
                          <a:solidFill>
                            <a:srgbClr val="22232A"/>
                          </a:solidFill>
                          <a:latin typeface="Montserrat"/>
                          <a:ea typeface="Montserrat"/>
                          <a:cs typeface="Montserrat"/>
                        </a:rPr>
                        <a:t>Based on persistent-current states in a superconducting loop</a:t>
                      </a:r>
                    </a:p>
                  </a:txBody>
                  <a:tcPr marT="84667" marR="101600" marB="84667" marL="101600" anchor="t">
                    <a:noFill/>
                  </a:tcPr>
                </a:tc>
              </a:tr>
              <a:tr h="372004">
                <a:tc>
                  <a:txBody>
                    <a:bodyPr wrap="square"/>
                    <a:lstStyle/>
                    <a:p>
                      <a:pPr algn="l"/>
                      <a:r>
                        <a:rPr sz="1130" b="0" i="0">
                          <a:solidFill>
                            <a:srgbClr val="22232A"/>
                          </a:solidFill>
                          <a:latin typeface="Montserrat"/>
                          <a:ea typeface="Montserrat"/>
                          <a:cs typeface="Montserrat"/>
                        </a:rPr>
                        <a:t>Transmon</a:t>
                      </a:r>
                    </a:p>
                  </a:txBody>
                  <a:tcPr marT="84667" marR="101600" marB="84667" marL="101600" anchor="t">
                    <a:noFill/>
                  </a:tcPr>
                </a:tc>
                <a:tc>
                  <a:txBody>
                    <a:bodyPr wrap="square"/>
                    <a:lstStyle/>
                    <a:p>
                      <a:pPr algn="l"/>
                      <a:r>
                        <a:rPr sz="1130" b="0" i="0">
                          <a:solidFill>
                            <a:srgbClr val="22232A"/>
                          </a:solidFill>
                          <a:latin typeface="Montserrat"/>
                          <a:ea typeface="Montserrat"/>
                          <a:cs typeface="Montserrat"/>
                        </a:rPr>
                        <a:t>Josephson phase</a:t>
                      </a:r>
                    </a:p>
                  </a:txBody>
                  <a:tcPr marT="84667" marR="101600" marB="84667" marL="101600" anchor="t">
                    <a:noFill/>
                  </a:tcPr>
                </a:tc>
                <a:tc>
                  <a:txBody>
                    <a:bodyPr wrap="square"/>
                    <a:lstStyle/>
                    <a:p>
                      <a:pPr algn="l"/>
                      <a:r>
                        <a:rPr sz="1130" b="0" i="0">
                          <a:solidFill>
                            <a:srgbClr val="22232A"/>
                          </a:solidFill>
                          <a:latin typeface="Montserrat"/>
                          <a:ea typeface="Montserrat"/>
                          <a:cs typeface="Montserrat"/>
                        </a:rPr>
                        <a:t>Uses increased capacitance to reduce charge-noise sensitivity</a:t>
                      </a:r>
                    </a:p>
                  </a:txBody>
                  <a:tcPr marT="84667" marR="101600" marB="84667" marL="101600" anchor="t">
                    <a:noFill/>
                  </a:tcPr>
                </a:tc>
              </a:tr>
              <a:tr h="566208">
                <a:tc>
                  <a:txBody>
                    <a:bodyPr wrap="square"/>
                    <a:lstStyle/>
                    <a:p>
                      <a:pPr algn="l"/>
                      <a:r>
                        <a:rPr sz="1130" b="0" i="0">
                          <a:solidFill>
                            <a:srgbClr val="22232A"/>
                          </a:solidFill>
                          <a:latin typeface="Montserrat"/>
                          <a:ea typeface="Montserrat"/>
                          <a:cs typeface="Montserrat"/>
                        </a:rPr>
                        <a:t>Fluxonium</a:t>
                      </a:r>
                    </a:p>
                  </a:txBody>
                  <a:tcPr marT="84667" marR="101600" marB="84667" marL="101600" anchor="t">
                    <a:noFill/>
                  </a:tcPr>
                </a:tc>
                <a:tc>
                  <a:txBody>
                    <a:bodyPr wrap="square"/>
                    <a:lstStyle/>
                    <a:p>
                      <a:pPr algn="l"/>
                      <a:r>
                        <a:rPr sz="1130" b="0" i="0">
                          <a:solidFill>
                            <a:srgbClr val="22232A"/>
                          </a:solidFill>
                          <a:latin typeface="Montserrat"/>
                          <a:ea typeface="Montserrat"/>
                          <a:cs typeface="Montserrat"/>
                        </a:rPr>
                        <a:t>Phase across Josephson junction and superinductor</a:t>
                      </a:r>
                    </a:p>
                  </a:txBody>
                  <a:tcPr marT="84667" marR="101600" marB="84667" marL="101600" anchor="t">
                    <a:noFill/>
                  </a:tcPr>
                </a:tc>
                <a:tc>
                  <a:txBody>
                    <a:bodyPr wrap="square"/>
                    <a:lstStyle/>
                    <a:p>
                      <a:pPr algn="l"/>
                      <a:r>
                        <a:rPr sz="1130" b="0" i="0">
                          <a:solidFill>
                            <a:srgbClr val="22232A"/>
                          </a:solidFill>
                          <a:latin typeface="Montserrat"/>
                          <a:ea typeface="Montserrat"/>
                          <a:cs typeface="Montserrat"/>
                        </a:rPr>
                        <a:t>Uses a superinductor to create a distinctive level structure and noise protection</a:t>
                      </a:r>
                    </a:p>
                  </a:txBody>
                  <a:tcPr marT="84667" marR="101600" marB="84667" marL="101600" anchor="t">
                    <a:noFill/>
                  </a:tcPr>
                </a:tc>
              </a:tr>
            </a:tbl>
          </a:graphicData>
        </a:graphic>
      </p:graphicFrame>
      <p:sp>
        <p:nvSpPr>
          <p:cNvPr id="7" name="Rectangle 6"/>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9" name="TextBox 8"/>
          <p:cNvSpPr txBox="1"/>
          <p:nvPr/>
        </p:nvSpPr>
        <p:spPr>
          <a:xfrm>
            <a:off x="11255243" y="6565900"/>
            <a:ext cx="445691"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81 / 100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863600"/>
            <a:ext cx="11040986" cy="40895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Nonlinear inductive properties of a two-junction SQUID</a:t>
            </a:r>
          </a:p>
        </p:txBody>
      </p:sp>
      <p:sp>
        <p:nvSpPr>
          <p:cNvPr id="6" name="TextBox 5"/>
          <p:cNvSpPr txBox="1"/>
          <p:nvPr/>
        </p:nvSpPr>
        <p:spPr>
          <a:xfrm>
            <a:off x="575733" y="1439014"/>
            <a:ext cx="11040986" cy="257611"/>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Frequency-tunable qubits</a:t>
            </a:r>
          </a:p>
        </p:txBody>
      </p:sp>
      <p:sp>
        <p:nvSpPr>
          <p:cNvPr id="7" name="TextBox 6"/>
          <p:cNvSpPr txBox="1"/>
          <p:nvPr/>
        </p:nvSpPr>
        <p:spPr>
          <a:xfrm>
            <a:off x="575733" y="1791743"/>
            <a:ext cx="11040986" cy="758714"/>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Two Josephson junctions in a loop form a SQUID whose effective inductance depends on the enclosed flux </a:t>
            </a:r>
            <mc:AlternateContent xmlns:mc="http://schemas.openxmlformats.org/markup-compatibility/2006">
              <mc:Choice xmlns:a14="http://schemas.microsoft.com/office/drawing/2010/main" Requires="a14">
                <a14:m>
                  <m:oMath xmlns:m="http://schemas.openxmlformats.org/officeDocument/2006/math">
                    <m:sSub>
                      <m:e>
                        <m:r>
                          <m:rPr>
                            <m:sty m:val="p"/>
                          </m:rPr>
                          <a:rPr lang="en-US" i="0" sz="1665">
                            <a:latin typeface="Cambria Math"/>
                          </a:rPr>
                          <m:t>Φ</m:t>
                        </m:r>
                      </m:e>
                      <m:sub>
                        <m:r>
                          <m:rPr>
                            <m:sty m:val="i"/>
                          </m:rPr>
                          <a:rPr lang="en-US" i="1" sz="1665">
                            <a:latin typeface="Cambria Math"/>
                          </a:rPr>
                          <m:t>B</m:t>
                        </m:r>
                      </m:sub>
                    </m:sSub>
                  </m:oMath>
                </a14:m>
              </mc:Choice>
              <mc:Fallback>
                <a:r>
                  <a:rPr lang="en-US" sz="1664" i="1"/>
                  <a:t>\Phi_B</a:t>
                </a:r>
              </mc:Fallback>
            </mc:AlternateContent>
            <a:r>
              <a:rPr sz="1400" b="0" i="0">
                <a:solidFill>
                  <a:srgbClr val="4F4C56"/>
                </a:solidFill>
                <a:latin typeface="Montserrat"/>
                <a:ea typeface="Montserrat"/>
                <a:cs typeface="Montserrat"/>
              </a:rPr>
              <a:t>. Replacing the single junction of a fixed-frequency transmon with this SQUID loop makes the effective Josephson energy, and hence the qubit frequency, tunable by an applied magnetic flux. </a:t>
            </a:r>
          </a:p>
        </p:txBody>
      </p:sp>
      <p:pic>
        <p:nvPicPr>
          <p:cNvPr id="8" name="Circular conductor with current and magnetic-field diagram" descr="SQUID.png">
            <a:hlinkClick r:id="rId3"/>
          </p:cNvPr>
          <p:cNvPicPr>
            <a:picLocks noChangeAspect="1"/>
          </p:cNvPicPr>
          <p:nvPr/>
        </p:nvPicPr>
        <p:blipFill>
          <a:blip r:embed="rId2"/>
          <a:stretch>
            <a:fillRect/>
          </a:stretch>
        </p:blipFill>
        <p:spPr>
          <a:xfrm>
            <a:off x="4546164" y="2677326"/>
            <a:ext cx="3100126" cy="3091243"/>
          </a:xfrm>
          <a:prstGeom prst="rect">
            <a:avLst/>
          </a:prstGeom>
        </p:spPr>
      </p:pic>
      <p:sp>
        <p:nvSpPr>
          <p:cNvPr id="9" name="Rectangle 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1" name="TextBox 10"/>
          <p:cNvSpPr txBox="1"/>
          <p:nvPr/>
        </p:nvSpPr>
        <p:spPr>
          <a:xfrm>
            <a:off x="11231695" y="6565900"/>
            <a:ext cx="469239"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82 / 100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1075267"/>
            <a:ext cx="11040533" cy="2741877"/>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Combine two Josephson junctions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J</m:t>
                        </m:r>
                      </m:e>
                      <m:sub>
                        <m:r>
                          <m:rPr>
                            <m:sty m:val="p"/>
                          </m:rPr>
                          <a:rPr lang="en-US" i="0" sz="1665">
                            <a:latin typeface="Cambria Math"/>
                          </a:rPr>
                          <m:t>1</m:t>
                        </m:r>
                      </m:sub>
                    </m:sSub>
                  </m:oMath>
                </a14:m>
              </mc:Choice>
              <mc:Fallback>
                <a:r>
                  <a:rPr lang="en-US" sz="1664" i="1"/>
                  <a:t>J_1</a:t>
                </a:r>
              </mc:Fallback>
            </mc:AlternateContent>
            <a:r>
              <a:rPr sz="1400" b="0" i="0">
                <a:solidFill>
                  <a:srgbClr val="4F4C56"/>
                </a:solidFill>
                <a:latin typeface="Montserrat"/>
                <a:ea typeface="Montserrat"/>
                <a:cs typeface="Montserrat"/>
              </a:rPr>
              <a:t> and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J</m:t>
                        </m:r>
                      </m:e>
                      <m:sub>
                        <m:r>
                          <m:rPr>
                            <m:sty m:val="p"/>
                          </m:rPr>
                          <a:rPr lang="en-US" i="0" sz="1665">
                            <a:latin typeface="Cambria Math"/>
                          </a:rPr>
                          <m:t>2</m:t>
                        </m:r>
                      </m:sub>
                    </m:sSub>
                  </m:oMath>
                </a14:m>
              </mc:Choice>
              <mc:Fallback>
                <a:r>
                  <a:rPr lang="en-US" sz="1664" i="1"/>
                  <a:t>J_2</a:t>
                </a:r>
              </mc:Fallback>
            </mc:AlternateContent>
            <a:r>
              <a:rPr sz="1400" b="0" i="0">
                <a:solidFill>
                  <a:srgbClr val="4F4C56"/>
                </a:solidFill>
                <a:latin typeface="Montserrat"/>
                <a:ea typeface="Montserrat"/>
                <a:cs typeface="Montserrat"/>
              </a:rPr>
              <a:t> to form a closed loop threaded by flux </a:t>
            </a:r>
            <mc:AlternateContent xmlns:mc="http://schemas.openxmlformats.org/markup-compatibility/2006">
              <mc:Choice xmlns:a14="http://schemas.microsoft.com/office/drawing/2010/main" Requires="a14">
                <a14:m>
                  <m:oMath xmlns:m="http://schemas.openxmlformats.org/officeDocument/2006/math">
                    <m:sSub>
                      <m:e>
                        <m:r>
                          <m:rPr>
                            <m:sty m:val="p"/>
                          </m:rPr>
                          <a:rPr lang="en-US" i="0" sz="1665">
                            <a:latin typeface="Cambria Math"/>
                          </a:rPr>
                          <m:t>Φ</m:t>
                        </m:r>
                      </m:e>
                      <m:sub>
                        <m:r>
                          <m:rPr>
                            <m:sty m:val="i"/>
                          </m:rPr>
                          <a:rPr lang="en-US" i="1" sz="1665">
                            <a:latin typeface="Cambria Math"/>
                          </a:rPr>
                          <m:t>B</m:t>
                        </m:r>
                      </m:sub>
                    </m:sSub>
                  </m:oMath>
                </a14:m>
              </mc:Choice>
              <mc:Fallback>
                <a:r>
                  <a:rPr lang="en-US" sz="1664" i="1"/>
                  <a:t> \Phi_B </a:t>
                </a:r>
              </mc:Fallback>
            </mc:AlternateContent>
            <a:r>
              <a:rPr sz="1400" b="0" i="0">
                <a:solidFill>
                  <a:srgbClr val="4F4C56"/>
                </a:solidFill>
                <a:latin typeface="Montserrat"/>
                <a:ea typeface="Montserrat"/>
                <a:cs typeface="Montserrat"/>
              </a:rPr>
              <a:t> and subject to voltage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V</m:t>
                    </m:r>
                  </m:oMath>
                </a14:m>
              </mc:Choice>
              <mc:Fallback>
                <a:r>
                  <a:rPr lang="en-US" sz="1664" i="1"/>
                  <a:t> V </a:t>
                </a:r>
              </mc:Fallback>
            </mc:AlternateContent>
            <a:r>
              <a:rPr sz="1400" b="0" i="0">
                <a:solidFill>
                  <a:srgbClr val="4F4C56"/>
                </a:solidFill>
                <a:latin typeface="Montserrat"/>
                <a:ea typeface="Montserrat"/>
                <a:cs typeface="Montserrat"/>
              </a:rPr>
              <a:t>. By flux quantization, the loop integral of the superconducting phase must satisfy: </a:t>
            </a:r>
            <mc:AlternateContent xmlns:mc="http://schemas.openxmlformats.org/markup-compatibility/2006">
              <mc:Choice xmlns:a14="http://schemas.microsoft.com/office/drawing/2010/main" Requires="a14">
                <a14:m>
                  <m:oMath xmlns:m="http://schemas.openxmlformats.org/officeDocument/2006/math">
                    <m:r>
                      <m:rPr>
                        <m:sty m:val="p"/>
                      </m:rPr>
                      <a:rPr lang="en-US" i="0" sz="1568">
                        <a:latin typeface="Cambria Math"/>
                      </a:rPr>
                      <m:t>∮</m:t>
                    </m:r>
                    <m:r>
                      <m:rPr>
                        <m:sty m:val="p"/>
                      </m:rPr>
                      <a:rPr lang="en-US" i="0" sz="1568">
                        <a:latin typeface="Cambria Math"/>
                      </a:rPr>
                      <m:t>∇</m:t>
                    </m:r>
                    <m:r>
                      <m:rPr>
                        <m:sty m:val="i"/>
                      </m:rPr>
                      <a:rPr lang="en-US" i="1" sz="1568">
                        <a:latin typeface="Cambria Math"/>
                      </a:rPr>
                      <m:t>θ</m:t>
                    </m:r>
                    <m:r>
                      <m:rPr>
                        <m:sty m:val="p"/>
                      </m:rPr>
                      <a:rPr lang="en-US" i="0" sz="1568">
                        <a:latin typeface="Cambria Math"/>
                      </a:rPr>
                      <m:t>(</m:t>
                    </m:r>
                    <m:r>
                      <m:rPr>
                        <m:sty m:val="i"/>
                      </m:rPr>
                      <a:rPr lang="en-US" i="1" sz="1568">
                        <a:latin typeface="Cambria Math"/>
                      </a:rPr>
                      <m:t>r</m:t>
                    </m:r>
                    <m:r>
                      <m:rPr>
                        <m:sty m:val="p"/>
                      </m:rPr>
                      <a:rPr lang="en-US" i="0" sz="1568">
                        <a:latin typeface="Cambria Math"/>
                      </a:rPr>
                      <m:t>)</m:t>
                    </m:r>
                    <m:r>
                      <m:rPr>
                        <m:sty m:val="p"/>
                      </m:rPr>
                      <a:rPr lang="en-US" i="0" sz="1568">
                        <a:latin typeface="Cambria Math"/>
                      </a:rPr>
                      <m:t>⋅</m:t>
                    </m:r>
                    <m:r>
                      <m:rPr>
                        <m:sty m:val="i"/>
                      </m:rPr>
                      <a:rPr lang="en-US" i="1" sz="1568">
                        <a:latin typeface="Cambria Math"/>
                      </a:rPr>
                      <m:t>d</m:t>
                    </m:r>
                    <m:box>
                      <m:e>
                        <m:limUpp>
                          <m:e>
                            <m:r>
                              <m:rPr>
                                <m:sty m:val="i"/>
                              </m:rPr>
                              <a:rPr lang="en-US" i="1" sz="1568">
                                <a:latin typeface="Cambria Math"/>
                              </a:rPr>
                              <m:t>l</m:t>
                            </m:r>
                          </m:e>
                          <m:lim>
                            <m:r>
                              <m:rPr>
                                <m:sty m:val="p"/>
                              </m:rPr>
                              <a:rPr lang="en-US" i="0" sz="1568">
                                <a:latin typeface="Cambria Math"/>
                              </a:rPr>
                              <m:t>→</m:t>
                            </m:r>
                          </m:lim>
                        </m:limUpp>
                      </m:e>
                    </m:box>
                    <m:r>
                      <m:rPr>
                        <m:sty m:val="p"/>
                      </m:rPr>
                      <a:rPr lang="en-US" i="0" sz="1568">
                        <a:latin typeface="Cambria Math"/>
                      </a:rPr>
                      <m:t>−</m:t>
                    </m:r>
                    <m:f>
                      <m:num>
                        <m:r>
                          <m:rPr>
                            <m:sty m:val="i"/>
                          </m:rPr>
                          <a:rPr lang="en-US" i="1" sz="1568">
                            <a:latin typeface="Cambria Math"/>
                          </a:rPr>
                          <m:t>q</m:t>
                        </m:r>
                      </m:num>
                      <m:den>
                        <m:r>
                          <m:rPr>
                            <m:sty m:val="i"/>
                          </m:rPr>
                          <a:rPr lang="en-US" i="1" sz="1568">
                            <a:latin typeface="Cambria Math"/>
                          </a:rPr>
                          <m:t>ℏ</m:t>
                        </m:r>
                      </m:den>
                    </m:f>
                    <m:sSub>
                      <m:e>
                        <m:r>
                          <m:rPr>
                            <m:sty m:val="p"/>
                          </m:rPr>
                          <a:rPr lang="en-US" i="0" sz="1568">
                            <a:latin typeface="Cambria Math"/>
                          </a:rPr>
                          <m:t>Φ</m:t>
                        </m:r>
                      </m:e>
                      <m:sub>
                        <m:r>
                          <m:rPr>
                            <m:sty m:val="i"/>
                          </m:rPr>
                          <a:rPr lang="en-US" i="1" sz="1568">
                            <a:latin typeface="Cambria Math"/>
                          </a:rPr>
                          <m:t>B</m:t>
                        </m:r>
                      </m:sub>
                    </m:sSub>
                    <m:r>
                      <m:rPr>
                        <m:sty m:val="p"/>
                      </m:rPr>
                      <a:rPr lang="en-US" i="0" sz="1568">
                        <a:latin typeface="Cambria Math"/>
                      </a:rPr>
                      <m:t>=</m:t>
                    </m:r>
                    <m:r>
                      <m:rPr>
                        <m:sty m:val="p"/>
                      </m:rPr>
                      <a:rPr lang="en-US" i="0" sz="1568">
                        <a:latin typeface="Cambria Math"/>
                      </a:rPr>
                      <m:t>2</m:t>
                    </m:r>
                    <m:r>
                      <m:rPr>
                        <m:sty m:val="i"/>
                      </m:rPr>
                      <a:rPr lang="en-US" i="1" sz="1568">
                        <a:latin typeface="Cambria Math"/>
                      </a:rPr>
                      <m:t>π</m:t>
                    </m:r>
                    <m:r>
                      <m:rPr>
                        <m:sty m:val="i"/>
                      </m:rPr>
                      <a:rPr lang="en-US" i="1" sz="1568">
                        <a:latin typeface="Cambria Math"/>
                      </a:rPr>
                      <m:t>N</m:t>
                    </m:r>
                  </m:oMath>
                </a14:m>
              </mc:Choice>
              <mc:Fallback>
                <a:r>
                  <a:rPr lang="en-US" sz="1567" i="1"/>
                  <a:t>
                                    \oint \nabla \theta(r) \cdot d\vec{l} - \frac{q}{\hbar} \Phi_B = 2\pi N
                                    </a:t>
                </a:r>
              </mc:Fallback>
            </mc:AlternateContent>
            <a:r>
              <a:rPr sz="1400" b="0" i="0">
                <a:solidFill>
                  <a:srgbClr val="4F4C56"/>
                </a:solidFill>
                <a:latin typeface="Montserrat"/>
                <a:ea typeface="Montserrat"/>
                <a:cs typeface="Montserrat"/>
              </a:rPr>
              <a:t> Since the discontinuities at the junctions contribute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Δ</m:t>
                    </m:r>
                    <m:sSub>
                      <m:e>
                        <m:r>
                          <m:rPr>
                            <m:sty m:val="i"/>
                          </m:rPr>
                          <a:rPr lang="en-US" i="1" sz="1665">
                            <a:latin typeface="Cambria Math"/>
                          </a:rPr>
                          <m:t>θ</m:t>
                        </m:r>
                      </m:e>
                      <m:sub>
                        <m:r>
                          <m:rPr>
                            <m:sty m:val="p"/>
                          </m:rPr>
                          <a:rPr lang="en-US" i="0" sz="1665">
                            <a:latin typeface="Cambria Math"/>
                          </a:rPr>
                          <m:t>1</m:t>
                        </m:r>
                      </m:sub>
                    </m:sSub>
                  </m:oMath>
                </a14:m>
              </mc:Choice>
              <mc:Fallback>
                <a:r>
                  <a:rPr lang="en-US" sz="1664" i="1"/>
                  <a:t> \Delta\theta_1 </a:t>
                </a:r>
              </mc:Fallback>
            </mc:AlternateContent>
            <a:r>
              <a:rPr sz="1400" b="0" i="0">
                <a:solidFill>
                  <a:srgbClr val="4F4C56"/>
                </a:solidFill>
                <a:latin typeface="Montserrat"/>
                <a:ea typeface="Montserrat"/>
                <a:cs typeface="Montserrat"/>
              </a:rPr>
              <a:t> and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Δ</m:t>
                    </m:r>
                    <m:sSub>
                      <m:e>
                        <m:r>
                          <m:rPr>
                            <m:sty m:val="i"/>
                          </m:rPr>
                          <a:rPr lang="en-US" i="1" sz="1665">
                            <a:latin typeface="Cambria Math"/>
                          </a:rPr>
                          <m:t>θ</m:t>
                        </m:r>
                      </m:e>
                      <m:sub>
                        <m:r>
                          <m:rPr>
                            <m:sty m:val="p"/>
                          </m:rPr>
                          <a:rPr lang="en-US" i="0" sz="1665">
                            <a:latin typeface="Cambria Math"/>
                          </a:rPr>
                          <m:t>2</m:t>
                        </m:r>
                      </m:sub>
                    </m:sSub>
                  </m:oMath>
                </a14:m>
              </mc:Choice>
              <mc:Fallback>
                <a:r>
                  <a:rPr lang="en-US" sz="1664" i="1"/>
                  <a:t> \Delta\theta_2 </a:t>
                </a:r>
              </mc:Fallback>
            </mc:AlternateContent>
            <a:r>
              <a:rPr sz="1400" b="0" i="0">
                <a:solidFill>
                  <a:srgbClr val="4F4C56"/>
                </a:solidFill>
                <a:latin typeface="Montserrat"/>
                <a:ea typeface="Montserrat"/>
                <a:cs typeface="Montserrat"/>
              </a:rPr>
              <a:t>, with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q</m:t>
                    </m:r>
                    <m:r>
                      <m:rPr>
                        <m:sty m:val="p"/>
                      </m:rPr>
                      <a:rPr lang="en-US" i="0" sz="1665">
                        <a:latin typeface="Cambria Math"/>
                      </a:rPr>
                      <m:t>=</m:t>
                    </m:r>
                    <m:r>
                      <m:rPr>
                        <m:sty m:val="p"/>
                      </m:rPr>
                      <a:rPr lang="en-US" i="0" sz="1665">
                        <a:latin typeface="Cambria Math"/>
                      </a:rPr>
                      <m:t>−</m:t>
                    </m:r>
                    <m:r>
                      <m:rPr>
                        <m:sty m:val="p"/>
                      </m:rPr>
                      <a:rPr lang="en-US" i="0" sz="1665">
                        <a:latin typeface="Cambria Math"/>
                      </a:rPr>
                      <m:t>2</m:t>
                    </m:r>
                    <m:r>
                      <m:rPr>
                        <m:sty m:val="i"/>
                      </m:rPr>
                      <a:rPr lang="en-US" i="1" sz="1665">
                        <a:latin typeface="Cambria Math"/>
                      </a:rPr>
                      <m:t>e</m:t>
                    </m:r>
                  </m:oMath>
                </a14:m>
              </mc:Choice>
              <mc:Fallback>
                <a:r>
                  <a:rPr lang="en-US" sz="1664" i="1"/>
                  <a:t>
                                q = -2e </a:t>
                </a:r>
              </mc:Fallback>
            </mc:AlternateContent>
            <a:r>
              <a:rPr sz="1400" b="0" i="0">
                <a:solidFill>
                  <a:srgbClr val="4F4C56"/>
                </a:solidFill>
                <a:latin typeface="Montserrat"/>
                <a:ea typeface="Montserrat"/>
                <a:cs typeface="Montserrat"/>
              </a:rPr>
              <a:t>, substitution gives: </a:t>
            </a:r>
            <mc:AlternateContent xmlns:mc="http://schemas.openxmlformats.org/markup-compatibility/2006">
              <mc:Choice xmlns:a14="http://schemas.microsoft.com/office/drawing/2010/main" Requires="a14">
                <a14:m>
                  <m:oMath xmlns:m="http://schemas.openxmlformats.org/officeDocument/2006/math">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2</m:t>
                        </m:r>
                      </m:sub>
                    </m:sSub>
                    <m:r>
                      <m:rPr>
                        <m:sty m:val="p"/>
                      </m:rPr>
                      <a:rPr lang="en-US" i="0" sz="1568">
                        <a:latin typeface="Cambria Math"/>
                      </a:rPr>
                      <m:t>−</m:t>
                    </m:r>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r>
                      <m:rPr>
                        <m:sty m:val="p"/>
                      </m:rPr>
                      <a:rPr lang="en-US" i="0" sz="1568">
                        <a:latin typeface="Cambria Math"/>
                      </a:rPr>
                      <m:t>+</m:t>
                    </m:r>
                    <m:r>
                      <m:rPr>
                        <m:sty m:val="p"/>
                      </m:rPr>
                      <a:rPr lang="en-US" i="0" sz="1568">
                        <a:latin typeface="Cambria Math"/>
                      </a:rPr>
                      <m:t>2</m:t>
                    </m:r>
                    <m:r>
                      <m:rPr>
                        <m:sty m:val="i"/>
                      </m:rPr>
                      <a:rPr lang="en-US" i="1" sz="1568">
                        <a:latin typeface="Cambria Math"/>
                      </a:rPr>
                      <m:t>π</m:t>
                    </m:r>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r>
                      <m:rPr>
                        <m:sty m:val="p"/>
                      </m:rPr>
                      <a:rPr lang="en-US" i="0" sz="1568">
                        <a:latin typeface="Cambria Math"/>
                      </a:rPr>
                      <m:t>=</m:t>
                    </m:r>
                    <m:r>
                      <m:rPr>
                        <m:sty m:val="p"/>
                      </m:rPr>
                      <a:rPr lang="en-US" i="0" sz="1568">
                        <a:latin typeface="Cambria Math"/>
                      </a:rPr>
                      <m:t>2</m:t>
                    </m:r>
                    <m:r>
                      <m:rPr>
                        <m:sty m:val="i"/>
                      </m:rPr>
                      <a:rPr lang="en-US" i="1" sz="1568">
                        <a:latin typeface="Cambria Math"/>
                      </a:rPr>
                      <m:t>π</m:t>
                    </m:r>
                    <m:r>
                      <m:rPr>
                        <m:sty m:val="i"/>
                      </m:rPr>
                      <a:rPr lang="en-US" i="1" sz="1568">
                        <a:latin typeface="Cambria Math"/>
                      </a:rPr>
                      <m:t>N</m:t>
                    </m:r>
                  </m:oMath>
                </a14:m>
              </mc:Choice>
              <mc:Fallback>
                <a:r>
                  <a:rPr lang="en-US" sz="1567" i="1"/>
                  <a:t>
                                    \Delta\theta_2 - \Delta\theta_1 + 2\pi \frac{\Phi_B}{\Phi_0} = 2\pi N
                                    </a:t>
                </a:r>
              </mc:Fallback>
            </mc:AlternateContent>
            <a:r>
              <a:rPr sz="1400" b="0" i="0">
                <a:solidFill>
                  <a:srgbClr val="4F4C56"/>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2</m:t>
                        </m:r>
                      </m:sub>
                    </m:sSub>
                    <m:r>
                      <m:rPr>
                        <m:sty m:val="p"/>
                      </m:rPr>
                      <a:rPr lang="en-US" i="0" sz="1568">
                        <a:latin typeface="Cambria Math"/>
                      </a:rPr>
                      <m:t>=</m:t>
                    </m:r>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r>
                      <m:rPr>
                        <m:sty m:val="p"/>
                      </m:rPr>
                      <a:rPr lang="en-US" i="0" sz="1568">
                        <a:latin typeface="Cambria Math"/>
                      </a:rPr>
                      <m:t>−</m:t>
                    </m:r>
                    <m:r>
                      <m:rPr>
                        <m:sty m:val="p"/>
                      </m:rPr>
                      <a:rPr lang="en-US" i="0" sz="1568">
                        <a:latin typeface="Cambria Math"/>
                      </a:rPr>
                      <m:t>2</m:t>
                    </m:r>
                    <m:r>
                      <m:rPr>
                        <m:sty m:val="i"/>
                      </m:rPr>
                      <a:rPr lang="en-US" i="1" sz="1568">
                        <a:latin typeface="Cambria Math"/>
                      </a:rPr>
                      <m:t>π</m:t>
                    </m:r>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r>
                      <m:rPr>
                        <m:sty m:val="p"/>
                      </m:rPr>
                      <a:rPr lang="en-US" i="0" sz="1568">
                        <a:latin typeface="Cambria Math"/>
                      </a:rPr>
                      <m:t>+</m:t>
                    </m:r>
                    <m:r>
                      <m:rPr>
                        <m:sty m:val="p"/>
                      </m:rPr>
                      <a:rPr lang="en-US" i="0" sz="1568">
                        <a:latin typeface="Cambria Math"/>
                      </a:rPr>
                      <m:t>2</m:t>
                    </m:r>
                    <m:r>
                      <m:rPr>
                        <m:sty m:val="i"/>
                      </m:rPr>
                      <a:rPr lang="en-US" i="1" sz="1568">
                        <a:latin typeface="Cambria Math"/>
                      </a:rPr>
                      <m:t>π</m:t>
                    </m:r>
                    <m:r>
                      <m:rPr>
                        <m:sty m:val="i"/>
                      </m:rPr>
                      <a:rPr lang="en-US" i="1" sz="1568">
                        <a:latin typeface="Cambria Math"/>
                      </a:rPr>
                      <m:t>N</m:t>
                    </m:r>
                  </m:oMath>
                </a14:m>
              </mc:Choice>
              <mc:Fallback>
                <a:r>
                  <a:rPr lang="en-US" sz="1567" i="1"/>
                  <a:t>
                                    \Delta\theta_2 = \Delta\theta_1 - 2\pi \frac{\Phi_B}{\Phi_0} + 2\pi N
                                    </a:t>
                </a:r>
              </mc:Fallback>
            </mc:AlternateContent>
            <a:r>
              <a:rPr sz="1400" b="0" i="0">
                <a:solidFill>
                  <a:srgbClr val="4F4C56"/>
                </a:solidFill>
                <a:latin typeface="Montserrat"/>
                <a:ea typeface="Montserrat"/>
                <a:cs typeface="Montserrat"/>
              </a:rPr>
              <a:t> </a:t>
            </a:r>
          </a:p>
        </p:txBody>
      </p:sp>
      <p:sp>
        <p:nvSpPr>
          <p:cNvPr id="6" name="Rectangle 5"/>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8" name="TextBox 7"/>
          <p:cNvSpPr txBox="1"/>
          <p:nvPr/>
        </p:nvSpPr>
        <p:spPr>
          <a:xfrm>
            <a:off x="11231562" y="6565900"/>
            <a:ext cx="469371"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83 / 100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1075267"/>
            <a:ext cx="11040533" cy="3972983"/>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When current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I</m:t>
                    </m:r>
                    <m:r>
                      <m:rPr>
                        <m:sty m:val="p"/>
                      </m:rPr>
                      <a:rPr lang="en-US" i="0" sz="1665">
                        <a:latin typeface="Cambria Math"/>
                      </a:rPr>
                      <m:t>=</m:t>
                    </m:r>
                    <m:sSub>
                      <m:e>
                        <m:r>
                          <m:rPr>
                            <m:sty m:val="i"/>
                          </m:rPr>
                          <a:rPr lang="en-US" i="1" sz="1665">
                            <a:latin typeface="Cambria Math"/>
                          </a:rPr>
                          <m:t>I</m:t>
                        </m:r>
                      </m:e>
                      <m:sub>
                        <m:r>
                          <m:rPr>
                            <m:sty m:val="p"/>
                          </m:rPr>
                          <a:rPr lang="en-US" i="0" sz="1665">
                            <a:latin typeface="Cambria Math"/>
                          </a:rPr>
                          <m:t>1</m:t>
                        </m:r>
                      </m:sub>
                    </m:sSub>
                    <m:r>
                      <m:rPr>
                        <m:sty m:val="p"/>
                      </m:rPr>
                      <a:rPr lang="en-US" i="0" sz="1665">
                        <a:latin typeface="Cambria Math"/>
                      </a:rPr>
                      <m:t>+</m:t>
                    </m:r>
                    <m:sSub>
                      <m:e>
                        <m:r>
                          <m:rPr>
                            <m:sty m:val="i"/>
                          </m:rPr>
                          <a:rPr lang="en-US" i="1" sz="1665">
                            <a:latin typeface="Cambria Math"/>
                          </a:rPr>
                          <m:t>I</m:t>
                        </m:r>
                      </m:e>
                      <m:sub>
                        <m:r>
                          <m:rPr>
                            <m:sty m:val="p"/>
                          </m:rPr>
                          <a:rPr lang="en-US" i="0" sz="1665">
                            <a:latin typeface="Cambria Math"/>
                          </a:rPr>
                          <m:t>2</m:t>
                        </m:r>
                      </m:sub>
                    </m:sSub>
                  </m:oMath>
                </a14:m>
              </mc:Choice>
              <mc:Fallback>
                <a:r>
                  <a:rPr lang="en-US" sz="1664" i="1"/>
                  <a:t> I = I_1 + I_2 </a:t>
                </a:r>
              </mc:Fallback>
            </mc:AlternateContent>
            <a:r>
              <a:rPr sz="1400" b="0" i="0">
                <a:solidFill>
                  <a:srgbClr val="4F4C56"/>
                </a:solidFill>
                <a:latin typeface="Montserrat"/>
                <a:ea typeface="Montserrat"/>
                <a:cs typeface="Montserrat"/>
              </a:rPr>
              <a:t> is sent through the entire SQUID, use the Josephson current relation from the previous section. For a symmetric SQUID, the two Josephson junctions have identical properties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I</m:t>
                        </m:r>
                      </m:e>
                      <m:sub>
                        <m:r>
                          <m:rPr>
                            <m:sty m:val="i"/>
                          </m:rPr>
                          <a:rPr lang="en-US" i="1" sz="1665">
                            <a:latin typeface="Cambria Math"/>
                          </a:rPr>
                          <m:t>c</m:t>
                        </m:r>
                      </m:sub>
                    </m:sSub>
                  </m:oMath>
                </a14:m>
              </mc:Choice>
              <mc:Fallback>
                <a:r>
                  <a:rPr lang="en-US" sz="1664" i="1"/>
                  <a:t> I_c
                                </a:t>
                </a:r>
              </mc:Fallback>
            </mc:AlternateContent>
            <a:r>
              <a:rPr sz="1400" b="0" i="0">
                <a:solidFill>
                  <a:srgbClr val="4F4C56"/>
                </a:solidFill>
                <a:latin typeface="Montserrat"/>
                <a:ea typeface="Montserrat"/>
                <a:cs typeface="Montserrat"/>
              </a:rPr>
              <a:t>. We obtain: </a:t>
            </a:r>
            <mc:AlternateContent xmlns:mc="http://schemas.openxmlformats.org/markup-compatibility/2006">
              <mc:Choice xmlns:a14="http://schemas.microsoft.com/office/drawing/2010/main" Requires="a14">
                <a14:m>
                  <m:oMath xmlns:m="http://schemas.openxmlformats.org/officeDocument/2006/math">
                    <m:r>
                      <m:rPr>
                        <m:sty m:val="i"/>
                      </m:rPr>
                      <a:rPr lang="en-US" i="1" sz="1568">
                        <a:latin typeface="Cambria Math"/>
                      </a:rPr>
                      <m:t>I</m:t>
                    </m:r>
                    <m:r>
                      <m:rPr>
                        <m:sty m:val="p"/>
                      </m:rPr>
                      <a:rPr lang="en-US" i="0" sz="1568">
                        <a:latin typeface="Cambria Math"/>
                      </a:rPr>
                      <m:t>=</m:t>
                    </m:r>
                    <m:sSub>
                      <m:e>
                        <m:r>
                          <m:rPr>
                            <m:sty m:val="i"/>
                          </m:rPr>
                          <a:rPr lang="en-US" i="1" sz="1568">
                            <a:latin typeface="Cambria Math"/>
                          </a:rPr>
                          <m:t>I</m:t>
                        </m:r>
                      </m:e>
                      <m:sub>
                        <m:r>
                          <m:rPr>
                            <m:sty m:val="p"/>
                          </m:rPr>
                          <a:rPr lang="en-US" i="0" sz="1568">
                            <a:latin typeface="Cambria Math"/>
                          </a:rPr>
                          <m:t>1</m:t>
                        </m:r>
                      </m:sub>
                    </m:sSub>
                    <m:r>
                      <m:rPr>
                        <m:sty m:val="p"/>
                      </m:rPr>
                      <a:rPr lang="en-US" i="0" sz="1568">
                        <a:latin typeface="Cambria Math"/>
                      </a:rPr>
                      <m:t>+</m:t>
                    </m:r>
                    <m:sSub>
                      <m:e>
                        <m:r>
                          <m:rPr>
                            <m:sty m:val="i"/>
                          </m:rPr>
                          <a:rPr lang="en-US" i="1" sz="1568">
                            <a:latin typeface="Cambria Math"/>
                          </a:rPr>
                          <m:t>I</m:t>
                        </m:r>
                      </m:e>
                      <m:sub>
                        <m:r>
                          <m:rPr>
                            <m:sty m:val="p"/>
                          </m:rPr>
                          <a:rPr lang="en-US" i="0" sz="1568">
                            <a:latin typeface="Cambria Math"/>
                          </a:rPr>
                          <m:t>2</m:t>
                        </m:r>
                      </m:sub>
                    </m:sSub>
                    <m:r>
                      <m:rPr>
                        <m:sty m:val="p"/>
                      </m:rPr>
                      <a:rPr lang="en-US" i="0" sz="1568">
                        <a:latin typeface="Cambria Math"/>
                      </a:rPr>
                      <m:t>=</m:t>
                    </m:r>
                    <m:sSub>
                      <m:e>
                        <m:r>
                          <m:rPr>
                            <m:sty m:val="i"/>
                          </m:rPr>
                          <a:rPr lang="en-US" i="1" sz="1568">
                            <a:latin typeface="Cambria Math"/>
                          </a:rPr>
                          <m:t>I</m:t>
                        </m:r>
                      </m:e>
                      <m:sub>
                        <m:r>
                          <m:rPr>
                            <m:sty m:val="p"/>
                          </m:rPr>
                          <a:rPr lang="en-US" i="0" sz="1568">
                            <a:latin typeface="Cambria Math"/>
                          </a:rPr>
                          <m:t>0</m:t>
                        </m:r>
                      </m:sub>
                    </m:sSub>
                    <m:r>
                      <m:rPr>
                        <m:sty m:val="p"/>
                      </m:rPr>
                      <a:rPr lang="en-US" i="0" sz="1568">
                        <a:latin typeface="Cambria Math"/>
                      </a:rPr>
                      <m:t>(</m:t>
                    </m:r>
                    <m:r>
                      <m:rPr>
                        <m:sty m:val="p"/>
                      </m:rPr>
                      <a:rPr lang="en-US" i="0" sz="1568">
                        <a:latin typeface="Cambria Math"/>
                      </a:rPr>
                      <m:t>sin</m:t>
                    </m:r>
                    <m:r>
                      <m:rPr>
                        <m:sty m:val="p"/>
                      </m:rPr>
                      <a:rPr lang="en-US" i="0" sz="1568">
                        <a:latin typeface="Cambria Math"/>
                      </a:rPr>
                      <m:t/>
                    </m:r>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r>
                      <m:rPr>
                        <m:sty m:val="p"/>
                      </m:rPr>
                      <a:rPr lang="en-US" i="0" sz="1568">
                        <a:latin typeface="Cambria Math"/>
                      </a:rPr>
                      <m:t>+</m:t>
                    </m:r>
                    <m:r>
                      <m:rPr>
                        <m:sty m:val="p"/>
                      </m:rPr>
                      <a:rPr lang="en-US" i="0" sz="1568">
                        <a:latin typeface="Cambria Math"/>
                      </a:rPr>
                      <m:t>sin</m:t>
                    </m:r>
                    <m:r>
                      <m:rPr>
                        <m:sty m:val="p"/>
                      </m:rPr>
                      <a:rPr lang="en-US" i="0" sz="1568">
                        <a:latin typeface="Cambria Math"/>
                      </a:rPr>
                      <m:t/>
                    </m:r>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2</m:t>
                        </m:r>
                      </m:sub>
                    </m:sSub>
                    <m:r>
                      <m:rPr>
                        <m:sty m:val="p"/>
                      </m:rPr>
                      <a:rPr lang="en-US" i="0" sz="1568">
                        <a:latin typeface="Cambria Math"/>
                      </a:rPr>
                      <m:t>)</m:t>
                    </m:r>
                  </m:oMath>
                </a14:m>
              </mc:Choice>
              <mc:Fallback>
                <a:r>
                  <a:rPr lang="en-US" sz="1567" i="1"/>
                  <a:t>
                                    I = I_1 + I_2 = I_0 (\sin\Delta\theta_1 + \sin\Delta\theta_2)
                                    </a:t>
                </a:r>
              </mc:Fallback>
            </mc:AlternateContent>
            <a:r>
              <a:rPr sz="1400" b="0" i="0">
                <a:solidFill>
                  <a:srgbClr val="4F4C56"/>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r>
                      <m:rPr>
                        <m:sty m:val="i"/>
                      </m:rPr>
                      <a:rPr lang="en-US" i="1" sz="1568">
                        <a:latin typeface="Cambria Math"/>
                      </a:rPr>
                      <m:t>I</m:t>
                    </m:r>
                    <m:r>
                      <m:rPr>
                        <m:sty m:val="p"/>
                      </m:rPr>
                      <a:rPr lang="en-US" i="0" sz="1568">
                        <a:latin typeface="Cambria Math"/>
                      </a:rPr>
                      <m:t>=</m:t>
                    </m:r>
                    <m:sSub>
                      <m:e>
                        <m:r>
                          <m:rPr>
                            <m:sty m:val="i"/>
                          </m:rPr>
                          <a:rPr lang="en-US" i="1" sz="1568">
                            <a:latin typeface="Cambria Math"/>
                          </a:rPr>
                          <m:t>I</m:t>
                        </m:r>
                      </m:e>
                      <m:sub>
                        <m:r>
                          <m:rPr>
                            <m:sty m:val="p"/>
                          </m:rPr>
                          <a:rPr lang="en-US" i="0" sz="1568">
                            <a:latin typeface="Cambria Math"/>
                          </a:rPr>
                          <m:t>0</m:t>
                        </m:r>
                      </m:sub>
                    </m:sSub>
                    <m:box>
                      <m:e>
                        <m:d>
                          <m:dPr>
                            <m:begChr m:val="["/>
                            <m:endChr m:val="]"/>
                          </m:dPr>
                          <m:e>
                            <m:box>
                              <m:e>
                                <m:r>
                                  <m:rPr>
                                    <m:sty m:val="p"/>
                                  </m:rPr>
                                  <a:rPr lang="en-US" i="0" sz="1568">
                                    <a:latin typeface="Cambria Math"/>
                                  </a:rPr>
                                  <m:t>sin</m:t>
                                </m:r>
                                <m:r>
                                  <m:rPr>
                                    <m:sty m:val="p"/>
                                  </m:rPr>
                                  <a:rPr lang="en-US" i="0" sz="1568">
                                    <a:latin typeface="Cambria Math"/>
                                  </a:rPr>
                                  <m:t/>
                                </m:r>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r>
                                  <m:rPr>
                                    <m:sty m:val="p"/>
                                  </m:rPr>
                                  <a:rPr lang="en-US" i="0" sz="1568">
                                    <a:latin typeface="Cambria Math"/>
                                  </a:rPr>
                                  <m:t>+</m:t>
                                </m:r>
                                <m:r>
                                  <m:rPr>
                                    <m:sty m:val="p"/>
                                  </m:rPr>
                                  <a:rPr lang="en-US" i="0" sz="1568">
                                    <a:latin typeface="Cambria Math"/>
                                  </a:rPr>
                                  <m:t>sin</m:t>
                                </m:r>
                                <m:r>
                                  <m:rPr>
                                    <m:sty m:val="p"/>
                                  </m:rPr>
                                  <a:rPr lang="en-US" i="0" sz="1568">
                                    <a:latin typeface="Cambria Math"/>
                                  </a:rPr>
                                  <m:t/>
                                </m:r>
                                <m:box>
                                  <m:e>
                                    <m:d>
                                      <m:dPr>
                                        <m:begChr m:val="("/>
                                        <m:endChr m:val=")"/>
                                      </m:dPr>
                                      <m:e>
                                        <m:box>
                                          <m:e>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r>
                                              <m:rPr>
                                                <m:sty m:val="p"/>
                                              </m:rPr>
                                              <a:rPr lang="en-US" i="0" sz="1568">
                                                <a:latin typeface="Cambria Math"/>
                                              </a:rPr>
                                              <m:t>−</m:t>
                                            </m:r>
                                            <m:r>
                                              <m:rPr>
                                                <m:sty m:val="p"/>
                                              </m:rPr>
                                              <a:rPr lang="en-US" i="0" sz="1568">
                                                <a:latin typeface="Cambria Math"/>
                                              </a:rPr>
                                              <m:t>2</m:t>
                                            </m:r>
                                            <m:r>
                                              <m:rPr>
                                                <m:sty m:val="i"/>
                                              </m:rPr>
                                              <a:rPr lang="en-US" i="1" sz="1568">
                                                <a:latin typeface="Cambria Math"/>
                                              </a:rPr>
                                              <m:t>π</m:t>
                                            </m:r>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r>
                                              <m:rPr>
                                                <m:sty m:val="p"/>
                                              </m:rPr>
                                              <a:rPr lang="en-US" i="0" sz="1568">
                                                <a:latin typeface="Cambria Math"/>
                                              </a:rPr>
                                              <m:t>+</m:t>
                                            </m:r>
                                            <m:r>
                                              <m:rPr>
                                                <m:sty m:val="p"/>
                                              </m:rPr>
                                              <a:rPr lang="en-US" i="0" sz="1568">
                                                <a:latin typeface="Cambria Math"/>
                                              </a:rPr>
                                              <m:t>2</m:t>
                                            </m:r>
                                            <m:r>
                                              <m:rPr>
                                                <m:sty m:val="i"/>
                                              </m:rPr>
                                              <a:rPr lang="en-US" i="1" sz="1568">
                                                <a:latin typeface="Cambria Math"/>
                                              </a:rPr>
                                              <m:t>π</m:t>
                                            </m:r>
                                            <m:r>
                                              <m:rPr>
                                                <m:sty m:val="i"/>
                                              </m:rPr>
                                              <a:rPr lang="en-US" i="1" sz="1568">
                                                <a:latin typeface="Cambria Math"/>
                                              </a:rPr>
                                              <m:t>N</m:t>
                                            </m:r>
                                          </m:e>
                                        </m:box>
                                      </m:e>
                                    </m:d>
                                  </m:e>
                                </m:box>
                              </m:e>
                            </m:box>
                          </m:e>
                        </m:d>
                      </m:e>
                    </m:box>
                  </m:oMath>
                </a14:m>
              </mc:Choice>
              <mc:Fallback>
                <a:r>
                  <a:rPr lang="en-US" sz="1567" i="1"/>
                  <a:t>
                                    I = I_0 \left[\sin\Delta\theta_1 + \sin\left(\Delta\theta_1 - 2\pi
                                    \frac{\Phi_B}{\Phi_0} +
                                    2\pi N\right)\right]
                                    </a:t>
                </a:r>
              </mc:Fallback>
            </mc:AlternateContent>
            <a:r>
              <a:rPr sz="1400" b="0" i="0">
                <a:solidFill>
                  <a:srgbClr val="4F4C56"/>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r>
                      <m:rPr>
                        <m:sty m:val="i"/>
                      </m:rPr>
                      <a:rPr lang="en-US" i="1" sz="1568">
                        <a:latin typeface="Cambria Math"/>
                      </a:rPr>
                      <m:t>I</m:t>
                    </m:r>
                    <m:r>
                      <m:rPr>
                        <m:sty m:val="p"/>
                      </m:rPr>
                      <a:rPr lang="en-US" i="0" sz="1568">
                        <a:latin typeface="Cambria Math"/>
                      </a:rPr>
                      <m:t>=</m:t>
                    </m:r>
                    <m:sSub>
                      <m:e>
                        <m:r>
                          <m:rPr>
                            <m:sty m:val="i"/>
                          </m:rPr>
                          <a:rPr lang="en-US" i="1" sz="1568">
                            <a:latin typeface="Cambria Math"/>
                          </a:rPr>
                          <m:t>I</m:t>
                        </m:r>
                      </m:e>
                      <m:sub>
                        <m:r>
                          <m:rPr>
                            <m:sty m:val="p"/>
                          </m:rPr>
                          <a:rPr lang="en-US" i="0" sz="1568">
                            <a:latin typeface="Cambria Math"/>
                          </a:rPr>
                          <m:t>0</m:t>
                        </m:r>
                      </m:sub>
                    </m:sSub>
                    <m:box>
                      <m:e>
                        <m:d>
                          <m:dPr>
                            <m:begChr m:val="["/>
                            <m:endChr m:val="]"/>
                          </m:dPr>
                          <m:e>
                            <m:box>
                              <m:e>
                                <m:r>
                                  <m:rPr>
                                    <m:sty m:val="p"/>
                                  </m:rPr>
                                  <a:rPr lang="en-US" i="0" sz="1568">
                                    <a:latin typeface="Cambria Math"/>
                                  </a:rPr>
                                  <m:t>sin</m:t>
                                </m:r>
                                <m:r>
                                  <m:rPr>
                                    <m:sty m:val="p"/>
                                  </m:rPr>
                                  <a:rPr lang="en-US" i="0" sz="1568">
                                    <a:latin typeface="Cambria Math"/>
                                  </a:rPr>
                                  <m:t/>
                                </m:r>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r>
                                  <m:rPr>
                                    <m:sty m:val="p"/>
                                  </m:rPr>
                                  <a:rPr lang="en-US" i="0" sz="1568">
                                    <a:latin typeface="Cambria Math"/>
                                  </a:rPr>
                                  <m:t>+</m:t>
                                </m:r>
                                <m:r>
                                  <m:rPr>
                                    <m:sty m:val="p"/>
                                  </m:rPr>
                                  <a:rPr lang="en-US" i="0" sz="1568">
                                    <a:latin typeface="Cambria Math"/>
                                  </a:rPr>
                                  <m:t>sin</m:t>
                                </m:r>
                                <m:r>
                                  <m:rPr>
                                    <m:sty m:val="p"/>
                                  </m:rPr>
                                  <a:rPr lang="en-US" i="0" sz="1568">
                                    <a:latin typeface="Cambria Math"/>
                                  </a:rPr>
                                  <m:t/>
                                </m:r>
                                <m:box>
                                  <m:e>
                                    <m:d>
                                      <m:dPr>
                                        <m:begChr m:val="("/>
                                        <m:endChr m:val=")"/>
                                      </m:dPr>
                                      <m:e>
                                        <m:box>
                                          <m:e>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r>
                                              <m:rPr>
                                                <m:sty m:val="p"/>
                                              </m:rPr>
                                              <a:rPr lang="en-US" i="0" sz="1568">
                                                <a:latin typeface="Cambria Math"/>
                                              </a:rPr>
                                              <m:t>−</m:t>
                                            </m:r>
                                            <m:r>
                                              <m:rPr>
                                                <m:sty m:val="p"/>
                                              </m:rPr>
                                              <a:rPr lang="en-US" i="0" sz="1568">
                                                <a:latin typeface="Cambria Math"/>
                                              </a:rPr>
                                              <m:t>2</m:t>
                                            </m:r>
                                            <m:r>
                                              <m:rPr>
                                                <m:sty m:val="i"/>
                                              </m:rPr>
                                              <a:rPr lang="en-US" i="1" sz="1568">
                                                <a:latin typeface="Cambria Math"/>
                                              </a:rPr>
                                              <m:t>π</m:t>
                                            </m:r>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e>
                                        </m:box>
                                      </m:e>
                                    </m:d>
                                  </m:e>
                                </m:box>
                              </m:e>
                            </m:box>
                          </m:e>
                        </m:d>
                      </m:e>
                    </m:box>
                  </m:oMath>
                </a14:m>
              </mc:Choice>
              <mc:Fallback>
                <a:r>
                  <a:rPr lang="en-US" sz="1567" i="1"/>
                  <a:t>
                                    I = I_0 \left[\sin\Delta\theta_1 + \sin\left(\Delta\theta_1 - 2\pi
                                    \frac{\Phi_B}{\Phi_0}\right)\right]
                                    </a:t>
                </a:r>
              </mc:Fallback>
            </mc:AlternateContent>
            <a:r>
              <a:rPr sz="1400" b="0" i="0">
                <a:solidFill>
                  <a:srgbClr val="4F4C56"/>
                </a:solidFill>
                <a:latin typeface="Montserrat"/>
                <a:ea typeface="Montserrat"/>
                <a:cs typeface="Montserrat"/>
              </a:rPr>
              <a:t> Applying a trigonometric identity gives: </a:t>
            </a:r>
            <mc:AlternateContent xmlns:mc="http://schemas.openxmlformats.org/markup-compatibility/2006">
              <mc:Choice xmlns:a14="http://schemas.microsoft.com/office/drawing/2010/main" Requires="a14">
                <a14:m>
                  <m:oMath xmlns:m="http://schemas.openxmlformats.org/officeDocument/2006/math">
                    <m:r>
                      <m:rPr>
                        <m:sty m:val="i"/>
                      </m:rPr>
                      <a:rPr lang="en-US" i="1" sz="1568">
                        <a:latin typeface="Cambria Math"/>
                      </a:rPr>
                      <m:t>I</m:t>
                    </m:r>
                    <m:r>
                      <m:rPr>
                        <m:sty m:val="p"/>
                      </m:rPr>
                      <a:rPr lang="en-US" i="0" sz="1568">
                        <a:latin typeface="Cambria Math"/>
                      </a:rPr>
                      <m:t>=</m:t>
                    </m:r>
                    <m:sSub>
                      <m:e>
                        <m:r>
                          <m:rPr>
                            <m:sty m:val="i"/>
                          </m:rPr>
                          <a:rPr lang="en-US" i="1" sz="1568">
                            <a:latin typeface="Cambria Math"/>
                          </a:rPr>
                          <m:t>I</m:t>
                        </m:r>
                      </m:e>
                      <m:sub>
                        <m:r>
                          <m:rPr>
                            <m:sty m:val="p"/>
                          </m:rPr>
                          <a:rPr lang="en-US" i="0" sz="1568">
                            <a:latin typeface="Cambria Math"/>
                          </a:rPr>
                          <m:t>0</m:t>
                        </m:r>
                      </m:sub>
                    </m:sSub>
                    <m:box>
                      <m:e>
                        <m:d>
                          <m:dPr>
                            <m:begChr m:val="["/>
                            <m:endChr m:val="]"/>
                          </m:dPr>
                          <m:e>
                            <m:box>
                              <m:e>
                                <m:r>
                                  <m:rPr>
                                    <m:sty m:val="p"/>
                                  </m:rPr>
                                  <a:rPr lang="en-US" i="0" sz="1568">
                                    <a:latin typeface="Cambria Math"/>
                                  </a:rPr>
                                  <m:t>2</m:t>
                                </m:r>
                                <m:r>
                                  <m:rPr>
                                    <m:sty m:val="p"/>
                                  </m:rPr>
                                  <a:rPr lang="en-US" i="0" sz="1568">
                                    <a:latin typeface="Cambria Math"/>
                                  </a:rPr>
                                  <m:t>sin</m:t>
                                </m:r>
                                <m:r>
                                  <m:rPr>
                                    <m:sty m:val="p"/>
                                  </m:rPr>
                                  <a:rPr lang="en-US" i="0" sz="1568">
                                    <a:latin typeface="Cambria Math"/>
                                  </a:rPr>
                                  <m:t/>
                                </m:r>
                                <m:box>
                                  <m:e>
                                    <m:d>
                                      <m:dPr>
                                        <m:begChr m:val="("/>
                                        <m:endChr m:val=")"/>
                                      </m:dPr>
                                      <m:e>
                                        <m:box>
                                          <m:e>
                                            <m:f>
                                              <m:num>
                                                <m:box>
                                                  <m:e>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r>
                                                      <m:rPr>
                                                        <m:sty m:val="p"/>
                                                      </m:rPr>
                                                      <a:rPr lang="en-US" i="0" sz="1568">
                                                        <a:latin typeface="Cambria Math"/>
                                                      </a:rPr>
                                                      <m:t>+</m:t>
                                                    </m:r>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r>
                                                      <m:rPr>
                                                        <m:sty m:val="p"/>
                                                      </m:rPr>
                                                      <a:rPr lang="en-US" i="0" sz="1568">
                                                        <a:latin typeface="Cambria Math"/>
                                                      </a:rPr>
                                                      <m:t>−</m:t>
                                                    </m:r>
                                                    <m:r>
                                                      <m:rPr>
                                                        <m:sty m:val="p"/>
                                                      </m:rPr>
                                                      <a:rPr lang="en-US" i="0" sz="1568">
                                                        <a:latin typeface="Cambria Math"/>
                                                      </a:rPr>
                                                      <m:t>2</m:t>
                                                    </m:r>
                                                    <m:r>
                                                      <m:rPr>
                                                        <m:sty m:val="i"/>
                                                      </m:rPr>
                                                      <a:rPr lang="en-US" i="1" sz="1568">
                                                        <a:latin typeface="Cambria Math"/>
                                                      </a:rPr>
                                                      <m:t>π</m:t>
                                                    </m:r>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e>
                                                </m:box>
                                              </m:num>
                                              <m:den>
                                                <m:r>
                                                  <m:rPr>
                                                    <m:sty m:val="p"/>
                                                  </m:rPr>
                                                  <a:rPr lang="en-US" i="0" sz="1568">
                                                    <a:latin typeface="Cambria Math"/>
                                                  </a:rPr>
                                                  <m:t>2</m:t>
                                                </m:r>
                                              </m:den>
                                            </m:f>
                                          </m:e>
                                        </m:box>
                                      </m:e>
                                    </m:d>
                                  </m:e>
                                </m:box>
                                <m:r>
                                  <m:rPr>
                                    <m:sty m:val="p"/>
                                  </m:rPr>
                                  <a:rPr lang="en-US" i="0" sz="1568">
                                    <a:latin typeface="Cambria Math"/>
                                  </a:rPr>
                                  <m:t>cos</m:t>
                                </m:r>
                                <m:r>
                                  <m:rPr>
                                    <m:sty m:val="p"/>
                                  </m:rPr>
                                  <a:rPr lang="en-US" i="0" sz="1568">
                                    <a:latin typeface="Cambria Math"/>
                                  </a:rPr>
                                  <m:t/>
                                </m:r>
                                <m:box>
                                  <m:e>
                                    <m:d>
                                      <m:dPr>
                                        <m:begChr m:val="("/>
                                        <m:endChr m:val=")"/>
                                      </m:dPr>
                                      <m:e>
                                        <m:box>
                                          <m:e>
                                            <m:f>
                                              <m:num>
                                                <m:box>
                                                  <m:e>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r>
                                                      <m:rPr>
                                                        <m:sty m:val="p"/>
                                                      </m:rPr>
                                                      <a:rPr lang="en-US" i="0" sz="1568">
                                                        <a:latin typeface="Cambria Math"/>
                                                      </a:rPr>
                                                      <m:t>−</m:t>
                                                    </m:r>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r>
                                                      <m:rPr>
                                                        <m:sty m:val="p"/>
                                                      </m:rPr>
                                                      <a:rPr lang="en-US" i="0" sz="1568">
                                                        <a:latin typeface="Cambria Math"/>
                                                      </a:rPr>
                                                      <m:t>+</m:t>
                                                    </m:r>
                                                    <m:r>
                                                      <m:rPr>
                                                        <m:sty m:val="p"/>
                                                      </m:rPr>
                                                      <a:rPr lang="en-US" i="0" sz="1568">
                                                        <a:latin typeface="Cambria Math"/>
                                                      </a:rPr>
                                                      <m:t>2</m:t>
                                                    </m:r>
                                                    <m:r>
                                                      <m:rPr>
                                                        <m:sty m:val="i"/>
                                                      </m:rPr>
                                                      <a:rPr lang="en-US" i="1" sz="1568">
                                                        <a:latin typeface="Cambria Math"/>
                                                      </a:rPr>
                                                      <m:t>π</m:t>
                                                    </m:r>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e>
                                                </m:box>
                                              </m:num>
                                              <m:den>
                                                <m:r>
                                                  <m:rPr>
                                                    <m:sty m:val="p"/>
                                                  </m:rPr>
                                                  <a:rPr lang="en-US" i="0" sz="1568">
                                                    <a:latin typeface="Cambria Math"/>
                                                  </a:rPr>
                                                  <m:t>2</m:t>
                                                </m:r>
                                              </m:den>
                                            </m:f>
                                          </m:e>
                                        </m:box>
                                      </m:e>
                                    </m:d>
                                  </m:e>
                                </m:box>
                              </m:e>
                            </m:box>
                          </m:e>
                        </m:d>
                      </m:e>
                    </m:box>
                  </m:oMath>
                </a14:m>
              </mc:Choice>
              <mc:Fallback>
                <a:r>
                  <a:rPr lang="en-US" sz="1567" i="1"/>
                  <a:t>
                                    I = I_0 \left[2 \sin\left(\frac{\Delta\theta_1 + \Delta\theta_1 - 2\pi
                                    \frac{\Phi_B}{\Phi_0}}{2}\right)
                                    \cos\left(\frac{\Delta\theta_1 - \Delta\theta_1 + 2\pi
                                    \frac{\Phi_B}{\Phi_0}}{2}\right)\right]
                                    </a:t>
                </a:r>
              </mc:Fallback>
            </mc:AlternateContent>
            <a:r>
              <a:rPr sz="1400" b="0" i="0">
                <a:solidFill>
                  <a:srgbClr val="4F4C56"/>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r>
                      <m:rPr>
                        <m:sty m:val="i"/>
                      </m:rPr>
                      <a:rPr lang="en-US" i="1" sz="1568">
                        <a:latin typeface="Cambria Math"/>
                      </a:rPr>
                      <m:t>I</m:t>
                    </m:r>
                    <m:r>
                      <m:rPr>
                        <m:sty m:val="p"/>
                      </m:rPr>
                      <a:rPr lang="en-US" i="0" sz="1568">
                        <a:latin typeface="Cambria Math"/>
                      </a:rPr>
                      <m:t>=</m:t>
                    </m:r>
                    <m:r>
                      <m:rPr>
                        <m:sty m:val="p"/>
                      </m:rPr>
                      <a:rPr lang="en-US" i="0" sz="1568">
                        <a:latin typeface="Cambria Math"/>
                      </a:rPr>
                      <m:t>2</m:t>
                    </m:r>
                    <m:sSub>
                      <m:e>
                        <m:r>
                          <m:rPr>
                            <m:sty m:val="i"/>
                          </m:rPr>
                          <a:rPr lang="en-US" i="1" sz="1568">
                            <a:latin typeface="Cambria Math"/>
                          </a:rPr>
                          <m:t>I</m:t>
                        </m:r>
                      </m:e>
                      <m:sub>
                        <m:r>
                          <m:rPr>
                            <m:sty m:val="p"/>
                          </m:rPr>
                          <a:rPr lang="en-US" i="0" sz="1568">
                            <a:latin typeface="Cambria Math"/>
                          </a:rPr>
                          <m:t>0</m:t>
                        </m:r>
                      </m:sub>
                    </m:sSub>
                    <m:r>
                      <m:rPr>
                        <m:sty m:val="p"/>
                      </m:rPr>
                      <a:rPr lang="en-US" i="0" sz="1568">
                        <a:latin typeface="Cambria Math"/>
                      </a:rPr>
                      <m:t>cos</m:t>
                    </m:r>
                    <m:r>
                      <m:rPr>
                        <m:sty m:val="p"/>
                      </m:rPr>
                      <a:rPr lang="en-US" i="0" sz="1568">
                        <a:latin typeface="Cambria Math"/>
                      </a:rPr>
                      <m:t/>
                    </m:r>
                    <m:box>
                      <m:e>
                        <m:d>
                          <m:dPr>
                            <m:begChr m:val="("/>
                            <m:endChr m:val=")"/>
                          </m:dPr>
                          <m:e>
                            <m:box>
                              <m:e>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r>
                                  <m:rPr>
                                    <m:sty m:val="i"/>
                                  </m:rPr>
                                  <a:rPr lang="en-US" i="1" sz="1568">
                                    <a:latin typeface="Cambria Math"/>
                                  </a:rPr>
                                  <m:t>π</m:t>
                                </m:r>
                              </m:e>
                            </m:box>
                          </m:e>
                        </m:d>
                      </m:e>
                    </m:box>
                    <m:r>
                      <m:rPr>
                        <m:sty m:val="p"/>
                      </m:rPr>
                      <a:rPr lang="en-US" i="0" sz="1568">
                        <a:latin typeface="Cambria Math"/>
                      </a:rPr>
                      <m:t>sin</m:t>
                    </m:r>
                    <m:r>
                      <m:rPr>
                        <m:sty m:val="p"/>
                      </m:rPr>
                      <a:rPr lang="en-US" i="0" sz="1568">
                        <a:latin typeface="Cambria Math"/>
                      </a:rPr>
                      <m:t/>
                    </m:r>
                    <m:box>
                      <m:e>
                        <m:d>
                          <m:dPr>
                            <m:begChr m:val="("/>
                            <m:endChr m:val=")"/>
                          </m:dPr>
                          <m:e>
                            <m:box>
                              <m:e>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r>
                                  <m:rPr>
                                    <m:sty m:val="p"/>
                                  </m:rPr>
                                  <a:rPr lang="en-US" i="0" sz="1568">
                                    <a:latin typeface="Cambria Math"/>
                                  </a:rPr>
                                  <m:t>−</m:t>
                                </m:r>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r>
                                  <m:rPr>
                                    <m:sty m:val="i"/>
                                  </m:rPr>
                                  <a:rPr lang="en-US" i="1" sz="1568">
                                    <a:latin typeface="Cambria Math"/>
                                  </a:rPr>
                                  <m:t>π</m:t>
                                </m:r>
                              </m:e>
                            </m:box>
                          </m:e>
                        </m:d>
                      </m:e>
                    </m:box>
                  </m:oMath>
                </a14:m>
              </mc:Choice>
              <mc:Fallback>
                <a:r>
                  <a:rPr lang="en-US" sz="1567" i="1"/>
                  <a:t>
                                    I = 2I_0 \cos\left(\frac{\Phi_B}{\Phi_0} \pi\right) \sin\left(\Delta\theta_1 -
                                    \frac{\Phi_B}{\Phi_0} \pi\right)
                                    </a:t>
                </a:r>
              </mc:Fallback>
            </mc:AlternateContent>
            <a:r>
              <a:rPr sz="1400" b="0" i="0">
                <a:solidFill>
                  <a:srgbClr val="4F4C56"/>
                </a:solidFill>
                <a:latin typeface="Montserrat"/>
                <a:ea typeface="Montserrat"/>
                <a:cs typeface="Montserrat"/>
              </a:rPr>
              <a:t> </a:t>
            </a:r>
          </a:p>
        </p:txBody>
      </p:sp>
      <p:sp>
        <p:nvSpPr>
          <p:cNvPr id="6" name="Rectangle 5"/>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8" name="TextBox 7"/>
          <p:cNvSpPr txBox="1"/>
          <p:nvPr/>
        </p:nvSpPr>
        <p:spPr>
          <a:xfrm>
            <a:off x="11219921" y="6565900"/>
            <a:ext cx="481012"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84 / 100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1075267"/>
            <a:ext cx="11040533" cy="3242733"/>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The previous section showed that a Josephson junction behaves inductively; the inductive behavior of a SQUID can be analyzed similarly. Differentiate the current with respect to time: </a:t>
            </a:r>
            <mc:AlternateContent xmlns:mc="http://schemas.openxmlformats.org/markup-compatibility/2006">
              <mc:Choice xmlns:a14="http://schemas.microsoft.com/office/drawing/2010/main" Requires="a14">
                <a14:m>
                  <m:oMath xmlns:m="http://schemas.openxmlformats.org/officeDocument/2006/math">
                    <m:box>
                      <m:e>
                        <m:limUpp>
                          <m:e>
                            <m:r>
                              <m:rPr>
                                <m:sty m:val="i"/>
                              </m:rPr>
                              <a:rPr lang="en-US" i="1" sz="1568">
                                <a:latin typeface="Cambria Math"/>
                              </a:rPr>
                              <m:t>I</m:t>
                            </m:r>
                          </m:e>
                          <m:lim>
                            <m:r>
                              <m:rPr>
                                <m:sty m:val="p"/>
                              </m:rPr>
                              <a:rPr lang="en-US" i="0" sz="1568">
                                <a:latin typeface="Cambria Math"/>
                              </a:rPr>
                              <m:t>˙</m:t>
                            </m:r>
                          </m:lim>
                        </m:limUpp>
                      </m:e>
                    </m:box>
                    <m:r>
                      <m:rPr>
                        <m:sty m:val="p"/>
                      </m:rPr>
                      <a:rPr lang="en-US" i="0" sz="1568">
                        <a:latin typeface="Cambria Math"/>
                      </a:rPr>
                      <m:t>=</m:t>
                    </m:r>
                    <m:r>
                      <m:rPr>
                        <m:sty m:val="p"/>
                      </m:rPr>
                      <a:rPr lang="en-US" i="0" sz="1568">
                        <a:latin typeface="Cambria Math"/>
                      </a:rPr>
                      <m:t>2</m:t>
                    </m:r>
                    <m:sSub>
                      <m:e>
                        <m:r>
                          <m:rPr>
                            <m:sty m:val="i"/>
                          </m:rPr>
                          <a:rPr lang="en-US" i="1" sz="1568">
                            <a:latin typeface="Cambria Math"/>
                          </a:rPr>
                          <m:t>I</m:t>
                        </m:r>
                      </m:e>
                      <m:sub>
                        <m:r>
                          <m:rPr>
                            <m:sty m:val="p"/>
                          </m:rPr>
                          <a:rPr lang="en-US" i="0" sz="1568">
                            <a:latin typeface="Cambria Math"/>
                          </a:rPr>
                          <m:t>0</m:t>
                        </m:r>
                      </m:sub>
                    </m:sSub>
                    <m:r>
                      <m:rPr>
                        <m:sty m:val="p"/>
                      </m:rPr>
                      <a:rPr lang="en-US" i="0" sz="1568">
                        <a:latin typeface="Cambria Math"/>
                      </a:rPr>
                      <m:t>cos</m:t>
                    </m:r>
                    <m:r>
                      <m:rPr>
                        <m:sty m:val="p"/>
                      </m:rPr>
                      <a:rPr lang="en-US" i="0" sz="1568">
                        <a:latin typeface="Cambria Math"/>
                      </a:rPr>
                      <m:t/>
                    </m:r>
                    <m:box>
                      <m:e>
                        <m:d>
                          <m:dPr>
                            <m:begChr m:val="("/>
                            <m:endChr m:val=")"/>
                          </m:dPr>
                          <m:e>
                            <m:box>
                              <m:e>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r>
                                  <m:rPr>
                                    <m:sty m:val="i"/>
                                  </m:rPr>
                                  <a:rPr lang="en-US" i="1" sz="1568">
                                    <a:latin typeface="Cambria Math"/>
                                  </a:rPr>
                                  <m:t>π</m:t>
                                </m:r>
                              </m:e>
                            </m:box>
                          </m:e>
                        </m:d>
                      </m:e>
                    </m:box>
                    <m:r>
                      <m:rPr>
                        <m:sty m:val="p"/>
                      </m:rPr>
                      <a:rPr lang="en-US" i="0" sz="1568">
                        <a:latin typeface="Cambria Math"/>
                      </a:rPr>
                      <m:t>cos</m:t>
                    </m:r>
                    <m:r>
                      <m:rPr>
                        <m:sty m:val="p"/>
                      </m:rPr>
                      <a:rPr lang="en-US" i="0" sz="1568">
                        <a:latin typeface="Cambria Math"/>
                      </a:rPr>
                      <m:t/>
                    </m:r>
                    <m:box>
                      <m:e>
                        <m:d>
                          <m:dPr>
                            <m:begChr m:val="("/>
                            <m:endChr m:val=")"/>
                          </m:dPr>
                          <m:e>
                            <m:box>
                              <m:e>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r>
                                  <m:rPr>
                                    <m:sty m:val="p"/>
                                  </m:rPr>
                                  <a:rPr lang="en-US" i="0" sz="1568">
                                    <a:latin typeface="Cambria Math"/>
                                  </a:rPr>
                                  <m:t>−</m:t>
                                </m:r>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r>
                                  <m:rPr>
                                    <m:sty m:val="i"/>
                                  </m:rPr>
                                  <a:rPr lang="en-US" i="1" sz="1568">
                                    <a:latin typeface="Cambria Math"/>
                                  </a:rPr>
                                  <m:t>π</m:t>
                                </m:r>
                              </m:e>
                            </m:box>
                          </m:e>
                        </m:d>
                      </m:e>
                    </m:box>
                    <m:box>
                      <m:e>
                        <m:limUpp>
                          <m:e>
                            <m:box>
                              <m:e>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e>
                            </m:box>
                          </m:e>
                          <m:lim>
                            <m:r>
                              <m:rPr>
                                <m:sty m:val="p"/>
                              </m:rPr>
                              <a:rPr lang="en-US" i="0" sz="1568">
                                <a:latin typeface="Cambria Math"/>
                              </a:rPr>
                              <m:t>˙</m:t>
                            </m:r>
                          </m:lim>
                        </m:limUpp>
                      </m:e>
                    </m:box>
                  </m:oMath>
                </a14:m>
              </mc:Choice>
              <mc:Fallback>
                <a:r>
                  <a:rPr lang="en-US" sz="1567" i="1"/>
                  <a:t>
                                    \dot{I} = 2I_0 \cos\left(\frac{\Phi_B}{\Phi_0} \pi\right) \cos\left(\Delta\theta_1 -
                                    \frac{\Phi_B}{\Phi_0} \pi\right) \dot{\Delta\theta_1}
                                    </a:t>
                </a:r>
              </mc:Fallback>
            </mc:AlternateContent>
            <a:r>
              <a:rPr sz="1400" b="0" i="0">
                <a:solidFill>
                  <a:srgbClr val="4F4C56"/>
                </a:solidFill>
                <a:latin typeface="Montserrat"/>
                <a:ea typeface="Montserrat"/>
                <a:cs typeface="Montserrat"/>
              </a:rPr>
              <a:t> The relation among </a:t>
            </a:r>
            <mc:AlternateContent xmlns:mc="http://schemas.openxmlformats.org/markup-compatibility/2006">
              <mc:Choice xmlns:a14="http://schemas.microsoft.com/office/drawing/2010/main" Requires="a14">
                <a14:m>
                  <m:oMath xmlns:m="http://schemas.openxmlformats.org/officeDocument/2006/math">
                    <m:box>
                      <m:e>
                        <m:limUpp>
                          <m:e>
                            <m:box>
                              <m:e>
                                <m:r>
                                  <m:rPr>
                                    <m:sty m:val="p"/>
                                  </m:rPr>
                                  <a:rPr lang="en-US" i="0" sz="1665">
                                    <a:latin typeface="Cambria Math"/>
                                  </a:rPr>
                                  <m:t>Δ</m:t>
                                </m:r>
                                <m:sSub>
                                  <m:e>
                                    <m:r>
                                      <m:rPr>
                                        <m:sty m:val="i"/>
                                      </m:rPr>
                                      <a:rPr lang="en-US" i="1" sz="1665">
                                        <a:latin typeface="Cambria Math"/>
                                      </a:rPr>
                                      <m:t>θ</m:t>
                                    </m:r>
                                  </m:e>
                                  <m:sub>
                                    <m:r>
                                      <m:rPr>
                                        <m:sty m:val="p"/>
                                      </m:rPr>
                                      <a:rPr lang="en-US" i="0" sz="1665">
                                        <a:latin typeface="Cambria Math"/>
                                      </a:rPr>
                                      <m:t>1</m:t>
                                    </m:r>
                                  </m:sub>
                                </m:sSub>
                              </m:e>
                            </m:box>
                          </m:e>
                          <m:lim>
                            <m:r>
                              <m:rPr>
                                <m:sty m:val="p"/>
                              </m:rPr>
                              <a:rPr lang="en-US" i="0" sz="1665">
                                <a:latin typeface="Cambria Math"/>
                              </a:rPr>
                              <m:t>˙</m:t>
                            </m:r>
                          </m:lim>
                        </m:limUpp>
                      </m:e>
                    </m:box>
                  </m:oMath>
                </a14:m>
              </mc:Choice>
              <mc:Fallback>
                <a:r>
                  <a:rPr lang="en-US" sz="1664" i="1"/>
                  <a:t> \dot{\Delta\theta_1} </a:t>
                </a:r>
              </mc:Fallback>
            </mc:AlternateContent>
            <a:r>
              <a:rPr sz="1400" b="0" i="0">
                <a:solidFill>
                  <a:srgbClr val="4F4C56"/>
                </a:solidFill>
                <a:latin typeface="Montserrat"/>
                <a:ea typeface="Montserrat"/>
                <a:cs typeface="Montserrat"/>
              </a:rPr>
              <a:t> and voltage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V</m:t>
                    </m:r>
                  </m:oMath>
                </a14:m>
              </mc:Choice>
              <mc:Fallback>
                <a:r>
                  <a:rPr lang="en-US" sz="1664" i="1"/>
                  <a:t> V </a:t>
                </a:r>
              </mc:Fallback>
            </mc:AlternateContent>
            <a:r>
              <a:rPr sz="1400" b="0" i="0">
                <a:solidFill>
                  <a:srgbClr val="4F4C56"/>
                </a:solidFill>
                <a:latin typeface="Montserrat"/>
                <a:ea typeface="Montserrat"/>
                <a:cs typeface="Montserrat"/>
              </a:rPr>
              <a:t> is: </a:t>
            </a:r>
            <mc:AlternateContent xmlns:mc="http://schemas.openxmlformats.org/markup-compatibility/2006">
              <mc:Choice xmlns:a14="http://schemas.microsoft.com/office/drawing/2010/main" Requires="a14">
                <a14:m>
                  <m:oMath xmlns:m="http://schemas.openxmlformats.org/officeDocument/2006/math">
                    <m:r>
                      <m:rPr>
                        <m:sty m:val="i"/>
                      </m:rPr>
                      <a:rPr lang="en-US" i="1" sz="1568">
                        <a:latin typeface="Cambria Math"/>
                      </a:rPr>
                      <m:t>V</m:t>
                    </m:r>
                    <m:r>
                      <m:rPr>
                        <m:sty m:val="p"/>
                      </m:rPr>
                      <a:rPr lang="en-US" i="0" sz="1568">
                        <a:latin typeface="Cambria Math"/>
                      </a:rPr>
                      <m:t>=</m:t>
                    </m:r>
                    <m:f>
                      <m:num>
                        <m:r>
                          <m:rPr>
                            <m:sty m:val="i"/>
                          </m:rPr>
                          <a:rPr lang="en-US" i="1" sz="1568">
                            <a:latin typeface="Cambria Math"/>
                          </a:rPr>
                          <m:t>ℏ</m:t>
                        </m:r>
                      </m:num>
                      <m:den>
                        <m:box>
                          <m:e>
                            <m:r>
                              <m:rPr>
                                <m:sty m:val="p"/>
                              </m:rPr>
                              <a:rPr lang="en-US" i="0" sz="1568">
                                <a:latin typeface="Cambria Math"/>
                              </a:rPr>
                              <m:t>2</m:t>
                            </m:r>
                            <m:r>
                              <m:rPr>
                                <m:sty m:val="i"/>
                              </m:rPr>
                              <a:rPr lang="en-US" i="1" sz="1568">
                                <a:latin typeface="Cambria Math"/>
                              </a:rPr>
                              <m:t>e</m:t>
                            </m:r>
                          </m:e>
                        </m:box>
                      </m:den>
                    </m:f>
                    <m:box>
                      <m:e>
                        <m:limUpp>
                          <m:e>
                            <m:box>
                              <m:e>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e>
                            </m:box>
                          </m:e>
                          <m:lim>
                            <m:r>
                              <m:rPr>
                                <m:sty m:val="p"/>
                              </m:rPr>
                              <a:rPr lang="en-US" i="0" sz="1568">
                                <a:latin typeface="Cambria Math"/>
                              </a:rPr>
                              <m:t>˙</m:t>
                            </m:r>
                          </m:lim>
                        </m:limUpp>
                      </m:e>
                    </m:box>
                    <m:r>
                      <m:rPr>
                        <m:sty m:val="p"/>
                      </m:rPr>
                      <a:rPr lang="en-US" i="0" sz="1568">
                        <a:latin typeface="Cambria Math"/>
                      </a:rPr>
                      <m:t>=</m:t>
                    </m:r>
                    <m:f>
                      <m:num>
                        <m:sSub>
                          <m:e>
                            <m:r>
                              <m:rPr>
                                <m:sty m:val="p"/>
                              </m:rPr>
                              <a:rPr lang="en-US" i="0" sz="1568">
                                <a:latin typeface="Cambria Math"/>
                              </a:rPr>
                              <m:t>Φ</m:t>
                            </m:r>
                          </m:e>
                          <m:sub>
                            <m:r>
                              <m:rPr>
                                <m:sty m:val="p"/>
                              </m:rPr>
                              <a:rPr lang="en-US" i="0" sz="1568">
                                <a:latin typeface="Cambria Math"/>
                              </a:rPr>
                              <m:t>0</m:t>
                            </m:r>
                          </m:sub>
                        </m:sSub>
                      </m:num>
                      <m:den>
                        <m:box>
                          <m:e>
                            <m:r>
                              <m:rPr>
                                <m:sty m:val="p"/>
                              </m:rPr>
                              <a:rPr lang="en-US" i="0" sz="1568">
                                <a:latin typeface="Cambria Math"/>
                              </a:rPr>
                              <m:t>2</m:t>
                            </m:r>
                            <m:r>
                              <m:rPr>
                                <m:sty m:val="i"/>
                              </m:rPr>
                              <a:rPr lang="en-US" i="1" sz="1568">
                                <a:latin typeface="Cambria Math"/>
                              </a:rPr>
                              <m:t>π</m:t>
                            </m:r>
                          </m:e>
                        </m:box>
                      </m:den>
                    </m:f>
                    <m:box>
                      <m:e>
                        <m:limUpp>
                          <m:e>
                            <m:box>
                              <m:e>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e>
                            </m:box>
                          </m:e>
                          <m:lim>
                            <m:r>
                              <m:rPr>
                                <m:sty m:val="p"/>
                              </m:rPr>
                              <a:rPr lang="en-US" i="0" sz="1568">
                                <a:latin typeface="Cambria Math"/>
                              </a:rPr>
                              <m:t>˙</m:t>
                            </m:r>
                          </m:lim>
                        </m:limUpp>
                      </m:e>
                    </m:box>
                  </m:oMath>
                </a14:m>
              </mc:Choice>
              <mc:Fallback>
                <a:r>
                  <a:rPr lang="en-US" sz="1567" i="1"/>
                  <a:t>
                                    V = \frac{\hbar}{2e} \dot{\Delta\theta_1} = \frac{\Phi_0}{2\pi} \dot{\Delta\theta_1}
                                    </a:t>
                </a:r>
              </mc:Fallback>
            </mc:AlternateContent>
            <a:r>
              <a:rPr sz="1400" b="0" i="0">
                <a:solidFill>
                  <a:srgbClr val="4F4C56"/>
                </a:solidFill>
                <a:latin typeface="Montserrat"/>
                <a:ea typeface="Montserrat"/>
                <a:cs typeface="Montserrat"/>
              </a:rPr>
              <a:t> Substitution gives the inductance: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568">
                            <a:latin typeface="Cambria Math"/>
                          </a:rPr>
                          <m:t>L</m:t>
                        </m:r>
                      </m:e>
                      <m:sub>
                        <m:box>
                          <m:e>
                            <m:r>
                              <m:rPr>
                                <m:nor/>
                              </m:rPr>
                              <a:rPr lang="en-US" i="0" sz="1568">
                                <a:latin typeface="Cambria Math"/>
                              </a:rPr>
                              <m:t>SQUID</m:t>
                            </m:r>
                          </m:e>
                        </m:box>
                      </m:sub>
                    </m:sSub>
                    <m:r>
                      <m:rPr>
                        <m:sty m:val="p"/>
                      </m:rPr>
                      <a:rPr lang="en-US" i="0" sz="1568">
                        <a:latin typeface="Cambria Math"/>
                      </a:rPr>
                      <m:t>(</m:t>
                    </m:r>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r>
                      <m:rPr>
                        <m:sty m:val="p"/>
                      </m:rPr>
                      <a:rPr lang="en-US" i="0" sz="1568">
                        <a:latin typeface="Cambria Math"/>
                      </a:rPr>
                      <m:t>,</m:t>
                    </m:r>
                    <m:sSub>
                      <m:e>
                        <m:r>
                          <m:rPr>
                            <m:sty m:val="p"/>
                          </m:rPr>
                          <a:rPr lang="en-US" i="0" sz="1568">
                            <a:latin typeface="Cambria Math"/>
                          </a:rPr>
                          <m:t>Φ</m:t>
                        </m:r>
                      </m:e>
                      <m:sub>
                        <m:r>
                          <m:rPr>
                            <m:sty m:val="i"/>
                          </m:rPr>
                          <a:rPr lang="en-US" i="1" sz="1568">
                            <a:latin typeface="Cambria Math"/>
                          </a:rPr>
                          <m:t>B</m:t>
                        </m:r>
                      </m:sub>
                    </m:sSub>
                    <m:r>
                      <m:rPr>
                        <m:sty m:val="p"/>
                      </m:rPr>
                      <a:rPr lang="en-US" i="0" sz="1568">
                        <a:latin typeface="Cambria Math"/>
                      </a:rPr>
                      <m:t>)</m:t>
                    </m:r>
                    <m:r>
                      <m:rPr>
                        <m:sty m:val="p"/>
                      </m:rPr>
                      <a:rPr lang="en-US" i="0" sz="1568">
                        <a:latin typeface="Cambria Math"/>
                      </a:rPr>
                      <m:t>=</m:t>
                    </m:r>
                    <m:box>
                      <m:e>
                        <m:d>
                          <m:dPr>
                            <m:begChr m:val="["/>
                            <m:endChr m:val="]"/>
                          </m:dPr>
                          <m:e>
                            <m:box>
                              <m:e>
                                <m:f>
                                  <m:num>
                                    <m:box>
                                      <m:e>
                                        <m:r>
                                          <m:rPr>
                                            <m:sty m:val="p"/>
                                          </m:rPr>
                                          <a:rPr lang="en-US" i="0" sz="1568">
                                            <a:latin typeface="Cambria Math"/>
                                          </a:rPr>
                                          <m:t>2</m:t>
                                        </m:r>
                                        <m:r>
                                          <m:rPr>
                                            <m:sty m:val="i"/>
                                          </m:rPr>
                                          <a:rPr lang="en-US" i="1" sz="1568">
                                            <a:latin typeface="Cambria Math"/>
                                          </a:rPr>
                                          <m:t>π</m:t>
                                        </m:r>
                                      </m:e>
                                    </m:box>
                                  </m:num>
                                  <m:den>
                                    <m:sSub>
                                      <m:e>
                                        <m:r>
                                          <m:rPr>
                                            <m:sty m:val="p"/>
                                          </m:rPr>
                                          <a:rPr lang="en-US" i="0" sz="1568">
                                            <a:latin typeface="Cambria Math"/>
                                          </a:rPr>
                                          <m:t>Φ</m:t>
                                        </m:r>
                                      </m:e>
                                      <m:sub>
                                        <m:r>
                                          <m:rPr>
                                            <m:sty m:val="p"/>
                                          </m:rPr>
                                          <a:rPr lang="en-US" i="0" sz="1568">
                                            <a:latin typeface="Cambria Math"/>
                                          </a:rPr>
                                          <m:t>0</m:t>
                                        </m:r>
                                      </m:sub>
                                    </m:sSub>
                                  </m:den>
                                </m:f>
                                <m:r>
                                  <m:rPr>
                                    <m:sty m:val="p"/>
                                  </m:rPr>
                                  <a:rPr lang="en-US" i="0" sz="1568">
                                    <a:latin typeface="Cambria Math"/>
                                  </a:rPr>
                                  <m:t>⋅</m:t>
                                </m:r>
                                <m:r>
                                  <m:rPr>
                                    <m:sty m:val="p"/>
                                  </m:rPr>
                                  <a:rPr lang="en-US" i="0" sz="1568">
                                    <a:latin typeface="Cambria Math"/>
                                  </a:rPr>
                                  <m:t>2</m:t>
                                </m:r>
                                <m:sSub>
                                  <m:e>
                                    <m:r>
                                      <m:rPr>
                                        <m:sty m:val="i"/>
                                      </m:rPr>
                                      <a:rPr lang="en-US" i="1" sz="1568">
                                        <a:latin typeface="Cambria Math"/>
                                      </a:rPr>
                                      <m:t>I</m:t>
                                    </m:r>
                                  </m:e>
                                  <m:sub>
                                    <m:r>
                                      <m:rPr>
                                        <m:sty m:val="p"/>
                                      </m:rPr>
                                      <a:rPr lang="en-US" i="0" sz="1568">
                                        <a:latin typeface="Cambria Math"/>
                                      </a:rPr>
                                      <m:t>0</m:t>
                                    </m:r>
                                  </m:sub>
                                </m:sSub>
                                <m:r>
                                  <m:rPr>
                                    <m:sty m:val="p"/>
                                  </m:rPr>
                                  <a:rPr lang="en-US" i="0" sz="1568">
                                    <a:latin typeface="Cambria Math"/>
                                  </a:rPr>
                                  <m:t>cos</m:t>
                                </m:r>
                                <m:r>
                                  <m:rPr>
                                    <m:sty m:val="p"/>
                                  </m:rPr>
                                  <a:rPr lang="en-US" i="0" sz="1568">
                                    <a:latin typeface="Cambria Math"/>
                                  </a:rPr>
                                  <m:t/>
                                </m:r>
                                <m:box>
                                  <m:e>
                                    <m:d>
                                      <m:dPr>
                                        <m:begChr m:val="("/>
                                        <m:endChr m:val=")"/>
                                      </m:dPr>
                                      <m:e>
                                        <m:box>
                                          <m:e>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r>
                                              <m:rPr>
                                                <m:sty m:val="i"/>
                                              </m:rPr>
                                              <a:rPr lang="en-US" i="1" sz="1568">
                                                <a:latin typeface="Cambria Math"/>
                                              </a:rPr>
                                              <m:t>π</m:t>
                                            </m:r>
                                          </m:e>
                                        </m:box>
                                      </m:e>
                                    </m:d>
                                  </m:e>
                                </m:box>
                                <m:r>
                                  <m:rPr>
                                    <m:sty m:val="p"/>
                                  </m:rPr>
                                  <a:rPr lang="en-US" i="0" sz="1568">
                                    <a:latin typeface="Cambria Math"/>
                                  </a:rPr>
                                  <m:t>cos</m:t>
                                </m:r>
                                <m:r>
                                  <m:rPr>
                                    <m:sty m:val="p"/>
                                  </m:rPr>
                                  <a:rPr lang="en-US" i="0" sz="1568">
                                    <a:latin typeface="Cambria Math"/>
                                  </a:rPr>
                                  <m:t/>
                                </m:r>
                                <m:box>
                                  <m:e>
                                    <m:d>
                                      <m:dPr>
                                        <m:begChr m:val="("/>
                                        <m:endChr m:val=")"/>
                                      </m:dPr>
                                      <m:e>
                                        <m:box>
                                          <m:e>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r>
                                              <m:rPr>
                                                <m:sty m:val="p"/>
                                              </m:rPr>
                                              <a:rPr lang="en-US" i="0" sz="1568">
                                                <a:latin typeface="Cambria Math"/>
                                              </a:rPr>
                                              <m:t>−</m:t>
                                            </m:r>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r>
                                              <m:rPr>
                                                <m:sty m:val="i"/>
                                              </m:rPr>
                                              <a:rPr lang="en-US" i="1" sz="1568">
                                                <a:latin typeface="Cambria Math"/>
                                              </a:rPr>
                                              <m:t>π</m:t>
                                            </m:r>
                                          </m:e>
                                        </m:box>
                                      </m:e>
                                    </m:d>
                                  </m:e>
                                </m:box>
                              </m:e>
                            </m:box>
                          </m:e>
                        </m:d>
                      </m:e>
                    </m:box>
                  </m:oMath>
                </a14:m>
              </mc:Choice>
              <mc:Fallback>
                <a:r>
                  <a:rPr lang="en-US" sz="1567" i="1"/>
                  <a:t>
                                    L_{\text{SQUID}}(\Delta\theta_1, \Phi_B) = \left[\frac{2\pi}{\Phi_0} \cdot 2I_0
                                    \cos\left(\frac{\Phi_B}{\Phi_0} \pi\right)
                                    \cos\left(\Delta\theta_1 - \frac{\Phi_B}{\Phi_0} \pi\right)\right]
                                    </a:t>
                </a:r>
              </mc:Fallback>
            </mc:AlternateContent>
            <a:r>
              <a:rPr sz="1400" b="0" i="0">
                <a:solidFill>
                  <a:srgbClr val="4F4C56"/>
                </a:solidFill>
                <a:latin typeface="Montserrat"/>
                <a:ea typeface="Montserrat"/>
                <a:cs typeface="Montserrat"/>
              </a:rPr>
              <a:t> </a:t>
            </a:r>
          </a:p>
        </p:txBody>
      </p:sp>
      <p:sp>
        <p:nvSpPr>
          <p:cNvPr id="6" name="Rectangle 5"/>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8" name="TextBox 7"/>
          <p:cNvSpPr txBox="1"/>
          <p:nvPr/>
        </p:nvSpPr>
        <p:spPr>
          <a:xfrm>
            <a:off x="11231166" y="6565900"/>
            <a:ext cx="469768"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85 / 100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1075267"/>
            <a:ext cx="11040533" cy="3206750"/>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Notice that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L</m:t>
                        </m:r>
                      </m:e>
                      <m:sub>
                        <m:box>
                          <m:e>
                            <m:r>
                              <m:rPr>
                                <m:nor/>
                              </m:rPr>
                              <a:rPr lang="en-US" i="0" sz="1665">
                                <a:latin typeface="Cambria Math"/>
                              </a:rPr>
                              <m:t>SQUID</m:t>
                            </m:r>
                          </m:e>
                        </m:box>
                      </m:sub>
                    </m:sSub>
                  </m:oMath>
                </a14:m>
              </mc:Choice>
              <mc:Fallback>
                <a:r>
                  <a:rPr lang="en-US" sz="1664" i="1"/>
                  <a:t> L_{\text{SQUID}} </a:t>
                </a:r>
              </mc:Fallback>
            </mc:AlternateContent>
            <a:r>
              <a:rPr sz="1400" b="0" i="0">
                <a:solidFill>
                  <a:srgbClr val="4F4C56"/>
                </a:solidFill>
                <a:latin typeface="Montserrat"/>
                <a:ea typeface="Montserrat"/>
                <a:cs typeface="Montserrat"/>
              </a:rPr>
              <a:t> depends on the applied flux </a:t>
            </a:r>
            <mc:AlternateContent xmlns:mc="http://schemas.openxmlformats.org/markup-compatibility/2006">
              <mc:Choice xmlns:a14="http://schemas.microsoft.com/office/drawing/2010/main" Requires="a14">
                <a14:m>
                  <m:oMath xmlns:m="http://schemas.openxmlformats.org/officeDocument/2006/math">
                    <m:sSub>
                      <m:e>
                        <m:r>
                          <m:rPr>
                            <m:sty m:val="p"/>
                          </m:rPr>
                          <a:rPr lang="en-US" i="0" sz="1665">
                            <a:latin typeface="Cambria Math"/>
                          </a:rPr>
                          <m:t>Φ</m:t>
                        </m:r>
                      </m:e>
                      <m:sub>
                        <m:r>
                          <m:rPr>
                            <m:sty m:val="i"/>
                          </m:rPr>
                          <a:rPr lang="en-US" i="1" sz="1665">
                            <a:latin typeface="Cambria Math"/>
                          </a:rPr>
                          <m:t>B</m:t>
                        </m:r>
                      </m:sub>
                    </m:sSub>
                  </m:oMath>
                </a14:m>
              </mc:Choice>
              <mc:Fallback>
                <a:r>
                  <a:rPr lang="en-US" sz="1664" i="1"/>
                  <a:t> \Phi_B </a:t>
                </a:r>
              </mc:Fallback>
            </mc:AlternateContent>
            <a:r>
              <a:rPr sz="1400" b="0" i="0">
                <a:solidFill>
                  <a:srgbClr val="4F4C56"/>
                </a:solidFill>
                <a:latin typeface="Montserrat"/>
                <a:ea typeface="Montserrat"/>
                <a:cs typeface="Montserrat"/>
              </a:rPr>
              <a:t>. This is the key to frequency tuning in a tunable transmon. Define the variable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Φ</m:t>
                    </m:r>
                  </m:oMath>
                </a14:m>
              </mc:Choice>
              <mc:Fallback>
                <a:r>
                  <a:rPr lang="en-US" sz="1664" i="1"/>
                  <a:t>
                                \Phi </a:t>
                </a:r>
              </mc:Fallback>
            </mc:AlternateContent>
            <a:r>
              <a:rPr sz="1400" b="0" i="0">
                <a:solidFill>
                  <a:srgbClr val="4F4C56"/>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r>
                      <m:rPr>
                        <m:sty m:val="p"/>
                      </m:rPr>
                      <a:rPr lang="en-US" i="0" sz="1568">
                        <a:latin typeface="Cambria Math"/>
                      </a:rPr>
                      <m:t>Φ</m:t>
                    </m:r>
                    <m:r>
                      <m:rPr>
                        <m:sty m:val="p"/>
                      </m:rPr>
                      <a:rPr lang="en-US" i="0" sz="1568">
                        <a:latin typeface="Cambria Math"/>
                      </a:rPr>
                      <m:t>≡</m:t>
                    </m:r>
                    <m:f>
                      <m:num>
                        <m:box>
                          <m:e>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e>
                        </m:box>
                      </m:num>
                      <m:den>
                        <m:r>
                          <m:rPr>
                            <m:sty m:val="i"/>
                          </m:rPr>
                          <a:rPr lang="en-US" i="1" sz="1568">
                            <a:latin typeface="Cambria Math"/>
                          </a:rPr>
                          <m:t>π</m:t>
                        </m:r>
                      </m:den>
                    </m:f>
                    <m:sSub>
                      <m:e>
                        <m:r>
                          <m:rPr>
                            <m:sty m:val="p"/>
                          </m:rPr>
                          <a:rPr lang="en-US" i="0" sz="1568">
                            <a:latin typeface="Cambria Math"/>
                          </a:rPr>
                          <m:t>Φ</m:t>
                        </m:r>
                      </m:e>
                      <m:sub>
                        <m:r>
                          <m:rPr>
                            <m:sty m:val="p"/>
                          </m:rPr>
                          <a:rPr lang="en-US" i="0" sz="1568">
                            <a:latin typeface="Cambria Math"/>
                          </a:rPr>
                          <m:t>0</m:t>
                        </m:r>
                      </m:sub>
                    </m:sSub>
                    <m:r>
                      <m:rPr>
                        <m:sty m:val="p"/>
                      </m:rPr>
                      <a:rPr lang="en-US" i="0" sz="1568">
                        <a:latin typeface="Cambria Math"/>
                      </a:rPr>
                      <m:t>−</m:t>
                    </m:r>
                    <m:sSub>
                      <m:e>
                        <m:r>
                          <m:rPr>
                            <m:sty m:val="p"/>
                          </m:rPr>
                          <a:rPr lang="en-US" i="0" sz="1568">
                            <a:latin typeface="Cambria Math"/>
                          </a:rPr>
                          <m:t>Φ</m:t>
                        </m:r>
                      </m:e>
                      <m:sub>
                        <m:r>
                          <m:rPr>
                            <m:sty m:val="i"/>
                          </m:rPr>
                          <a:rPr lang="en-US" i="1" sz="1568">
                            <a:latin typeface="Cambria Math"/>
                          </a:rPr>
                          <m:t>B</m:t>
                        </m:r>
                      </m:sub>
                    </m:sSub>
                    <m:r>
                      <m:rPr>
                        <m:sty m:val="p"/>
                      </m:rPr>
                      <a:rPr lang="en-US" i="0" sz="1568">
                        <a:latin typeface="Cambria Math"/>
                      </a:rPr>
                      <m:t>=</m:t>
                    </m:r>
                    <m:f>
                      <m:num>
                        <m:sSub>
                          <m:e>
                            <m:r>
                              <m:rPr>
                                <m:sty m:val="p"/>
                              </m:rPr>
                              <a:rPr lang="en-US" i="0" sz="1568">
                                <a:latin typeface="Cambria Math"/>
                              </a:rPr>
                              <m:t>Φ</m:t>
                            </m:r>
                          </m:e>
                          <m:sub>
                            <m:r>
                              <m:rPr>
                                <m:sty m:val="p"/>
                              </m:rPr>
                              <a:rPr lang="en-US" i="0" sz="1568">
                                <a:latin typeface="Cambria Math"/>
                              </a:rPr>
                              <m:t>0</m:t>
                            </m:r>
                          </m:sub>
                        </m:sSub>
                      </m:num>
                      <m:den>
                        <m:r>
                          <m:rPr>
                            <m:sty m:val="i"/>
                          </m:rPr>
                          <a:rPr lang="en-US" i="1" sz="1568">
                            <a:latin typeface="Cambria Math"/>
                          </a:rPr>
                          <m:t>π</m:t>
                        </m:r>
                      </m:den>
                    </m:f>
                    <m:box>
                      <m:e>
                        <m:d>
                          <m:dPr>
                            <m:begChr m:val="("/>
                            <m:endChr m:val=")"/>
                          </m:dPr>
                          <m:e>
                            <m:box>
                              <m:e>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r>
                                  <m:rPr>
                                    <m:sty m:val="p"/>
                                  </m:rPr>
                                  <a:rPr lang="en-US" i="0" sz="1568">
                                    <a:latin typeface="Cambria Math"/>
                                  </a:rPr>
                                  <m:t>−</m:t>
                                </m:r>
                                <m:f>
                                  <m:num>
                                    <m:r>
                                      <m:rPr>
                                        <m:sty m:val="p"/>
                                      </m:rPr>
                                      <a:rPr lang="en-US" i="0" sz="1568">
                                        <a:latin typeface="Cambria Math"/>
                                      </a:rPr>
                                      <m:t>Φ</m:t>
                                    </m:r>
                                  </m:num>
                                  <m:den>
                                    <m:sSub>
                                      <m:e>
                                        <m:r>
                                          <m:rPr>
                                            <m:sty m:val="p"/>
                                          </m:rPr>
                                          <a:rPr lang="en-US" i="0" sz="1568">
                                            <a:latin typeface="Cambria Math"/>
                                          </a:rPr>
                                          <m:t>Φ</m:t>
                                        </m:r>
                                      </m:e>
                                      <m:sub>
                                        <m:r>
                                          <m:rPr>
                                            <m:sty m:val="p"/>
                                          </m:rPr>
                                          <a:rPr lang="en-US" i="0" sz="1568">
                                            <a:latin typeface="Cambria Math"/>
                                          </a:rPr>
                                          <m:t>0</m:t>
                                        </m:r>
                                      </m:sub>
                                    </m:sSub>
                                  </m:den>
                                </m:f>
                                <m:r>
                                  <m:rPr>
                                    <m:sty m:val="i"/>
                                  </m:rPr>
                                  <a:rPr lang="en-US" i="1" sz="1568">
                                    <a:latin typeface="Cambria Math"/>
                                  </a:rPr>
                                  <m:t>π</m:t>
                                </m:r>
                              </m:e>
                            </m:box>
                          </m:e>
                        </m:d>
                      </m:e>
                    </m:box>
                  </m:oMath>
                </a14:m>
              </mc:Choice>
              <mc:Fallback>
                <a:r>
                  <a:rPr lang="en-US" sz="1567" i="1"/>
                  <a:t>
                                    \Phi \equiv \frac{\Delta\theta_1}{\pi} \Phi_0 - \Phi_B = \frac{\Phi_0}{\pi}
                                    \left(\Delta\theta_1 - \frac{\Phi}{\Phi_0} \pi\right)
                                    </a:t>
                </a:r>
              </mc:Fallback>
            </mc:AlternateContent>
            <a:r>
              <a:rPr sz="1400" b="0" i="0">
                <a:solidFill>
                  <a:srgbClr val="4F4C56"/>
                </a:solidFill>
                <a:latin typeface="Montserrat"/>
                <a:ea typeface="Montserrat"/>
                <a:cs typeface="Montserrat"/>
              </a:rPr>
              <a:t> with: </a:t>
            </a:r>
            <mc:AlternateContent xmlns:mc="http://schemas.openxmlformats.org/markup-compatibility/2006">
              <mc:Choice xmlns:a14="http://schemas.microsoft.com/office/drawing/2010/main" Requires="a14">
                <a14:m>
                  <m:oMath xmlns:m="http://schemas.openxmlformats.org/officeDocument/2006/math">
                    <m:box>
                      <m:e>
                        <m:limUpp>
                          <m:e>
                            <m:r>
                              <m:rPr>
                                <m:sty m:val="p"/>
                              </m:rPr>
                              <a:rPr lang="en-US" i="0" sz="1568">
                                <a:latin typeface="Cambria Math"/>
                              </a:rPr>
                              <m:t>Φ</m:t>
                            </m:r>
                          </m:e>
                          <m:lim>
                            <m:r>
                              <m:rPr>
                                <m:sty m:val="p"/>
                              </m:rPr>
                              <a:rPr lang="en-US" i="0" sz="1568">
                                <a:latin typeface="Cambria Math"/>
                              </a:rPr>
                              <m:t>˙</m:t>
                            </m:r>
                          </m:lim>
                        </m:limUpp>
                      </m:e>
                    </m:box>
                    <m:r>
                      <m:rPr>
                        <m:sty m:val="p"/>
                      </m:rPr>
                      <a:rPr lang="en-US" i="0" sz="1568">
                        <a:latin typeface="Cambria Math"/>
                      </a:rPr>
                      <m:t>=</m:t>
                    </m:r>
                    <m:f>
                      <m:num>
                        <m:sSub>
                          <m:e>
                            <m:r>
                              <m:rPr>
                                <m:sty m:val="p"/>
                              </m:rPr>
                              <a:rPr lang="en-US" i="0" sz="1568">
                                <a:latin typeface="Cambria Math"/>
                              </a:rPr>
                              <m:t>Φ</m:t>
                            </m:r>
                          </m:e>
                          <m:sub>
                            <m:r>
                              <m:rPr>
                                <m:sty m:val="p"/>
                              </m:rPr>
                              <a:rPr lang="en-US" i="0" sz="1568">
                                <a:latin typeface="Cambria Math"/>
                              </a:rPr>
                              <m:t>0</m:t>
                            </m:r>
                          </m:sub>
                        </m:sSub>
                      </m:num>
                      <m:den>
                        <m:r>
                          <m:rPr>
                            <m:sty m:val="i"/>
                          </m:rPr>
                          <a:rPr lang="en-US" i="1" sz="1568">
                            <a:latin typeface="Cambria Math"/>
                          </a:rPr>
                          <m:t>π</m:t>
                        </m:r>
                      </m:den>
                    </m:f>
                    <m:box>
                      <m:e>
                        <m:limUpp>
                          <m:e>
                            <m:box>
                              <m:e>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e>
                            </m:box>
                          </m:e>
                          <m:lim>
                            <m:r>
                              <m:rPr>
                                <m:sty m:val="p"/>
                              </m:rPr>
                              <a:rPr lang="en-US" i="0" sz="1568">
                                <a:latin typeface="Cambria Math"/>
                              </a:rPr>
                              <m:t>˙</m:t>
                            </m:r>
                          </m:lim>
                        </m:limUpp>
                      </m:e>
                    </m:box>
                  </m:oMath>
                </a14:m>
              </mc:Choice>
              <mc:Fallback>
                <a:r>
                  <a:rPr lang="en-US" sz="1567" i="1"/>
                  <a:t>
                                    \dot{\Phi} = \frac{\Phi_0}{\pi} \dot{\Delta\theta_1}
                                    </a:t>
                </a:r>
              </mc:Fallback>
            </mc:AlternateContent>
            <a:r>
              <a:rPr sz="1400" b="0" i="0">
                <a:solidFill>
                  <a:srgbClr val="4F4C56"/>
                </a:solidFill>
                <a:latin typeface="Montserrat"/>
                <a:ea typeface="Montserrat"/>
                <a:cs typeface="Montserrat"/>
              </a:rPr>
              <a:t> The voltage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V</m:t>
                    </m:r>
                  </m:oMath>
                </a14:m>
              </mc:Choice>
              <mc:Fallback>
                <a:r>
                  <a:rPr lang="en-US" sz="1664" i="1"/>
                  <a:t> V </a:t>
                </a:r>
              </mc:Fallback>
            </mc:AlternateContent>
            <a:r>
              <a:rPr sz="1400" b="0" i="0">
                <a:solidFill>
                  <a:srgbClr val="4F4C56"/>
                </a:solidFill>
                <a:latin typeface="Montserrat"/>
                <a:ea typeface="Montserrat"/>
                <a:cs typeface="Montserrat"/>
              </a:rPr>
              <a:t> and current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I</m:t>
                    </m:r>
                  </m:oMath>
                </a14:m>
              </mc:Choice>
              <mc:Fallback>
                <a:r>
                  <a:rPr lang="en-US" sz="1664" i="1"/>
                  <a:t> I </a:t>
                </a:r>
              </mc:Fallback>
            </mc:AlternateContent>
            <a:r>
              <a:rPr sz="1400" b="0" i="0">
                <a:solidFill>
                  <a:srgbClr val="4F4C56"/>
                </a:solidFill>
                <a:latin typeface="Montserrat"/>
                <a:ea typeface="Montserrat"/>
                <a:cs typeface="Montserrat"/>
              </a:rPr>
              <a:t> are respectively: </a:t>
            </a:r>
            <mc:AlternateContent xmlns:mc="http://schemas.openxmlformats.org/markup-compatibility/2006">
              <mc:Choice xmlns:a14="http://schemas.microsoft.com/office/drawing/2010/main" Requires="a14">
                <a14:m>
                  <m:oMath xmlns:m="http://schemas.openxmlformats.org/officeDocument/2006/math">
                    <m:r>
                      <m:rPr>
                        <m:sty m:val="i"/>
                      </m:rPr>
                      <a:rPr lang="en-US" i="1" sz="1568">
                        <a:latin typeface="Cambria Math"/>
                      </a:rPr>
                      <m:t>V</m:t>
                    </m:r>
                    <m:r>
                      <m:rPr>
                        <m:sty m:val="p"/>
                      </m:rPr>
                      <a:rPr lang="en-US" i="0" sz="1568">
                        <a:latin typeface="Cambria Math"/>
                      </a:rPr>
                      <m:t>=</m:t>
                    </m:r>
                    <m:f>
                      <m:num>
                        <m:r>
                          <m:rPr>
                            <m:sty m:val="p"/>
                          </m:rPr>
                          <a:rPr lang="en-US" i="0" sz="1568">
                            <a:latin typeface="Cambria Math"/>
                          </a:rPr>
                          <m:t>1</m:t>
                        </m:r>
                      </m:num>
                      <m:den>
                        <m:r>
                          <m:rPr>
                            <m:sty m:val="p"/>
                          </m:rPr>
                          <a:rPr lang="en-US" i="0" sz="1568">
                            <a:latin typeface="Cambria Math"/>
                          </a:rPr>
                          <m:t>2</m:t>
                        </m:r>
                      </m:den>
                    </m:f>
                    <m:box>
                      <m:e>
                        <m:limUpp>
                          <m:e>
                            <m:r>
                              <m:rPr>
                                <m:sty m:val="p"/>
                              </m:rPr>
                              <a:rPr lang="en-US" i="0" sz="1568">
                                <a:latin typeface="Cambria Math"/>
                              </a:rPr>
                              <m:t>Φ</m:t>
                            </m:r>
                          </m:e>
                          <m:lim>
                            <m:r>
                              <m:rPr>
                                <m:sty m:val="p"/>
                              </m:rPr>
                              <a:rPr lang="en-US" i="0" sz="1568">
                                <a:latin typeface="Cambria Math"/>
                              </a:rPr>
                              <m:t>˙</m:t>
                            </m:r>
                          </m:lim>
                        </m:limUpp>
                      </m:e>
                    </m:box>
                    <m:r>
                      <m:rPr>
                        <m:sty m:val="p"/>
                      </m:rPr>
                      <a:rPr lang="en-US" i="0" sz="1568">
                        <a:latin typeface="Cambria Math"/>
                      </a:rPr>
                      <m:t>,</m:t>
                    </m:r>
                    <m:box>
                      <m:e>
                        <m:r>
                          <a:rPr lang="en-US" i="1" sz="1568">
                            <a:latin typeface="Cambria Math"/>
                          </a:rPr>
                          <m:t/>
                        </m:r>
                      </m:e>
                    </m:box>
                    <m:r>
                      <m:rPr>
                        <m:sty m:val="i"/>
                      </m:rPr>
                      <a:rPr lang="en-US" i="1" sz="1568">
                        <a:latin typeface="Cambria Math"/>
                      </a:rPr>
                      <m:t>I</m:t>
                    </m:r>
                    <m:r>
                      <m:rPr>
                        <m:sty m:val="p"/>
                      </m:rPr>
                      <a:rPr lang="en-US" i="0" sz="1568">
                        <a:latin typeface="Cambria Math"/>
                      </a:rPr>
                      <m:t>=</m:t>
                    </m:r>
                    <m:r>
                      <m:rPr>
                        <m:sty m:val="p"/>
                      </m:rPr>
                      <a:rPr lang="en-US" i="0" sz="1568">
                        <a:latin typeface="Cambria Math"/>
                      </a:rPr>
                      <m:t>2</m:t>
                    </m:r>
                    <m:sSub>
                      <m:e>
                        <m:r>
                          <m:rPr>
                            <m:sty m:val="i"/>
                          </m:rPr>
                          <a:rPr lang="en-US" i="1" sz="1568">
                            <a:latin typeface="Cambria Math"/>
                          </a:rPr>
                          <m:t>I</m:t>
                        </m:r>
                      </m:e>
                      <m:sub>
                        <m:r>
                          <m:rPr>
                            <m:sty m:val="p"/>
                          </m:rPr>
                          <a:rPr lang="en-US" i="0" sz="1568">
                            <a:latin typeface="Cambria Math"/>
                          </a:rPr>
                          <m:t>0</m:t>
                        </m:r>
                      </m:sub>
                    </m:sSub>
                    <m:r>
                      <m:rPr>
                        <m:sty m:val="p"/>
                      </m:rPr>
                      <a:rPr lang="en-US" i="0" sz="1568">
                        <a:latin typeface="Cambria Math"/>
                      </a:rPr>
                      <m:t>cos</m:t>
                    </m:r>
                    <m:r>
                      <m:rPr>
                        <m:sty m:val="p"/>
                      </m:rPr>
                      <a:rPr lang="en-US" i="0" sz="1568">
                        <a:latin typeface="Cambria Math"/>
                      </a:rPr>
                      <m:t/>
                    </m:r>
                    <m:box>
                      <m:e>
                        <m:d>
                          <m:dPr>
                            <m:begChr m:val="("/>
                            <m:endChr m:val=")"/>
                          </m:dPr>
                          <m:e>
                            <m:box>
                              <m:e>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r>
                                  <m:rPr>
                                    <m:sty m:val="i"/>
                                  </m:rPr>
                                  <a:rPr lang="en-US" i="1" sz="1568">
                                    <a:latin typeface="Cambria Math"/>
                                  </a:rPr>
                                  <m:t>π</m:t>
                                </m:r>
                              </m:e>
                            </m:box>
                          </m:e>
                        </m:d>
                      </m:e>
                    </m:box>
                    <m:r>
                      <m:rPr>
                        <m:sty m:val="p"/>
                      </m:rPr>
                      <a:rPr lang="en-US" i="0" sz="1568">
                        <a:latin typeface="Cambria Math"/>
                      </a:rPr>
                      <m:t>sin</m:t>
                    </m:r>
                    <m:r>
                      <m:rPr>
                        <m:sty m:val="p"/>
                      </m:rPr>
                      <a:rPr lang="en-US" i="0" sz="1568">
                        <a:latin typeface="Cambria Math"/>
                      </a:rPr>
                      <m:t/>
                    </m:r>
                    <m:box>
                      <m:e>
                        <m:d>
                          <m:dPr>
                            <m:begChr m:val="("/>
                            <m:endChr m:val=")"/>
                          </m:dPr>
                          <m:e>
                            <m:box>
                              <m:e>
                                <m:f>
                                  <m:num>
                                    <m:r>
                                      <m:rPr>
                                        <m:sty m:val="p"/>
                                      </m:rPr>
                                      <a:rPr lang="en-US" i="0" sz="1568">
                                        <a:latin typeface="Cambria Math"/>
                                      </a:rPr>
                                      <m:t>Φ</m:t>
                                    </m:r>
                                  </m:num>
                                  <m:den>
                                    <m:sSub>
                                      <m:e>
                                        <m:r>
                                          <m:rPr>
                                            <m:sty m:val="p"/>
                                          </m:rPr>
                                          <a:rPr lang="en-US" i="0" sz="1568">
                                            <a:latin typeface="Cambria Math"/>
                                          </a:rPr>
                                          <m:t>Φ</m:t>
                                        </m:r>
                                      </m:e>
                                      <m:sub>
                                        <m:r>
                                          <m:rPr>
                                            <m:sty m:val="p"/>
                                          </m:rPr>
                                          <a:rPr lang="en-US" i="0" sz="1568">
                                            <a:latin typeface="Cambria Math"/>
                                          </a:rPr>
                                          <m:t>0</m:t>
                                        </m:r>
                                      </m:sub>
                                    </m:sSub>
                                  </m:den>
                                </m:f>
                                <m:r>
                                  <m:rPr>
                                    <m:sty m:val="i"/>
                                  </m:rPr>
                                  <a:rPr lang="en-US" i="1" sz="1568">
                                    <a:latin typeface="Cambria Math"/>
                                  </a:rPr>
                                  <m:t>π</m:t>
                                </m:r>
                              </m:e>
                            </m:box>
                          </m:e>
                        </m:d>
                      </m:e>
                    </m:box>
                  </m:oMath>
                </a14:m>
              </mc:Choice>
              <mc:Fallback>
                <a:r>
                  <a:rPr lang="en-US" sz="1567" i="1"/>
                  <a:t>
                                    V = \frac{1}{2} \dot{\Phi}, \quad I = 2I_0 \cos\left(\frac{\Phi_B}{\Phi_0}
                                    \pi\right)
                                    \sin\left(\frac{\Phi}{\Phi_0} \pi\right)
                                    </a:t>
                </a:r>
              </mc:Fallback>
            </mc:AlternateContent>
            <a:r>
              <a:rPr sz="1400" b="0" i="0">
                <a:solidFill>
                  <a:srgbClr val="4F4C56"/>
                </a:solidFill>
                <a:latin typeface="Montserrat"/>
                <a:ea typeface="Montserrat"/>
                <a:cs typeface="Montserrat"/>
              </a:rPr>
              <a:t> </a:t>
            </a:r>
          </a:p>
        </p:txBody>
      </p:sp>
      <p:sp>
        <p:nvSpPr>
          <p:cNvPr id="6" name="Rectangle 5"/>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8" name="TextBox 7"/>
          <p:cNvSpPr txBox="1"/>
          <p:nvPr/>
        </p:nvSpPr>
        <p:spPr>
          <a:xfrm>
            <a:off x="11226139" y="6565900"/>
            <a:ext cx="474795"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86 / 100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1075267"/>
            <a:ext cx="11040533" cy="2582598"/>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At fixed external field </a:t>
            </a:r>
            <mc:AlternateContent xmlns:mc="http://schemas.openxmlformats.org/markup-compatibility/2006">
              <mc:Choice xmlns:a14="http://schemas.microsoft.com/office/drawing/2010/main" Requires="a14">
                <a14:m>
                  <m:oMath xmlns:m="http://schemas.openxmlformats.org/officeDocument/2006/math">
                    <m:sSub>
                      <m:e>
                        <m:r>
                          <m:rPr>
                            <m:sty m:val="p"/>
                          </m:rPr>
                          <a:rPr lang="en-US" i="0" sz="1665">
                            <a:latin typeface="Cambria Math"/>
                          </a:rPr>
                          <m:t>Φ</m:t>
                        </m:r>
                      </m:e>
                      <m:sub>
                        <m:r>
                          <m:rPr>
                            <m:sty m:val="i"/>
                          </m:rPr>
                          <a:rPr lang="en-US" i="1" sz="1665">
                            <a:latin typeface="Cambria Math"/>
                          </a:rPr>
                          <m:t>B</m:t>
                        </m:r>
                      </m:sub>
                    </m:sSub>
                  </m:oMath>
                </a14:m>
              </mc:Choice>
              <mc:Fallback>
                <a:r>
                  <a:rPr lang="en-US" sz="1664" i="1"/>
                  <a:t> \Phi_B </a:t>
                </a:r>
              </mc:Fallback>
            </mc:AlternateContent>
            <a:r>
              <a:rPr sz="1400" b="0" i="0">
                <a:solidFill>
                  <a:srgbClr val="4F4C56"/>
                </a:solidFill>
                <a:latin typeface="Montserrat"/>
                <a:ea typeface="Montserrat"/>
                <a:cs typeface="Montserrat"/>
              </a:rPr>
              <a:t>, the energy stored in a SQUID is: </a:t>
            </a:r>
            <mc:AlternateContent xmlns:mc="http://schemas.openxmlformats.org/markup-compatibility/2006">
              <mc:Choice xmlns:a14="http://schemas.microsoft.com/office/drawing/2010/main" Requires="a14">
                <a14:m>
                  <m:oMath xmlns:m="http://schemas.openxmlformats.org/officeDocument/2006/math">
                    <m:r>
                      <m:rPr>
                        <m:sty m:val="i"/>
                      </m:rPr>
                      <a:rPr lang="en-US" i="1" sz="1568">
                        <a:latin typeface="Cambria Math"/>
                      </a:rPr>
                      <m:t>E</m:t>
                    </m:r>
                    <m:r>
                      <m:rPr>
                        <m:sty m:val="p"/>
                      </m:rPr>
                      <a:rPr lang="en-US" i="0" sz="1568">
                        <a:latin typeface="Cambria Math"/>
                      </a:rPr>
                      <m:t>=</m:t>
                    </m:r>
                    <m:r>
                      <m:rPr>
                        <m:sty m:val="p"/>
                      </m:rPr>
                      <a:rPr lang="en-US" i="0" sz="1568">
                        <a:latin typeface="Cambria Math"/>
                      </a:rPr>
                      <m:t>∫</m:t>
                    </m:r>
                    <m:r>
                      <m:rPr>
                        <m:sty m:val="i"/>
                      </m:rPr>
                      <a:rPr lang="en-US" i="1" sz="1568">
                        <a:latin typeface="Cambria Math"/>
                      </a:rPr>
                      <m:t>I</m:t>
                    </m:r>
                    <m:r>
                      <m:rPr>
                        <m:sty m:val="i"/>
                      </m:rPr>
                      <a:rPr lang="en-US" i="1" sz="1568">
                        <a:latin typeface="Cambria Math"/>
                      </a:rPr>
                      <m:t>V</m:t>
                    </m:r>
                    <m:box>
                      <m:e>
                        <m:r>
                          <a:rPr lang="en-US" i="1" sz="1568">
                            <a:latin typeface="Cambria Math"/>
                          </a:rPr>
                          <m:t/>
                        </m:r>
                      </m:e>
                    </m:box>
                    <m:r>
                      <m:rPr>
                        <m:sty m:val="i"/>
                      </m:rPr>
                      <a:rPr lang="en-US" i="1" sz="1568">
                        <a:latin typeface="Cambria Math"/>
                      </a:rPr>
                      <m:t>d</m:t>
                    </m:r>
                    <m:r>
                      <m:rPr>
                        <m:sty m:val="i"/>
                      </m:rPr>
                      <a:rPr lang="en-US" i="1" sz="1568">
                        <a:latin typeface="Cambria Math"/>
                      </a:rPr>
                      <m:t>t</m:t>
                    </m:r>
                    <m:r>
                      <m:rPr>
                        <m:sty m:val="p"/>
                      </m:rPr>
                      <a:rPr lang="en-US" i="0" sz="1568">
                        <a:latin typeface="Cambria Math"/>
                      </a:rPr>
                      <m:t>=</m:t>
                    </m:r>
                    <m:r>
                      <m:rPr>
                        <m:sty m:val="p"/>
                      </m:rPr>
                      <a:rPr lang="en-US" i="0" sz="1568">
                        <a:latin typeface="Cambria Math"/>
                      </a:rPr>
                      <m:t>∫</m:t>
                    </m:r>
                    <m:box>
                      <m:e>
                        <m:d>
                          <m:dPr>
                            <m:begChr m:val="["/>
                            <m:endChr m:val="]"/>
                          </m:dPr>
                          <m:e>
                            <m:box>
                              <m:e>
                                <m:r>
                                  <m:rPr>
                                    <m:sty m:val="p"/>
                                  </m:rPr>
                                  <a:rPr lang="en-US" i="0" sz="1568">
                                    <a:latin typeface="Cambria Math"/>
                                  </a:rPr>
                                  <m:t>2</m:t>
                                </m:r>
                                <m:sSub>
                                  <m:e>
                                    <m:r>
                                      <m:rPr>
                                        <m:sty m:val="i"/>
                                      </m:rPr>
                                      <a:rPr lang="en-US" i="1" sz="1568">
                                        <a:latin typeface="Cambria Math"/>
                                      </a:rPr>
                                      <m:t>I</m:t>
                                    </m:r>
                                  </m:e>
                                  <m:sub>
                                    <m:r>
                                      <m:rPr>
                                        <m:sty m:val="p"/>
                                      </m:rPr>
                                      <a:rPr lang="en-US" i="0" sz="1568">
                                        <a:latin typeface="Cambria Math"/>
                                      </a:rPr>
                                      <m:t>0</m:t>
                                    </m:r>
                                  </m:sub>
                                </m:sSub>
                                <m:r>
                                  <m:rPr>
                                    <m:sty m:val="p"/>
                                  </m:rPr>
                                  <a:rPr lang="en-US" i="0" sz="1568">
                                    <a:latin typeface="Cambria Math"/>
                                  </a:rPr>
                                  <m:t>cos</m:t>
                                </m:r>
                                <m:r>
                                  <m:rPr>
                                    <m:sty m:val="p"/>
                                  </m:rPr>
                                  <a:rPr lang="en-US" i="0" sz="1568">
                                    <a:latin typeface="Cambria Math"/>
                                  </a:rPr>
                                  <m:t/>
                                </m:r>
                                <m:box>
                                  <m:e>
                                    <m:d>
                                      <m:dPr>
                                        <m:begChr m:val="("/>
                                        <m:endChr m:val=")"/>
                                      </m:dPr>
                                      <m:e>
                                        <m:box>
                                          <m:e>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r>
                                              <m:rPr>
                                                <m:sty m:val="i"/>
                                              </m:rPr>
                                              <a:rPr lang="en-US" i="1" sz="1568">
                                                <a:latin typeface="Cambria Math"/>
                                              </a:rPr>
                                              <m:t>π</m:t>
                                            </m:r>
                                          </m:e>
                                        </m:box>
                                      </m:e>
                                    </m:d>
                                  </m:e>
                                </m:box>
                                <m:r>
                                  <m:rPr>
                                    <m:sty m:val="p"/>
                                  </m:rPr>
                                  <a:rPr lang="en-US" i="0" sz="1568">
                                    <a:latin typeface="Cambria Math"/>
                                  </a:rPr>
                                  <m:t>sin</m:t>
                                </m:r>
                                <m:r>
                                  <m:rPr>
                                    <m:sty m:val="p"/>
                                  </m:rPr>
                                  <a:rPr lang="en-US" i="0" sz="1568">
                                    <a:latin typeface="Cambria Math"/>
                                  </a:rPr>
                                  <m:t/>
                                </m:r>
                                <m:box>
                                  <m:e>
                                    <m:d>
                                      <m:dPr>
                                        <m:begChr m:val="("/>
                                        <m:endChr m:val=")"/>
                                      </m:dPr>
                                      <m:e>
                                        <m:box>
                                          <m:e>
                                            <m:f>
                                              <m:num>
                                                <m:r>
                                                  <m:rPr>
                                                    <m:sty m:val="p"/>
                                                  </m:rPr>
                                                  <a:rPr lang="en-US" i="0" sz="1568">
                                                    <a:latin typeface="Cambria Math"/>
                                                  </a:rPr>
                                                  <m:t>Φ</m:t>
                                                </m:r>
                                              </m:num>
                                              <m:den>
                                                <m:sSub>
                                                  <m:e>
                                                    <m:r>
                                                      <m:rPr>
                                                        <m:sty m:val="p"/>
                                                      </m:rPr>
                                                      <a:rPr lang="en-US" i="0" sz="1568">
                                                        <a:latin typeface="Cambria Math"/>
                                                      </a:rPr>
                                                      <m:t>Φ</m:t>
                                                    </m:r>
                                                  </m:e>
                                                  <m:sub>
                                                    <m:r>
                                                      <m:rPr>
                                                        <m:sty m:val="p"/>
                                                      </m:rPr>
                                                      <a:rPr lang="en-US" i="0" sz="1568">
                                                        <a:latin typeface="Cambria Math"/>
                                                      </a:rPr>
                                                      <m:t>0</m:t>
                                                    </m:r>
                                                  </m:sub>
                                                </m:sSub>
                                              </m:den>
                                            </m:f>
                                            <m:r>
                                              <m:rPr>
                                                <m:sty m:val="i"/>
                                              </m:rPr>
                                              <a:rPr lang="en-US" i="1" sz="1568">
                                                <a:latin typeface="Cambria Math"/>
                                              </a:rPr>
                                              <m:t>π</m:t>
                                            </m:r>
                                          </m:e>
                                        </m:box>
                                      </m:e>
                                    </m:d>
                                  </m:e>
                                </m:box>
                                <m:r>
                                  <m:rPr>
                                    <m:sty m:val="p"/>
                                  </m:rPr>
                                  <a:rPr lang="en-US" i="0" sz="1568">
                                    <a:latin typeface="Cambria Math"/>
                                  </a:rPr>
                                  <m:t>⋅</m:t>
                                </m:r>
                                <m:f>
                                  <m:num>
                                    <m:r>
                                      <m:rPr>
                                        <m:sty m:val="p"/>
                                      </m:rPr>
                                      <a:rPr lang="en-US" i="0" sz="1568">
                                        <a:latin typeface="Cambria Math"/>
                                      </a:rPr>
                                      <m:t>1</m:t>
                                    </m:r>
                                  </m:num>
                                  <m:den>
                                    <m:r>
                                      <m:rPr>
                                        <m:sty m:val="p"/>
                                      </m:rPr>
                                      <a:rPr lang="en-US" i="0" sz="1568">
                                        <a:latin typeface="Cambria Math"/>
                                      </a:rPr>
                                      <m:t>2</m:t>
                                    </m:r>
                                  </m:den>
                                </m:f>
                                <m:box>
                                  <m:e>
                                    <m:limUpp>
                                      <m:e>
                                        <m:r>
                                          <m:rPr>
                                            <m:sty m:val="p"/>
                                          </m:rPr>
                                          <a:rPr lang="en-US" i="0" sz="1568">
                                            <a:latin typeface="Cambria Math"/>
                                          </a:rPr>
                                          <m:t>Φ</m:t>
                                        </m:r>
                                      </m:e>
                                      <m:lim>
                                        <m:r>
                                          <m:rPr>
                                            <m:sty m:val="p"/>
                                          </m:rPr>
                                          <a:rPr lang="en-US" i="0" sz="1568">
                                            <a:latin typeface="Cambria Math"/>
                                          </a:rPr>
                                          <m:t>˙</m:t>
                                        </m:r>
                                      </m:lim>
                                    </m:limUpp>
                                  </m:e>
                                </m:box>
                              </m:e>
                            </m:box>
                          </m:e>
                        </m:d>
                      </m:e>
                    </m:box>
                    <m:r>
                      <m:rPr>
                        <m:sty m:val="i"/>
                      </m:rPr>
                      <a:rPr lang="en-US" i="1" sz="1568">
                        <a:latin typeface="Cambria Math"/>
                      </a:rPr>
                      <m:t>d</m:t>
                    </m:r>
                    <m:r>
                      <m:rPr>
                        <m:sty m:val="i"/>
                      </m:rPr>
                      <a:rPr lang="en-US" i="1" sz="1568">
                        <a:latin typeface="Cambria Math"/>
                      </a:rPr>
                      <m:t>t</m:t>
                    </m:r>
                  </m:oMath>
                </a14:m>
              </mc:Choice>
              <mc:Fallback>
                <a:r>
                  <a:rPr lang="en-US" sz="1567" i="1"/>
                  <a:t>
                                    E = \int IV \, dt = \int \left[2I_0 \cos\left(\frac{\Phi_B}{\Phi_0} \pi\right)
                                    \sin\left(\frac{\Phi}{\Phi_0} \pi\right) \cdot \frac{1}{2} \dot{\Phi}\right] dt
                                    </a:t>
                </a:r>
              </mc:Fallback>
            </mc:AlternateContent>
            <a:r>
              <a:rPr sz="1400" b="0" i="0">
                <a:solidFill>
                  <a:srgbClr val="4F4C56"/>
                </a:solidFill>
                <a:latin typeface="Montserrat"/>
                <a:ea typeface="Montserrat"/>
                <a:cs typeface="Montserrat"/>
              </a:rPr>
              <a:t> Simplifying gives: </a:t>
            </a:r>
            <mc:AlternateContent xmlns:mc="http://schemas.openxmlformats.org/markup-compatibility/2006">
              <mc:Choice xmlns:a14="http://schemas.microsoft.com/office/drawing/2010/main" Requires="a14">
                <a14:m>
                  <m:oMath xmlns:m="http://schemas.openxmlformats.org/officeDocument/2006/math">
                    <m:r>
                      <m:rPr>
                        <m:sty m:val="i"/>
                      </m:rPr>
                      <a:rPr lang="en-US" i="1" sz="1568">
                        <a:latin typeface="Cambria Math"/>
                      </a:rPr>
                      <m:t>E</m:t>
                    </m:r>
                    <m:r>
                      <m:rPr>
                        <m:sty m:val="p"/>
                      </m:rPr>
                      <a:rPr lang="en-US" i="0" sz="1568">
                        <a:latin typeface="Cambria Math"/>
                      </a:rPr>
                      <m:t>=</m:t>
                    </m:r>
                    <m:sSub>
                      <m:e>
                        <m:r>
                          <m:rPr>
                            <m:sty m:val="i"/>
                          </m:rPr>
                          <a:rPr lang="en-US" i="1" sz="1568">
                            <a:latin typeface="Cambria Math"/>
                          </a:rPr>
                          <m:t>I</m:t>
                        </m:r>
                      </m:e>
                      <m:sub>
                        <m:r>
                          <m:rPr>
                            <m:sty m:val="p"/>
                          </m:rPr>
                          <a:rPr lang="en-US" i="0" sz="1568">
                            <a:latin typeface="Cambria Math"/>
                          </a:rPr>
                          <m:t>0</m:t>
                        </m:r>
                      </m:sub>
                    </m:sSub>
                    <m:r>
                      <m:rPr>
                        <m:sty m:val="p"/>
                      </m:rPr>
                      <a:rPr lang="en-US" i="0" sz="1568">
                        <a:latin typeface="Cambria Math"/>
                      </a:rPr>
                      <m:t>cos</m:t>
                    </m:r>
                    <m:r>
                      <m:rPr>
                        <m:sty m:val="p"/>
                      </m:rPr>
                      <a:rPr lang="en-US" i="0" sz="1568">
                        <a:latin typeface="Cambria Math"/>
                      </a:rPr>
                      <m:t/>
                    </m:r>
                    <m:box>
                      <m:e>
                        <m:d>
                          <m:dPr>
                            <m:begChr m:val="("/>
                            <m:endChr m:val=")"/>
                          </m:dPr>
                          <m:e>
                            <m:box>
                              <m:e>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r>
                                  <m:rPr>
                                    <m:sty m:val="i"/>
                                  </m:rPr>
                                  <a:rPr lang="en-US" i="1" sz="1568">
                                    <a:latin typeface="Cambria Math"/>
                                  </a:rPr>
                                  <m:t>π</m:t>
                                </m:r>
                              </m:e>
                            </m:box>
                          </m:e>
                        </m:d>
                      </m:e>
                    </m:box>
                    <m:r>
                      <m:rPr>
                        <m:sty m:val="p"/>
                      </m:rPr>
                      <a:rPr lang="en-US" i="0" sz="1568">
                        <a:latin typeface="Cambria Math"/>
                      </a:rPr>
                      <m:t>∫</m:t>
                    </m:r>
                    <m:r>
                      <m:rPr>
                        <m:sty m:val="p"/>
                      </m:rPr>
                      <a:rPr lang="en-US" i="0" sz="1568">
                        <a:latin typeface="Cambria Math"/>
                      </a:rPr>
                      <m:t>sin</m:t>
                    </m:r>
                    <m:r>
                      <m:rPr>
                        <m:sty m:val="p"/>
                      </m:rPr>
                      <a:rPr lang="en-US" i="0" sz="1568">
                        <a:latin typeface="Cambria Math"/>
                      </a:rPr>
                      <m:t/>
                    </m:r>
                    <m:box>
                      <m:e>
                        <m:d>
                          <m:dPr>
                            <m:begChr m:val="("/>
                            <m:endChr m:val=")"/>
                          </m:dPr>
                          <m:e>
                            <m:box>
                              <m:e>
                                <m:f>
                                  <m:num>
                                    <m:r>
                                      <m:rPr>
                                        <m:sty m:val="p"/>
                                      </m:rPr>
                                      <a:rPr lang="en-US" i="0" sz="1568">
                                        <a:latin typeface="Cambria Math"/>
                                      </a:rPr>
                                      <m:t>Φ</m:t>
                                    </m:r>
                                  </m:num>
                                  <m:den>
                                    <m:sSub>
                                      <m:e>
                                        <m:r>
                                          <m:rPr>
                                            <m:sty m:val="p"/>
                                          </m:rPr>
                                          <a:rPr lang="en-US" i="0" sz="1568">
                                            <a:latin typeface="Cambria Math"/>
                                          </a:rPr>
                                          <m:t>Φ</m:t>
                                        </m:r>
                                      </m:e>
                                      <m:sub>
                                        <m:r>
                                          <m:rPr>
                                            <m:sty m:val="p"/>
                                          </m:rPr>
                                          <a:rPr lang="en-US" i="0" sz="1568">
                                            <a:latin typeface="Cambria Math"/>
                                          </a:rPr>
                                          <m:t>0</m:t>
                                        </m:r>
                                      </m:sub>
                                    </m:sSub>
                                  </m:den>
                                </m:f>
                                <m:r>
                                  <m:rPr>
                                    <m:sty m:val="i"/>
                                  </m:rPr>
                                  <a:rPr lang="en-US" i="1" sz="1568">
                                    <a:latin typeface="Cambria Math"/>
                                  </a:rPr>
                                  <m:t>π</m:t>
                                </m:r>
                              </m:e>
                            </m:box>
                          </m:e>
                        </m:d>
                      </m:e>
                    </m:box>
                    <m:r>
                      <m:rPr>
                        <m:sty m:val="i"/>
                      </m:rPr>
                      <a:rPr lang="en-US" i="1" sz="1568">
                        <a:latin typeface="Cambria Math"/>
                      </a:rPr>
                      <m:t>d</m:t>
                    </m:r>
                    <m:r>
                      <m:rPr>
                        <m:sty m:val="p"/>
                      </m:rPr>
                      <a:rPr lang="en-US" i="0" sz="1568">
                        <a:latin typeface="Cambria Math"/>
                      </a:rPr>
                      <m:t>Φ</m:t>
                    </m:r>
                  </m:oMath>
                </a14:m>
              </mc:Choice>
              <mc:Fallback>
                <a:r>
                  <a:rPr lang="en-US" sz="1567" i="1"/>
                  <a:t>
                                    E = I_0 \cos\left(\frac{\Phi_B}{\Phi_0} \pi\right) \int
                                    \sin\left(\frac{\Phi}{\Phi_0}
                                    \pi\right) d\Phi
                                    </a:t>
                </a:r>
              </mc:Fallback>
            </mc:AlternateContent>
            <a:r>
              <a:rPr sz="1400" b="0" i="0">
                <a:solidFill>
                  <a:srgbClr val="4F4C56"/>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r>
                      <m:rPr>
                        <m:sty m:val="i"/>
                      </m:rPr>
                      <a:rPr lang="en-US" i="1" sz="1568">
                        <a:latin typeface="Cambria Math"/>
                      </a:rPr>
                      <m:t>E</m:t>
                    </m:r>
                    <m:r>
                      <m:rPr>
                        <m:sty m:val="p"/>
                      </m:rPr>
                      <a:rPr lang="en-US" i="0" sz="1568">
                        <a:latin typeface="Cambria Math"/>
                      </a:rPr>
                      <m:t>=</m:t>
                    </m:r>
                    <m:r>
                      <m:rPr>
                        <m:sty m:val="p"/>
                      </m:rPr>
                      <a:rPr lang="en-US" i="0" sz="1568">
                        <a:latin typeface="Cambria Math"/>
                      </a:rPr>
                      <m:t>−</m:t>
                    </m:r>
                    <m:f>
                      <m:num>
                        <m:box>
                          <m:e>
                            <m:sSub>
                              <m:e>
                                <m:r>
                                  <m:rPr>
                                    <m:sty m:val="i"/>
                                  </m:rPr>
                                  <a:rPr lang="en-US" i="1" sz="1568">
                                    <a:latin typeface="Cambria Math"/>
                                  </a:rPr>
                                  <m:t>I</m:t>
                                </m:r>
                              </m:e>
                              <m:sub>
                                <m:r>
                                  <m:rPr>
                                    <m:sty m:val="p"/>
                                  </m:rPr>
                                  <a:rPr lang="en-US" i="0" sz="1568">
                                    <a:latin typeface="Cambria Math"/>
                                  </a:rPr>
                                  <m:t>0</m:t>
                                </m:r>
                              </m:sub>
                            </m:sSub>
                            <m:sSub>
                              <m:e>
                                <m:r>
                                  <m:rPr>
                                    <m:sty m:val="p"/>
                                  </m:rPr>
                                  <a:rPr lang="en-US" i="0" sz="1568">
                                    <a:latin typeface="Cambria Math"/>
                                  </a:rPr>
                                  <m:t>Φ</m:t>
                                </m:r>
                              </m:e>
                              <m:sub>
                                <m:r>
                                  <m:rPr>
                                    <m:sty m:val="p"/>
                                  </m:rPr>
                                  <a:rPr lang="en-US" i="0" sz="1568">
                                    <a:latin typeface="Cambria Math"/>
                                  </a:rPr>
                                  <m:t>0</m:t>
                                </m:r>
                              </m:sub>
                            </m:sSub>
                          </m:e>
                        </m:box>
                      </m:num>
                      <m:den>
                        <m:r>
                          <m:rPr>
                            <m:sty m:val="i"/>
                          </m:rPr>
                          <a:rPr lang="en-US" i="1" sz="1568">
                            <a:latin typeface="Cambria Math"/>
                          </a:rPr>
                          <m:t>π</m:t>
                        </m:r>
                      </m:den>
                    </m:f>
                    <m:r>
                      <m:rPr>
                        <m:sty m:val="p"/>
                      </m:rPr>
                      <a:rPr lang="en-US" i="0" sz="1568">
                        <a:latin typeface="Cambria Math"/>
                      </a:rPr>
                      <m:t>cos</m:t>
                    </m:r>
                    <m:r>
                      <m:rPr>
                        <m:sty m:val="p"/>
                      </m:rPr>
                      <a:rPr lang="en-US" i="0" sz="1568">
                        <a:latin typeface="Cambria Math"/>
                      </a:rPr>
                      <m:t/>
                    </m:r>
                    <m:box>
                      <m:e>
                        <m:d>
                          <m:dPr>
                            <m:begChr m:val="("/>
                            <m:endChr m:val=")"/>
                          </m:dPr>
                          <m:e>
                            <m:box>
                              <m:e>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r>
                                  <m:rPr>
                                    <m:sty m:val="i"/>
                                  </m:rPr>
                                  <a:rPr lang="en-US" i="1" sz="1568">
                                    <a:latin typeface="Cambria Math"/>
                                  </a:rPr>
                                  <m:t>π</m:t>
                                </m:r>
                              </m:e>
                            </m:box>
                          </m:e>
                        </m:d>
                      </m:e>
                    </m:box>
                    <m:r>
                      <m:rPr>
                        <m:sty m:val="p"/>
                      </m:rPr>
                      <a:rPr lang="en-US" i="0" sz="1568">
                        <a:latin typeface="Cambria Math"/>
                      </a:rPr>
                      <m:t>cos</m:t>
                    </m:r>
                    <m:r>
                      <m:rPr>
                        <m:sty m:val="p"/>
                      </m:rPr>
                      <a:rPr lang="en-US" i="0" sz="1568">
                        <a:latin typeface="Cambria Math"/>
                      </a:rPr>
                      <m:t/>
                    </m:r>
                    <m:box>
                      <m:e>
                        <m:d>
                          <m:dPr>
                            <m:begChr m:val="("/>
                            <m:endChr m:val=")"/>
                          </m:dPr>
                          <m:e>
                            <m:box>
                              <m:e>
                                <m:f>
                                  <m:num>
                                    <m:r>
                                      <m:rPr>
                                        <m:sty m:val="i"/>
                                      </m:rPr>
                                      <a:rPr lang="en-US" i="1" sz="1568">
                                        <a:latin typeface="Cambria Math"/>
                                      </a:rPr>
                                      <m:t>π</m:t>
                                    </m:r>
                                  </m:num>
                                  <m:den>
                                    <m:sSub>
                                      <m:e>
                                        <m:r>
                                          <m:rPr>
                                            <m:sty m:val="p"/>
                                          </m:rPr>
                                          <a:rPr lang="en-US" i="0" sz="1568">
                                            <a:latin typeface="Cambria Math"/>
                                          </a:rPr>
                                          <m:t>Φ</m:t>
                                        </m:r>
                                      </m:e>
                                      <m:sub>
                                        <m:r>
                                          <m:rPr>
                                            <m:sty m:val="p"/>
                                          </m:rPr>
                                          <a:rPr lang="en-US" i="0" sz="1568">
                                            <a:latin typeface="Cambria Math"/>
                                          </a:rPr>
                                          <m:t>0</m:t>
                                        </m:r>
                                      </m:sub>
                                    </m:sSub>
                                  </m:den>
                                </m:f>
                                <m:r>
                                  <m:rPr>
                                    <m:sty m:val="p"/>
                                  </m:rPr>
                                  <a:rPr lang="en-US" i="0" sz="1568">
                                    <a:latin typeface="Cambria Math"/>
                                  </a:rPr>
                                  <m:t>Φ</m:t>
                                </m:r>
                              </m:e>
                            </m:box>
                          </m:e>
                        </m:d>
                      </m:e>
                    </m:box>
                  </m:oMath>
                </a14:m>
              </mc:Choice>
              <mc:Fallback>
                <a:r>
                  <a:rPr lang="en-US" sz="1567" i="1"/>
                  <a:t>
                                    E = -\frac{I_0 \Phi_0}{\pi} \cos\left(\frac{\Phi_B}{\Phi_0} \pi\right)
                                    \cos\left(\frac{\pi}{\Phi_0} \Phi\right)
                                    </a:t>
                </a:r>
              </mc:Fallback>
            </mc:AlternateContent>
            <a:r>
              <a:rPr sz="1400" b="0" i="0">
                <a:solidFill>
                  <a:srgbClr val="4F4C56"/>
                </a:solidFill>
                <a:latin typeface="Montserrat"/>
                <a:ea typeface="Montserrat"/>
                <a:cs typeface="Montserrat"/>
              </a:rPr>
              <a:t> </a:t>
            </a:r>
          </a:p>
        </p:txBody>
      </p:sp>
      <p:sp>
        <p:nvSpPr>
          <p:cNvPr id="6" name="Rectangle 5"/>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8" name="TextBox 7"/>
          <p:cNvSpPr txBox="1"/>
          <p:nvPr/>
        </p:nvSpPr>
        <p:spPr>
          <a:xfrm>
            <a:off x="11228255" y="6565900"/>
            <a:ext cx="472678"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87 / 100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TextBox 4"/>
          <p:cNvSpPr txBox="1"/>
          <p:nvPr/>
        </p:nvSpPr>
        <p:spPr>
          <a:xfrm>
            <a:off x="575733" y="1075267"/>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Tunable Transmon</a:t>
            </a:r>
          </a:p>
        </p:txBody>
      </p:sp>
      <p:sp>
        <p:nvSpPr>
          <p:cNvPr id="6" name="TextBox 5"/>
          <p:cNvSpPr txBox="1"/>
          <p:nvPr/>
        </p:nvSpPr>
        <p:spPr>
          <a:xfrm>
            <a:off x="575733" y="1689894"/>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Frequency-tunable transmon</a:t>
            </a:r>
          </a:p>
        </p:txBody>
      </p:sp>
      <p:pic>
        <p:nvPicPr>
          <p:cNvPr id="7" name="A simple illustration of geometric shapes and symbols." descr="SQUID transmon.png">
            <a:hlinkClick r:id="rId3"/>
          </p:cNvPr>
          <p:cNvPicPr>
            <a:picLocks noChangeAspect="1"/>
          </p:cNvPicPr>
          <p:nvPr/>
        </p:nvPicPr>
        <p:blipFill>
          <a:blip r:embed="rId2"/>
          <a:stretch>
            <a:fillRect/>
          </a:stretch>
        </p:blipFill>
        <p:spPr>
          <a:xfrm>
            <a:off x="4495800" y="2066660"/>
            <a:ext cx="3200400" cy="2726267"/>
          </a:xfrm>
          <a:prstGeom prst="rect">
            <a:avLst/>
          </a:prstGeom>
        </p:spPr>
      </p:pic>
      <p:sp>
        <p:nvSpPr>
          <p:cNvPr id="8" name="TextBox 7"/>
          <p:cNvSpPr txBox="1"/>
          <p:nvPr/>
        </p:nvSpPr>
        <p:spPr>
          <a:xfrm>
            <a:off x="575733" y="4792927"/>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 ▲ A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L</m:t>
                    </m:r>
                    <m:r>
                      <m:rPr>
                        <m:sty m:val="i"/>
                      </m:rPr>
                      <a:rPr lang="en-US" i="1" sz="1665">
                        <a:latin typeface="Cambria Math"/>
                      </a:rPr>
                      <m:t>C</m:t>
                    </m:r>
                  </m:oMath>
                </a14:m>
              </mc:Choice>
              <mc:Fallback>
                <a:r>
                  <a:rPr lang="en-US" sz="1664" i="1"/>
                  <a:t>LC</a:t>
                </a:r>
              </mc:Fallback>
            </mc:AlternateContent>
            <a:r>
              <a:rPr sz="1400" b="0" i="0">
                <a:solidFill>
                  <a:srgbClr val="4F4C56"/>
                </a:solidFill>
                <a:latin typeface="Montserrat"/>
                <a:ea typeface="Montserrat"/>
                <a:cs typeface="Montserrat"/>
              </a:rPr>
              <a:t> circuit composed of two Josephson junctions, with tunable inductance. </a:t>
            </a:r>
          </a:p>
        </p:txBody>
      </p:sp>
      <p:sp>
        <p:nvSpPr>
          <p:cNvPr id="9" name="Rectangle 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1" name="TextBox 10"/>
          <p:cNvSpPr txBox="1"/>
          <p:nvPr/>
        </p:nvSpPr>
        <p:spPr>
          <a:xfrm>
            <a:off x="11223493" y="6565900"/>
            <a:ext cx="477441"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88 / 100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027576" y="324115"/>
            <a:ext cx="1673357"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Josephson Junction Loop</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Josephson Junction Loop (SQUID)</a:t>
            </a:r>
          </a:p>
        </p:txBody>
      </p:sp>
      <p:pic>
        <p:nvPicPr>
          <p:cNvPr id="6" name="svg-diagram" descr="el-x16.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575733" y="1520560"/>
            <a:ext cx="2671233" cy="1947333"/>
          </a:xfrm>
          <a:prstGeom prst="rect">
            <a:avLst/>
          </a:prstGeom>
        </p:spPr>
      </p:pic>
      <p:sp>
        <p:nvSpPr>
          <p:cNvPr id="7" name="TextBox 6"/>
          <p:cNvSpPr txBox="1"/>
          <p:nvPr/>
        </p:nvSpPr>
        <p:spPr>
          <a:xfrm>
            <a:off x="575733" y="3467894"/>
            <a:ext cx="2671233" cy="198041"/>
          </a:xfrm>
          <a:prstGeom prst="rect">
            <a:avLst/>
          </a:prstGeom>
          <a:noFill/>
        </p:spPr>
        <p:txBody>
          <a:bodyPr wrap="none" lIns="0" rIns="0" tIns="0" bIns="0" anchor="t">
            <a:noAutofit/>
          </a:bodyPr>
          <a:lstStyle/>
          <a:p>
            <a:pPr algn="ctr">
              <a:lnSpc>
                <a:spcPts val="1560"/>
              </a:lnSpc>
            </a:pPr>
            <a:r>
              <a:rPr sz="1090" b="0" i="1">
                <a:solidFill>
                  <a:srgbClr val="5F5865"/>
                </a:solidFill>
                <a:latin typeface="Montserrat"/>
                <a:ea typeface="Montserrat"/>
                <a:cs typeface="Montserrat"/>
              </a:rPr>
              <a:t>Transmon</a:t>
            </a:r>
          </a:p>
        </p:txBody>
      </p:sp>
      <p:pic>
        <p:nvPicPr>
          <p:cNvPr id="8" name="svg-diagram" descr="el-x17.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3365500" y="1520560"/>
            <a:ext cx="2671233" cy="1932252"/>
          </a:xfrm>
          <a:prstGeom prst="rect">
            <a:avLst/>
          </a:prstGeom>
        </p:spPr>
      </p:pic>
      <p:sp>
        <p:nvSpPr>
          <p:cNvPr id="9" name="TextBox 8"/>
          <p:cNvSpPr txBox="1"/>
          <p:nvPr/>
        </p:nvSpPr>
        <p:spPr>
          <a:xfrm>
            <a:off x="3365500" y="3452812"/>
            <a:ext cx="2671233" cy="198041"/>
          </a:xfrm>
          <a:prstGeom prst="rect">
            <a:avLst/>
          </a:prstGeom>
          <a:noFill/>
        </p:spPr>
        <p:txBody>
          <a:bodyPr wrap="none" lIns="0" rIns="0" tIns="0" bIns="0" anchor="t">
            <a:noAutofit/>
          </a:bodyPr>
          <a:lstStyle/>
          <a:p>
            <a:pPr algn="ctr">
              <a:lnSpc>
                <a:spcPts val="1560"/>
              </a:lnSpc>
            </a:pPr>
            <a:r>
              <a:rPr sz="1090" b="0" i="1">
                <a:solidFill>
                  <a:srgbClr val="5F5865"/>
                </a:solidFill>
                <a:latin typeface="Montserrat"/>
                <a:ea typeface="Montserrat"/>
                <a:cs typeface="Montserrat"/>
              </a:rPr>
              <a:t>Tunable transmon</a:t>
            </a:r>
          </a:p>
        </p:txBody>
      </p:sp>
      <p:pic>
        <p:nvPicPr>
          <p:cNvPr id="10" name="Superconducting ring interrupted by two junctions, threaded by flux Phi_B, with " descr="s27-squid-flux-loop.png"/>
          <p:cNvPicPr>
            <a:picLocks noChangeAspect="1"/>
          </p:cNvPicPr>
          <p:nvPr/>
        </p:nvPicPr>
        <p:blipFill>
          <a:blip r:embed="rId6"/>
          <a:stretch>
            <a:fillRect/>
          </a:stretch>
        </p:blipFill>
        <p:spPr>
          <a:xfrm>
            <a:off x="2281634" y="3818348"/>
            <a:ext cx="2049198" cy="1650973"/>
          </a:xfrm>
          <a:prstGeom prst="rect">
            <a:avLst/>
          </a:prstGeom>
        </p:spPr>
      </p:pic>
      <p:sp>
        <p:nvSpPr>
          <p:cNvPr id="11" name="TextBox 10"/>
          <p:cNvSpPr txBox="1"/>
          <p:nvPr/>
        </p:nvSpPr>
        <p:spPr>
          <a:xfrm>
            <a:off x="575733" y="5528601"/>
            <a:ext cx="5461000" cy="372798"/>
          </a:xfrm>
          <a:prstGeom prst="rect">
            <a:avLst/>
          </a:prstGeom>
          <a:noFill/>
        </p:spPr>
        <p:txBody>
          <a:bodyPr wrap="square" lIns="0" rIns="0" tIns="0" bIns="0" anchor="t">
            <a:noAutofit/>
          </a:bodyPr>
          <a:lstStyle/>
          <a:p>
            <a:pPr algn="l">
              <a:lnSpc>
                <a:spcPts val="1380"/>
              </a:lnSpc>
            </a:pPr>
            <a:r>
              <a:rPr sz="1080" b="1" i="0">
                <a:solidFill>
                  <a:srgbClr val="302840"/>
                </a:solidFill>
                <a:latin typeface="Montserrat"/>
                <a:ea typeface="Montserrat"/>
                <a:cs typeface="Montserrat"/>
              </a:rPr>
              <a:t>Two junctions in a loop.</a:t>
            </a:r>
            <a:r>
              <a:rPr sz="1080" b="0" i="0">
                <a:solidFill>
                  <a:srgbClr val="5F5865"/>
                </a:solidFill>
                <a:latin typeface="Montserrat"/>
                <a:ea typeface="Montserrat"/>
                <a:cs typeface="Montserrat"/>
              </a:rPr>
              <a:t> Integrating the phase gradient around the ring </a:t>
            </a:r>
            <mc:AlternateContent xmlns:mc="http://schemas.openxmlformats.org/markup-compatibility/2006">
              <mc:Choice xmlns:a14="http://schemas.microsoft.com/office/drawing/2010/main" Requires="a14">
                <a14:m>
                  <m:oMath xmlns:m="http://schemas.openxmlformats.org/officeDocument/2006/math">
                    <m:r>
                      <m:rPr>
                        <m:sty m:val="p"/>
                      </m:rPr>
                      <a:rPr lang="en-US" i="0" sz="1282">
                        <a:latin typeface="Cambria Math"/>
                      </a:rPr>
                      <m:t>∮</m:t>
                    </m:r>
                    <m:r>
                      <m:rPr>
                        <m:sty m:val="i"/>
                      </m:rPr>
                      <a:rPr lang="en-US" i="1" sz="1282">
                        <a:latin typeface="Cambria Math"/>
                      </a:rPr>
                      <m:t>d</m:t>
                    </m:r>
                    <m:r>
                      <m:rPr>
                        <m:sty m:val="i"/>
                      </m:rPr>
                      <a:rPr lang="en-US" i="1" sz="1282">
                        <a:latin typeface="Cambria Math"/>
                      </a:rPr>
                      <m:t>l</m:t>
                    </m:r>
                  </m:oMath>
                </a14:m>
              </mc:Choice>
              <mc:Fallback>
                <a:r>
                  <a:rPr lang="en-US" sz="1281" i="1"/>
                  <a:t>\oint dl</a:t>
                </a:r>
              </mc:Fallback>
            </mc:AlternateContent>
            <a:r>
              <a:rPr sz="1080" b="0" i="0">
                <a:solidFill>
                  <a:srgbClr val="5F5865"/>
                </a:solidFill>
                <a:latin typeface="Montserrat"/>
                <a:ea typeface="Montserrat"/>
                <a:cs typeface="Montserrat"/>
              </a:rPr>
              <a:t> links the two junction phases to the enclosed flux </a:t>
            </a:r>
            <mc:AlternateContent xmlns:mc="http://schemas.openxmlformats.org/markup-compatibility/2006">
              <mc:Choice xmlns:a14="http://schemas.microsoft.com/office/drawing/2010/main" Requires="a14">
                <a14:m>
                  <m:oMath xmlns:m="http://schemas.openxmlformats.org/officeDocument/2006/math">
                    <m:sSub>
                      <m:e>
                        <m:r>
                          <m:rPr>
                            <m:sty m:val="p"/>
                          </m:rPr>
                          <a:rPr lang="en-US" i="0" sz="1282">
                            <a:latin typeface="Cambria Math"/>
                          </a:rPr>
                          <m:t>Φ</m:t>
                        </m:r>
                      </m:e>
                      <m:sub>
                        <m:r>
                          <m:rPr>
                            <m:sty m:val="i"/>
                          </m:rPr>
                          <a:rPr lang="en-US" i="1" sz="1282">
                            <a:latin typeface="Cambria Math"/>
                          </a:rPr>
                          <m:t>B</m:t>
                        </m:r>
                      </m:sub>
                    </m:sSub>
                  </m:oMath>
                </a14:m>
              </mc:Choice>
              <mc:Fallback>
                <a:r>
                  <a:rPr lang="en-US" sz="1281" i="1"/>
                  <a:t>\Phi_B</a:t>
                </a:r>
              </mc:Fallback>
            </mc:AlternateContent>
            <a:r>
              <a:rPr sz="1080" b="0" i="0">
                <a:solidFill>
                  <a:srgbClr val="5F5865"/>
                </a:solidFill>
                <a:latin typeface="Montserrat"/>
                <a:ea typeface="Montserrat"/>
                <a:cs typeface="Montserrat"/>
              </a:rPr>
              <a:t>. Ref. [15] </a:t>
            </a:r>
          </a:p>
        </p:txBody>
      </p:sp>
      <p:sp>
        <p:nvSpPr>
          <p:cNvPr id="12" name="Rounded Rectangle 11"/>
          <p:cNvSpPr/>
          <p:nvPr/>
        </p:nvSpPr>
        <p:spPr>
          <a:xfrm>
            <a:off x="6155267" y="1605227"/>
            <a:ext cx="2671233" cy="880136"/>
          </a:xfrm>
          <a:prstGeom prst="roundRect">
            <a:avLst>
              <a:gd name="adj" fmla="val 5771"/>
            </a:avLst>
          </a:prstGeom>
          <a:solidFill>
            <a:srgbClr val="F0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155267" y="1605227"/>
            <a:ext cx="33867" cy="880136"/>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quation"/>
          <p:cNvSpPr txBox="1"/>
          <p:nvPr/>
        </p:nvSpPr>
        <p:spPr>
          <a:xfrm>
            <a:off x="6307667" y="1842294"/>
            <a:ext cx="2400300" cy="406003"/>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568">
                          <a:latin typeface="Cambria Math"/>
                        </a:rPr>
                        <m:t>Δ</m:t>
                      </m:r>
                      <m:box>
                        <m:e>
                          <m:limUpp>
                            <m:e>
                              <m:r>
                                <m:rPr>
                                  <m:sty m:val="i"/>
                                </m:rPr>
                                <a:rPr lang="en-US" i="1" sz="1568">
                                  <a:latin typeface="Cambria Math"/>
                                </a:rPr>
                                <m:t>θ</m:t>
                              </m:r>
                            </m:e>
                            <m:lim>
                              <m:r>
                                <m:rPr>
                                  <m:sty m:val="p"/>
                                </m:rPr>
                                <a:rPr lang="en-US" i="0" sz="1568">
                                  <a:latin typeface="Cambria Math"/>
                                </a:rPr>
                                <m:t>˙</m:t>
                              </m:r>
                            </m:lim>
                          </m:limUpp>
                        </m:e>
                      </m:box>
                      <m:r>
                        <m:rPr>
                          <m:sty m:val="p"/>
                        </m:rPr>
                        <a:rPr lang="en-US" i="0" sz="1568">
                          <a:latin typeface="Cambria Math"/>
                        </a:rPr>
                        <m:t>=</m:t>
                      </m:r>
                      <m:f>
                        <m:num>
                          <m:box>
                            <m:e>
                              <m:r>
                                <m:rPr>
                                  <m:sty m:val="p"/>
                                </m:rPr>
                                <a:rPr lang="en-US" i="0" sz="1568">
                                  <a:latin typeface="Cambria Math"/>
                                </a:rPr>
                                <m:t>2</m:t>
                              </m:r>
                              <m:r>
                                <m:rPr>
                                  <m:sty m:val="i"/>
                                </m:rPr>
                                <a:rPr lang="en-US" i="1" sz="1568">
                                  <a:latin typeface="Cambria Math"/>
                                </a:rPr>
                                <m:t>e</m:t>
                              </m:r>
                            </m:e>
                          </m:box>
                        </m:num>
                        <m:den>
                          <m:r>
                            <m:rPr>
                              <m:sty m:val="i"/>
                            </m:rPr>
                            <a:rPr lang="en-US" i="1" sz="1568">
                              <a:latin typeface="Cambria Math"/>
                            </a:rPr>
                            <m:t>ℏ</m:t>
                          </m:r>
                        </m:den>
                      </m:f>
                      <m:r>
                        <m:rPr>
                          <m:sty m:val="i"/>
                        </m:rPr>
                        <a:rPr lang="en-US" i="1" sz="1568">
                          <a:latin typeface="Cambria Math"/>
                        </a:rPr>
                        <m:t>V</m:t>
                      </m:r>
                    </m:oMath>
                  </m:oMathPara>
                </a14:m>
              </mc:Choice>
              <mc:Fallback>
                <a:r>
                  <a:rPr lang="en-US" sz="1567" i="1"/>
                  <a:t>\Delta\dot\theta=\frac{2e}{\hbar}V</a:t>
                </a:r>
              </mc:Fallback>
            </mc:AlternateContent>
          </a:p>
        </p:txBody>
      </p:sp>
      <p:sp>
        <p:nvSpPr>
          <p:cNvPr id="15" name="Rounded Rectangle 14"/>
          <p:cNvSpPr/>
          <p:nvPr/>
        </p:nvSpPr>
        <p:spPr>
          <a:xfrm>
            <a:off x="8945033" y="1605227"/>
            <a:ext cx="2671233" cy="673100"/>
          </a:xfrm>
          <a:prstGeom prst="roundRect">
            <a:avLst>
              <a:gd name="adj" fmla="val 7547"/>
            </a:avLst>
          </a:prstGeom>
          <a:solidFill>
            <a:srgbClr val="F0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945033" y="1605227"/>
            <a:ext cx="33867" cy="673100"/>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quation"/>
          <p:cNvSpPr txBox="1"/>
          <p:nvPr/>
        </p:nvSpPr>
        <p:spPr>
          <a:xfrm>
            <a:off x="9097433" y="1842294"/>
            <a:ext cx="2400300" cy="198967"/>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568">
                          <a:latin typeface="Cambria Math"/>
                        </a:rPr>
                        <m:t>I</m:t>
                      </m:r>
                      <m:r>
                        <m:rPr>
                          <m:sty m:val="p"/>
                        </m:rPr>
                        <a:rPr lang="en-US" i="0" sz="1568">
                          <a:latin typeface="Cambria Math"/>
                        </a:rPr>
                        <m:t>=</m:t>
                      </m:r>
                      <m:sSub>
                        <m:e>
                          <m:r>
                            <m:rPr>
                              <m:sty m:val="i"/>
                            </m:rPr>
                            <a:rPr lang="en-US" i="1" sz="1568">
                              <a:latin typeface="Cambria Math"/>
                            </a:rPr>
                            <m:t>I</m:t>
                          </m:r>
                        </m:e>
                        <m:sub>
                          <m:r>
                            <m:rPr>
                              <m:sty m:val="i"/>
                            </m:rPr>
                            <a:rPr lang="en-US" i="1" sz="1568">
                              <a:latin typeface="Cambria Math"/>
                            </a:rPr>
                            <m:t>c</m:t>
                          </m:r>
                        </m:sub>
                      </m:sSub>
                      <m:r>
                        <m:rPr>
                          <m:sty m:val="p"/>
                        </m:rPr>
                        <a:rPr lang="en-US" i="0" sz="1568">
                          <a:latin typeface="Cambria Math"/>
                        </a:rPr>
                        <m:t>sin</m:t>
                      </m:r>
                      <m:r>
                        <m:rPr>
                          <m:sty m:val="p"/>
                        </m:rPr>
                        <a:rPr lang="en-US" i="0" sz="1568">
                          <a:latin typeface="Cambria Math"/>
                        </a:rPr>
                        <m:t/>
                      </m:r>
                      <m:r>
                        <m:rPr>
                          <m:sty m:val="p"/>
                        </m:rPr>
                        <a:rPr lang="en-US" i="0" sz="1568">
                          <a:latin typeface="Cambria Math"/>
                        </a:rPr>
                        <m:t>(</m:t>
                      </m:r>
                      <m:r>
                        <m:rPr>
                          <m:sty m:val="p"/>
                        </m:rPr>
                        <a:rPr lang="en-US" i="0" sz="1568">
                          <a:latin typeface="Cambria Math"/>
                        </a:rPr>
                        <m:t>Δ</m:t>
                      </m:r>
                      <m:r>
                        <m:rPr>
                          <m:sty m:val="i"/>
                        </m:rPr>
                        <a:rPr lang="en-US" i="1" sz="1568">
                          <a:latin typeface="Cambria Math"/>
                        </a:rPr>
                        <m:t>θ</m:t>
                      </m:r>
                      <m:r>
                        <m:rPr>
                          <m:sty m:val="p"/>
                        </m:rPr>
                        <a:rPr lang="en-US" i="0" sz="1568">
                          <a:latin typeface="Cambria Math"/>
                        </a:rPr>
                        <m:t>)</m:t>
                      </m:r>
                    </m:oMath>
                  </m:oMathPara>
                </a14:m>
              </mc:Choice>
              <mc:Fallback>
                <a:r>
                  <a:rPr lang="en-US" sz="1567" i="1"/>
                  <a:t>I=I_c\sin(\Delta\theta)</a:t>
                </a:r>
              </mc:Fallback>
            </mc:AlternateContent>
          </a:p>
        </p:txBody>
      </p:sp>
      <p:sp>
        <p:nvSpPr>
          <p:cNvPr id="18" name="equation"/>
          <p:cNvSpPr txBox="1"/>
          <p:nvPr/>
        </p:nvSpPr>
        <p:spPr>
          <a:xfrm>
            <a:off x="6155267" y="2722430"/>
            <a:ext cx="5461000" cy="517525"/>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limUpp>
                            <m:e>
                              <m:r>
                                <m:rPr>
                                  <m:sty m:val="i"/>
                                </m:rPr>
                                <a:rPr lang="en-US" i="1" sz="1568">
                                  <a:latin typeface="Cambria Math"/>
                                </a:rPr>
                                <m:t>I</m:t>
                              </m:r>
                            </m:e>
                            <m:lim>
                              <m:r>
                                <m:rPr>
                                  <m:sty m:val="p"/>
                                </m:rPr>
                                <a:rPr lang="en-US" i="0" sz="1568">
                                  <a:latin typeface="Cambria Math"/>
                                </a:rPr>
                                <m:t>˙</m:t>
                              </m:r>
                            </m:lim>
                          </m:limUpp>
                        </m:e>
                      </m:box>
                      <m:r>
                        <m:rPr>
                          <m:sty m:val="p"/>
                        </m:rPr>
                        <a:rPr lang="en-US" i="0" sz="1568">
                          <a:latin typeface="Cambria Math"/>
                        </a:rPr>
                        <m:t>=</m:t>
                      </m:r>
                      <m:sSub>
                        <m:e>
                          <m:r>
                            <m:rPr>
                              <m:sty m:val="i"/>
                            </m:rPr>
                            <a:rPr lang="en-US" i="1" sz="1568">
                              <a:latin typeface="Cambria Math"/>
                            </a:rPr>
                            <m:t>I</m:t>
                          </m:r>
                        </m:e>
                        <m:sub>
                          <m:r>
                            <m:rPr>
                              <m:sty m:val="i"/>
                            </m:rPr>
                            <a:rPr lang="en-US" i="1" sz="1568">
                              <a:latin typeface="Cambria Math"/>
                            </a:rPr>
                            <m:t>c</m:t>
                          </m:r>
                        </m:sub>
                      </m:sSub>
                      <m:r>
                        <m:rPr>
                          <m:sty m:val="p"/>
                        </m:rPr>
                        <a:rPr lang="en-US" i="0" sz="1568">
                          <a:latin typeface="Cambria Math"/>
                        </a:rPr>
                        <m:t>cos</m:t>
                      </m:r>
                      <m:r>
                        <m:rPr>
                          <m:sty m:val="p"/>
                        </m:rPr>
                        <a:rPr lang="en-US" i="0" sz="1568">
                          <a:latin typeface="Cambria Math"/>
                        </a:rPr>
                        <m:t/>
                      </m:r>
                      <m:r>
                        <m:rPr>
                          <m:sty m:val="p"/>
                        </m:rPr>
                        <a:rPr lang="en-US" i="0" sz="1568">
                          <a:latin typeface="Cambria Math"/>
                        </a:rPr>
                        <m:t>(</m:t>
                      </m:r>
                      <m:r>
                        <m:rPr>
                          <m:sty m:val="p"/>
                        </m:rPr>
                        <a:rPr lang="en-US" i="0" sz="1568">
                          <a:latin typeface="Cambria Math"/>
                        </a:rPr>
                        <m:t>Δ</m:t>
                      </m:r>
                      <m:r>
                        <m:rPr>
                          <m:sty m:val="i"/>
                        </m:rPr>
                        <a:rPr lang="en-US" i="1" sz="1568">
                          <a:latin typeface="Cambria Math"/>
                        </a:rPr>
                        <m:t>θ</m:t>
                      </m:r>
                      <m:r>
                        <m:rPr>
                          <m:sty m:val="p"/>
                        </m:rPr>
                        <a:rPr lang="en-US" i="0" sz="1568">
                          <a:latin typeface="Cambria Math"/>
                        </a:rPr>
                        <m:t>)</m:t>
                      </m:r>
                      <m:box>
                        <m:e>
                          <m:r>
                            <a:rPr lang="en-US" i="1" sz="1568">
                              <a:latin typeface="Cambria Math"/>
                            </a:rPr>
                            <m:t/>
                          </m:r>
                        </m:e>
                      </m:box>
                      <m:f>
                        <m:num>
                          <m:box>
                            <m:e>
                              <m:r>
                                <m:rPr>
                                  <m:sty m:val="p"/>
                                </m:rPr>
                                <a:rPr lang="en-US" i="0" sz="1568">
                                  <a:latin typeface="Cambria Math"/>
                                </a:rPr>
                                <m:t>2</m:t>
                              </m:r>
                              <m:r>
                                <m:rPr>
                                  <m:sty m:val="i"/>
                                </m:rPr>
                                <a:rPr lang="en-US" i="1" sz="1568">
                                  <a:latin typeface="Cambria Math"/>
                                </a:rPr>
                                <m:t>e</m:t>
                              </m:r>
                            </m:e>
                          </m:box>
                        </m:num>
                        <m:den>
                          <m:r>
                            <m:rPr>
                              <m:sty m:val="i"/>
                            </m:rPr>
                            <a:rPr lang="en-US" i="1" sz="1568">
                              <a:latin typeface="Cambria Math"/>
                            </a:rPr>
                            <m:t>ℏ</m:t>
                          </m:r>
                        </m:den>
                      </m:f>
                      <m:r>
                        <m:rPr>
                          <m:sty m:val="i"/>
                        </m:rPr>
                        <a:rPr lang="en-US" i="1" sz="1568">
                          <a:latin typeface="Cambria Math"/>
                        </a:rPr>
                        <m:t>V</m:t>
                      </m:r>
                      <m:r>
                        <m:rPr>
                          <m:sty m:val="p"/>
                        </m:rPr>
                        <a:rPr lang="en-US" i="0" sz="1568">
                          <a:latin typeface="Cambria Math"/>
                        </a:rPr>
                        <m:t>,</m:t>
                      </m:r>
                      <m:box>
                        <m:e>
                          <m:r>
                            <a:rPr lang="en-US" i="1" sz="1568">
                              <a:latin typeface="Cambria Math"/>
                            </a:rPr>
                            <m:t/>
                          </m:r>
                        </m:e>
                      </m:box>
                      <m:r>
                        <m:rPr>
                          <m:sty m:val="i"/>
                        </m:rPr>
                        <a:rPr lang="en-US" i="1" sz="1568">
                          <a:latin typeface="Cambria Math"/>
                        </a:rPr>
                        <m:t>V</m:t>
                      </m:r>
                      <m:r>
                        <m:rPr>
                          <m:sty m:val="p"/>
                        </m:rPr>
                        <a:rPr lang="en-US" i="0" sz="1568">
                          <a:latin typeface="Cambria Math"/>
                        </a:rPr>
                        <m:t>=</m:t>
                      </m:r>
                      <m:f>
                        <m:num>
                          <m:r>
                            <m:rPr>
                              <m:sty m:val="i"/>
                            </m:rPr>
                            <a:rPr lang="en-US" i="1" sz="1568">
                              <a:latin typeface="Cambria Math"/>
                            </a:rPr>
                            <m:t>ℏ</m:t>
                          </m:r>
                        </m:num>
                        <m:den>
                          <m:box>
                            <m:e>
                              <m:r>
                                <m:rPr>
                                  <m:sty m:val="p"/>
                                </m:rPr>
                                <a:rPr lang="en-US" i="0" sz="1568">
                                  <a:latin typeface="Cambria Math"/>
                                </a:rPr>
                                <m:t>2</m:t>
                              </m:r>
                              <m:r>
                                <m:rPr>
                                  <m:sty m:val="i"/>
                                </m:rPr>
                                <a:rPr lang="en-US" i="1" sz="1568">
                                  <a:latin typeface="Cambria Math"/>
                                </a:rPr>
                                <m:t>e</m:t>
                              </m:r>
                            </m:e>
                          </m:box>
                        </m:den>
                      </m:f>
                      <m:f>
                        <m:num>
                          <m:r>
                            <m:rPr>
                              <m:sty m:val="p"/>
                            </m:rPr>
                            <a:rPr lang="en-US" i="0" sz="1568">
                              <a:latin typeface="Cambria Math"/>
                            </a:rPr>
                            <m:t>1</m:t>
                          </m:r>
                        </m:num>
                        <m:den>
                          <m:rad>
                            <m:radPr>
                              <m:degHide m:val="1"/>
                            </m:radPr>
                            <m:deg/>
                            <m:e>
                              <m:box>
                                <m:e>
                                  <m:sSubSup>
                                    <m:e>
                                      <m:r>
                                        <m:rPr>
                                          <m:sty m:val="i"/>
                                        </m:rPr>
                                        <a:rPr lang="en-US" i="1" sz="1568">
                                          <a:latin typeface="Cambria Math"/>
                                        </a:rPr>
                                        <m:t>I</m:t>
                                      </m:r>
                                    </m:e>
                                    <m:sub>
                                      <m:r>
                                        <m:rPr>
                                          <m:sty m:val="i"/>
                                        </m:rPr>
                                        <a:rPr lang="en-US" i="1" sz="1568">
                                          <a:latin typeface="Cambria Math"/>
                                        </a:rPr>
                                        <m:t>c</m:t>
                                      </m:r>
                                    </m:sub>
                                    <m:sup>
                                      <m:r>
                                        <m:rPr>
                                          <m:sty m:val="p"/>
                                        </m:rPr>
                                        <a:rPr lang="en-US" i="0" sz="1568">
                                          <a:latin typeface="Cambria Math"/>
                                        </a:rPr>
                                        <m:t>2</m:t>
                                      </m:r>
                                    </m:sup>
                                  </m:sSubSup>
                                  <m:r>
                                    <m:rPr>
                                      <m:sty m:val="p"/>
                                    </m:rPr>
                                    <a:rPr lang="en-US" i="0" sz="1568">
                                      <a:latin typeface="Cambria Math"/>
                                    </a:rPr>
                                    <m:t>−</m:t>
                                  </m:r>
                                  <m:sSup>
                                    <m:e>
                                      <m:r>
                                        <m:rPr>
                                          <m:sty m:val="i"/>
                                        </m:rPr>
                                        <a:rPr lang="en-US" i="1" sz="1568">
                                          <a:latin typeface="Cambria Math"/>
                                        </a:rPr>
                                        <m:t>I</m:t>
                                      </m:r>
                                    </m:e>
                                    <m:sup>
                                      <m:r>
                                        <m:rPr>
                                          <m:sty m:val="p"/>
                                        </m:rPr>
                                        <a:rPr lang="en-US" i="0" sz="1568">
                                          <a:latin typeface="Cambria Math"/>
                                        </a:rPr>
                                        <m:t>2</m:t>
                                      </m:r>
                                    </m:sup>
                                  </m:sSup>
                                </m:e>
                              </m:box>
                            </m:e>
                          </m:rad>
                        </m:den>
                      </m:f>
                      <m:box>
                        <m:e>
                          <m:r>
                            <a:rPr lang="en-US" i="1" sz="1568">
                              <a:latin typeface="Cambria Math"/>
                            </a:rPr>
                            <m:t/>
                          </m:r>
                        </m:e>
                      </m:box>
                      <m:box>
                        <m:e>
                          <m:limUpp>
                            <m:e>
                              <m:r>
                                <m:rPr>
                                  <m:sty m:val="i"/>
                                </m:rPr>
                                <a:rPr lang="en-US" i="1" sz="1568">
                                  <a:latin typeface="Cambria Math"/>
                                </a:rPr>
                                <m:t>I</m:t>
                              </m:r>
                            </m:e>
                            <m:lim>
                              <m:r>
                                <m:rPr>
                                  <m:sty m:val="p"/>
                                </m:rPr>
                                <a:rPr lang="en-US" i="0" sz="1568">
                                  <a:latin typeface="Cambria Math"/>
                                </a:rPr>
                                <m:t>˙</m:t>
                              </m:r>
                            </m:lim>
                          </m:limUpp>
                        </m:e>
                      </m:box>
                      <m:r>
                        <m:rPr>
                          <m:sty m:val="p"/>
                        </m:rPr>
                        <a:rPr lang="en-US" i="0" sz="1568">
                          <a:latin typeface="Cambria Math"/>
                        </a:rPr>
                        <m:t>≡</m:t>
                      </m:r>
                      <m:sSub>
                        <m:e>
                          <m:r>
                            <m:rPr>
                              <m:sty m:val="i"/>
                            </m:rPr>
                            <a:rPr lang="en-US" i="1" sz="1568">
                              <a:latin typeface="Cambria Math"/>
                            </a:rPr>
                            <m:t>L</m:t>
                          </m:r>
                        </m:e>
                        <m:sub>
                          <m:r>
                            <m:rPr>
                              <m:sty m:val="i"/>
                            </m:rPr>
                            <a:rPr lang="en-US" i="1" sz="1568">
                              <a:latin typeface="Cambria Math"/>
                            </a:rPr>
                            <m:t>J</m:t>
                          </m:r>
                        </m:sub>
                      </m:sSub>
                      <m:r>
                        <m:rPr>
                          <m:sty m:val="p"/>
                        </m:rPr>
                        <a:rPr lang="en-US" i="0" sz="1568">
                          <a:latin typeface="Cambria Math"/>
                        </a:rPr>
                        <m:t>(</m:t>
                      </m:r>
                      <m:r>
                        <m:rPr>
                          <m:sty m:val="i"/>
                        </m:rPr>
                        <a:rPr lang="en-US" i="1" sz="1568">
                          <a:latin typeface="Cambria Math"/>
                        </a:rPr>
                        <m:t>I</m:t>
                      </m:r>
                      <m:r>
                        <m:rPr>
                          <m:sty m:val="p"/>
                        </m:rPr>
                        <a:rPr lang="en-US" i="0" sz="1568">
                          <a:latin typeface="Cambria Math"/>
                        </a:rPr>
                        <m:t>)</m:t>
                      </m:r>
                      <m:box>
                        <m:e>
                          <m:r>
                            <a:rPr lang="en-US" i="1" sz="1568">
                              <a:latin typeface="Cambria Math"/>
                            </a:rPr>
                            <m:t/>
                          </m:r>
                        </m:e>
                      </m:box>
                      <m:box>
                        <m:e>
                          <m:limUpp>
                            <m:e>
                              <m:r>
                                <m:rPr>
                                  <m:sty m:val="i"/>
                                </m:rPr>
                                <a:rPr lang="en-US" i="1" sz="1568">
                                  <a:latin typeface="Cambria Math"/>
                                </a:rPr>
                                <m:t>I</m:t>
                              </m:r>
                            </m:e>
                            <m:lim>
                              <m:r>
                                <m:rPr>
                                  <m:sty m:val="p"/>
                                </m:rPr>
                                <a:rPr lang="en-US" i="0" sz="1568">
                                  <a:latin typeface="Cambria Math"/>
                                </a:rPr>
                                <m:t>˙</m:t>
                              </m:r>
                            </m:lim>
                          </m:limUpp>
                        </m:e>
                      </m:box>
                    </m:oMath>
                  </m:oMathPara>
                </a14:m>
              </mc:Choice>
              <mc:Fallback>
                <a:r>
                  <a:rPr lang="en-US" sz="1567" i="1"/>
                  <a:t>\dot I=I_c\cos(\Delta\theta)\,\frac{2e}{\hbar}V,\qquad
                    V=\frac{\hbar}{2e}\frac{1}{\sqrt{I_c^2-I^2}}\,\dot I\equiv L_J(I)\,\dot I</a:t>
                </a:r>
              </mc:Fallback>
            </mc:AlternateContent>
          </a:p>
        </p:txBody>
      </p:sp>
      <p:sp>
        <p:nvSpPr>
          <p:cNvPr id="19" name="equation"/>
          <p:cNvSpPr txBox="1"/>
          <p:nvPr/>
        </p:nvSpPr>
        <p:spPr>
          <a:xfrm>
            <a:off x="6155267" y="3392355"/>
            <a:ext cx="5461000" cy="511704"/>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568">
                          <a:latin typeface="Cambria Math"/>
                        </a:rPr>
                        <m:t>ω</m:t>
                      </m:r>
                      <m:r>
                        <m:rPr>
                          <m:sty m:val="p"/>
                        </m:rPr>
                        <a:rPr lang="en-US" i="0" sz="1568">
                          <a:latin typeface="Cambria Math"/>
                        </a:rPr>
                        <m:t>=</m:t>
                      </m:r>
                      <m:f>
                        <m:num>
                          <m:r>
                            <m:rPr>
                              <m:sty m:val="p"/>
                            </m:rPr>
                            <a:rPr lang="en-US" i="0" sz="1568">
                              <a:latin typeface="Cambria Math"/>
                            </a:rPr>
                            <m:t>1</m:t>
                          </m:r>
                        </m:num>
                        <m:den>
                          <m:rad>
                            <m:radPr>
                              <m:degHide m:val="1"/>
                            </m:radPr>
                            <m:deg/>
                            <m:e>
                              <m:box>
                                <m:e>
                                  <m:sSub>
                                    <m:e>
                                      <m:r>
                                        <m:rPr>
                                          <m:sty m:val="i"/>
                                        </m:rPr>
                                        <a:rPr lang="en-US" i="1" sz="1568">
                                          <a:latin typeface="Cambria Math"/>
                                        </a:rPr>
                                        <m:t>L</m:t>
                                      </m:r>
                                    </m:e>
                                    <m:sub>
                                      <m:r>
                                        <m:rPr>
                                          <m:sty m:val="i"/>
                                        </m:rPr>
                                        <a:rPr lang="en-US" i="1" sz="1568">
                                          <a:latin typeface="Cambria Math"/>
                                        </a:rPr>
                                        <m:t>J</m:t>
                                      </m:r>
                                    </m:sub>
                                  </m:sSub>
                                  <m:r>
                                    <m:rPr>
                                      <m:sty m:val="i"/>
                                    </m:rPr>
                                    <a:rPr lang="en-US" i="1" sz="1568">
                                      <a:latin typeface="Cambria Math"/>
                                    </a:rPr>
                                    <m:t>C</m:t>
                                  </m:r>
                                </m:e>
                              </m:box>
                            </m:e>
                          </m:rad>
                        </m:den>
                      </m:f>
                      <m:r>
                        <m:rPr>
                          <m:sty m:val="p"/>
                        </m:rPr>
                        <a:rPr lang="en-US" i="0" sz="1568">
                          <a:latin typeface="Cambria Math"/>
                        </a:rPr>
                        <m:t>∝</m:t>
                      </m:r>
                      <m:rad>
                        <m:deg>
                          <m:r>
                            <m:rPr>
                              <m:sty m:val="p"/>
                            </m:rPr>
                            <a:rPr lang="en-US" i="0" sz="1568">
                              <a:latin typeface="Cambria Math"/>
                            </a:rPr>
                            <m:t>4</m:t>
                          </m:r>
                        </m:deg>
                        <m:e>
                          <m:box>
                            <m:e>
                              <m:sSubSup>
                                <m:e>
                                  <m:r>
                                    <m:rPr>
                                      <m:sty m:val="i"/>
                                    </m:rPr>
                                    <a:rPr lang="en-US" i="1" sz="1568">
                                      <a:latin typeface="Cambria Math"/>
                                    </a:rPr>
                                    <m:t>I</m:t>
                                  </m:r>
                                </m:e>
                                <m:sub>
                                  <m:r>
                                    <m:rPr>
                                      <m:sty m:val="i"/>
                                    </m:rPr>
                                    <a:rPr lang="en-US" i="1" sz="1568">
                                      <a:latin typeface="Cambria Math"/>
                                    </a:rPr>
                                    <m:t>c</m:t>
                                  </m:r>
                                </m:sub>
                                <m:sup>
                                  <m:r>
                                    <m:rPr>
                                      <m:sty m:val="p"/>
                                    </m:rPr>
                                    <a:rPr lang="en-US" i="0" sz="1568">
                                      <a:latin typeface="Cambria Math"/>
                                    </a:rPr>
                                    <m:t>2</m:t>
                                  </m:r>
                                </m:sup>
                              </m:sSubSup>
                              <m:r>
                                <m:rPr>
                                  <m:sty m:val="p"/>
                                </m:rPr>
                                <a:rPr lang="en-US" i="0" sz="1568">
                                  <a:latin typeface="Cambria Math"/>
                                </a:rPr>
                                <m:t>−</m:t>
                              </m:r>
                              <m:sSup>
                                <m:e>
                                  <m:r>
                                    <m:rPr>
                                      <m:sty m:val="i"/>
                                    </m:rPr>
                                    <a:rPr lang="en-US" i="1" sz="1568">
                                      <a:latin typeface="Cambria Math"/>
                                    </a:rPr>
                                    <m:t>I</m:t>
                                  </m:r>
                                </m:e>
                                <m:sup>
                                  <m:r>
                                    <m:rPr>
                                      <m:sty m:val="p"/>
                                    </m:rPr>
                                    <a:rPr lang="en-US" i="0" sz="1568">
                                      <a:latin typeface="Cambria Math"/>
                                    </a:rPr>
                                    <m:t>2</m:t>
                                  </m:r>
                                </m:sup>
                              </m:sSup>
                            </m:e>
                          </m:box>
                        </m:e>
                      </m:rad>
                      <m:r>
                        <m:rPr>
                          <m:sty m:val="p"/>
                        </m:rPr>
                        <a:rPr lang="en-US" i="0" sz="1568">
                          <a:latin typeface="Cambria Math"/>
                        </a:rPr>
                        <m:t>∝</m:t>
                      </m:r>
                      <m:rad>
                        <m:radPr>
                          <m:degHide m:val="1"/>
                        </m:radPr>
                        <m:deg/>
                        <m:e>
                          <m:box>
                            <m:e>
                              <m:r>
                                <m:rPr>
                                  <m:sty m:val="p"/>
                                </m:rPr>
                                <a:rPr lang="en-US" i="0" sz="1568">
                                  <a:latin typeface="Cambria Math"/>
                                </a:rPr>
                                <m:t>cos</m:t>
                              </m:r>
                              <m:r>
                                <m:rPr>
                                  <m:sty m:val="p"/>
                                </m:rPr>
                                <a:rPr lang="en-US" i="0" sz="1568">
                                  <a:latin typeface="Cambria Math"/>
                                </a:rPr>
                                <m:t/>
                              </m:r>
                              <m:r>
                                <m:rPr>
                                  <m:sty m:val="p"/>
                                </m:rPr>
                                <a:rPr lang="en-US" i="0" sz="1568">
                                  <a:latin typeface="Cambria Math"/>
                                </a:rPr>
                                <m:t>(</m:t>
                              </m:r>
                              <m:r>
                                <m:rPr>
                                  <m:sty m:val="p"/>
                                </m:rPr>
                                <a:rPr lang="en-US" i="0" sz="1568">
                                  <a:latin typeface="Cambria Math"/>
                                </a:rPr>
                                <m:t>Δ</m:t>
                              </m:r>
                              <m:r>
                                <m:rPr>
                                  <m:sty m:val="i"/>
                                </m:rPr>
                                <a:rPr lang="en-US" i="1" sz="1568">
                                  <a:latin typeface="Cambria Math"/>
                                </a:rPr>
                                <m:t>θ</m:t>
                              </m:r>
                              <m:r>
                                <m:rPr>
                                  <m:sty m:val="p"/>
                                </m:rPr>
                                <a:rPr lang="en-US" i="0" sz="1568">
                                  <a:latin typeface="Cambria Math"/>
                                </a:rPr>
                                <m:t>)</m:t>
                              </m:r>
                            </m:e>
                          </m:box>
                        </m:e>
                      </m:rad>
                    </m:oMath>
                  </m:oMathPara>
                </a14:m>
              </mc:Choice>
              <mc:Fallback>
                <a:r>
                  <a:rPr lang="en-US" sz="1567" i="1"/>
                  <a:t>\omega=\frac{1}{\sqrt{L_JC}}\propto\sqrt[4]{I_c^2-I^2}\propto\sqrt{\cos(\Delta\theta)}</a:t>
                </a:r>
              </mc:Fallback>
            </mc:AlternateContent>
          </a:p>
        </p:txBody>
      </p:sp>
      <p:sp>
        <p:nvSpPr>
          <p:cNvPr id="20" name="Rounded Rectangle 19"/>
          <p:cNvSpPr/>
          <p:nvPr/>
        </p:nvSpPr>
        <p:spPr>
          <a:xfrm>
            <a:off x="6155267" y="4056459"/>
            <a:ext cx="5461000" cy="1119188"/>
          </a:xfrm>
          <a:prstGeom prst="roundRect">
            <a:avLst>
              <a:gd name="adj" fmla="val 6052"/>
            </a:avLst>
          </a:prstGeom>
          <a:solidFill>
            <a:srgbClr val="FEF9E7"/>
          </a:solidFill>
          <a:ln w="16933">
            <a:solidFill>
              <a:srgbClr val="F0C0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quation"/>
          <p:cNvSpPr txBox="1"/>
          <p:nvPr/>
        </p:nvSpPr>
        <p:spPr>
          <a:xfrm>
            <a:off x="6290733" y="4310459"/>
            <a:ext cx="5190067" cy="611188"/>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568">
                          <a:latin typeface="Cambria Math"/>
                        </a:rPr>
                        <m:t>ω</m:t>
                      </m:r>
                      <m:r>
                        <m:rPr>
                          <m:sty m:val="p"/>
                        </m:rPr>
                        <a:rPr lang="en-US" i="0" sz="1568">
                          <a:latin typeface="Cambria Math"/>
                        </a:rPr>
                        <m:t>∝</m:t>
                      </m:r>
                      <m:rad>
                        <m:radPr>
                          <m:degHide m:val="1"/>
                        </m:radPr>
                        <m:deg/>
                        <m:e>
                          <m:box>
                            <m:e>
                              <m:r>
                                <m:rPr>
                                  <m:sty m:val="p"/>
                                </m:rPr>
                                <a:rPr lang="en-US" i="0" sz="1568">
                                  <a:latin typeface="Cambria Math"/>
                                </a:rPr>
                                <m:t>cos</m:t>
                              </m:r>
                              <m:box>
                                <m:e>
                                  <m:r>
                                    <a:rPr lang="en-US" i="1" sz="1568">
                                      <a:latin typeface="Cambria Math"/>
                                    </a:rPr>
                                    <m:t/>
                                  </m:r>
                                </m:e>
                              </m:box>
                              <m:box>
                                <m:e>
                                  <m:d>
                                    <m:dPr>
                                      <m:begChr m:val="("/>
                                      <m:endChr m:val=")"/>
                                    </m:dPr>
                                    <m:e>
                                      <m:box>
                                        <m:e>
                                          <m:r>
                                            <m:rPr>
                                              <m:sty m:val="p"/>
                                            </m:rPr>
                                            <a:rPr lang="en-US" i="0" sz="1568">
                                              <a:latin typeface="Cambria Math"/>
                                            </a:rPr>
                                            <m:t>Δ</m:t>
                                          </m:r>
                                          <m:r>
                                            <m:rPr>
                                              <m:sty m:val="i"/>
                                            </m:rPr>
                                            <a:rPr lang="en-US" i="1" sz="1568">
                                              <a:latin typeface="Cambria Math"/>
                                            </a:rPr>
                                            <m:t>θ</m:t>
                                          </m:r>
                                          <m:r>
                                            <m:rPr>
                                              <m:sty m:val="p"/>
                                            </m:rPr>
                                            <a:rPr lang="en-US" i="0" sz="1568">
                                              <a:latin typeface="Cambria Math"/>
                                            </a:rPr>
                                            <m:t>+</m:t>
                                          </m:r>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e>
                                      </m:box>
                                    </m:e>
                                  </m:d>
                                </m:e>
                              </m:box>
                            </m:e>
                          </m:box>
                        </m:e>
                      </m:rad>
                      <m:r>
                        <m:rPr>
                          <m:sty m:val="p"/>
                        </m:rPr>
                        <a:rPr lang="en-US" i="0" sz="1568">
                          <a:latin typeface="Cambria Math"/>
                        </a:rPr>
                        <m:t>,</m:t>
                      </m:r>
                      <m:box>
                        <m:e>
                          <m:r>
                            <a:rPr lang="en-US" i="1" sz="1568">
                              <a:latin typeface="Cambria Math"/>
                            </a:rPr>
                            <m:t/>
                          </m:r>
                        </m:e>
                      </m:box>
                      <m:sSub>
                        <m:e>
                          <m:r>
                            <m:rPr>
                              <m:sty m:val="p"/>
                            </m:rPr>
                            <a:rPr lang="en-US" i="0" sz="1568">
                              <a:latin typeface="Cambria Math"/>
                            </a:rPr>
                            <m:t>Φ</m:t>
                          </m:r>
                        </m:e>
                        <m:sub>
                          <m:r>
                            <m:rPr>
                              <m:sty m:val="p"/>
                            </m:rPr>
                            <a:rPr lang="en-US" i="0" sz="1568">
                              <a:latin typeface="Cambria Math"/>
                            </a:rPr>
                            <m:t>0</m:t>
                          </m:r>
                        </m:sub>
                      </m:sSub>
                      <m:r>
                        <m:rPr>
                          <m:sty m:val="p"/>
                        </m:rPr>
                        <a:rPr lang="en-US" i="0" sz="1568">
                          <a:latin typeface="Cambria Math"/>
                        </a:rPr>
                        <m:t>=</m:t>
                      </m:r>
                      <m:f>
                        <m:num>
                          <m:box>
                            <m:e>
                              <m:r>
                                <m:rPr>
                                  <m:sty m:val="p"/>
                                </m:rPr>
                                <a:rPr lang="en-US" i="0" sz="1568">
                                  <a:latin typeface="Cambria Math"/>
                                </a:rPr>
                                <m:t>2</m:t>
                              </m:r>
                              <m:r>
                                <m:rPr>
                                  <m:sty m:val="i"/>
                                </m:rPr>
                                <a:rPr lang="en-US" i="1" sz="1568">
                                  <a:latin typeface="Cambria Math"/>
                                </a:rPr>
                                <m:t>π</m:t>
                              </m:r>
                              <m:r>
                                <m:rPr>
                                  <m:sty m:val="i"/>
                                </m:rPr>
                                <a:rPr lang="en-US" i="1" sz="1568">
                                  <a:latin typeface="Cambria Math"/>
                                </a:rPr>
                                <m:t>ℏ</m:t>
                              </m:r>
                            </m:e>
                          </m:box>
                        </m:num>
                        <m:den>
                          <m:box>
                            <m:e>
                              <m:r>
                                <m:rPr>
                                  <m:sty m:val="p"/>
                                </m:rPr>
                                <a:rPr lang="en-US" i="0" sz="1568">
                                  <a:latin typeface="Cambria Math"/>
                                </a:rPr>
                                <m:t>2</m:t>
                              </m:r>
                              <m:r>
                                <m:rPr>
                                  <m:sty m:val="i"/>
                                </m:rPr>
                                <a:rPr lang="en-US" i="1" sz="1568">
                                  <a:latin typeface="Cambria Math"/>
                                </a:rPr>
                                <m:t>e</m:t>
                              </m:r>
                            </m:e>
                          </m:box>
                        </m:den>
                      </m:f>
                    </m:oMath>
                  </m:oMathPara>
                </a14:m>
              </mc:Choice>
              <mc:Fallback>
                <a:r>
                  <a:rPr lang="en-US" sz="1567" i="1"/>
                  <a:t>\omega\propto\sqrt{\cos\!\left(\Delta\theta+\frac{\Phi_B}{\Phi_0}\right)},\qquad
                        \Phi_0=\frac{2\pi\hbar}{2e}</a:t>
                </a:r>
              </mc:Fallback>
            </mc:AlternateContent>
          </a:p>
        </p:txBody>
      </p:sp>
      <p:sp>
        <p:nvSpPr>
          <p:cNvPr id="22" name="TextBox 21"/>
          <p:cNvSpPr txBox="1"/>
          <p:nvPr/>
        </p:nvSpPr>
        <p:spPr>
          <a:xfrm>
            <a:off x="6155267" y="5277247"/>
            <a:ext cx="5461000"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The external flux </a:t>
            </a:r>
            <mc:AlternateContent xmlns:mc="http://schemas.openxmlformats.org/markup-compatibility/2006">
              <mc:Choice xmlns:a14="http://schemas.microsoft.com/office/drawing/2010/main" Requires="a14">
                <a14:m>
                  <m:oMath xmlns:m="http://schemas.openxmlformats.org/officeDocument/2006/math">
                    <m:sSub>
                      <m:e>
                        <m:r>
                          <m:rPr>
                            <m:sty m:val="p"/>
                          </m:rPr>
                          <a:rPr lang="en-US" i="0" sz="1665">
                            <a:latin typeface="Cambria Math"/>
                          </a:rPr>
                          <m:t>Φ</m:t>
                        </m:r>
                      </m:e>
                      <m:sub>
                        <m:r>
                          <m:rPr>
                            <m:sty m:val="i"/>
                          </m:rPr>
                          <a:rPr lang="en-US" i="1" sz="1665">
                            <a:latin typeface="Cambria Math"/>
                          </a:rPr>
                          <m:t>B</m:t>
                        </m:r>
                      </m:sub>
                    </m:sSub>
                  </m:oMath>
                </a14:m>
              </mc:Choice>
              <mc:Fallback>
                <a:r>
                  <a:rPr lang="en-US" sz="1664" i="1"/>
                  <a:t>\Phi_B</a:t>
                </a:r>
              </mc:Fallback>
            </mc:AlternateContent>
            <a:r>
              <a:rPr sz="1400" b="0" i="0">
                <a:solidFill>
                  <a:srgbClr val="4F4C56"/>
                </a:solidFill>
                <a:latin typeface="Montserrat"/>
                <a:ea typeface="Montserrat"/>
                <a:cs typeface="Montserrat"/>
              </a:rPr>
              <a:t> shifts the effective junction phase, so the qubit frequency can be tuned in situ with a flux-bias current.</a:t>
            </a:r>
          </a:p>
        </p:txBody>
      </p:sp>
      <p:sp>
        <p:nvSpPr>
          <p:cNvPr id="23" name="Rectangle 22"/>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25" name="TextBox 24"/>
          <p:cNvSpPr txBox="1"/>
          <p:nvPr/>
        </p:nvSpPr>
        <p:spPr>
          <a:xfrm>
            <a:off x="11226139" y="6565900"/>
            <a:ext cx="474795"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89 / 100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376561" y="324115"/>
            <a:ext cx="1324372"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JJ Loop: Real Device</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Josephson Junction Loop: The Real Device</a:t>
            </a:r>
          </a:p>
        </p:txBody>
      </p:sp>
      <p:pic>
        <p:nvPicPr>
          <p:cNvPr id="6" name="SEM image of a SQUID with a nearby flux-bias line carrying current I that thread" descr="s28-tunable-transmon-sem.png"/>
          <p:cNvPicPr>
            <a:picLocks noChangeAspect="1"/>
          </p:cNvPicPr>
          <p:nvPr/>
        </p:nvPicPr>
        <p:blipFill>
          <a:blip r:embed="rId2"/>
          <a:stretch>
            <a:fillRect/>
          </a:stretch>
        </p:blipFill>
        <p:spPr>
          <a:xfrm>
            <a:off x="1975247" y="1452843"/>
            <a:ext cx="4300008" cy="2963302"/>
          </a:xfrm>
          <a:prstGeom prst="rect">
            <a:avLst/>
          </a:prstGeom>
        </p:spPr>
      </p:pic>
      <p:sp>
        <p:nvSpPr>
          <p:cNvPr id="7" name="TextBox 6"/>
          <p:cNvSpPr txBox="1"/>
          <p:nvPr/>
        </p:nvSpPr>
        <p:spPr>
          <a:xfrm>
            <a:off x="575733" y="4475427"/>
            <a:ext cx="7099168" cy="350308"/>
          </a:xfrm>
          <a:prstGeom prst="rect">
            <a:avLst/>
          </a:prstGeom>
          <a:noFill/>
        </p:spPr>
        <p:txBody>
          <a:bodyPr wrap="square" lIns="0" rIns="0" tIns="0" bIns="0" anchor="t">
            <a:noAutofit/>
          </a:bodyPr>
          <a:lstStyle/>
          <a:p>
            <a:pPr algn="l">
              <a:lnSpc>
                <a:spcPts val="1380"/>
              </a:lnSpc>
            </a:pPr>
            <a:r>
              <a:rPr sz="1080" b="1" i="0">
                <a:solidFill>
                  <a:srgbClr val="302840"/>
                </a:solidFill>
                <a:latin typeface="Montserrat"/>
                <a:ea typeface="Montserrat"/>
                <a:cs typeface="Montserrat"/>
              </a:rPr>
              <a:t>Flux-bias line next to a SQUID.</a:t>
            </a:r>
            <a:r>
              <a:rPr sz="1080" b="0" i="0">
                <a:solidFill>
                  <a:srgbClr val="5F5865"/>
                </a:solidFill>
                <a:latin typeface="Montserrat"/>
                <a:ea typeface="Montserrat"/>
                <a:cs typeface="Montserrat"/>
              </a:rPr>
              <a:t> Current </a:t>
            </a:r>
            <mc:AlternateContent xmlns:mc="http://schemas.openxmlformats.org/markup-compatibility/2006">
              <mc:Choice xmlns:a14="http://schemas.microsoft.com/office/drawing/2010/main" Requires="a14">
                <a14:m>
                  <m:oMath xmlns:m="http://schemas.openxmlformats.org/officeDocument/2006/math">
                    <m:r>
                      <m:rPr>
                        <m:sty m:val="i"/>
                      </m:rPr>
                      <a:rPr lang="en-US" i="1" sz="1282">
                        <a:latin typeface="Cambria Math"/>
                      </a:rPr>
                      <m:t>I</m:t>
                    </m:r>
                  </m:oMath>
                </a14:m>
              </mc:Choice>
              <mc:Fallback>
                <a:r>
                  <a:rPr lang="en-US" sz="1281" i="1"/>
                  <a:t>I</a:t>
                </a:r>
              </mc:Fallback>
            </mc:AlternateContent>
            <a:r>
              <a:rPr sz="1080" b="0" i="0">
                <a:solidFill>
                  <a:srgbClr val="5F5865"/>
                </a:solidFill>
                <a:latin typeface="Montserrat"/>
                <a:ea typeface="Montserrat"/>
                <a:cs typeface="Montserrat"/>
              </a:rPr>
              <a:t> in the on-chip line threads the external flux </a:t>
            </a:r>
            <mc:AlternateContent xmlns:mc="http://schemas.openxmlformats.org/markup-compatibility/2006">
              <mc:Choice xmlns:a14="http://schemas.microsoft.com/office/drawing/2010/main" Requires="a14">
                <a14:m>
                  <m:oMath xmlns:m="http://schemas.openxmlformats.org/officeDocument/2006/math">
                    <m:sSub>
                      <m:e>
                        <m:r>
                          <m:rPr>
                            <m:sty m:val="p"/>
                          </m:rPr>
                          <a:rPr lang="en-US" i="0" sz="1282">
                            <a:latin typeface="Cambria Math"/>
                          </a:rPr>
                          <m:t>Φ</m:t>
                        </m:r>
                      </m:e>
                      <m:sub>
                        <m:box>
                          <m:e>
                            <m:r>
                              <m:rPr>
                                <m:sty m:val="p"/>
                              </m:rPr>
                              <a:rPr lang="en-US" i="0" sz="1282">
                                <a:latin typeface="Cambria Math"/>
                              </a:rPr>
                              <m:t>e</m:t>
                            </m:r>
                            <m:r>
                              <m:rPr>
                                <m:sty m:val="p"/>
                              </m:rPr>
                              <a:rPr lang="en-US" i="0" sz="1282">
                                <a:latin typeface="Cambria Math"/>
                              </a:rPr>
                              <m:t>x</m:t>
                            </m:r>
                            <m:r>
                              <m:rPr>
                                <m:sty m:val="p"/>
                              </m:rPr>
                              <a:rPr lang="en-US" i="0" sz="1282">
                                <a:latin typeface="Cambria Math"/>
                              </a:rPr>
                              <m:t>t</m:t>
                            </m:r>
                          </m:e>
                        </m:box>
                      </m:sub>
                    </m:sSub>
                  </m:oMath>
                </a14:m>
              </mc:Choice>
              <mc:Fallback>
                <a:r>
                  <a:rPr lang="en-US" sz="1281" i="1"/>
                  <a:t>\Phi_{\rm ext}</a:t>
                </a:r>
              </mc:Fallback>
            </mc:AlternateContent>
            <a:r>
              <a:rPr sz="1080" b="0" i="0">
                <a:solidFill>
                  <a:srgbClr val="5F5865"/>
                </a:solidFill>
                <a:latin typeface="Montserrat"/>
                <a:ea typeface="Montserrat"/>
                <a:cs typeface="Montserrat"/>
              </a:rPr>
              <a:t> through the loop. Ref. </a:t>
            </a:r>
            <a:r>
              <a:rPr sz="1080" b="0" i="0">
                <a:solidFill>
                  <a:srgbClr val="355C9A"/>
                </a:solidFill>
                <a:latin typeface="Montserrat"/>
                <a:ea typeface="Montserrat"/>
                <a:cs typeface="Montserrat"/>
                <a:hlinkClick r:id="rId3"/>
              </a:rPr>
              <a:t>[13]</a:t>
            </a:r>
          </a:p>
        </p:txBody>
      </p:sp>
      <p:pic>
        <p:nvPicPr>
          <p:cNvPr id="8" name="svg-diagram" descr="el-x18.png"/>
          <p:cNvPicPr>
            <a:picLocks noChangeAspect="1"/>
          </p:cNvPicPr>
          <p:nvPr/>
        </p:nvPicPr>
        <p:blipFill>
          <a:blip r:embed="rId4">
            <a:extLst>
              <a:ext uri="{96DAC541-7B7A-43D3-8B79-37D633B846F1}">
                <ns0:svgBlip xmlns:ns0="http://schemas.microsoft.com/office/drawing/2016/SVG/main" r:embed="rId5"/>
              </a:ext>
            </a:extLst>
          </a:blip>
          <a:stretch>
            <a:fillRect/>
          </a:stretch>
        </p:blipFill>
        <p:spPr>
          <a:xfrm>
            <a:off x="7793434" y="1452827"/>
            <a:ext cx="3822700" cy="1524000"/>
          </a:xfrm>
          <a:prstGeom prst="rect">
            <a:avLst/>
          </a:prstGeom>
        </p:spPr>
      </p:pic>
      <p:sp>
        <p:nvSpPr>
          <p:cNvPr id="9" name="Rounded Rectangle 8"/>
          <p:cNvSpPr/>
          <p:nvPr/>
        </p:nvSpPr>
        <p:spPr>
          <a:xfrm>
            <a:off x="7793434" y="3163094"/>
            <a:ext cx="3822700" cy="1683015"/>
          </a:xfrm>
          <a:prstGeom prst="roundRect">
            <a:avLst>
              <a:gd name="adj" fmla="val 4024"/>
            </a:avLst>
          </a:prstGeom>
          <a:solidFill>
            <a:srgbClr val="FEF9E7"/>
          </a:solidFill>
          <a:ln w="16933">
            <a:solidFill>
              <a:srgbClr val="F0C0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quation"/>
          <p:cNvSpPr txBox="1"/>
          <p:nvPr/>
        </p:nvSpPr>
        <p:spPr>
          <a:xfrm>
            <a:off x="7928901" y="3417094"/>
            <a:ext cx="3551767" cy="611188"/>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568">
                          <a:latin typeface="Cambria Math"/>
                        </a:rPr>
                        <m:t>ω</m:t>
                      </m:r>
                      <m:r>
                        <m:rPr>
                          <m:sty m:val="p"/>
                        </m:rPr>
                        <a:rPr lang="en-US" i="0" sz="1568">
                          <a:latin typeface="Cambria Math"/>
                        </a:rPr>
                        <m:t>∝</m:t>
                      </m:r>
                      <m:rad>
                        <m:radPr>
                          <m:degHide m:val="1"/>
                        </m:radPr>
                        <m:deg/>
                        <m:e>
                          <m:box>
                            <m:e>
                              <m:r>
                                <m:rPr>
                                  <m:sty m:val="p"/>
                                </m:rPr>
                                <a:rPr lang="en-US" i="0" sz="1568">
                                  <a:latin typeface="Cambria Math"/>
                                </a:rPr>
                                <m:t>cos</m:t>
                              </m:r>
                              <m:box>
                                <m:e>
                                  <m:r>
                                    <a:rPr lang="en-US" i="1" sz="1568">
                                      <a:latin typeface="Cambria Math"/>
                                    </a:rPr>
                                    <m:t/>
                                  </m:r>
                                </m:e>
                              </m:box>
                              <m:box>
                                <m:e>
                                  <m:d>
                                    <m:dPr>
                                      <m:begChr m:val="("/>
                                      <m:endChr m:val=")"/>
                                    </m:dPr>
                                    <m:e>
                                      <m:box>
                                        <m:e>
                                          <m:r>
                                            <m:rPr>
                                              <m:sty m:val="p"/>
                                            </m:rPr>
                                            <a:rPr lang="en-US" i="0" sz="1568">
                                              <a:latin typeface="Cambria Math"/>
                                            </a:rPr>
                                            <m:t>Δ</m:t>
                                          </m:r>
                                          <m:r>
                                            <m:rPr>
                                              <m:sty m:val="i"/>
                                            </m:rPr>
                                            <a:rPr lang="en-US" i="1" sz="1568">
                                              <a:latin typeface="Cambria Math"/>
                                            </a:rPr>
                                            <m:t>θ</m:t>
                                          </m:r>
                                          <m:r>
                                            <m:rPr>
                                              <m:sty m:val="p"/>
                                            </m:rPr>
                                            <a:rPr lang="en-US" i="0" sz="1568">
                                              <a:latin typeface="Cambria Math"/>
                                            </a:rPr>
                                            <m:t>+</m:t>
                                          </m:r>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e>
                                      </m:box>
                                    </m:e>
                                  </m:d>
                                </m:e>
                              </m:box>
                            </m:e>
                          </m:box>
                        </m:e>
                      </m:rad>
                    </m:oMath>
                  </m:oMathPara>
                </a14:m>
              </mc:Choice>
              <mc:Fallback>
                <a:r>
                  <a:rPr lang="en-US" sz="1567" i="1"/>
                  <a:t>\omega\propto\sqrt{\cos\!\left(\Delta\theta+\frac{\Phi_B}{\Phi_0}\right)}</a:t>
                </a:r>
              </mc:Fallback>
            </mc:AlternateContent>
          </a:p>
        </p:txBody>
      </p:sp>
      <p:sp>
        <p:nvSpPr>
          <p:cNvPr id="11" name="equation"/>
          <p:cNvSpPr txBox="1"/>
          <p:nvPr/>
        </p:nvSpPr>
        <p:spPr>
          <a:xfrm>
            <a:off x="7928901" y="4180681"/>
            <a:ext cx="3551767" cy="411427"/>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p"/>
                            </m:rPr>
                            <a:rPr lang="en-US" i="0" sz="1568">
                              <a:latin typeface="Cambria Math"/>
                            </a:rPr>
                            <m:t>Φ</m:t>
                          </m:r>
                        </m:e>
                        <m:sub>
                          <m:r>
                            <m:rPr>
                              <m:sty m:val="p"/>
                            </m:rPr>
                            <a:rPr lang="en-US" i="0" sz="1568">
                              <a:latin typeface="Cambria Math"/>
                            </a:rPr>
                            <m:t>0</m:t>
                          </m:r>
                        </m:sub>
                      </m:sSub>
                      <m:r>
                        <m:rPr>
                          <m:sty m:val="p"/>
                        </m:rPr>
                        <a:rPr lang="en-US" i="0" sz="1568">
                          <a:latin typeface="Cambria Math"/>
                        </a:rPr>
                        <m:t>=</m:t>
                      </m:r>
                      <m:f>
                        <m:num>
                          <m:box>
                            <m:e>
                              <m:r>
                                <m:rPr>
                                  <m:sty m:val="p"/>
                                </m:rPr>
                                <a:rPr lang="en-US" i="0" sz="1568">
                                  <a:latin typeface="Cambria Math"/>
                                </a:rPr>
                                <m:t>2</m:t>
                              </m:r>
                              <m:r>
                                <m:rPr>
                                  <m:sty m:val="i"/>
                                </m:rPr>
                                <a:rPr lang="en-US" i="1" sz="1568">
                                  <a:latin typeface="Cambria Math"/>
                                </a:rPr>
                                <m:t>π</m:t>
                              </m:r>
                              <m:r>
                                <m:rPr>
                                  <m:sty m:val="i"/>
                                </m:rPr>
                                <a:rPr lang="en-US" i="1" sz="1568">
                                  <a:latin typeface="Cambria Math"/>
                                </a:rPr>
                                <m:t>ℏ</m:t>
                              </m:r>
                            </m:e>
                          </m:box>
                        </m:num>
                        <m:den>
                          <m:box>
                            <m:e>
                              <m:r>
                                <m:rPr>
                                  <m:sty m:val="p"/>
                                </m:rPr>
                                <a:rPr lang="en-US" i="0" sz="1568">
                                  <a:latin typeface="Cambria Math"/>
                                </a:rPr>
                                <m:t>2</m:t>
                              </m:r>
                              <m:r>
                                <m:rPr>
                                  <m:sty m:val="i"/>
                                </m:rPr>
                                <a:rPr lang="en-US" i="1" sz="1568">
                                  <a:latin typeface="Cambria Math"/>
                                </a:rPr>
                                <m:t>e</m:t>
                              </m:r>
                            </m:e>
                          </m:box>
                        </m:den>
                      </m:f>
                    </m:oMath>
                  </m:oMathPara>
                </a14:m>
              </mc:Choice>
              <mc:Fallback>
                <a:r>
                  <a:rPr lang="en-US" sz="1567" i="1"/>
                  <a:t>\Phi_0=\frac{2\pi\hbar}{2e}</a:t>
                </a:r>
              </mc:Fallback>
            </mc:AlternateContent>
          </a:p>
        </p:txBody>
      </p:sp>
      <p:sp>
        <p:nvSpPr>
          <p:cNvPr id="12" name="TextBox 11"/>
          <p:cNvSpPr txBox="1"/>
          <p:nvPr/>
        </p:nvSpPr>
        <p:spPr>
          <a:xfrm>
            <a:off x="7793434" y="5032375"/>
            <a:ext cx="3822700"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Design trade-off: the same line that tunes the qubit is also a channel for flux noise and loss.</a:t>
            </a:r>
          </a:p>
        </p:txBody>
      </p:sp>
      <p:sp>
        <p:nvSpPr>
          <p:cNvPr id="13" name="Rectangle 12"/>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5" name="TextBox 14"/>
          <p:cNvSpPr txBox="1"/>
          <p:nvPr/>
        </p:nvSpPr>
        <p:spPr>
          <a:xfrm>
            <a:off x="11223890" y="6565900"/>
            <a:ext cx="477044"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90 / 100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9321932" y="324115"/>
            <a:ext cx="237900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Opening: What Are Artificial Atoms?</a:t>
            </a:r>
          </a:p>
        </p:txBody>
      </p:sp>
      <p:sp>
        <p:nvSpPr>
          <p:cNvPr id="5" name="equation"/>
          <p:cNvSpPr txBox="1"/>
          <p:nvPr/>
        </p:nvSpPr>
        <p:spPr>
          <a:xfrm>
            <a:off x="575733" y="1877219"/>
            <a:ext cx="283236" cy="254000"/>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p"/>
                            </m:rPr>
                            <a:rPr lang="en-US" i="0" sz="1665">
                              <a:latin typeface="Cambria Math"/>
                            </a:rPr>
                            <m:t>Φ</m:t>
                          </m:r>
                        </m:e>
                        <m:sub>
                          <m:r>
                            <m:rPr>
                              <m:sty m:val="i"/>
                            </m:rPr>
                            <a:rPr lang="en-US" i="1" sz="1665">
                              <a:latin typeface="Cambria Math"/>
                            </a:rPr>
                            <m:t>B</m:t>
                          </m:r>
                        </m:sub>
                      </m:sSub>
                    </m:oMath>
                  </m:oMathPara>
                </a14:m>
              </mc:Choice>
              <mc:Fallback>
                <a:r>
                  <a:rPr lang="en-US" sz="1664" i="1"/>
                  <a:t> \Phi_B </a:t>
                </a:r>
              </mc:Fallback>
            </mc:AlternateContent>
          </a:p>
        </p:txBody>
      </p:sp>
      <p:sp>
        <p:nvSpPr>
          <p:cNvPr id="6" name="equation"/>
          <p:cNvSpPr txBox="1"/>
          <p:nvPr/>
        </p:nvSpPr>
        <p:spPr>
          <a:xfrm>
            <a:off x="9056555" y="1877219"/>
            <a:ext cx="1004755" cy="254000"/>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665">
                          <a:latin typeface="Cambria Math"/>
                        </a:rPr>
                        <m:t>[</m:t>
                      </m:r>
                      <m:r>
                        <m:rPr>
                          <m:sty m:val="p"/>
                        </m:rPr>
                        <a:rPr lang="en-US" i="0" sz="1665">
                          <a:latin typeface="Cambria Math"/>
                        </a:rPr>
                        <m:t>Φ</m:t>
                      </m:r>
                      <m:r>
                        <m:rPr>
                          <m:sty m:val="p"/>
                        </m:rPr>
                        <a:rPr lang="en-US" i="0" sz="1665">
                          <a:latin typeface="Cambria Math"/>
                        </a:rPr>
                        <m:t>,</m:t>
                      </m:r>
                      <m:r>
                        <m:rPr>
                          <m:sty m:val="i"/>
                        </m:rPr>
                        <a:rPr lang="en-US" i="1" sz="1665">
                          <a:latin typeface="Cambria Math"/>
                        </a:rPr>
                        <m:t>Q</m:t>
                      </m:r>
                      <m:r>
                        <m:rPr>
                          <m:sty m:val="p"/>
                        </m:rPr>
                        <a:rPr lang="en-US" i="0" sz="1665">
                          <a:latin typeface="Cambria Math"/>
                        </a:rPr>
                        <m:t>]</m:t>
                      </m:r>
                      <m:r>
                        <m:rPr>
                          <m:sty m:val="p"/>
                        </m:rPr>
                        <a:rPr lang="en-US" i="0" sz="1665">
                          <a:latin typeface="Cambria Math"/>
                        </a:rPr>
                        <m:t>=</m:t>
                      </m:r>
                      <m:r>
                        <m:rPr>
                          <m:sty m:val="i"/>
                        </m:rPr>
                        <a:rPr lang="en-US" i="1" sz="1665">
                          <a:latin typeface="Cambria Math"/>
                        </a:rPr>
                        <m:t>i</m:t>
                      </m:r>
                      <m:r>
                        <m:rPr>
                          <m:sty m:val="i"/>
                        </m:rPr>
                        <a:rPr lang="en-US" i="1" sz="1665">
                          <a:latin typeface="Cambria Math"/>
                        </a:rPr>
                        <m:t>ℏ</m:t>
                      </m:r>
                    </m:oMath>
                  </m:oMathPara>
                </a14:m>
              </mc:Choice>
              <mc:Fallback>
                <a:r>
                  <a:rPr lang="en-US" sz="1664" i="1"/>
                  <a:t>[ \Phi, Q ] = i\hbar</a:t>
                </a:r>
              </mc:Fallback>
            </mc:AlternateContent>
          </a:p>
        </p:txBody>
      </p:sp>
      <p:sp>
        <p:nvSpPr>
          <p:cNvPr id="7" name="equation"/>
          <p:cNvSpPr txBox="1"/>
          <p:nvPr/>
        </p:nvSpPr>
        <p:spPr>
          <a:xfrm>
            <a:off x="6534944" y="2147358"/>
            <a:ext cx="152532" cy="254000"/>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665">
                          <a:latin typeface="Cambria Math"/>
                        </a:rPr>
                        <m:t>Φ</m:t>
                      </m:r>
                    </m:oMath>
                  </m:oMathPara>
                </a14:m>
              </mc:Choice>
              <mc:Fallback>
                <a:r>
                  <a:rPr lang="en-US" sz="1664" i="1"/>
                  <a:t>
                                \Phi
                                </a:t>
                </a:r>
              </mc:Fallback>
            </mc:AlternateContent>
          </a:p>
        </p:txBody>
      </p:sp>
      <p:sp>
        <p:nvSpPr>
          <p:cNvPr id="8" name="equation"/>
          <p:cNvSpPr txBox="1"/>
          <p:nvPr/>
        </p:nvSpPr>
        <p:spPr>
          <a:xfrm>
            <a:off x="8467460" y="2147358"/>
            <a:ext cx="275167" cy="254000"/>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665">
                          <a:latin typeface="Cambria Math"/>
                        </a:rPr>
                        <m:t>Δ</m:t>
                      </m:r>
                      <m:r>
                        <m:rPr>
                          <m:sty m:val="i"/>
                        </m:rPr>
                        <a:rPr lang="en-US" i="1" sz="1665">
                          <a:latin typeface="Cambria Math"/>
                        </a:rPr>
                        <m:t>θ</m:t>
                      </m:r>
                    </m:oMath>
                  </m:oMathPara>
                </a14:m>
              </mc:Choice>
              <mc:Fallback>
                <a:r>
                  <a:rPr lang="en-US" sz="1664" i="1"/>
                  <a:t> \Delta\theta </a:t>
                </a:r>
              </mc:Fallback>
            </mc:AlternateContent>
          </a:p>
        </p:txBody>
      </p:sp>
      <p:sp>
        <p:nvSpPr>
          <p:cNvPr id="9" name="equation"/>
          <p:cNvSpPr txBox="1"/>
          <p:nvPr/>
        </p:nvSpPr>
        <p:spPr>
          <a:xfrm>
            <a:off x="575733" y="2578365"/>
            <a:ext cx="11040533" cy="415528"/>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568">
                          <a:latin typeface="Cambria Math"/>
                        </a:rPr>
                        <m:t>Φ</m:t>
                      </m:r>
                      <m:r>
                        <m:rPr>
                          <m:sty m:val="p"/>
                        </m:rPr>
                        <a:rPr lang="en-US" i="0" sz="1568">
                          <a:latin typeface="Cambria Math"/>
                        </a:rPr>
                        <m:t>≡</m:t>
                      </m:r>
                      <m:f>
                        <m:num>
                          <m:box>
                            <m:e>
                              <m:r>
                                <m:rPr>
                                  <m:sty m:val="p"/>
                                </m:rPr>
                                <a:rPr lang="en-US" i="0" sz="1568">
                                  <a:latin typeface="Cambria Math"/>
                                </a:rPr>
                                <m:t>Δ</m:t>
                              </m:r>
                              <m:sSub>
                                <m:e>
                                  <m:r>
                                    <m:rPr>
                                      <m:sty m:val="i"/>
                                    </m:rPr>
                                    <a:rPr lang="en-US" i="1" sz="1568">
                                      <a:latin typeface="Cambria Math"/>
                                    </a:rPr>
                                    <m:t>θ</m:t>
                                  </m:r>
                                </m:e>
                                <m:sub>
                                  <m:r>
                                    <m:rPr>
                                      <m:sty m:val="p"/>
                                    </m:rPr>
                                    <a:rPr lang="en-US" i="0" sz="1568">
                                      <a:latin typeface="Cambria Math"/>
                                    </a:rPr>
                                    <m:t>1</m:t>
                                  </m:r>
                                </m:sub>
                              </m:sSub>
                            </m:e>
                          </m:box>
                        </m:num>
                        <m:den>
                          <m:r>
                            <m:rPr>
                              <m:sty m:val="i"/>
                            </m:rPr>
                            <a:rPr lang="en-US" i="1" sz="1568">
                              <a:latin typeface="Cambria Math"/>
                            </a:rPr>
                            <m:t>π</m:t>
                          </m:r>
                        </m:den>
                      </m:f>
                      <m:sSub>
                        <m:e>
                          <m:r>
                            <m:rPr>
                              <m:sty m:val="p"/>
                            </m:rPr>
                            <a:rPr lang="en-US" i="0" sz="1568">
                              <a:latin typeface="Cambria Math"/>
                            </a:rPr>
                            <m:t>Φ</m:t>
                          </m:r>
                        </m:e>
                        <m:sub>
                          <m:r>
                            <m:rPr>
                              <m:sty m:val="p"/>
                            </m:rPr>
                            <a:rPr lang="en-US" i="0" sz="1568">
                              <a:latin typeface="Cambria Math"/>
                            </a:rPr>
                            <m:t>0</m:t>
                          </m:r>
                        </m:sub>
                      </m:sSub>
                      <m:r>
                        <m:rPr>
                          <m:sty m:val="p"/>
                        </m:rPr>
                        <a:rPr lang="en-US" i="0" sz="1568">
                          <a:latin typeface="Cambria Math"/>
                        </a:rPr>
                        <m:t>−</m:t>
                      </m:r>
                      <m:sSub>
                        <m:e>
                          <m:r>
                            <m:rPr>
                              <m:sty m:val="p"/>
                            </m:rPr>
                            <a:rPr lang="en-US" i="0" sz="1568">
                              <a:latin typeface="Cambria Math"/>
                            </a:rPr>
                            <m:t>Φ</m:t>
                          </m:r>
                        </m:e>
                        <m:sub>
                          <m:r>
                            <m:rPr>
                              <m:sty m:val="i"/>
                            </m:rPr>
                            <a:rPr lang="en-US" i="1" sz="1568">
                              <a:latin typeface="Cambria Math"/>
                            </a:rPr>
                            <m:t>B</m:t>
                          </m:r>
                        </m:sub>
                      </m:sSub>
                    </m:oMath>
                  </m:oMathPara>
                </a14:m>
              </mc:Choice>
              <mc:Fallback>
                <a:r>
                  <a:rPr lang="en-US" sz="1567" i="1"/>
                  <a:t>
                                \Phi \equiv \frac{\Delta\theta_1}{\pi} \Phi_0 - \Phi_B
                                </a:t>
                </a:r>
              </mc:Fallback>
            </mc:AlternateContent>
          </a:p>
        </p:txBody>
      </p:sp>
      <p:sp>
        <p:nvSpPr>
          <p:cNvPr id="10" name="TextBox 9"/>
          <p:cNvSpPr txBox="1"/>
          <p:nvPr/>
        </p:nvSpPr>
        <p:spPr>
          <a:xfrm>
            <a:off x="575733" y="3146293"/>
            <a:ext cx="11040533" cy="2718065"/>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We now write the Hamiltonian: </a:t>
            </a:r>
            <mc:AlternateContent xmlns:mc="http://schemas.openxmlformats.org/markup-compatibility/2006">
              <mc:Choice xmlns:a14="http://schemas.microsoft.com/office/drawing/2010/main" Requires="a14">
                <a14:m>
                  <m:oMath xmlns:m="http://schemas.openxmlformats.org/officeDocument/2006/math">
                    <m:box>
                      <m:e>
                        <m:r>
                          <m:rPr>
                            <m:scr m:val="script"/>
                            <m:sty m:val="i"/>
                          </m:rPr>
                          <a:rPr lang="en-US" i="1" sz="1568">
                            <a:latin typeface="Cambria Math"/>
                          </a:rPr>
                          <m:t>H</m:t>
                        </m:r>
                      </m:e>
                    </m:box>
                    <m:r>
                      <m:rPr>
                        <m:sty m:val="p"/>
                      </m:rPr>
                      <a:rPr lang="en-US" i="0" sz="1568">
                        <a:latin typeface="Cambria Math"/>
                      </a:rPr>
                      <m:t>=</m:t>
                    </m:r>
                    <m:f>
                      <m:num>
                        <m:sSup>
                          <m:e>
                            <m:r>
                              <m:rPr>
                                <m:sty m:val="i"/>
                              </m:rPr>
                              <a:rPr lang="en-US" i="1" sz="1568">
                                <a:latin typeface="Cambria Math"/>
                              </a:rPr>
                              <m:t>Q</m:t>
                            </m:r>
                          </m:e>
                          <m:sup>
                            <m:r>
                              <m:rPr>
                                <m:sty m:val="p"/>
                              </m:rPr>
                              <a:rPr lang="en-US" i="0" sz="1568">
                                <a:latin typeface="Cambria Math"/>
                              </a:rPr>
                              <m:t>2</m:t>
                            </m:r>
                          </m:sup>
                        </m:sSup>
                      </m:num>
                      <m:den>
                        <m:box>
                          <m:e>
                            <m:r>
                              <m:rPr>
                                <m:sty m:val="p"/>
                              </m:rPr>
                              <a:rPr lang="en-US" i="0" sz="1568">
                                <a:latin typeface="Cambria Math"/>
                              </a:rPr>
                              <m:t>2</m:t>
                            </m:r>
                            <m:r>
                              <m:rPr>
                                <m:sty m:val="i"/>
                              </m:rPr>
                              <a:rPr lang="en-US" i="1" sz="1568">
                                <a:latin typeface="Cambria Math"/>
                              </a:rPr>
                              <m:t>C</m:t>
                            </m:r>
                          </m:e>
                        </m:box>
                      </m:den>
                    </m:f>
                    <m:r>
                      <m:rPr>
                        <m:sty m:val="p"/>
                      </m:rPr>
                      <a:rPr lang="en-US" i="0" sz="1568">
                        <a:latin typeface="Cambria Math"/>
                      </a:rPr>
                      <m:t>+</m:t>
                    </m:r>
                    <m:f>
                      <m:num>
                        <m:sSubSup>
                          <m:e>
                            <m:r>
                              <m:rPr>
                                <m:sty m:val="p"/>
                              </m:rPr>
                              <a:rPr lang="en-US" i="0" sz="1568">
                                <a:latin typeface="Cambria Math"/>
                              </a:rPr>
                              <m:t>Φ</m:t>
                            </m:r>
                          </m:e>
                          <m:sub>
                            <m:r>
                              <m:rPr>
                                <m:sty m:val="p"/>
                              </m:rPr>
                              <a:rPr lang="en-US" i="0" sz="1568">
                                <a:latin typeface="Cambria Math"/>
                              </a:rPr>
                              <m:t>#</m:t>
                            </m:r>
                          </m:sub>
                          <m:sup>
                            <m:r>
                              <m:rPr>
                                <m:sty m:val="p"/>
                              </m:rPr>
                              <a:rPr lang="en-US" i="0" sz="1568">
                                <a:latin typeface="Cambria Math"/>
                              </a:rPr>
                              <m:t>2</m:t>
                            </m:r>
                          </m:sup>
                        </m:sSubSup>
                      </m:num>
                      <m:den>
                        <m:box>
                          <m:e>
                            <m:r>
                              <m:rPr>
                                <m:sty m:val="p"/>
                              </m:rPr>
                              <a:rPr lang="en-US" i="0" sz="1568">
                                <a:latin typeface="Cambria Math"/>
                              </a:rPr>
                              <m:t>2</m:t>
                            </m:r>
                            <m:r>
                              <m:rPr>
                                <m:sty m:val="i"/>
                              </m:rPr>
                              <a:rPr lang="en-US" i="1" sz="1568">
                                <a:latin typeface="Cambria Math"/>
                              </a:rPr>
                              <m:t>L</m:t>
                            </m:r>
                          </m:e>
                        </m:box>
                      </m:den>
                    </m:f>
                    <m:r>
                      <m:rPr>
                        <m:sty m:val="p"/>
                      </m:rPr>
                      <a:rPr lang="en-US" i="0" sz="1568">
                        <a:latin typeface="Cambria Math"/>
                      </a:rPr>
                      <m:t>=</m:t>
                    </m:r>
                    <m:f>
                      <m:num>
                        <m:sSup>
                          <m:e>
                            <m:r>
                              <m:rPr>
                                <m:sty m:val="i"/>
                              </m:rPr>
                              <a:rPr lang="en-US" i="1" sz="1568">
                                <a:latin typeface="Cambria Math"/>
                              </a:rPr>
                              <m:t>Q</m:t>
                            </m:r>
                          </m:e>
                          <m:sup>
                            <m:r>
                              <m:rPr>
                                <m:sty m:val="p"/>
                              </m:rPr>
                              <a:rPr lang="en-US" i="0" sz="1568">
                                <a:latin typeface="Cambria Math"/>
                              </a:rPr>
                              <m:t>2</m:t>
                            </m:r>
                          </m:sup>
                        </m:sSup>
                      </m:num>
                      <m:den>
                        <m:box>
                          <m:e>
                            <m:r>
                              <m:rPr>
                                <m:sty m:val="p"/>
                              </m:rPr>
                              <a:rPr lang="en-US" i="0" sz="1568">
                                <a:latin typeface="Cambria Math"/>
                              </a:rPr>
                              <m:t>2</m:t>
                            </m:r>
                            <m:r>
                              <m:rPr>
                                <m:sty m:val="i"/>
                              </m:rPr>
                              <a:rPr lang="en-US" i="1" sz="1568">
                                <a:latin typeface="Cambria Math"/>
                              </a:rPr>
                              <m:t>C</m:t>
                            </m:r>
                          </m:e>
                        </m:box>
                      </m:den>
                    </m:f>
                    <m:r>
                      <m:rPr>
                        <m:sty m:val="p"/>
                      </m:rPr>
                      <a:rPr lang="en-US" i="0" sz="1568">
                        <a:latin typeface="Cambria Math"/>
                      </a:rPr>
                      <m:t>+</m:t>
                    </m:r>
                    <m:f>
                      <m:num>
                        <m:box>
                          <m:e>
                            <m:r>
                              <m:rPr>
                                <m:sty m:val="p"/>
                              </m:rPr>
                              <a:rPr lang="en-US" i="0" sz="1568">
                                <a:latin typeface="Cambria Math"/>
                              </a:rPr>
                              <m:t>(</m:t>
                            </m:r>
                            <m:sSub>
                              <m:e>
                                <m:r>
                                  <m:rPr>
                                    <m:sty m:val="i"/>
                                  </m:rPr>
                                  <a:rPr lang="en-US" i="1" sz="1568">
                                    <a:latin typeface="Cambria Math"/>
                                  </a:rPr>
                                  <m:t>I</m:t>
                                </m:r>
                              </m:e>
                              <m:sub>
                                <m:r>
                                  <m:rPr>
                                    <m:sty m:val="p"/>
                                  </m:rPr>
                                  <a:rPr lang="en-US" i="0" sz="1568">
                                    <a:latin typeface="Cambria Math"/>
                                  </a:rPr>
                                  <m:t>0</m:t>
                                </m:r>
                              </m:sub>
                            </m:sSub>
                            <m:r>
                              <m:rPr>
                                <m:sty m:val="i"/>
                              </m:rPr>
                              <a:rPr lang="en-US" i="1" sz="1568">
                                <a:latin typeface="Cambria Math"/>
                              </a:rPr>
                              <m:t>π</m:t>
                            </m:r>
                            <m:r>
                              <m:rPr>
                                <m:sty m:val="p"/>
                              </m:rPr>
                              <a:rPr lang="en-US" i="0" sz="1568">
                                <a:latin typeface="Cambria Math"/>
                              </a:rPr>
                              <m:t>)</m:t>
                            </m:r>
                          </m:e>
                        </m:box>
                      </m:num>
                      <m:den>
                        <m:box>
                          <m:e>
                            <m:r>
                              <m:rPr>
                                <m:sty m:val="p"/>
                              </m:rPr>
                              <a:rPr lang="en-US" i="0" sz="1568">
                                <a:latin typeface="Cambria Math"/>
                              </a:rPr>
                              <m:t>2</m:t>
                            </m:r>
                            <m:sSub>
                              <m:e>
                                <m:r>
                                  <m:rPr>
                                    <m:sty m:val="p"/>
                                  </m:rPr>
                                  <a:rPr lang="en-US" i="0" sz="1568">
                                    <a:latin typeface="Cambria Math"/>
                                  </a:rPr>
                                  <m:t>Φ</m:t>
                                </m:r>
                              </m:e>
                              <m:sub>
                                <m:r>
                                  <m:rPr>
                                    <m:sty m:val="p"/>
                                  </m:rPr>
                                  <a:rPr lang="en-US" i="0" sz="1568">
                                    <a:latin typeface="Cambria Math"/>
                                  </a:rPr>
                                  <m:t>0</m:t>
                                </m:r>
                              </m:sub>
                            </m:sSub>
                          </m:e>
                        </m:box>
                      </m:den>
                    </m:f>
                    <m:r>
                      <m:rPr>
                        <m:sty m:val="p"/>
                      </m:rPr>
                      <a:rPr lang="en-US" i="0" sz="1568">
                        <a:latin typeface="Cambria Math"/>
                      </a:rPr>
                      <m:t>cos</m:t>
                    </m:r>
                    <m:r>
                      <m:rPr>
                        <m:sty m:val="p"/>
                      </m:rPr>
                      <a:rPr lang="en-US" i="0" sz="1568">
                        <a:latin typeface="Cambria Math"/>
                      </a:rPr>
                      <m:t/>
                    </m:r>
                    <m:box>
                      <m:e>
                        <m:d>
                          <m:dPr>
                            <m:begChr m:val="("/>
                            <m:endChr m:val=")"/>
                          </m:dPr>
                          <m:e>
                            <m:box>
                              <m:e>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r>
                                  <m:rPr>
                                    <m:sty m:val="i"/>
                                  </m:rPr>
                                  <a:rPr lang="en-US" i="1" sz="1568">
                                    <a:latin typeface="Cambria Math"/>
                                  </a:rPr>
                                  <m:t>π</m:t>
                                </m:r>
                              </m:e>
                            </m:box>
                          </m:e>
                        </m:d>
                      </m:e>
                    </m:box>
                    <m:sSup>
                      <m:e>
                        <m:r>
                          <m:rPr>
                            <m:sty m:val="p"/>
                          </m:rPr>
                          <a:rPr lang="en-US" i="0" sz="1568">
                            <a:latin typeface="Cambria Math"/>
                          </a:rPr>
                          <m:t>Φ</m:t>
                        </m:r>
                      </m:e>
                      <m:sup>
                        <m:r>
                          <m:rPr>
                            <m:sty m:val="p"/>
                          </m:rPr>
                          <a:rPr lang="en-US" i="0" sz="1568">
                            <a:latin typeface="Cambria Math"/>
                          </a:rPr>
                          <m:t>2</m:t>
                        </m:r>
                      </m:sup>
                    </m:sSup>
                    <m:r>
                      <m:rPr>
                        <m:sty m:val="p"/>
                      </m:rPr>
                      <a:rPr lang="en-US" i="0" sz="1568">
                        <a:latin typeface="Cambria Math"/>
                      </a:rPr>
                      <m:t>−</m:t>
                    </m:r>
                    <m:f>
                      <m:num>
                        <m:sSub>
                          <m:e>
                            <m:r>
                              <m:rPr>
                                <m:sty m:val="i"/>
                              </m:rPr>
                              <a:rPr lang="en-US" i="1" sz="1568">
                                <a:latin typeface="Cambria Math"/>
                              </a:rPr>
                              <m:t>I</m:t>
                            </m:r>
                          </m:e>
                          <m:sub>
                            <m:r>
                              <m:rPr>
                                <m:sty m:val="p"/>
                              </m:rPr>
                              <a:rPr lang="en-US" i="0" sz="1568">
                                <a:latin typeface="Cambria Math"/>
                              </a:rPr>
                              <m:t>0</m:t>
                            </m:r>
                          </m:sub>
                        </m:sSub>
                      </m:num>
                      <m:den>
                        <m:r>
                          <m:rPr>
                            <m:sty m:val="p"/>
                          </m:rPr>
                          <a:rPr lang="en-US" i="0" sz="1568">
                            <a:latin typeface="Cambria Math"/>
                          </a:rPr>
                          <m:t>24</m:t>
                        </m:r>
                      </m:den>
                    </m:f>
                    <m:sSup>
                      <m:e>
                        <m:box>
                          <m:e>
                            <m:d>
                              <m:dPr>
                                <m:begChr m:val="("/>
                                <m:endChr m:val=")"/>
                              </m:dPr>
                              <m:e>
                                <m:box>
                                  <m:e>
                                    <m:f>
                                      <m:num>
                                        <m:r>
                                          <m:rPr>
                                            <m:sty m:val="i"/>
                                          </m:rPr>
                                          <a:rPr lang="en-US" i="1" sz="1568">
                                            <a:latin typeface="Cambria Math"/>
                                          </a:rPr>
                                          <m:t>π</m:t>
                                        </m:r>
                                      </m:num>
                                      <m:den>
                                        <m:sSub>
                                          <m:e>
                                            <m:r>
                                              <m:rPr>
                                                <m:sty m:val="p"/>
                                              </m:rPr>
                                              <a:rPr lang="en-US" i="0" sz="1568">
                                                <a:latin typeface="Cambria Math"/>
                                              </a:rPr>
                                              <m:t>Φ</m:t>
                                            </m:r>
                                          </m:e>
                                          <m:sub>
                                            <m:r>
                                              <m:rPr>
                                                <m:sty m:val="p"/>
                                              </m:rPr>
                                              <a:rPr lang="en-US" i="0" sz="1568">
                                                <a:latin typeface="Cambria Math"/>
                                              </a:rPr>
                                              <m:t>0</m:t>
                                            </m:r>
                                          </m:sub>
                                        </m:sSub>
                                      </m:den>
                                    </m:f>
                                  </m:e>
                                </m:box>
                              </m:e>
                            </m:d>
                          </m:e>
                        </m:box>
                      </m:e>
                      <m:sup>
                        <m:r>
                          <m:rPr>
                            <m:sty m:val="p"/>
                          </m:rPr>
                          <a:rPr lang="en-US" i="0" sz="1568">
                            <a:latin typeface="Cambria Math"/>
                          </a:rPr>
                          <m:t>3</m:t>
                        </m:r>
                      </m:sup>
                    </m:sSup>
                    <m:r>
                      <m:rPr>
                        <m:sty m:val="p"/>
                      </m:rPr>
                      <a:rPr lang="en-US" i="0" sz="1568">
                        <a:latin typeface="Cambria Math"/>
                      </a:rPr>
                      <m:t>cos</m:t>
                    </m:r>
                    <m:r>
                      <m:rPr>
                        <m:sty m:val="p"/>
                      </m:rPr>
                      <a:rPr lang="en-US" i="0" sz="1568">
                        <a:latin typeface="Cambria Math"/>
                      </a:rPr>
                      <m:t/>
                    </m:r>
                    <m:box>
                      <m:e>
                        <m:d>
                          <m:dPr>
                            <m:begChr m:val="("/>
                            <m:endChr m:val=")"/>
                          </m:dPr>
                          <m:e>
                            <m:box>
                              <m:e>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r>
                                  <m:rPr>
                                    <m:sty m:val="i"/>
                                  </m:rPr>
                                  <a:rPr lang="en-US" i="1" sz="1568">
                                    <a:latin typeface="Cambria Math"/>
                                  </a:rPr>
                                  <m:t>π</m:t>
                                </m:r>
                              </m:e>
                            </m:box>
                          </m:e>
                        </m:d>
                      </m:e>
                    </m:box>
                    <m:sSup>
                      <m:e>
                        <m:r>
                          <m:rPr>
                            <m:sty m:val="p"/>
                          </m:rPr>
                          <a:rPr lang="en-US" i="0" sz="1568">
                            <a:latin typeface="Cambria Math"/>
                          </a:rPr>
                          <m:t>Φ</m:t>
                        </m:r>
                      </m:e>
                      <m:sup>
                        <m:r>
                          <m:rPr>
                            <m:sty m:val="p"/>
                          </m:rPr>
                          <a:rPr lang="en-US" i="0" sz="1568">
                            <a:latin typeface="Cambria Math"/>
                          </a:rPr>
                          <m:t>4</m:t>
                        </m:r>
                      </m:sup>
                    </m:sSup>
                    <m:r>
                      <m:rPr>
                        <m:sty m:val="p"/>
                      </m:rPr>
                      <a:rPr lang="en-US" i="0" sz="1568">
                        <a:latin typeface="Cambria Math"/>
                      </a:rPr>
                      <m:t>+</m:t>
                    </m:r>
                    <m:r>
                      <m:rPr>
                        <m:sty m:val="p"/>
                      </m:rPr>
                      <a:rPr lang="en-US" i="0" sz="1568">
                        <a:latin typeface="Cambria Math"/>
                      </a:rPr>
                      <m:t>⋯</m:t>
                    </m:r>
                  </m:oMath>
                </a14:m>
              </mc:Choice>
              <mc:Fallback>
                <a:r>
                  <a:rPr lang="en-US" sz="1567" i="1"/>
                  <a:t>
                                    \mathcal{H} = \frac{Q^2}{2C} + \frac{\Phi_\#^2}{2L} = \frac{Q^2}{2C} + \frac{(I_0
                                    \pi)}{2\Phi_0} \cos\left(\frac{\Phi_B}{\Phi_0} \pi\right) \Phi^2 - \frac{I_0}{24}
                                    \left(\frac{\pi}{\Phi_0}\right)^3 \cos\left(\frac{\Phi_B}{\Phi_0} \pi\right) \Phi^4
                                    + \cdots
                                    </a:t>
                </a:r>
              </mc:Fallback>
            </mc:AlternateContent>
            <a:r>
              <a:rPr sz="1400" b="0" i="0">
                <a:solidFill>
                  <a:srgbClr val="4F4C56"/>
                </a:solidFill>
                <a:latin typeface="Montserrat"/>
                <a:ea typeface="Montserrat"/>
                <a:cs typeface="Montserrat"/>
              </a:rPr>
              <a:t> </a:t>
            </a:r>
            <mc:AlternateContent xmlns:mc="http://schemas.openxmlformats.org/markup-compatibility/2006">
              <mc:Choice xmlns:a14="http://schemas.microsoft.com/office/drawing/2010/main" Requires="a14">
                <a14:m>
                  <m:oMath xmlns:m="http://schemas.openxmlformats.org/officeDocument/2006/math">
                    <m:r>
                      <m:rPr>
                        <m:sty m:val="p"/>
                      </m:rPr>
                      <a:rPr lang="en-US" i="0" sz="1568">
                        <a:latin typeface="Cambria Math"/>
                      </a:rPr>
                      <m:t>=</m:t>
                    </m:r>
                    <m:f>
                      <m:num>
                        <m:sSup>
                          <m:e>
                            <m:r>
                              <m:rPr>
                                <m:sty m:val="i"/>
                              </m:rPr>
                              <a:rPr lang="en-US" i="1" sz="1568">
                                <a:latin typeface="Cambria Math"/>
                              </a:rPr>
                              <m:t>Q</m:t>
                            </m:r>
                          </m:e>
                          <m:sup>
                            <m:r>
                              <m:rPr>
                                <m:sty m:val="p"/>
                              </m:rPr>
                              <a:rPr lang="en-US" i="0" sz="1568">
                                <a:latin typeface="Cambria Math"/>
                              </a:rPr>
                              <m:t>2</m:t>
                            </m:r>
                          </m:sup>
                        </m:sSup>
                      </m:num>
                      <m:den>
                        <m:box>
                          <m:e>
                            <m:r>
                              <m:rPr>
                                <m:sty m:val="p"/>
                              </m:rPr>
                              <a:rPr lang="en-US" i="0" sz="1568">
                                <a:latin typeface="Cambria Math"/>
                              </a:rPr>
                              <m:t>2</m:t>
                            </m:r>
                            <m:r>
                              <m:rPr>
                                <m:sty m:val="i"/>
                              </m:rPr>
                              <a:rPr lang="en-US" i="1" sz="1568">
                                <a:latin typeface="Cambria Math"/>
                              </a:rPr>
                              <m:t>C</m:t>
                            </m:r>
                          </m:e>
                        </m:box>
                      </m:den>
                    </m:f>
                    <m:r>
                      <m:rPr>
                        <m:sty m:val="p"/>
                      </m:rPr>
                      <a:rPr lang="en-US" i="0" sz="1568">
                        <a:latin typeface="Cambria Math"/>
                      </a:rPr>
                      <m:t>+</m:t>
                    </m:r>
                    <m:f>
                      <m:num>
                        <m:sSup>
                          <m:e>
                            <m:r>
                              <m:rPr>
                                <m:sty m:val="p"/>
                              </m:rPr>
                              <a:rPr lang="en-US" i="0" sz="1568">
                                <a:latin typeface="Cambria Math"/>
                              </a:rPr>
                              <m:t>Φ</m:t>
                            </m:r>
                          </m:e>
                          <m:sup>
                            <m:r>
                              <m:rPr>
                                <m:sty m:val="p"/>
                              </m:rPr>
                              <a:rPr lang="en-US" i="0" sz="1568">
                                <a:latin typeface="Cambria Math"/>
                              </a:rPr>
                              <m:t>2</m:t>
                            </m:r>
                          </m:sup>
                        </m:sSup>
                      </m:num>
                      <m:den>
                        <m:box>
                          <m:e>
                            <m:r>
                              <m:rPr>
                                <m:sty m:val="p"/>
                              </m:rPr>
                              <a:rPr lang="en-US" i="0" sz="1568">
                                <a:latin typeface="Cambria Math"/>
                              </a:rPr>
                              <m:t>2</m:t>
                            </m:r>
                            <m:r>
                              <m:rPr>
                                <m:sty m:val="i"/>
                              </m:rPr>
                              <a:rPr lang="en-US" i="1" sz="1568">
                                <a:latin typeface="Cambria Math"/>
                              </a:rPr>
                              <m:t>L</m:t>
                            </m:r>
                          </m:e>
                        </m:box>
                      </m:den>
                    </m:f>
                    <m:r>
                      <m:rPr>
                        <m:sty m:val="p"/>
                      </m:rPr>
                      <a:rPr lang="en-US" i="0" sz="1568">
                        <a:latin typeface="Cambria Math"/>
                      </a:rPr>
                      <m:t>−</m:t>
                    </m:r>
                    <m:f>
                      <m:num>
                        <m:r>
                          <m:rPr>
                            <m:sty m:val="p"/>
                          </m:rPr>
                          <a:rPr lang="en-US" i="0" sz="1568">
                            <a:latin typeface="Cambria Math"/>
                          </a:rPr>
                          <m:t>1</m:t>
                        </m:r>
                      </m:num>
                      <m:den>
                        <m:box>
                          <m:e>
                            <m:r>
                              <m:rPr>
                                <m:sty m:val="p"/>
                              </m:rPr>
                              <a:rPr lang="en-US" i="0" sz="1568">
                                <a:latin typeface="Cambria Math"/>
                              </a:rPr>
                              <m:t>24</m:t>
                            </m:r>
                            <m:r>
                              <m:rPr>
                                <m:sty m:val="i"/>
                              </m:rPr>
                              <a:rPr lang="en-US" i="1" sz="1568">
                                <a:latin typeface="Cambria Math"/>
                              </a:rPr>
                              <m:t>L</m:t>
                            </m:r>
                          </m:e>
                        </m:box>
                      </m:den>
                    </m:f>
                    <m:sSup>
                      <m:e>
                        <m:box>
                          <m:e>
                            <m:d>
                              <m:dPr>
                                <m:begChr m:val="("/>
                                <m:endChr m:val=")"/>
                              </m:dPr>
                              <m:e>
                                <m:box>
                                  <m:e>
                                    <m:f>
                                      <m:num>
                                        <m:r>
                                          <m:rPr>
                                            <m:sty m:val="i"/>
                                          </m:rPr>
                                          <a:rPr lang="en-US" i="1" sz="1568">
                                            <a:latin typeface="Cambria Math"/>
                                          </a:rPr>
                                          <m:t>π</m:t>
                                        </m:r>
                                      </m:num>
                                      <m:den>
                                        <m:sSub>
                                          <m:e>
                                            <m:r>
                                              <m:rPr>
                                                <m:sty m:val="p"/>
                                              </m:rPr>
                                              <a:rPr lang="en-US" i="0" sz="1568">
                                                <a:latin typeface="Cambria Math"/>
                                              </a:rPr>
                                              <m:t>Φ</m:t>
                                            </m:r>
                                          </m:e>
                                          <m:sub>
                                            <m:r>
                                              <m:rPr>
                                                <m:sty m:val="p"/>
                                              </m:rPr>
                                              <a:rPr lang="en-US" i="0" sz="1568">
                                                <a:latin typeface="Cambria Math"/>
                                              </a:rPr>
                                              <m:t>0</m:t>
                                            </m:r>
                                          </m:sub>
                                        </m:sSub>
                                      </m:den>
                                    </m:f>
                                  </m:e>
                                </m:box>
                              </m:e>
                            </m:d>
                          </m:e>
                        </m:box>
                      </m:e>
                      <m:sup>
                        <m:r>
                          <m:rPr>
                            <m:sty m:val="p"/>
                          </m:rPr>
                          <a:rPr lang="en-US" i="0" sz="1568">
                            <a:latin typeface="Cambria Math"/>
                          </a:rPr>
                          <m:t>2</m:t>
                        </m:r>
                      </m:sup>
                    </m:sSup>
                    <m:sSup>
                      <m:e>
                        <m:r>
                          <m:rPr>
                            <m:sty m:val="p"/>
                          </m:rPr>
                          <a:rPr lang="en-US" i="0" sz="1568">
                            <a:latin typeface="Cambria Math"/>
                          </a:rPr>
                          <m:t>Φ</m:t>
                        </m:r>
                      </m:e>
                      <m:sup>
                        <m:r>
                          <m:rPr>
                            <m:sty m:val="p"/>
                          </m:rPr>
                          <a:rPr lang="en-US" i="0" sz="1568">
                            <a:latin typeface="Cambria Math"/>
                          </a:rPr>
                          <m:t>4</m:t>
                        </m:r>
                      </m:sup>
                    </m:sSup>
                    <m:r>
                      <m:rPr>
                        <m:sty m:val="p"/>
                      </m:rPr>
                      <a:rPr lang="en-US" i="0" sz="1568">
                        <a:latin typeface="Cambria Math"/>
                      </a:rPr>
                      <m:t>+</m:t>
                    </m:r>
                    <m:r>
                      <m:rPr>
                        <m:sty m:val="p"/>
                      </m:rPr>
                      <a:rPr lang="en-US" i="0" sz="1568">
                        <a:latin typeface="Cambria Math"/>
                      </a:rPr>
                      <m:t>⋯</m:t>
                    </m:r>
                  </m:oMath>
                </a14:m>
              </mc:Choice>
              <mc:Fallback>
                <a:r>
                  <a:rPr lang="en-US" sz="1567" i="1"/>
                  <a:t>
                                    = \frac{Q^2}{2C} + \frac{\Phi^2}{2L} - \frac{1}{24L}
                                    \left(\frac{\pi}{\Phi_0}\right)^2
                                    \Phi^4
                                    + \cdots
                                    </a:t>
                </a:r>
              </mc:Fallback>
            </mc:AlternateContent>
            <a:r>
              <a:rPr sz="1400" b="0" i="0">
                <a:solidFill>
                  <a:srgbClr val="4F4C56"/>
                </a:solidFill>
                <a:latin typeface="Montserrat"/>
                <a:ea typeface="Montserrat"/>
                <a:cs typeface="Montserrat"/>
              </a:rPr>
              <a:t> where: </a:t>
            </a:r>
            <mc:AlternateContent xmlns:mc="http://schemas.openxmlformats.org/markup-compatibility/2006">
              <mc:Choice xmlns:a14="http://schemas.microsoft.com/office/drawing/2010/main" Requires="a14">
                <a14:m>
                  <m:oMath xmlns:m="http://schemas.openxmlformats.org/officeDocument/2006/math">
                    <m:r>
                      <m:rPr>
                        <m:sty m:val="i"/>
                      </m:rPr>
                      <a:rPr lang="en-US" i="1" sz="1568">
                        <a:latin typeface="Cambria Math"/>
                      </a:rPr>
                      <m:t>L</m:t>
                    </m:r>
                    <m:r>
                      <m:rPr>
                        <m:sty m:val="p"/>
                      </m:rPr>
                      <a:rPr lang="en-US" i="0" sz="1568">
                        <a:latin typeface="Cambria Math"/>
                      </a:rPr>
                      <m:t>=</m:t>
                    </m:r>
                    <m:sSup>
                      <m:e>
                        <m:box>
                          <m:e>
                            <m:d>
                              <m:dPr>
                                <m:begChr m:val="("/>
                                <m:endChr m:val=")"/>
                              </m:dPr>
                              <m:e>
                                <m:box>
                                  <m:e>
                                    <m:f>
                                      <m:num>
                                        <m:box>
                                          <m:e>
                                            <m:sSub>
                                              <m:e>
                                                <m:r>
                                                  <m:rPr>
                                                    <m:sty m:val="i"/>
                                                  </m:rPr>
                                                  <a:rPr lang="en-US" i="1" sz="1568">
                                                    <a:latin typeface="Cambria Math"/>
                                                  </a:rPr>
                                                  <m:t>I</m:t>
                                                </m:r>
                                              </m:e>
                                              <m:sub>
                                                <m:r>
                                                  <m:rPr>
                                                    <m:sty m:val="p"/>
                                                  </m:rPr>
                                                  <a:rPr lang="en-US" i="0" sz="1568">
                                                    <a:latin typeface="Cambria Math"/>
                                                  </a:rPr>
                                                  <m:t>0</m:t>
                                                </m:r>
                                              </m:sub>
                                            </m:sSub>
                                            <m:r>
                                              <m:rPr>
                                                <m:sty m:val="i"/>
                                              </m:rPr>
                                              <a:rPr lang="en-US" i="1" sz="1568">
                                                <a:latin typeface="Cambria Math"/>
                                              </a:rPr>
                                              <m:t>π</m:t>
                                            </m:r>
                                          </m:e>
                                        </m:box>
                                      </m:num>
                                      <m:den>
                                        <m:sSub>
                                          <m:e>
                                            <m:r>
                                              <m:rPr>
                                                <m:sty m:val="p"/>
                                              </m:rPr>
                                              <a:rPr lang="en-US" i="0" sz="1568">
                                                <a:latin typeface="Cambria Math"/>
                                              </a:rPr>
                                              <m:t>Φ</m:t>
                                            </m:r>
                                          </m:e>
                                          <m:sub>
                                            <m:r>
                                              <m:rPr>
                                                <m:sty m:val="p"/>
                                              </m:rPr>
                                              <a:rPr lang="en-US" i="0" sz="1568">
                                                <a:latin typeface="Cambria Math"/>
                                              </a:rPr>
                                              <m:t>0</m:t>
                                            </m:r>
                                          </m:sub>
                                        </m:sSub>
                                      </m:den>
                                    </m:f>
                                    <m:r>
                                      <m:rPr>
                                        <m:sty m:val="p"/>
                                      </m:rPr>
                                      <a:rPr lang="en-US" i="0" sz="1568">
                                        <a:latin typeface="Cambria Math"/>
                                      </a:rPr>
                                      <m:t>cos</m:t>
                                    </m:r>
                                    <m:r>
                                      <m:rPr>
                                        <m:sty m:val="p"/>
                                      </m:rPr>
                                      <a:rPr lang="en-US" i="0" sz="1568">
                                        <a:latin typeface="Cambria Math"/>
                                      </a:rPr>
                                      <m:t/>
                                    </m:r>
                                    <m:box>
                                      <m:e>
                                        <m:d>
                                          <m:dPr>
                                            <m:begChr m:val="("/>
                                            <m:endChr m:val=")"/>
                                          </m:dPr>
                                          <m:e>
                                            <m:box>
                                              <m:e>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r>
                                                  <m:rPr>
                                                    <m:sty m:val="i"/>
                                                  </m:rPr>
                                                  <a:rPr lang="en-US" i="1" sz="1568">
                                                    <a:latin typeface="Cambria Math"/>
                                                  </a:rPr>
                                                  <m:t>π</m:t>
                                                </m:r>
                                              </m:e>
                                            </m:box>
                                          </m:e>
                                        </m:d>
                                      </m:e>
                                    </m:box>
                                  </m:e>
                                </m:box>
                              </m:e>
                            </m:d>
                          </m:e>
                        </m:box>
                      </m:e>
                      <m:sup>
                        <m:box>
                          <m:e>
                            <m:r>
                              <m:rPr>
                                <m:sty m:val="p"/>
                              </m:rPr>
                              <a:rPr lang="en-US" i="0" sz="1568">
                                <a:latin typeface="Cambria Math"/>
                              </a:rPr>
                              <m:t>−</m:t>
                            </m:r>
                            <m:r>
                              <m:rPr>
                                <m:sty m:val="p"/>
                              </m:rPr>
                              <a:rPr lang="en-US" i="0" sz="1568">
                                <a:latin typeface="Cambria Math"/>
                              </a:rPr>
                              <m:t>1</m:t>
                            </m:r>
                          </m:e>
                        </m:box>
                      </m:sup>
                    </m:sSup>
                  </m:oMath>
                </a14:m>
              </mc:Choice>
              <mc:Fallback>
                <a:r>
                  <a:rPr lang="en-US" sz="1567" i="1"/>
                  <a:t>
                                    L = \left(\frac{I_0 \pi}{\Phi_0} \cos\left(\frac{\Phi_B}{\Phi_0}
                                    \pi\right)\right)^{-1}
                                    </a:t>
                </a:r>
              </mc:Fallback>
            </mc:AlternateContent>
            <a:r>
              <a:rPr sz="1400" b="0" i="0">
                <a:solidFill>
                  <a:srgbClr val="4F4C56"/>
                </a:solidFill>
                <a:latin typeface="Montserrat"/>
                <a:ea typeface="Montserrat"/>
                <a:cs typeface="Montserrat"/>
              </a:rPr>
              <a:t> </a:t>
            </a:r>
          </a:p>
        </p:txBody>
      </p:sp>
      <p:sp>
        <p:nvSpPr>
          <p:cNvPr id="11" name="Rectangle 10"/>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3" name="TextBox 12"/>
          <p:cNvSpPr txBox="1"/>
          <p:nvPr/>
        </p:nvSpPr>
        <p:spPr>
          <a:xfrm>
            <a:off x="11258285" y="6565900"/>
            <a:ext cx="442648"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91 / 100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10822252" y="324115"/>
            <a:ext cx="878681"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Rabi Chevron</a:t>
            </a:r>
          </a:p>
        </p:txBody>
      </p:sp>
      <p:sp>
        <p:nvSpPr>
          <p:cNvPr id="5" name="TextBox 4"/>
          <p:cNvSpPr txBox="1"/>
          <p:nvPr/>
        </p:nvSpPr>
        <p:spPr>
          <a:xfrm>
            <a:off x="575733" y="863600"/>
            <a:ext cx="11040533" cy="436827"/>
          </a:xfrm>
          <a:prstGeom prst="rect">
            <a:avLst/>
          </a:prstGeom>
          <a:noFill/>
        </p:spPr>
        <p:txBody>
          <a:bodyPr wrap="none" lIns="0" rIns="0" tIns="0" bIns="0" anchor="t">
            <a:noAutofit/>
          </a:bodyPr>
          <a:lstStyle/>
          <a:p>
            <a:pPr algn="l">
              <a:lnSpc>
                <a:spcPts val="3440"/>
              </a:lnSpc>
            </a:pPr>
            <a:r>
              <a:rPr sz="2870" b="1" i="0">
                <a:solidFill>
                  <a:srgbClr val="22232A"/>
                </a:solidFill>
                <a:latin typeface="Montserrat"/>
                <a:ea typeface="Montserrat"/>
                <a:cs typeface="Montserrat"/>
              </a:rPr>
              <a:t>Rabi Chevron</a:t>
            </a:r>
          </a:p>
        </p:txBody>
      </p:sp>
      <p:pic>
        <p:nvPicPr>
          <p:cNvPr id="6" name="Rabi oscillations vs pulse width" descr="s23-paik-2011-figS2-rabi.png"/>
          <p:cNvPicPr>
            <a:picLocks noChangeAspect="1"/>
          </p:cNvPicPr>
          <p:nvPr/>
        </p:nvPicPr>
        <p:blipFill>
          <a:blip r:embed="rId2"/>
          <a:stretch>
            <a:fillRect/>
          </a:stretch>
        </p:blipFill>
        <p:spPr>
          <a:xfrm>
            <a:off x="1766226" y="1452851"/>
            <a:ext cx="3079882" cy="1269951"/>
          </a:xfrm>
          <a:prstGeom prst="rect">
            <a:avLst/>
          </a:prstGeom>
        </p:spPr>
      </p:pic>
      <p:sp>
        <p:nvSpPr>
          <p:cNvPr id="7" name="TextBox 6"/>
          <p:cNvSpPr txBox="1"/>
          <p:nvPr/>
        </p:nvSpPr>
        <p:spPr>
          <a:xfrm>
            <a:off x="575733" y="2782094"/>
            <a:ext cx="5461000" cy="175154"/>
          </a:xfrm>
          <a:prstGeom prst="rect">
            <a:avLst/>
          </a:prstGeom>
          <a:noFill/>
        </p:spPr>
        <p:txBody>
          <a:bodyPr wrap="none" lIns="0" rIns="0" tIns="0" bIns="0" anchor="t">
            <a:noAutofit/>
          </a:bodyPr>
          <a:lstStyle/>
          <a:p>
            <a:pPr algn="l">
              <a:lnSpc>
                <a:spcPts val="1380"/>
              </a:lnSpc>
            </a:pPr>
            <a:r>
              <a:rPr sz="1080" b="1" i="0">
                <a:solidFill>
                  <a:srgbClr val="302840"/>
                </a:solidFill>
                <a:latin typeface="Montserrat"/>
                <a:ea typeface="Montserrat"/>
                <a:cs typeface="Montserrat"/>
              </a:rPr>
              <a:t>Rabi oscillation</a:t>
            </a:r>
            <a:r>
              <a:rPr sz="1080" b="0" i="0">
                <a:solidFill>
                  <a:srgbClr val="5F5865"/>
                </a:solidFill>
                <a:latin typeface="Montserrat"/>
                <a:ea typeface="Montserrat"/>
                <a:cs typeface="Montserrat"/>
              </a:rPr>
              <a:t> on resonance. Ref. </a:t>
            </a:r>
            <a:r>
              <a:rPr sz="1080" b="0" i="0">
                <a:solidFill>
                  <a:srgbClr val="355C9A"/>
                </a:solidFill>
                <a:latin typeface="Montserrat"/>
                <a:ea typeface="Montserrat"/>
                <a:cs typeface="Montserrat"/>
                <a:hlinkClick r:id="rId3"/>
              </a:rPr>
              <a:t>[12]</a:t>
            </a:r>
          </a:p>
        </p:txBody>
      </p:sp>
      <p:pic>
        <p:nvPicPr>
          <p:cNvPr id="8" name="Rabi chevron: excited-state population vs drive detuning and pulse delay" descr="s29-rabi-chevron.png"/>
          <p:cNvPicPr>
            <a:picLocks noChangeAspect="1"/>
          </p:cNvPicPr>
          <p:nvPr/>
        </p:nvPicPr>
        <p:blipFill>
          <a:blip r:embed="rId4"/>
          <a:stretch>
            <a:fillRect/>
          </a:stretch>
        </p:blipFill>
        <p:spPr>
          <a:xfrm>
            <a:off x="2122355" y="3041945"/>
            <a:ext cx="2367756" cy="2201273"/>
          </a:xfrm>
          <a:prstGeom prst="rect">
            <a:avLst/>
          </a:prstGeom>
        </p:spPr>
      </p:pic>
      <p:sp>
        <p:nvSpPr>
          <p:cNvPr id="9" name="TextBox 8"/>
          <p:cNvSpPr txBox="1"/>
          <p:nvPr/>
        </p:nvSpPr>
        <p:spPr>
          <a:xfrm>
            <a:off x="575733" y="5302515"/>
            <a:ext cx="5461000" cy="556022"/>
          </a:xfrm>
          <a:prstGeom prst="rect">
            <a:avLst/>
          </a:prstGeom>
          <a:noFill/>
        </p:spPr>
        <p:txBody>
          <a:bodyPr wrap="square" lIns="0" rIns="0" tIns="0" bIns="0" anchor="t">
            <a:noAutofit/>
          </a:bodyPr>
          <a:lstStyle/>
          <a:p>
            <a:pPr algn="l">
              <a:lnSpc>
                <a:spcPts val="1380"/>
              </a:lnSpc>
            </a:pPr>
            <a:r>
              <a:rPr sz="1080" b="1" i="0">
                <a:solidFill>
                  <a:srgbClr val="302840"/>
                </a:solidFill>
                <a:latin typeface="Montserrat"/>
                <a:ea typeface="Montserrat"/>
                <a:cs typeface="Montserrat"/>
              </a:rPr>
              <a:t>Rabi chevron.</a:t>
            </a:r>
            <a:r>
              <a:rPr sz="1080" b="0" i="0">
                <a:solidFill>
                  <a:srgbClr val="5F5865"/>
                </a:solidFill>
                <a:latin typeface="Montserrat"/>
                <a:ea typeface="Montserrat"/>
                <a:cs typeface="Montserrat"/>
              </a:rPr>
              <a:t> Sweeping drive detuning and pulse length: off resonance the oscillation speeds up (generalized Rabi frequency </a:t>
            </a:r>
            <mc:AlternateContent xmlns:mc="http://schemas.openxmlformats.org/markup-compatibility/2006">
              <mc:Choice xmlns:a14="http://schemas.microsoft.com/office/drawing/2010/main" Requires="a14">
                <a14:m>
                  <m:oMath xmlns:m="http://schemas.openxmlformats.org/officeDocument/2006/math">
                    <m:rad>
                      <m:radPr>
                        <m:degHide m:val="1"/>
                      </m:radPr>
                      <m:deg/>
                      <m:e>
                        <m:box>
                          <m:e>
                            <m:sSup>
                              <m:e>
                                <m:r>
                                  <m:rPr>
                                    <m:sty m:val="p"/>
                                  </m:rPr>
                                  <a:rPr lang="en-US" i="0" sz="1282">
                                    <a:latin typeface="Cambria Math"/>
                                  </a:rPr>
                                  <m:t>Ω</m:t>
                                </m:r>
                              </m:e>
                              <m:sup>
                                <m:r>
                                  <m:rPr>
                                    <m:sty m:val="p"/>
                                  </m:rPr>
                                  <a:rPr lang="en-US" i="0" sz="1282">
                                    <a:latin typeface="Cambria Math"/>
                                  </a:rPr>
                                  <m:t>2</m:t>
                                </m:r>
                              </m:sup>
                            </m:sSup>
                            <m:r>
                              <m:rPr>
                                <m:sty m:val="p"/>
                              </m:rPr>
                              <a:rPr lang="en-US" i="0" sz="1282">
                                <a:latin typeface="Cambria Math"/>
                              </a:rPr>
                              <m:t>+</m:t>
                            </m:r>
                            <m:sSup>
                              <m:e>
                                <m:r>
                                  <m:rPr>
                                    <m:sty m:val="p"/>
                                  </m:rPr>
                                  <a:rPr lang="en-US" i="0" sz="1282">
                                    <a:latin typeface="Cambria Math"/>
                                  </a:rPr>
                                  <m:t>Δ</m:t>
                                </m:r>
                              </m:e>
                              <m:sup>
                                <m:r>
                                  <m:rPr>
                                    <m:sty m:val="p"/>
                                  </m:rPr>
                                  <a:rPr lang="en-US" i="0" sz="1282">
                                    <a:latin typeface="Cambria Math"/>
                                  </a:rPr>
                                  <m:t>2</m:t>
                                </m:r>
                              </m:sup>
                            </m:sSup>
                          </m:e>
                        </m:box>
                      </m:e>
                    </m:rad>
                  </m:oMath>
                </a14:m>
              </mc:Choice>
              <mc:Fallback>
                <a:r>
                  <a:rPr lang="en-US" sz="1281" i="1"/>
                  <a:t>\sqrt{\Omega^2+\Delta^2}</a:t>
                </a:r>
              </mc:Fallback>
            </mc:AlternateContent>
            <a:r>
              <a:rPr sz="1080" b="0" i="0">
                <a:solidFill>
                  <a:srgbClr val="5F5865"/>
                </a:solidFill>
                <a:latin typeface="Montserrat"/>
                <a:ea typeface="Montserrat"/>
                <a:cs typeface="Montserrat"/>
              </a:rPr>
              <a:t>) and loses contrast. Ref. </a:t>
            </a:r>
            <a:r>
              <a:rPr sz="1080" b="0" i="0">
                <a:solidFill>
                  <a:srgbClr val="355C9A"/>
                </a:solidFill>
                <a:latin typeface="Montserrat"/>
                <a:ea typeface="Montserrat"/>
                <a:cs typeface="Montserrat"/>
                <a:hlinkClick r:id="rId5"/>
              </a:rPr>
              <a:t>[14]</a:t>
            </a:r>
          </a:p>
        </p:txBody>
      </p:sp>
      <p:sp>
        <p:nvSpPr>
          <p:cNvPr id="10" name="Rounded Rectangle 9"/>
          <p:cNvSpPr/>
          <p:nvPr/>
        </p:nvSpPr>
        <p:spPr>
          <a:xfrm>
            <a:off x="6155267" y="1537494"/>
            <a:ext cx="5461000" cy="2359422"/>
          </a:xfrm>
          <a:prstGeom prst="roundRect">
            <a:avLst>
              <a:gd name="adj" fmla="val 2153"/>
            </a:avLst>
          </a:prstGeom>
          <a:solidFill>
            <a:srgbClr val="F0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55267" y="1537494"/>
            <a:ext cx="33867" cy="2359422"/>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quation"/>
          <p:cNvSpPr txBox="1"/>
          <p:nvPr/>
        </p:nvSpPr>
        <p:spPr>
          <a:xfrm>
            <a:off x="6307667" y="1774560"/>
            <a:ext cx="5190067" cy="611188"/>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568">
                              <a:latin typeface="Cambria Math"/>
                            </a:rPr>
                            <m:t>ω</m:t>
                          </m:r>
                        </m:e>
                        <m:sub>
                          <m:r>
                            <m:rPr>
                              <m:sty m:val="p"/>
                            </m:rPr>
                            <a:rPr lang="en-US" i="0" sz="1568">
                              <a:latin typeface="Cambria Math"/>
                            </a:rPr>
                            <m:t>Σ</m:t>
                          </m:r>
                        </m:sub>
                      </m:sSub>
                      <m:r>
                        <m:rPr>
                          <m:sty m:val="p"/>
                        </m:rPr>
                        <a:rPr lang="en-US" i="0" sz="1568">
                          <a:latin typeface="Cambria Math"/>
                        </a:rPr>
                        <m:t>∝</m:t>
                      </m:r>
                      <m:rad>
                        <m:radPr>
                          <m:degHide m:val="1"/>
                        </m:radPr>
                        <m:deg/>
                        <m:e>
                          <m:box>
                            <m:e>
                              <m:r>
                                <m:rPr>
                                  <m:sty m:val="p"/>
                                </m:rPr>
                                <a:rPr lang="en-US" i="0" sz="1568">
                                  <a:latin typeface="Cambria Math"/>
                                </a:rPr>
                                <m:t>cos</m:t>
                              </m:r>
                              <m:box>
                                <m:e>
                                  <m:r>
                                    <a:rPr lang="en-US" i="1" sz="1568">
                                      <a:latin typeface="Cambria Math"/>
                                    </a:rPr>
                                    <m:t/>
                                  </m:r>
                                </m:e>
                              </m:box>
                              <m:box>
                                <m:e>
                                  <m:d>
                                    <m:dPr>
                                      <m:begChr m:val="("/>
                                      <m:endChr m:val=")"/>
                                    </m:dPr>
                                    <m:e>
                                      <m:box>
                                        <m:e>
                                          <m:r>
                                            <m:rPr>
                                              <m:sty m:val="p"/>
                                            </m:rPr>
                                            <a:rPr lang="en-US" i="0" sz="1568">
                                              <a:latin typeface="Cambria Math"/>
                                            </a:rPr>
                                            <m:t>Δ</m:t>
                                          </m:r>
                                          <m:r>
                                            <m:rPr>
                                              <m:sty m:val="i"/>
                                            </m:rPr>
                                            <a:rPr lang="en-US" i="1" sz="1568">
                                              <a:latin typeface="Cambria Math"/>
                                            </a:rPr>
                                            <m:t>θ</m:t>
                                          </m:r>
                                          <m:r>
                                            <m:rPr>
                                              <m:sty m:val="p"/>
                                            </m:rPr>
                                            <a:rPr lang="en-US" i="0" sz="1568">
                                              <a:latin typeface="Cambria Math"/>
                                            </a:rPr>
                                            <m:t>+</m:t>
                                          </m:r>
                                          <m:f>
                                            <m:num>
                                              <m:sSub>
                                                <m:e>
                                                  <m:r>
                                                    <m:rPr>
                                                      <m:sty m:val="p"/>
                                                    </m:rPr>
                                                    <a:rPr lang="en-US" i="0" sz="1568">
                                                      <a:latin typeface="Cambria Math"/>
                                                    </a:rPr>
                                                    <m:t>Φ</m:t>
                                                  </m:r>
                                                </m:e>
                                                <m:sub>
                                                  <m:r>
                                                    <m:rPr>
                                                      <m:sty m:val="i"/>
                                                    </m:rPr>
                                                    <a:rPr lang="en-US" i="1" sz="1568">
                                                      <a:latin typeface="Cambria Math"/>
                                                    </a:rPr>
                                                    <m:t>B</m:t>
                                                  </m:r>
                                                </m:sub>
                                              </m:sSub>
                                            </m:num>
                                            <m:den>
                                              <m:sSub>
                                                <m:e>
                                                  <m:r>
                                                    <m:rPr>
                                                      <m:sty m:val="p"/>
                                                    </m:rPr>
                                                    <a:rPr lang="en-US" i="0" sz="1568">
                                                      <a:latin typeface="Cambria Math"/>
                                                    </a:rPr>
                                                    <m:t>Φ</m:t>
                                                  </m:r>
                                                </m:e>
                                                <m:sub>
                                                  <m:r>
                                                    <m:rPr>
                                                      <m:sty m:val="p"/>
                                                    </m:rPr>
                                                    <a:rPr lang="en-US" i="0" sz="1568">
                                                      <a:latin typeface="Cambria Math"/>
                                                    </a:rPr>
                                                    <m:t>0</m:t>
                                                  </m:r>
                                                </m:sub>
                                              </m:sSub>
                                            </m:den>
                                          </m:f>
                                        </m:e>
                                      </m:box>
                                    </m:e>
                                  </m:d>
                                </m:e>
                              </m:box>
                            </m:e>
                          </m:box>
                        </m:e>
                      </m:rad>
                      <m:r>
                        <m:rPr>
                          <m:sty m:val="p"/>
                        </m:rPr>
                        <a:rPr lang="en-US" i="0" sz="1568">
                          <a:latin typeface="Cambria Math"/>
                        </a:rPr>
                        <m:t>,</m:t>
                      </m:r>
                      <m:box>
                        <m:e>
                          <m:r>
                            <a:rPr lang="en-US" i="1" sz="1568">
                              <a:latin typeface="Cambria Math"/>
                            </a:rPr>
                            <m:t/>
                          </m:r>
                        </m:e>
                      </m:box>
                      <m:sSub>
                        <m:e>
                          <m:r>
                            <m:rPr>
                              <m:sty m:val="p"/>
                            </m:rPr>
                            <a:rPr lang="en-US" i="0" sz="1568">
                              <a:latin typeface="Cambria Math"/>
                            </a:rPr>
                            <m:t>Φ</m:t>
                          </m:r>
                        </m:e>
                        <m:sub>
                          <m:r>
                            <m:rPr>
                              <m:sty m:val="p"/>
                            </m:rPr>
                            <a:rPr lang="en-US" i="0" sz="1568">
                              <a:latin typeface="Cambria Math"/>
                            </a:rPr>
                            <m:t>0</m:t>
                          </m:r>
                        </m:sub>
                      </m:sSub>
                      <m:r>
                        <m:rPr>
                          <m:sty m:val="p"/>
                        </m:rPr>
                        <a:rPr lang="en-US" i="0" sz="1568">
                          <a:latin typeface="Cambria Math"/>
                        </a:rPr>
                        <m:t>=</m:t>
                      </m:r>
                      <m:f>
                        <m:num>
                          <m:box>
                            <m:e>
                              <m:r>
                                <m:rPr>
                                  <m:sty m:val="p"/>
                                </m:rPr>
                                <a:rPr lang="en-US" i="0" sz="1568">
                                  <a:latin typeface="Cambria Math"/>
                                </a:rPr>
                                <m:t>2</m:t>
                              </m:r>
                              <m:r>
                                <m:rPr>
                                  <m:sty m:val="i"/>
                                </m:rPr>
                                <a:rPr lang="en-US" i="1" sz="1568">
                                  <a:latin typeface="Cambria Math"/>
                                </a:rPr>
                                <m:t>π</m:t>
                              </m:r>
                              <m:r>
                                <m:rPr>
                                  <m:sty m:val="i"/>
                                </m:rPr>
                                <a:rPr lang="en-US" i="1" sz="1568">
                                  <a:latin typeface="Cambria Math"/>
                                </a:rPr>
                                <m:t>ℏ</m:t>
                              </m:r>
                            </m:e>
                          </m:box>
                        </m:num>
                        <m:den>
                          <m:box>
                            <m:e>
                              <m:r>
                                <m:rPr>
                                  <m:sty m:val="p"/>
                                </m:rPr>
                                <a:rPr lang="en-US" i="0" sz="1568">
                                  <a:latin typeface="Cambria Math"/>
                                </a:rPr>
                                <m:t>2</m:t>
                              </m:r>
                              <m:r>
                                <m:rPr>
                                  <m:sty m:val="i"/>
                                </m:rPr>
                                <a:rPr lang="en-US" i="1" sz="1568">
                                  <a:latin typeface="Cambria Math"/>
                                </a:rPr>
                                <m:t>e</m:t>
                              </m:r>
                            </m:e>
                          </m:box>
                        </m:den>
                      </m:f>
                    </m:oMath>
                  </m:oMathPara>
                </a14:m>
              </mc:Choice>
              <mc:Fallback>
                <a:r>
                  <a:rPr lang="en-US" sz="1567" i="1"/>
                  <a:t>\omega_\Sigma\propto\sqrt{\cos\!\left(\Delta\theta+\frac{\Phi_B}{\Phi_0}\right)},\quad
                        \Phi_0=\frac{2\pi\hbar}{2e}</a:t>
                </a:r>
              </mc:Fallback>
            </mc:AlternateContent>
          </a:p>
        </p:txBody>
      </p:sp>
      <p:sp>
        <p:nvSpPr>
          <p:cNvPr id="13" name="equation"/>
          <p:cNvSpPr txBox="1"/>
          <p:nvPr/>
        </p:nvSpPr>
        <p:spPr>
          <a:xfrm>
            <a:off x="6307667" y="2538148"/>
            <a:ext cx="5190067" cy="477573"/>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r>
                            <m:rPr>
                              <m:scr m:val="script"/>
                              <m:sty m:val="i"/>
                            </m:rPr>
                            <a:rPr lang="en-US" i="1" sz="1568">
                              <a:latin typeface="Cambria Math"/>
                            </a:rPr>
                            <m:t>H</m:t>
                          </m:r>
                        </m:e>
                      </m:box>
                      <m:r>
                        <m:rPr>
                          <m:sty m:val="p"/>
                        </m:rPr>
                        <a:rPr lang="en-US" i="0" sz="1568">
                          <a:latin typeface="Cambria Math"/>
                        </a:rPr>
                        <m:t>=</m:t>
                      </m:r>
                      <m:r>
                        <m:rPr>
                          <m:sty m:val="i"/>
                        </m:rPr>
                        <a:rPr lang="en-US" i="1" sz="1568">
                          <a:latin typeface="Cambria Math"/>
                        </a:rPr>
                        <m:t>ℏ</m:t>
                      </m:r>
                      <m:sSub>
                        <m:e>
                          <m:r>
                            <m:rPr>
                              <m:sty m:val="i"/>
                            </m:rPr>
                            <a:rPr lang="en-US" i="1" sz="1568">
                              <a:latin typeface="Cambria Math"/>
                            </a:rPr>
                            <m:t>ω</m:t>
                          </m:r>
                        </m:e>
                        <m:sub>
                          <m:r>
                            <m:rPr>
                              <m:sty m:val="p"/>
                            </m:rPr>
                            <a:rPr lang="en-US" i="0" sz="1568">
                              <a:latin typeface="Cambria Math"/>
                            </a:rPr>
                            <m:t>Σ</m:t>
                          </m:r>
                        </m:sub>
                      </m:sSub>
                      <m:box>
                        <m:e>
                          <m:d>
                            <m:dPr>
                              <m:begChr m:val="("/>
                              <m:endChr m:val=")"/>
                            </m:dPr>
                            <m:e>
                              <m:box>
                                <m:e>
                                  <m:sSup>
                                    <m:e>
                                      <m:box>
                                        <m:e>
                                          <m:limUpp>
                                            <m:e>
                                              <m:r>
                                                <m:rPr>
                                                  <m:sty m:val="i"/>
                                                </m:rPr>
                                                <a:rPr lang="en-US" i="1" sz="1568">
                                                  <a:latin typeface="Cambria Math"/>
                                                </a:rPr>
                                                <m:t>a</m:t>
                                              </m:r>
                                            </m:e>
                                            <m:lim>
                                              <m:r>
                                                <m:rPr>
                                                  <m:sty m:val="p"/>
                                                </m:rPr>
                                                <a:rPr lang="en-US" i="0" sz="1568">
                                                  <a:latin typeface="Cambria Math"/>
                                                </a:rPr>
                                                <m:t>^</m:t>
                                              </m:r>
                                            </m:lim>
                                          </m:limUpp>
                                        </m:e>
                                      </m:box>
                                    </m:e>
                                    <m:sup>
                                      <m:r>
                                        <m:rPr>
                                          <m:sty m:val="p"/>
                                        </m:rPr>
                                        <a:rPr lang="en-US" i="0" sz="1568">
                                          <a:latin typeface="Cambria Math"/>
                                        </a:rPr>
                                        <m:t>†</m:t>
                                      </m:r>
                                    </m:sup>
                                  </m:sSup>
                                  <m:box>
                                    <m:e>
                                      <m:limUpp>
                                        <m:e>
                                          <m:r>
                                            <m:rPr>
                                              <m:sty m:val="i"/>
                                            </m:rPr>
                                            <a:rPr lang="en-US" i="1" sz="1568">
                                              <a:latin typeface="Cambria Math"/>
                                            </a:rPr>
                                            <m:t>a</m:t>
                                          </m:r>
                                        </m:e>
                                        <m:lim>
                                          <m:r>
                                            <m:rPr>
                                              <m:sty m:val="p"/>
                                            </m:rPr>
                                            <a:rPr lang="en-US" i="0" sz="1568">
                                              <a:latin typeface="Cambria Math"/>
                                            </a:rPr>
                                            <m:t>^</m:t>
                                          </m:r>
                                        </m:lim>
                                      </m:limUpp>
                                    </m:e>
                                  </m:box>
                                  <m:r>
                                    <m:rPr>
                                      <m:sty m:val="p"/>
                                    </m:rPr>
                                    <a:rPr lang="en-US" i="0" sz="1568">
                                      <a:latin typeface="Cambria Math"/>
                                    </a:rPr>
                                    <m:t>+</m:t>
                                  </m:r>
                                  <m:f>
                                    <m:num>
                                      <m:r>
                                        <m:rPr>
                                          <m:sty m:val="p"/>
                                        </m:rPr>
                                        <a:rPr lang="en-US" i="0" sz="1568">
                                          <a:latin typeface="Cambria Math"/>
                                        </a:rPr>
                                        <m:t>1</m:t>
                                      </m:r>
                                    </m:num>
                                    <m:den>
                                      <m:r>
                                        <m:rPr>
                                          <m:sty m:val="p"/>
                                        </m:rPr>
                                        <a:rPr lang="en-US" i="0" sz="1568">
                                          <a:latin typeface="Cambria Math"/>
                                        </a:rPr>
                                        <m:t>2</m:t>
                                      </m:r>
                                    </m:den>
                                  </m:f>
                                </m:e>
                              </m:box>
                            </m:e>
                          </m:d>
                        </m:e>
                      </m:box>
                      <m:r>
                        <m:rPr>
                          <m:sty m:val="p"/>
                        </m:rPr>
                        <a:rPr lang="en-US" i="0" sz="1568">
                          <a:latin typeface="Cambria Math"/>
                        </a:rPr>
                        <m:t>+</m:t>
                      </m:r>
                      <m:r>
                        <m:rPr>
                          <m:sty m:val="i"/>
                        </m:rPr>
                        <a:rPr lang="en-US" i="1" sz="1568">
                          <a:latin typeface="Cambria Math"/>
                        </a:rPr>
                        <m:t>ℏ</m:t>
                      </m:r>
                      <m:r>
                        <m:rPr>
                          <m:sty m:val="p"/>
                        </m:rPr>
                        <a:rPr lang="en-US" i="0" sz="1568">
                          <a:latin typeface="Cambria Math"/>
                        </a:rPr>
                        <m:t>Ω</m:t>
                      </m:r>
                      <m:box>
                        <m:e>
                          <m:r>
                            <a:rPr lang="en-US" i="1" sz="1568">
                              <a:latin typeface="Cambria Math"/>
                            </a:rPr>
                            <m:t/>
                          </m:r>
                        </m:e>
                      </m:box>
                      <m:r>
                        <m:rPr>
                          <m:sty m:val="i"/>
                        </m:rPr>
                        <a:rPr lang="en-US" i="1" sz="1568">
                          <a:latin typeface="Cambria Math"/>
                        </a:rPr>
                        <m:t>f</m:t>
                      </m:r>
                      <m:r>
                        <m:rPr>
                          <m:sty m:val="p"/>
                        </m:rPr>
                        <a:rPr lang="en-US" i="0" sz="1568">
                          <a:latin typeface="Cambria Math"/>
                        </a:rPr>
                        <m:t>(</m:t>
                      </m:r>
                      <m:r>
                        <m:rPr>
                          <m:sty m:val="i"/>
                        </m:rPr>
                        <a:rPr lang="en-US" i="1" sz="1568">
                          <a:latin typeface="Cambria Math"/>
                        </a:rPr>
                        <m:t>t</m:t>
                      </m:r>
                      <m:r>
                        <m:rPr>
                          <m:sty m:val="p"/>
                        </m:rPr>
                        <a:rPr lang="en-US" i="0" sz="1568">
                          <a:latin typeface="Cambria Math"/>
                        </a:rPr>
                        <m:t>)</m:t>
                      </m:r>
                      <m:box>
                        <m:e>
                          <m:r>
                            <a:rPr lang="en-US" i="1" sz="1568">
                              <a:latin typeface="Cambria Math"/>
                            </a:rPr>
                            <m:t/>
                          </m:r>
                        </m:e>
                      </m:box>
                      <m:r>
                        <m:rPr>
                          <m:sty m:val="i"/>
                        </m:rPr>
                        <a:rPr lang="en-US" i="1" sz="1568">
                          <a:latin typeface="Cambria Math"/>
                        </a:rPr>
                        <m:t>i</m:t>
                      </m:r>
                      <m:box>
                        <m:e>
                          <m:d>
                            <m:dPr>
                              <m:begChr m:val="("/>
                              <m:endChr m:val=")"/>
                            </m:dPr>
                            <m:e>
                              <m:box>
                                <m:e>
                                  <m:sSup>
                                    <m:e>
                                      <m:box>
                                        <m:e>
                                          <m:limUpp>
                                            <m:e>
                                              <m:r>
                                                <m:rPr>
                                                  <m:sty m:val="i"/>
                                                </m:rPr>
                                                <a:rPr lang="en-US" i="1" sz="1568">
                                                  <a:latin typeface="Cambria Math"/>
                                                </a:rPr>
                                                <m:t>a</m:t>
                                              </m:r>
                                            </m:e>
                                            <m:lim>
                                              <m:r>
                                                <m:rPr>
                                                  <m:sty m:val="p"/>
                                                </m:rPr>
                                                <a:rPr lang="en-US" i="0" sz="1568">
                                                  <a:latin typeface="Cambria Math"/>
                                                </a:rPr>
                                                <m:t>^</m:t>
                                              </m:r>
                                            </m:lim>
                                          </m:limUpp>
                                        </m:e>
                                      </m:box>
                                    </m:e>
                                    <m:sup>
                                      <m:r>
                                        <m:rPr>
                                          <m:sty m:val="p"/>
                                        </m:rPr>
                                        <a:rPr lang="en-US" i="0" sz="1568">
                                          <a:latin typeface="Cambria Math"/>
                                        </a:rPr>
                                        <m:t>†</m:t>
                                      </m:r>
                                    </m:sup>
                                  </m:sSup>
                                  <m:r>
                                    <m:rPr>
                                      <m:sty m:val="p"/>
                                    </m:rPr>
                                    <a:rPr lang="en-US" i="0" sz="1568">
                                      <a:latin typeface="Cambria Math"/>
                                    </a:rPr>
                                    <m:t>−</m:t>
                                  </m:r>
                                  <m:box>
                                    <m:e>
                                      <m:limUpp>
                                        <m:e>
                                          <m:r>
                                            <m:rPr>
                                              <m:sty m:val="i"/>
                                            </m:rPr>
                                            <a:rPr lang="en-US" i="1" sz="1568">
                                              <a:latin typeface="Cambria Math"/>
                                            </a:rPr>
                                            <m:t>a</m:t>
                                          </m:r>
                                        </m:e>
                                        <m:lim>
                                          <m:r>
                                            <m:rPr>
                                              <m:sty m:val="p"/>
                                            </m:rPr>
                                            <a:rPr lang="en-US" i="0" sz="1568">
                                              <a:latin typeface="Cambria Math"/>
                                            </a:rPr>
                                            <m:t>^</m:t>
                                          </m:r>
                                        </m:lim>
                                      </m:limUpp>
                                    </m:e>
                                  </m:box>
                                </m:e>
                              </m:box>
                            </m:e>
                          </m:d>
                        </m:e>
                      </m:box>
                    </m:oMath>
                  </m:oMathPara>
                </a14:m>
              </mc:Choice>
              <mc:Fallback>
                <a:r>
                  <a:rPr lang="en-US" sz="1567" i="1"/>
                  <a:t>\mathcal H=\hbar\omega_\Sigma\left(\hat a^\dagger\hat
                        a+\frac12\right)+\hbar\Omega\,f(t)\;i\left(\hat a^\dagger-\hat a\right)</a:t>
                </a:r>
              </mc:Fallback>
            </mc:AlternateContent>
          </a:p>
        </p:txBody>
      </p:sp>
      <p:sp>
        <p:nvSpPr>
          <p:cNvPr id="14" name="equation"/>
          <p:cNvSpPr txBox="1"/>
          <p:nvPr/>
        </p:nvSpPr>
        <p:spPr>
          <a:xfrm>
            <a:off x="6307667" y="3168121"/>
            <a:ext cx="5190067" cy="491728"/>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box>
                        <m:e>
                          <m:box>
                            <m:e>
                              <m:r>
                                <m:rPr>
                                  <m:sty m:val="p"/>
                                </m:rPr>
                                <a:rPr lang="en-US" i="0" sz="1568">
                                  <a:latin typeface="Cambria Math"/>
                                </a:rPr>
                                <m:t>Ω</m:t>
                              </m:r>
                              <m:r>
                                <m:rPr>
                                  <m:sty m:val="p"/>
                                </m:rPr>
                                <a:rPr lang="en-US" i="0" sz="1568">
                                  <a:latin typeface="Cambria Math"/>
                                </a:rPr>
                                <m:t>=</m:t>
                              </m:r>
                              <m:sSub>
                                <m:e>
                                  <m:r>
                                    <m:rPr>
                                      <m:sty m:val="i"/>
                                    </m:rPr>
                                    <a:rPr lang="en-US" i="1" sz="1568">
                                      <a:latin typeface="Cambria Math"/>
                                    </a:rPr>
                                    <m:t>C</m:t>
                                  </m:r>
                                </m:e>
                                <m:sub>
                                  <m:r>
                                    <m:rPr>
                                      <m:sty m:val="i"/>
                                    </m:rPr>
                                    <a:rPr lang="en-US" i="1" sz="1568">
                                      <a:latin typeface="Cambria Math"/>
                                    </a:rPr>
                                    <m:t>d</m:t>
                                  </m:r>
                                </m:sub>
                              </m:sSub>
                              <m:sSub>
                                <m:e>
                                  <m:r>
                                    <m:rPr>
                                      <m:sty m:val="i"/>
                                    </m:rPr>
                                    <a:rPr lang="en-US" i="1" sz="1568">
                                      <a:latin typeface="Cambria Math"/>
                                    </a:rPr>
                                    <m:t>V</m:t>
                                  </m:r>
                                </m:e>
                                <m:sub>
                                  <m:r>
                                    <m:rPr>
                                      <m:sty m:val="p"/>
                                    </m:rPr>
                                    <a:rPr lang="en-US" i="0" sz="1568">
                                      <a:latin typeface="Cambria Math"/>
                                    </a:rPr>
                                    <m:t>0</m:t>
                                  </m:r>
                                </m:sub>
                              </m:sSub>
                              <m:rad>
                                <m:radPr>
                                  <m:degHide m:val="1"/>
                                </m:radPr>
                                <m:deg/>
                                <m:e>
                                  <m:box>
                                    <m:e>
                                      <m:f>
                                        <m:num>
                                          <m:sSub>
                                            <m:e>
                                              <m:r>
                                                <m:rPr>
                                                  <m:sty m:val="i"/>
                                                </m:rPr>
                                                <a:rPr lang="en-US" i="1" sz="1568">
                                                  <a:latin typeface="Cambria Math"/>
                                                </a:rPr>
                                                <m:t>ω</m:t>
                                              </m:r>
                                            </m:e>
                                            <m:sub>
                                              <m:r>
                                                <m:rPr>
                                                  <m:sty m:val="p"/>
                                                </m:rPr>
                                                <a:rPr lang="en-US" i="0" sz="1568">
                                                  <a:latin typeface="Cambria Math"/>
                                                </a:rPr>
                                                <m:t>Σ</m:t>
                                              </m:r>
                                            </m:sub>
                                          </m:sSub>
                                        </m:num>
                                        <m:den>
                                          <m:box>
                                            <m:e>
                                              <m:r>
                                                <m:rPr>
                                                  <m:sty m:val="p"/>
                                                </m:rPr>
                                                <a:rPr lang="en-US" i="0" sz="1568">
                                                  <a:latin typeface="Cambria Math"/>
                                                </a:rPr>
                                                <m:t>2</m:t>
                                              </m:r>
                                              <m:r>
                                                <m:rPr>
                                                  <m:sty m:val="i"/>
                                                </m:rPr>
                                                <a:rPr lang="en-US" i="1" sz="1568">
                                                  <a:latin typeface="Cambria Math"/>
                                                </a:rPr>
                                                <m:t>ℏ</m:t>
                                              </m:r>
                                              <m:r>
                                                <m:rPr>
                                                  <m:sty m:val="p"/>
                                                </m:rPr>
                                                <a:rPr lang="en-US" i="0" sz="1568">
                                                  <a:latin typeface="Cambria Math"/>
                                                </a:rPr>
                                                <m:t>(</m:t>
                                              </m:r>
                                              <m:r>
                                                <m:rPr>
                                                  <m:sty m:val="i"/>
                                                </m:rPr>
                                                <a:rPr lang="en-US" i="1" sz="1568">
                                                  <a:latin typeface="Cambria Math"/>
                                                </a:rPr>
                                                <m:t>C</m:t>
                                              </m:r>
                                              <m:r>
                                                <m:rPr>
                                                  <m:sty m:val="p"/>
                                                </m:rPr>
                                                <a:rPr lang="en-US" i="0" sz="1568">
                                                  <a:latin typeface="Cambria Math"/>
                                                </a:rPr>
                                                <m:t>+</m:t>
                                              </m:r>
                                              <m:sSub>
                                                <m:e>
                                                  <m:r>
                                                    <m:rPr>
                                                      <m:sty m:val="i"/>
                                                    </m:rPr>
                                                    <a:rPr lang="en-US" i="1" sz="1568">
                                                      <a:latin typeface="Cambria Math"/>
                                                    </a:rPr>
                                                    <m:t>C</m:t>
                                                  </m:r>
                                                </m:e>
                                                <m:sub>
                                                  <m:r>
                                                    <m:rPr>
                                                      <m:sty m:val="i"/>
                                                    </m:rPr>
                                                    <a:rPr lang="en-US" i="1" sz="1568">
                                                      <a:latin typeface="Cambria Math"/>
                                                    </a:rPr>
                                                    <m:t>d</m:t>
                                                  </m:r>
                                                </m:sub>
                                              </m:sSub>
                                              <m:r>
                                                <m:rPr>
                                                  <m:sty m:val="p"/>
                                                </m:rPr>
                                                <a:rPr lang="en-US" i="0" sz="1568">
                                                  <a:latin typeface="Cambria Math"/>
                                                </a:rPr>
                                                <m:t>)</m:t>
                                              </m:r>
                                            </m:e>
                                          </m:box>
                                        </m:den>
                                      </m:f>
                                    </m:e>
                                  </m:box>
                                </m:e>
                              </m:rad>
                            </m:e>
                          </m:box>
                        </m:e>
                      </m:box>
                    </m:oMath>
                  </m:oMathPara>
                </a14:m>
              </mc:Choice>
              <mc:Fallback>
                <a:r>
                  <a:rPr lang="en-US" sz="1567" i="1"/>
                  <a:t>\color{#d9822b}{\Omega=C_dV_0\sqrt{\frac{\omega_\Sigma}{2\hbar(C+C_d)}}}</a:t>
                </a:r>
              </mc:Fallback>
            </mc:AlternateContent>
          </a:p>
        </p:txBody>
      </p:sp>
      <p:pic>
        <p:nvPicPr>
          <p:cNvPr id="15" name="Chip layout" descr="s05-transmon-chip-layout.png"/>
          <p:cNvPicPr>
            <a:picLocks noChangeAspect="1"/>
          </p:cNvPicPr>
          <p:nvPr/>
        </p:nvPicPr>
        <p:blipFill>
          <a:blip r:embed="rId6"/>
          <a:stretch>
            <a:fillRect/>
          </a:stretch>
        </p:blipFill>
        <p:spPr>
          <a:xfrm>
            <a:off x="6155267" y="4184496"/>
            <a:ext cx="2671233" cy="999639"/>
          </a:xfrm>
          <a:prstGeom prst="rect">
            <a:avLst/>
          </a:prstGeom>
        </p:spPr>
      </p:pic>
      <p:sp>
        <p:nvSpPr>
          <p:cNvPr id="16" name="TextBox 15"/>
          <p:cNvSpPr txBox="1"/>
          <p:nvPr/>
        </p:nvSpPr>
        <p:spPr>
          <a:xfrm>
            <a:off x="6155267" y="5293916"/>
            <a:ext cx="2671233" cy="350308"/>
          </a:xfrm>
          <a:prstGeom prst="rect">
            <a:avLst/>
          </a:prstGeom>
          <a:noFill/>
        </p:spPr>
        <p:txBody>
          <a:bodyPr wrap="square" lIns="0" rIns="0" tIns="0" bIns="0" anchor="t">
            <a:noAutofit/>
          </a:bodyPr>
          <a:lstStyle/>
          <a:p>
            <a:pPr algn="l">
              <a:lnSpc>
                <a:spcPts val="1380"/>
              </a:lnSpc>
            </a:pPr>
            <a:r>
              <a:rPr sz="1080" b="1" i="0">
                <a:solidFill>
                  <a:srgbClr val="302840"/>
                </a:solidFill>
                <a:latin typeface="Montserrat"/>
                <a:ea typeface="Montserrat"/>
                <a:cs typeface="Montserrat"/>
              </a:rPr>
              <a:t>Flux bias</a:t>
            </a:r>
            <a:r>
              <a:rPr sz="1080" b="0" i="0">
                <a:solidFill>
                  <a:srgbClr val="5F5865"/>
                </a:solidFill>
                <a:latin typeface="Montserrat"/>
                <a:ea typeface="Montserrat"/>
                <a:cs typeface="Montserrat"/>
              </a:rPr>
              <a:t> sets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282">
                            <a:latin typeface="Cambria Math"/>
                          </a:rPr>
                          <m:t>ω</m:t>
                        </m:r>
                      </m:e>
                      <m:sub>
                        <m:r>
                          <m:rPr>
                            <m:sty m:val="p"/>
                          </m:rPr>
                          <a:rPr lang="en-US" i="0" sz="1282">
                            <a:latin typeface="Cambria Math"/>
                          </a:rPr>
                          <m:t>Σ</m:t>
                        </m:r>
                      </m:sub>
                    </m:sSub>
                  </m:oMath>
                </a14:m>
              </mc:Choice>
              <mc:Fallback>
                <a:r>
                  <a:rPr lang="en-US" sz="1281" i="1"/>
                  <a:t>\omega_\Sigma</a:t>
                </a:r>
              </mc:Fallback>
            </mc:AlternateContent>
            <a:r>
              <a:rPr sz="1080" b="0" i="0">
                <a:solidFill>
                  <a:srgbClr val="5F5865"/>
                </a:solidFill>
                <a:latin typeface="Montserrat"/>
                <a:ea typeface="Montserrat"/>
                <a:cs typeface="Montserrat"/>
              </a:rPr>
              <a:t>; </a:t>
            </a:r>
            <a:r>
              <a:rPr sz="1080" b="1" i="0">
                <a:solidFill>
                  <a:srgbClr val="302840"/>
                </a:solidFill>
                <a:latin typeface="Montserrat"/>
                <a:ea typeface="Montserrat"/>
                <a:cs typeface="Montserrat"/>
              </a:rPr>
              <a:t>qubit drive</a:t>
            </a:r>
            <a:r>
              <a:rPr sz="1080" b="0" i="0">
                <a:solidFill>
                  <a:srgbClr val="5F5865"/>
                </a:solidFill>
                <a:latin typeface="Montserrat"/>
                <a:ea typeface="Montserrat"/>
                <a:cs typeface="Montserrat"/>
              </a:rPr>
              <a:t> sets </a:t>
            </a:r>
            <mc:AlternateContent xmlns:mc="http://schemas.openxmlformats.org/markup-compatibility/2006">
              <mc:Choice xmlns:a14="http://schemas.microsoft.com/office/drawing/2010/main" Requires="a14">
                <a14:m>
                  <m:oMath xmlns:m="http://schemas.openxmlformats.org/officeDocument/2006/math">
                    <m:r>
                      <m:rPr>
                        <m:sty m:val="p"/>
                      </m:rPr>
                      <a:rPr lang="en-US" i="0" sz="1282">
                        <a:latin typeface="Cambria Math"/>
                      </a:rPr>
                      <m:t>Ω</m:t>
                    </m:r>
                  </m:oMath>
                </a14:m>
              </mc:Choice>
              <mc:Fallback>
                <a:r>
                  <a:rPr lang="en-US" sz="1281" i="1"/>
                  <a:t>\Omega</a:t>
                </a:r>
              </mc:Fallback>
            </mc:AlternateContent>
            <a:r>
              <a:rPr sz="1080" b="0" i="0">
                <a:solidFill>
                  <a:srgbClr val="5F5865"/>
                </a:solidFill>
                <a:latin typeface="Montserrat"/>
                <a:ea typeface="Montserrat"/>
                <a:cs typeface="Montserrat"/>
              </a:rPr>
              <a:t>. Ref. [15]</a:t>
            </a:r>
          </a:p>
        </p:txBody>
      </p:sp>
      <p:pic>
        <p:nvPicPr>
          <p:cNvPr id="17" name="Equivalent circuit" descr="s05-transmon-readout-circuit.png"/>
          <p:cNvPicPr>
            <a:picLocks noChangeAspect="1"/>
          </p:cNvPicPr>
          <p:nvPr/>
        </p:nvPicPr>
        <p:blipFill>
          <a:blip r:embed="rId7"/>
          <a:stretch>
            <a:fillRect/>
          </a:stretch>
        </p:blipFill>
        <p:spPr>
          <a:xfrm>
            <a:off x="8945033" y="4152077"/>
            <a:ext cx="2671233" cy="1064476"/>
          </a:xfrm>
          <a:prstGeom prst="rect">
            <a:avLst/>
          </a:prstGeom>
        </p:spPr>
      </p:pic>
      <p:sp>
        <p:nvSpPr>
          <p:cNvPr id="18" name="TextBox 17"/>
          <p:cNvSpPr txBox="1"/>
          <p:nvPr/>
        </p:nvSpPr>
        <p:spPr>
          <a:xfrm>
            <a:off x="8945033" y="5293916"/>
            <a:ext cx="2671233" cy="175154"/>
          </a:xfrm>
          <a:prstGeom prst="rect">
            <a:avLst/>
          </a:prstGeom>
          <a:noFill/>
        </p:spPr>
        <p:txBody>
          <a:bodyPr wrap="none" lIns="0" rIns="0" tIns="0" bIns="0" anchor="t">
            <a:noAutofit/>
          </a:bodyPr>
          <a:lstStyle/>
          <a:p>
            <a:pPr algn="l">
              <a:lnSpc>
                <a:spcPts val="1380"/>
              </a:lnSpc>
            </a:pPr>
            <a:r>
              <a:rPr sz="1080" b="1" i="0">
                <a:solidFill>
                  <a:srgbClr val="302840"/>
                </a:solidFill>
                <a:latin typeface="Montserrat"/>
                <a:ea typeface="Montserrat"/>
                <a:cs typeface="Montserrat"/>
              </a:rPr>
              <a:t>Equivalent circuit.</a:t>
            </a:r>
            <a:r>
              <a:rPr sz="1080" b="0" i="0">
                <a:solidFill>
                  <a:srgbClr val="5F5865"/>
                </a:solidFill>
                <a:latin typeface="Montserrat"/>
                <a:ea typeface="Montserrat"/>
                <a:cs typeface="Montserrat"/>
              </a:rPr>
              <a:t> Ref. [15]</a:t>
            </a:r>
          </a:p>
        </p:txBody>
      </p:sp>
      <p:sp>
        <p:nvSpPr>
          <p:cNvPr id="19" name="Rectangle 1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21" name="TextBox 20"/>
          <p:cNvSpPr txBox="1"/>
          <p:nvPr/>
        </p:nvSpPr>
        <p:spPr>
          <a:xfrm>
            <a:off x="11234870" y="6565900"/>
            <a:ext cx="466064"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92 / 100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s-000.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FFFFFF"/>
                </a:solidFill>
                <a:latin typeface="Montserrat"/>
                <a:ea typeface="Montserrat"/>
                <a:cs typeface="Montserrat"/>
              </a:rPr>
              <a:t>PHYS598500 · WEEK 2</a:t>
            </a:r>
          </a:p>
        </p:txBody>
      </p:sp>
      <p:sp>
        <p:nvSpPr>
          <p:cNvPr id="4" name="TextBox 3"/>
          <p:cNvSpPr txBox="1"/>
          <p:nvPr/>
        </p:nvSpPr>
        <p:spPr>
          <a:xfrm>
            <a:off x="7087261" y="324115"/>
            <a:ext cx="4613672" cy="181372"/>
          </a:xfrm>
          <a:prstGeom prst="rect">
            <a:avLst/>
          </a:prstGeom>
          <a:noFill/>
        </p:spPr>
        <p:txBody>
          <a:bodyPr wrap="none" lIns="0" rIns="0" tIns="0" bIns="0" anchor="t">
            <a:noAutofit/>
          </a:bodyPr>
          <a:lstStyle/>
          <a:p>
            <a:pPr algn="l">
              <a:lnSpc>
                <a:spcPts val="1430"/>
              </a:lnSpc>
            </a:pPr>
            <a:r>
              <a:rPr sz="1000" b="1" i="0">
                <a:solidFill>
                  <a:srgbClr val="FFFFFF"/>
                </a:solidFill>
                <a:latin typeface="Montserrat"/>
                <a:ea typeface="Montserrat"/>
                <a:cs typeface="Montserrat"/>
              </a:rPr>
              <a:t>How Does the Transmon Balance Noise Protection and Controllability?</a:t>
            </a:r>
          </a:p>
        </p:txBody>
      </p:sp>
      <p:sp>
        <p:nvSpPr>
          <p:cNvPr id="5" name="TextBox 4"/>
          <p:cNvSpPr txBox="1"/>
          <p:nvPr/>
        </p:nvSpPr>
        <p:spPr>
          <a:xfrm>
            <a:off x="1016000" y="2691077"/>
            <a:ext cx="10160000" cy="1099873"/>
          </a:xfrm>
          <a:prstGeom prst="rect">
            <a:avLst/>
          </a:prstGeom>
          <a:noFill/>
        </p:spPr>
        <p:txBody>
          <a:bodyPr wrap="square" lIns="0" rIns="0" tIns="0" bIns="0" anchor="t">
            <a:noAutofit/>
          </a:bodyPr>
          <a:lstStyle/>
          <a:p>
            <a:pPr algn="ctr">
              <a:lnSpc>
                <a:spcPts val="4330"/>
              </a:lnSpc>
            </a:pPr>
            <a:r>
              <a:rPr sz="3870" b="1" i="0" spc="-97">
                <a:solidFill>
                  <a:srgbClr val="FFFFFF"/>
                </a:solidFill>
                <a:latin typeface="Montserrat"/>
                <a:ea typeface="Montserrat"/>
                <a:cs typeface="Montserrat"/>
              </a:rPr>
              <a:t>How Does the Transmon Balance Noise Protection and Controllability?</a:t>
            </a:r>
          </a:p>
        </p:txBody>
      </p:sp>
      <p:sp>
        <p:nvSpPr>
          <p:cNvPr id="6" name="TextBox 5"/>
          <p:cNvSpPr txBox="1"/>
          <p:nvPr/>
        </p:nvSpPr>
        <p:spPr>
          <a:xfrm>
            <a:off x="1016000" y="4011083"/>
            <a:ext cx="10160000" cy="308107"/>
          </a:xfrm>
          <a:prstGeom prst="rect">
            <a:avLst/>
          </a:prstGeom>
          <a:noFill/>
        </p:spPr>
        <p:txBody>
          <a:bodyPr wrap="none" lIns="0" rIns="0" tIns="0" bIns="0" anchor="t">
            <a:noAutofit/>
          </a:bodyPr>
          <a:lstStyle/>
          <a:p>
            <a:pPr algn="ctr">
              <a:lnSpc>
                <a:spcPts val="2430"/>
              </a:lnSpc>
            </a:pPr>
            <a:r>
              <a:rPr sz="1870" b="0" i="0">
                <a:solidFill>
                  <a:srgbClr val="FFFFFF"/>
                </a:solidFill>
                <a:latin typeface="Montserrat"/>
                <a:ea typeface="Montserrat"/>
                <a:cs typeface="Montserrat"/>
              </a:rPr>
              <a:t>Charge-Noise Suppression and the Anharmonicity Trade-off</a:t>
            </a:r>
          </a:p>
        </p:txBody>
      </p:sp>
      <p:sp>
        <p:nvSpPr>
          <p:cNvPr id="7" name="Rectangle 6"/>
          <p:cNvSpPr/>
          <p:nvPr/>
        </p:nvSpPr>
        <p:spPr>
          <a:xfrm>
            <a:off x="491067" y="6434667"/>
            <a:ext cx="11209867" cy="8467"/>
          </a:xfrm>
          <a:prstGeom prst="rect">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FFFFFF"/>
                </a:solidFill>
                <a:latin typeface="Montserrat"/>
                <a:ea typeface="Montserrat"/>
                <a:cs typeface="Montserrat"/>
              </a:rPr>
              <a:t>Manual slide source</a:t>
            </a:r>
          </a:p>
        </p:txBody>
      </p:sp>
      <p:sp>
        <p:nvSpPr>
          <p:cNvPr id="9" name="TextBox 8"/>
          <p:cNvSpPr txBox="1"/>
          <p:nvPr/>
        </p:nvSpPr>
        <p:spPr>
          <a:xfrm>
            <a:off x="11235399" y="6565900"/>
            <a:ext cx="465534" cy="169333"/>
          </a:xfrm>
          <a:prstGeom prst="rect">
            <a:avLst/>
          </a:prstGeom>
          <a:noFill/>
        </p:spPr>
        <p:txBody>
          <a:bodyPr wrap="none" lIns="0" rIns="0" tIns="0" bIns="0" anchor="t">
            <a:noAutofit/>
          </a:bodyPr>
          <a:lstStyle/>
          <a:p>
            <a:pPr algn="l">
              <a:lnSpc>
                <a:spcPts val="1330"/>
              </a:lnSpc>
            </a:pPr>
            <a:r>
              <a:rPr sz="930" b="1" i="0">
                <a:solidFill>
                  <a:srgbClr val="FFFFFF"/>
                </a:solidFill>
                <a:latin typeface="Montserrat"/>
                <a:ea typeface="Montserrat"/>
                <a:cs typeface="Montserrat"/>
              </a:rPr>
              <a:t>93 / 100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7087261" y="324115"/>
            <a:ext cx="4613672"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How Does the Transmon Balance Noise Protection and Controllability?</a:t>
            </a:r>
          </a:p>
        </p:txBody>
      </p:sp>
      <p:sp>
        <p:nvSpPr>
          <p:cNvPr id="5" name="TextBox 4"/>
          <p:cNvSpPr txBox="1"/>
          <p:nvPr/>
        </p:nvSpPr>
        <p:spPr>
          <a:xfrm>
            <a:off x="575733" y="863600"/>
            <a:ext cx="11040533" cy="873654"/>
          </a:xfrm>
          <a:prstGeom prst="rect">
            <a:avLst/>
          </a:prstGeom>
          <a:noFill/>
        </p:spPr>
        <p:txBody>
          <a:bodyPr wrap="square" lIns="0" rIns="0" tIns="0" bIns="0" anchor="t">
            <a:noAutofit/>
          </a:bodyPr>
          <a:lstStyle/>
          <a:p>
            <a:pPr algn="l">
              <a:lnSpc>
                <a:spcPts val="3440"/>
              </a:lnSpc>
            </a:pPr>
            <a:r>
              <a:rPr sz="2870" b="1" i="0">
                <a:solidFill>
                  <a:srgbClr val="22232A"/>
                </a:solidFill>
                <a:latin typeface="Montserrat"/>
                <a:ea typeface="Montserrat"/>
                <a:cs typeface="Montserrat"/>
              </a:rPr>
              <a:t>Question 5: Why is the artificial atom ultimately designed as a transmon?</a:t>
            </a:r>
          </a:p>
        </p:txBody>
      </p:sp>
      <p:sp>
        <p:nvSpPr>
          <p:cNvPr id="6" name="equation"/>
          <p:cNvSpPr txBox="1"/>
          <p:nvPr/>
        </p:nvSpPr>
        <p:spPr>
          <a:xfrm>
            <a:off x="575733" y="1889654"/>
            <a:ext cx="11040533" cy="267758"/>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box>
                            <m:e>
                              <m:limUpp>
                                <m:e>
                                  <m:r>
                                    <m:rPr>
                                      <m:sty m:val="i"/>
                                    </m:rPr>
                                    <a:rPr lang="en-US" i="1" sz="1568">
                                      <a:latin typeface="Cambria Math"/>
                                    </a:rPr>
                                    <m:t>H</m:t>
                                  </m:r>
                                </m:e>
                                <m:lim>
                                  <m:r>
                                    <m:rPr>
                                      <m:sty m:val="p"/>
                                    </m:rPr>
                                    <a:rPr lang="en-US" i="0" sz="1568">
                                      <a:latin typeface="Cambria Math"/>
                                    </a:rPr>
                                    <m:t>^</m:t>
                                  </m:r>
                                </m:lim>
                              </m:limUpp>
                            </m:e>
                          </m:box>
                        </m:e>
                        <m:sub>
                          <m:box>
                            <m:e>
                              <m:box>
                                <m:e>
                                  <m:r>
                                    <m:rPr>
                                      <m:sty m:val="p"/>
                                    </m:rPr>
                                    <a:rPr lang="en-US" i="0" sz="1568">
                                      <a:latin typeface="Cambria Math"/>
                                    </a:rPr>
                                    <m:t>T</m:t>
                                  </m:r>
                                </m:e>
                              </m:box>
                            </m:e>
                          </m:box>
                        </m:sub>
                      </m:sSub>
                      <m:r>
                        <m:rPr>
                          <m:sty m:val="p"/>
                        </m:rPr>
                        <a:rPr lang="en-US" i="0" sz="1568">
                          <a:latin typeface="Cambria Math"/>
                        </a:rPr>
                        <m:t>=</m:t>
                      </m:r>
                      <m:r>
                        <m:rPr>
                          <m:sty m:val="p"/>
                        </m:rPr>
                        <a:rPr lang="en-US" i="0" sz="1568">
                          <a:latin typeface="Cambria Math"/>
                        </a:rPr>
                        <m:t>4</m:t>
                      </m:r>
                      <m:sSub>
                        <m:e>
                          <m:r>
                            <m:rPr>
                              <m:sty m:val="i"/>
                            </m:rPr>
                            <a:rPr lang="en-US" i="1" sz="1568">
                              <a:latin typeface="Cambria Math"/>
                            </a:rPr>
                            <m:t>E</m:t>
                          </m:r>
                        </m:e>
                        <m:sub>
                          <m:r>
                            <m:rPr>
                              <m:sty m:val="i"/>
                            </m:rPr>
                            <a:rPr lang="en-US" i="1" sz="1568">
                              <a:latin typeface="Cambria Math"/>
                            </a:rPr>
                            <m:t>C</m:t>
                          </m:r>
                        </m:sub>
                      </m:sSub>
                      <m:r>
                        <m:rPr>
                          <m:sty m:val="p"/>
                        </m:rPr>
                        <a:rPr lang="en-US" i="0" sz="1568">
                          <a:latin typeface="Cambria Math"/>
                        </a:rPr>
                        <m:t>(</m:t>
                      </m:r>
                      <m:box>
                        <m:e>
                          <m:limUpp>
                            <m:e>
                              <m:r>
                                <m:rPr>
                                  <m:sty m:val="i"/>
                                </m:rPr>
                                <a:rPr lang="en-US" i="1" sz="1568">
                                  <a:latin typeface="Cambria Math"/>
                                </a:rPr>
                                <m:t>n</m:t>
                              </m:r>
                            </m:e>
                            <m:lim>
                              <m:r>
                                <m:rPr>
                                  <m:sty m:val="p"/>
                                </m:rPr>
                                <a:rPr lang="en-US" i="0" sz="1568">
                                  <a:latin typeface="Cambria Math"/>
                                </a:rPr>
                                <m:t>^</m:t>
                              </m:r>
                            </m:lim>
                          </m:limUpp>
                        </m:e>
                      </m:box>
                      <m:r>
                        <m:rPr>
                          <m:sty m:val="p"/>
                        </m:rPr>
                        <a:rPr lang="en-US" i="0" sz="1568">
                          <a:latin typeface="Cambria Math"/>
                        </a:rPr>
                        <m:t>−</m:t>
                      </m:r>
                      <m:sSub>
                        <m:e>
                          <m:r>
                            <m:rPr>
                              <m:sty m:val="i"/>
                            </m:rPr>
                            <a:rPr lang="en-US" i="1" sz="1568">
                              <a:latin typeface="Cambria Math"/>
                            </a:rPr>
                            <m:t>n</m:t>
                          </m:r>
                        </m:e>
                        <m:sub>
                          <m:r>
                            <m:rPr>
                              <m:sty m:val="i"/>
                            </m:rPr>
                            <a:rPr lang="en-US" i="1" sz="1568">
                              <a:latin typeface="Cambria Math"/>
                            </a:rPr>
                            <m:t>g</m:t>
                          </m:r>
                        </m:sub>
                      </m:sSub>
                      <m:sSup>
                        <m:e>
                          <m:r>
                            <m:rPr>
                              <m:sty m:val="p"/>
                            </m:rPr>
                            <a:rPr lang="en-US" i="0" sz="1568">
                              <a:latin typeface="Cambria Math"/>
                            </a:rPr>
                            <m:t>)</m:t>
                          </m:r>
                        </m:e>
                        <m:sup>
                          <m:r>
                            <m:rPr>
                              <m:sty m:val="p"/>
                            </m:rPr>
                            <a:rPr lang="en-US" i="0" sz="1568">
                              <a:latin typeface="Cambria Math"/>
                            </a:rPr>
                            <m:t>2</m:t>
                          </m:r>
                        </m:sup>
                      </m:sSup>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J</m:t>
                          </m:r>
                        </m:sub>
                      </m:sSub>
                      <m:r>
                        <m:rPr>
                          <m:sty m:val="p"/>
                        </m:rPr>
                        <a:rPr lang="en-US" i="0" sz="1568">
                          <a:latin typeface="Cambria Math"/>
                        </a:rPr>
                        <m:t>cos</m:t>
                      </m:r>
                      <m:r>
                        <m:rPr>
                          <m:sty m:val="p"/>
                        </m:rPr>
                        <a:rPr lang="en-US" i="0" sz="1568">
                          <a:latin typeface="Cambria Math"/>
                        </a:rPr>
                        <m:t/>
                      </m:r>
                      <m:box>
                        <m:e>
                          <m:limUpp>
                            <m:e>
                              <m:r>
                                <m:rPr>
                                  <m:sty m:val="i"/>
                                </m:rPr>
                                <a:rPr lang="en-US" i="1" sz="1568">
                                  <a:latin typeface="Cambria Math"/>
                                </a:rPr>
                                <m:t>φ</m:t>
                              </m:r>
                            </m:e>
                            <m:lim>
                              <m:r>
                                <m:rPr>
                                  <m:sty m:val="p"/>
                                </m:rPr>
                                <a:rPr lang="en-US" i="0" sz="1568">
                                  <a:latin typeface="Cambria Math"/>
                                </a:rPr>
                                <m:t>^</m:t>
                              </m:r>
                            </m:lim>
                          </m:limUpp>
                        </m:e>
                      </m:box>
                      <m:r>
                        <m:rPr>
                          <m:sty m:val="p"/>
                        </m:rPr>
                        <a:rPr lang="en-US" i="0" sz="1568">
                          <a:latin typeface="Cambria Math"/>
                        </a:rPr>
                        <m:t>.</m:t>
                      </m:r>
                    </m:oMath>
                  </m:oMathPara>
                </a14:m>
              </mc:Choice>
              <mc:Fallback>
                <a:r>
                  <a:rPr lang="en-US" sz="1567" i="1"/>
                  <a:t>
                    \hat H_{\mathrm T}=4E_C(\hat n-n_g)^2-E_J\cos\hat\varphi.
                    </a:t>
                </a:r>
              </mc:Fallback>
            </mc:AlternateContent>
          </a:p>
        </p:txBody>
      </p:sp>
      <p:sp>
        <p:nvSpPr>
          <p:cNvPr id="7" name="TextBox 6"/>
          <p:cNvSpPr txBox="1"/>
          <p:nvPr/>
        </p:nvSpPr>
        <p:spPr>
          <a:xfrm>
            <a:off x="575733" y="2309812"/>
            <a:ext cx="11040533"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A charge qubit is highly sensitive to offset charge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n</m:t>
                        </m:r>
                      </m:e>
                      <m:sub>
                        <m:r>
                          <m:rPr>
                            <m:sty m:val="i"/>
                          </m:rPr>
                          <a:rPr lang="en-US" i="1" sz="1665">
                            <a:latin typeface="Cambria Math"/>
                          </a:rPr>
                          <m:t>g</m:t>
                        </m:r>
                      </m:sub>
                    </m:sSub>
                  </m:oMath>
                </a14:m>
              </mc:Choice>
              <mc:Fallback>
                <a:r>
                  <a:rPr lang="en-US" sz="1664" i="1"/>
                  <a:t>n_g</a:t>
                </a:r>
              </mc:Fallback>
            </mc:AlternateContent>
            <a:r>
              <a:rPr sz="1400" b="0" i="0">
                <a:solidFill>
                  <a:srgbClr val="4F4C56"/>
                </a:solidFill>
                <a:latin typeface="Montserrat"/>
                <a:ea typeface="Montserrat"/>
                <a:cs typeface="Montserrat"/>
              </a:rPr>
              <a:t>. By increasing the shunt capacitance, a transmon lowers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C</m:t>
                        </m:r>
                      </m:sub>
                    </m:sSub>
                  </m:oMath>
                </a14:m>
              </mc:Choice>
              <mc:Fallback>
                <a:r>
                  <a:rPr lang="en-US" sz="1664" i="1"/>
                  <a:t>E_C</a:t>
                </a:r>
              </mc:Fallback>
            </mc:AlternateContent>
            <a:r>
              <a:rPr sz="1400" b="0" i="0">
                <a:solidFill>
                  <a:srgbClr val="4F4C56"/>
                </a:solidFill>
                <a:latin typeface="Montserrat"/>
                <a:ea typeface="Montserrat"/>
                <a:cs typeface="Montserrat"/>
              </a:rPr>
              <a:t> and raises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J</m:t>
                        </m:r>
                      </m:sub>
                    </m:sSub>
                    <m:box>
                      <m:e>
                        <m:r>
                          <m:rPr>
                            <m:sty m:val="p"/>
                          </m:rPr>
                          <a:rPr lang="en-US" i="0" sz="1665">
                            <a:latin typeface="Cambria Math"/>
                          </a:rPr>
                          <m:t>/</m:t>
                        </m:r>
                      </m:e>
                    </m:box>
                    <m:sSub>
                      <m:e>
                        <m:r>
                          <m:rPr>
                            <m:sty m:val="i"/>
                          </m:rPr>
                          <a:rPr lang="en-US" i="1" sz="1665">
                            <a:latin typeface="Cambria Math"/>
                          </a:rPr>
                          <m:t>E</m:t>
                        </m:r>
                      </m:e>
                      <m:sub>
                        <m:r>
                          <m:rPr>
                            <m:sty m:val="i"/>
                          </m:rPr>
                          <a:rPr lang="en-US" i="1" sz="1665">
                            <a:latin typeface="Cambria Math"/>
                          </a:rPr>
                          <m:t>C</m:t>
                        </m:r>
                      </m:sub>
                    </m:sSub>
                  </m:oMath>
                </a14:m>
              </mc:Choice>
              <mc:Fallback>
                <a:r>
                  <a:rPr lang="en-US" sz="1664" i="1"/>
                  <a:t>E_J/E_C</a:t>
                </a:r>
              </mc:Fallback>
            </mc:AlternateContent>
            <a:r>
              <a:rPr sz="1400" b="0" i="0">
                <a:solidFill>
                  <a:srgbClr val="4F4C56"/>
                </a:solidFill>
                <a:latin typeface="Montserrat"/>
                <a:ea typeface="Montserrat"/>
                <a:cs typeface="Montserrat"/>
              </a:rPr>
              <a:t>, exponentially suppressing the charge dispersion of the energy with respect to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n</m:t>
                        </m:r>
                      </m:e>
                      <m:sub>
                        <m:r>
                          <m:rPr>
                            <m:sty m:val="i"/>
                          </m:rPr>
                          <a:rPr lang="en-US" i="1" sz="1665">
                            <a:latin typeface="Cambria Math"/>
                          </a:rPr>
                          <m:t>g</m:t>
                        </m:r>
                      </m:sub>
                    </m:sSub>
                  </m:oMath>
                </a14:m>
              </mc:Choice>
              <mc:Fallback>
                <a:r>
                  <a:rPr lang="en-US" sz="1664" i="1"/>
                  <a:t>n_g</a:t>
                </a:r>
              </mc:Fallback>
            </mc:AlternateContent>
            <a:r>
              <a:rPr sz="1400" b="0" i="0">
                <a:solidFill>
                  <a:srgbClr val="4F4C56"/>
                </a:solidFill>
                <a:latin typeface="Montserrat"/>
                <a:ea typeface="Montserrat"/>
                <a:cs typeface="Montserrat"/>
              </a:rPr>
              <a:t>. The cost is a smaller magnitude of anharmonicity, requiring a new trade-off between control selectivity and gate speed. </a:t>
            </a:r>
          </a:p>
        </p:txBody>
      </p:sp>
      <p:sp>
        <p:nvSpPr>
          <p:cNvPr id="8" name="TextBox 7"/>
          <p:cNvSpPr txBox="1"/>
          <p:nvPr/>
        </p:nvSpPr>
        <p:spPr>
          <a:xfrm>
            <a:off x="575733" y="3298031"/>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First identify the problem with the original charge qubit</a:t>
            </a:r>
          </a:p>
        </p:txBody>
      </p:sp>
      <p:sp>
        <p:nvSpPr>
          <p:cNvPr id="9" name="TextBox 8"/>
          <p:cNvSpPr txBox="1"/>
          <p:nvPr/>
        </p:nvSpPr>
        <p:spPr>
          <a:xfrm>
            <a:off x="575733" y="3674798"/>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 In the charge basis, first set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J</m:t>
                        </m:r>
                      </m:sub>
                    </m:sSub>
                    <m:r>
                      <m:rPr>
                        <m:sty m:val="p"/>
                      </m:rPr>
                      <a:rPr lang="en-US" i="0" sz="1665">
                        <a:latin typeface="Cambria Math"/>
                      </a:rPr>
                      <m:t>=</m:t>
                    </m:r>
                    <m:r>
                      <m:rPr>
                        <m:sty m:val="p"/>
                      </m:rPr>
                      <a:rPr lang="en-US" i="0" sz="1665">
                        <a:latin typeface="Cambria Math"/>
                      </a:rPr>
                      <m:t>0</m:t>
                    </m:r>
                  </m:oMath>
                </a14:m>
              </mc:Choice>
              <mc:Fallback>
                <a:r>
                  <a:rPr lang="en-US" sz="1664" i="1"/>
                  <a:t>E_J=0</a:t>
                </a:r>
              </mc:Fallback>
            </mc:AlternateContent>
            <a:r>
              <a:rPr sz="1400" b="0" i="0">
                <a:solidFill>
                  <a:srgbClr val="4F4C56"/>
                </a:solidFill>
                <a:latin typeface="Montserrat"/>
                <a:ea typeface="Montserrat"/>
                <a:cs typeface="Montserrat"/>
              </a:rPr>
              <a:t>. Each integer Cooper-pair number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n</m:t>
                    </m:r>
                  </m:oMath>
                </a14:m>
              </mc:Choice>
              <mc:Fallback>
                <a:r>
                  <a:rPr lang="en-US" sz="1664" i="1"/>
                  <a:t>n</a:t>
                </a:r>
              </mc:Fallback>
            </mc:AlternateContent>
            <a:r>
              <a:rPr sz="1400" b="0" i="0">
                <a:solidFill>
                  <a:srgbClr val="4F4C56"/>
                </a:solidFill>
                <a:latin typeface="Montserrat"/>
                <a:ea typeface="Montserrat"/>
                <a:cs typeface="Montserrat"/>
              </a:rPr>
              <a:t> then corresponds to a charging parabola: </a:t>
            </a:r>
          </a:p>
        </p:txBody>
      </p:sp>
      <p:sp>
        <p:nvSpPr>
          <p:cNvPr id="10" name="equation"/>
          <p:cNvSpPr txBox="1"/>
          <p:nvPr/>
        </p:nvSpPr>
        <p:spPr>
          <a:xfrm>
            <a:off x="575733" y="4097337"/>
            <a:ext cx="11040533" cy="234421"/>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568">
                              <a:latin typeface="Cambria Math"/>
                            </a:rPr>
                            <m:t>E</m:t>
                          </m:r>
                        </m:e>
                        <m:sub>
                          <m:r>
                            <m:rPr>
                              <m:sty m:val="i"/>
                            </m:rPr>
                            <a:rPr lang="en-US" i="1" sz="1568">
                              <a:latin typeface="Cambria Math"/>
                            </a:rPr>
                            <m:t>n</m:t>
                          </m:r>
                        </m:sub>
                      </m:sSub>
                      <m:r>
                        <m:rPr>
                          <m:sty m:val="p"/>
                        </m:rPr>
                        <a:rPr lang="en-US" i="0" sz="1568">
                          <a:latin typeface="Cambria Math"/>
                        </a:rPr>
                        <m:t>(</m:t>
                      </m:r>
                      <m:sSub>
                        <m:e>
                          <m:r>
                            <m:rPr>
                              <m:sty m:val="i"/>
                            </m:rPr>
                            <a:rPr lang="en-US" i="1" sz="1568">
                              <a:latin typeface="Cambria Math"/>
                            </a:rPr>
                            <m:t>n</m:t>
                          </m:r>
                        </m:e>
                        <m:sub>
                          <m:r>
                            <m:rPr>
                              <m:sty m:val="i"/>
                            </m:rPr>
                            <a:rPr lang="en-US" i="1" sz="1568">
                              <a:latin typeface="Cambria Math"/>
                            </a:rPr>
                            <m:t>g</m:t>
                          </m:r>
                        </m:sub>
                      </m:sSub>
                      <m:r>
                        <m:rPr>
                          <m:sty m:val="p"/>
                        </m:rPr>
                        <a:rPr lang="en-US" i="0" sz="1568">
                          <a:latin typeface="Cambria Math"/>
                        </a:rPr>
                        <m:t>)</m:t>
                      </m:r>
                      <m:r>
                        <m:rPr>
                          <m:sty m:val="p"/>
                        </m:rPr>
                        <a:rPr lang="en-US" i="0" sz="1568">
                          <a:latin typeface="Cambria Math"/>
                        </a:rPr>
                        <m:t>=</m:t>
                      </m:r>
                      <m:r>
                        <m:rPr>
                          <m:sty m:val="p"/>
                        </m:rPr>
                        <a:rPr lang="en-US" i="0" sz="1568">
                          <a:latin typeface="Cambria Math"/>
                        </a:rPr>
                        <m:t>4</m:t>
                      </m:r>
                      <m:sSub>
                        <m:e>
                          <m:r>
                            <m:rPr>
                              <m:sty m:val="i"/>
                            </m:rPr>
                            <a:rPr lang="en-US" i="1" sz="1568">
                              <a:latin typeface="Cambria Math"/>
                            </a:rPr>
                            <m:t>E</m:t>
                          </m:r>
                        </m:e>
                        <m:sub>
                          <m:r>
                            <m:rPr>
                              <m:sty m:val="i"/>
                            </m:rPr>
                            <a:rPr lang="en-US" i="1" sz="1568">
                              <a:latin typeface="Cambria Math"/>
                            </a:rPr>
                            <m:t>C</m:t>
                          </m:r>
                        </m:sub>
                      </m:sSub>
                      <m:r>
                        <m:rPr>
                          <m:sty m:val="p"/>
                        </m:rPr>
                        <a:rPr lang="en-US" i="0" sz="1568">
                          <a:latin typeface="Cambria Math"/>
                        </a:rPr>
                        <m:t>(</m:t>
                      </m:r>
                      <m:r>
                        <m:rPr>
                          <m:sty m:val="i"/>
                        </m:rPr>
                        <a:rPr lang="en-US" i="1" sz="1568">
                          <a:latin typeface="Cambria Math"/>
                        </a:rPr>
                        <m:t>n</m:t>
                      </m:r>
                      <m:r>
                        <m:rPr>
                          <m:sty m:val="p"/>
                        </m:rPr>
                        <a:rPr lang="en-US" i="0" sz="1568">
                          <a:latin typeface="Cambria Math"/>
                        </a:rPr>
                        <m:t>−</m:t>
                      </m:r>
                      <m:sSub>
                        <m:e>
                          <m:r>
                            <m:rPr>
                              <m:sty m:val="i"/>
                            </m:rPr>
                            <a:rPr lang="en-US" i="1" sz="1568">
                              <a:latin typeface="Cambria Math"/>
                            </a:rPr>
                            <m:t>n</m:t>
                          </m:r>
                        </m:e>
                        <m:sub>
                          <m:r>
                            <m:rPr>
                              <m:sty m:val="i"/>
                            </m:rPr>
                            <a:rPr lang="en-US" i="1" sz="1568">
                              <a:latin typeface="Cambria Math"/>
                            </a:rPr>
                            <m:t>g</m:t>
                          </m:r>
                        </m:sub>
                      </m:sSub>
                      <m:sSup>
                        <m:e>
                          <m:r>
                            <m:rPr>
                              <m:sty m:val="p"/>
                            </m:rPr>
                            <a:rPr lang="en-US" i="0" sz="1568">
                              <a:latin typeface="Cambria Math"/>
                            </a:rPr>
                            <m:t>)</m:t>
                          </m:r>
                        </m:e>
                        <m:sup>
                          <m:r>
                            <m:rPr>
                              <m:sty m:val="p"/>
                            </m:rPr>
                            <a:rPr lang="en-US" i="0" sz="1568">
                              <a:latin typeface="Cambria Math"/>
                            </a:rPr>
                            <m:t>2</m:t>
                          </m:r>
                        </m:sup>
                      </m:sSup>
                      <m:r>
                        <m:rPr>
                          <m:sty m:val="p"/>
                        </m:rPr>
                        <a:rPr lang="en-US" i="0" sz="1568">
                          <a:latin typeface="Cambria Math"/>
                        </a:rPr>
                        <m:t>.</m:t>
                      </m:r>
                    </m:oMath>
                  </m:oMathPara>
                </a14:m>
              </mc:Choice>
              <mc:Fallback>
                <a:r>
                  <a:rPr lang="en-US" sz="1567" i="1"/>
                  <a:t>
                    E_n(n_g)=4E_C(n-n_g)^2.
                    </a:t>
                </a:r>
              </mc:Fallback>
            </mc:AlternateContent>
          </a:p>
        </p:txBody>
      </p:sp>
      <p:sp>
        <p:nvSpPr>
          <p:cNvPr id="11" name="Rectangle 10"/>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3" name="TextBox 12"/>
          <p:cNvSpPr txBox="1"/>
          <p:nvPr/>
        </p:nvSpPr>
        <p:spPr>
          <a:xfrm>
            <a:off x="11222699" y="6565900"/>
            <a:ext cx="478234"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94 / 100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7087261" y="324115"/>
            <a:ext cx="4613672"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How Does the Transmon Balance Noise Protection and Controllability?</a:t>
            </a:r>
          </a:p>
        </p:txBody>
      </p:sp>
      <p:sp>
        <p:nvSpPr>
          <p:cNvPr id="5" name="TextBox 4"/>
          <p:cNvSpPr txBox="1"/>
          <p:nvPr/>
        </p:nvSpPr>
        <p:spPr>
          <a:xfrm>
            <a:off x="575733" y="863600"/>
            <a:ext cx="11040533" cy="540279"/>
          </a:xfrm>
          <a:prstGeom prst="rect">
            <a:avLst/>
          </a:prstGeom>
          <a:noFill/>
        </p:spPr>
        <p:txBody>
          <a:bodyPr wrap="square" lIns="0" rIns="0" tIns="0" bIns="0" anchor="t">
            <a:noAutofit/>
          </a:bodyPr>
          <a:lstStyle/>
          <a:p>
            <a:pPr algn="l">
              <a:lnSpc>
                <a:spcPts val="2130"/>
              </a:lnSpc>
            </a:pP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n</m:t>
                        </m:r>
                      </m:e>
                      <m:sub>
                        <m:r>
                          <m:rPr>
                            <m:sty m:val="i"/>
                          </m:rPr>
                          <a:rPr lang="en-US" i="1" sz="1665">
                            <a:latin typeface="Cambria Math"/>
                          </a:rPr>
                          <m:t>g</m:t>
                        </m:r>
                      </m:sub>
                    </m:sSub>
                  </m:oMath>
                </a14:m>
              </mc:Choice>
              <mc:Fallback>
                <a:r>
                  <a:rPr lang="en-US" sz="1664" i="1"/>
                  <a:t>n_g</a:t>
                </a:r>
              </mc:Fallback>
            </mc:AlternateContent>
            <a:r>
              <a:rPr sz="1400" b="0" i="0">
                <a:solidFill>
                  <a:srgbClr val="4F4C56"/>
                </a:solidFill>
                <a:latin typeface="Montserrat"/>
                <a:ea typeface="Montserrat"/>
                <a:cs typeface="Montserrat"/>
              </a:rPr>
              <a:t> is set by the gate voltage, background trapped charge, and environmental offset-charge fluctuations. Near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n</m:t>
                        </m:r>
                      </m:e>
                      <m:sub>
                        <m:r>
                          <m:rPr>
                            <m:sty m:val="i"/>
                          </m:rPr>
                          <a:rPr lang="en-US" i="1" sz="1665">
                            <a:latin typeface="Cambria Math"/>
                          </a:rPr>
                          <m:t>g</m:t>
                        </m:r>
                      </m:sub>
                    </m:sSub>
                    <m:r>
                      <m:rPr>
                        <m:sty m:val="p"/>
                      </m:rPr>
                      <a:rPr lang="en-US" i="0" sz="1665">
                        <a:latin typeface="Cambria Math"/>
                      </a:rPr>
                      <m:t>=</m:t>
                    </m:r>
                    <m:r>
                      <m:rPr>
                        <m:sty m:val="p"/>
                      </m:rPr>
                      <a:rPr lang="en-US" i="0" sz="1665">
                        <a:latin typeface="Cambria Math"/>
                      </a:rPr>
                      <m:t>1</m:t>
                    </m:r>
                    <m:box>
                      <m:e>
                        <m:r>
                          <m:rPr>
                            <m:sty m:val="p"/>
                          </m:rPr>
                          <a:rPr lang="en-US" i="0" sz="1665">
                            <a:latin typeface="Cambria Math"/>
                          </a:rPr>
                          <m:t>/</m:t>
                        </m:r>
                      </m:e>
                    </m:box>
                    <m:r>
                      <m:rPr>
                        <m:sty m:val="p"/>
                      </m:rPr>
                      <a:rPr lang="en-US" i="0" sz="1665">
                        <a:latin typeface="Cambria Math"/>
                      </a:rPr>
                      <m:t>2</m:t>
                    </m:r>
                  </m:oMath>
                </a14:m>
              </mc:Choice>
              <mc:Fallback>
                <a:r>
                  <a:rPr lang="en-US" sz="1664" i="1"/>
                  <a:t>n_g=1/2</a:t>
                </a:r>
              </mc:Fallback>
            </mc:AlternateContent>
            <a:r>
              <a:rPr sz="1400" b="0" i="0">
                <a:solidFill>
                  <a:srgbClr val="4F4C56"/>
                </a:solidFill>
                <a:latin typeface="Montserrat"/>
                <a:ea typeface="Montserrat"/>
                <a:cs typeface="Montserrat"/>
              </a:rPr>
              <a:t>, retaining only </a:t>
            </a:r>
            <mc:AlternateContent xmlns:mc="http://schemas.openxmlformats.org/markup-compatibility/2006">
              <mc:Choice xmlns:a14="http://schemas.microsoft.com/office/drawing/2010/main" Requires="a14">
                <a14:m>
                  <m:oMath xmlns:m="http://schemas.openxmlformats.org/officeDocument/2006/math">
                    <m:box>
                      <m:e>
                        <m:r>
                          <m:rPr>
                            <m:sty m:val="p"/>
                          </m:rPr>
                          <a:rPr lang="en-US" i="0" sz="1665">
                            <a:latin typeface="Cambria Math"/>
                          </a:rPr>
                          <m:t>|</m:t>
                        </m:r>
                        <m:box>
                          <m:e>
                            <m:r>
                              <m:rPr>
                                <m:sty m:val="i"/>
                              </m:rPr>
                              <a:rPr lang="en-US" i="1" sz="1665">
                                <a:latin typeface="Cambria Math"/>
                              </a:rPr>
                              <m:t>n</m:t>
                            </m:r>
                            <m:r>
                              <m:rPr>
                                <m:sty m:val="p"/>
                              </m:rPr>
                              <a:rPr lang="en-US" i="0" sz="1665">
                                <a:latin typeface="Cambria Math"/>
                              </a:rPr>
                              <m:t>=</m:t>
                            </m:r>
                            <m:r>
                              <m:rPr>
                                <m:sty m:val="p"/>
                              </m:rPr>
                              <a:rPr lang="en-US" i="0" sz="1665">
                                <a:latin typeface="Cambria Math"/>
                              </a:rPr>
                              <m:t>0</m:t>
                            </m:r>
                          </m:e>
                        </m:box>
                        <m:r>
                          <m:rPr>
                            <m:sty m:val="p"/>
                          </m:rPr>
                          <a:rPr lang="en-US" i="0" sz="1665">
                            <a:latin typeface="Cambria Math"/>
                          </a:rPr>
                          <m:t>⟩</m:t>
                        </m:r>
                      </m:e>
                    </m:box>
                  </m:oMath>
                </a14:m>
              </mc:Choice>
              <mc:Fallback>
                <a:r>
                  <a:rPr lang="en-US" sz="1664" i="1"/>
                  <a:t>\ket{n=0}</a:t>
                </a:r>
              </mc:Fallback>
            </mc:AlternateContent>
            <a:r>
              <a:rPr sz="1400" b="0" i="0">
                <a:solidFill>
                  <a:srgbClr val="4F4C56"/>
                </a:solidFill>
                <a:latin typeface="Montserrat"/>
                <a:ea typeface="Montserrat"/>
                <a:cs typeface="Montserrat"/>
              </a:rPr>
              <a:t> and </a:t>
            </a:r>
            <mc:AlternateContent xmlns:mc="http://schemas.openxmlformats.org/markup-compatibility/2006">
              <mc:Choice xmlns:a14="http://schemas.microsoft.com/office/drawing/2010/main" Requires="a14">
                <a14:m>
                  <m:oMath xmlns:m="http://schemas.openxmlformats.org/officeDocument/2006/math">
                    <m:box>
                      <m:e>
                        <m:r>
                          <m:rPr>
                            <m:sty m:val="p"/>
                          </m:rPr>
                          <a:rPr lang="en-US" i="0" sz="1665">
                            <a:latin typeface="Cambria Math"/>
                          </a:rPr>
                          <m:t>|</m:t>
                        </m:r>
                        <m:box>
                          <m:e>
                            <m:r>
                              <m:rPr>
                                <m:sty m:val="i"/>
                              </m:rPr>
                              <a:rPr lang="en-US" i="1" sz="1665">
                                <a:latin typeface="Cambria Math"/>
                              </a:rPr>
                              <m:t>n</m:t>
                            </m:r>
                            <m:r>
                              <m:rPr>
                                <m:sty m:val="p"/>
                              </m:rPr>
                              <a:rPr lang="en-US" i="0" sz="1665">
                                <a:latin typeface="Cambria Math"/>
                              </a:rPr>
                              <m:t>=</m:t>
                            </m:r>
                            <m:r>
                              <m:rPr>
                                <m:sty m:val="p"/>
                              </m:rPr>
                              <a:rPr lang="en-US" i="0" sz="1665">
                                <a:latin typeface="Cambria Math"/>
                              </a:rPr>
                              <m:t>1</m:t>
                            </m:r>
                          </m:e>
                        </m:box>
                        <m:r>
                          <m:rPr>
                            <m:sty m:val="p"/>
                          </m:rPr>
                          <a:rPr lang="en-US" i="0" sz="1665">
                            <a:latin typeface="Cambria Math"/>
                          </a:rPr>
                          <m:t>⟩</m:t>
                        </m:r>
                      </m:e>
                    </m:box>
                  </m:oMath>
                </a14:m>
              </mc:Choice>
              <mc:Fallback>
                <a:r>
                  <a:rPr lang="en-US" sz="1664" i="1"/>
                  <a:t>\ket{n=1}</a:t>
                </a:r>
              </mc:Fallback>
            </mc:AlternateContent>
            <a:r>
              <a:rPr sz="1400" b="0" i="0">
                <a:solidFill>
                  <a:srgbClr val="4F4C56"/>
                </a:solidFill>
                <a:latin typeface="Montserrat"/>
                <a:ea typeface="Montserrat"/>
                <a:cs typeface="Montserrat"/>
              </a:rPr>
              <a:t>, Josephson tunneling gives the approximate matrix </a:t>
            </a:r>
          </a:p>
        </p:txBody>
      </p:sp>
      <p:sp>
        <p:nvSpPr>
          <p:cNvPr id="6" name="equation"/>
          <p:cNvSpPr txBox="1"/>
          <p:nvPr/>
        </p:nvSpPr>
        <p:spPr>
          <a:xfrm>
            <a:off x="575733" y="1556279"/>
            <a:ext cx="11040533" cy="597165"/>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box>
                            <m:e>
                              <m:limUpp>
                                <m:e>
                                  <m:r>
                                    <m:rPr>
                                      <m:sty m:val="i"/>
                                    </m:rPr>
                                    <a:rPr lang="en-US" i="1" sz="1568">
                                      <a:latin typeface="Cambria Math"/>
                                    </a:rPr>
                                    <m:t>H</m:t>
                                  </m:r>
                                </m:e>
                                <m:lim>
                                  <m:r>
                                    <m:rPr>
                                      <m:sty m:val="p"/>
                                    </m:rPr>
                                    <a:rPr lang="en-US" i="0" sz="1568">
                                      <a:latin typeface="Cambria Math"/>
                                    </a:rPr>
                                    <m:t>^</m:t>
                                  </m:r>
                                </m:lim>
                              </m:limUpp>
                            </m:e>
                          </m:box>
                        </m:e>
                        <m:sub>
                          <m:box>
                            <m:e>
                              <m:r>
                                <m:rPr>
                                  <m:sty m:val="p"/>
                                </m:rPr>
                                <a:rPr lang="en-US" i="0" sz="1568">
                                  <a:latin typeface="Cambria Math"/>
                                </a:rPr>
                                <m:t>{</m:t>
                              </m:r>
                              <m:r>
                                <m:rPr>
                                  <m:sty m:val="p"/>
                                </m:rPr>
                                <a:rPr lang="en-US" i="0" sz="1568">
                                  <a:latin typeface="Cambria Math"/>
                                </a:rPr>
                                <m:t>0</m:t>
                              </m:r>
                              <m:r>
                                <m:rPr>
                                  <m:sty m:val="p"/>
                                </m:rPr>
                                <a:rPr lang="en-US" i="0" sz="1568">
                                  <a:latin typeface="Cambria Math"/>
                                </a:rPr>
                                <m:t>,</m:t>
                              </m:r>
                              <m:r>
                                <m:rPr>
                                  <m:sty m:val="p"/>
                                </m:rPr>
                                <a:rPr lang="en-US" i="0" sz="1568">
                                  <a:latin typeface="Cambria Math"/>
                                </a:rPr>
                                <m:t>1</m:t>
                              </m:r>
                              <m:r>
                                <m:rPr>
                                  <m:sty m:val="p"/>
                                </m:rPr>
                                <a:rPr lang="en-US" i="0" sz="1568">
                                  <a:latin typeface="Cambria Math"/>
                                </a:rPr>
                                <m:t>}</m:t>
                              </m:r>
                            </m:e>
                          </m:box>
                        </m:sub>
                      </m:sSub>
                      <m:r>
                        <m:rPr>
                          <m:sty m:val="p"/>
                        </m:rPr>
                        <a:rPr lang="en-US" i="0" sz="1568">
                          <a:latin typeface="Cambria Math"/>
                        </a:rPr>
                        <m:t>≈</m:t>
                      </m:r>
                      <m:box>
                        <m:e>
                          <m:d>
                            <m:dPr>
                              <m:begChr m:val="("/>
                              <m:endChr m:val=")"/>
                            </m:dPr>
                            <m:e>
                              <m:box>
                                <m:e>
                                  <m:m>
                                    <m:mr>
                                      <m:e>
                                        <m:box>
                                          <m:e>
                                            <m:r>
                                              <m:rPr>
                                                <m:sty m:val="p"/>
                                              </m:rPr>
                                              <a:rPr lang="en-US" i="0" sz="1568">
                                                <a:latin typeface="Cambria Math"/>
                                              </a:rPr>
                                              <m:t>4</m:t>
                                            </m:r>
                                            <m:sSub>
                                              <m:e>
                                                <m:r>
                                                  <m:rPr>
                                                    <m:sty m:val="i"/>
                                                  </m:rPr>
                                                  <a:rPr lang="en-US" i="1" sz="1568">
                                                    <a:latin typeface="Cambria Math"/>
                                                  </a:rPr>
                                                  <m:t>E</m:t>
                                                </m:r>
                                              </m:e>
                                              <m:sub>
                                                <m:r>
                                                  <m:rPr>
                                                    <m:sty m:val="i"/>
                                                  </m:rPr>
                                                  <a:rPr lang="en-US" i="1" sz="1568">
                                                    <a:latin typeface="Cambria Math"/>
                                                  </a:rPr>
                                                  <m:t>C</m:t>
                                                </m:r>
                                              </m:sub>
                                            </m:sSub>
                                            <m:sSubSup>
                                              <m:e>
                                                <m:r>
                                                  <m:rPr>
                                                    <m:sty m:val="i"/>
                                                  </m:rPr>
                                                  <a:rPr lang="en-US" i="1" sz="1568">
                                                    <a:latin typeface="Cambria Math"/>
                                                  </a:rPr>
                                                  <m:t>n</m:t>
                                                </m:r>
                                              </m:e>
                                              <m:sub>
                                                <m:r>
                                                  <m:rPr>
                                                    <m:sty m:val="i"/>
                                                  </m:rPr>
                                                  <a:rPr lang="en-US" i="1" sz="1568">
                                                    <a:latin typeface="Cambria Math"/>
                                                  </a:rPr>
                                                  <m:t>g</m:t>
                                                </m:r>
                                              </m:sub>
                                              <m:sup>
                                                <m:r>
                                                  <m:rPr>
                                                    <m:sty m:val="p"/>
                                                  </m:rPr>
                                                  <a:rPr lang="en-US" i="0" sz="1568">
                                                    <a:latin typeface="Cambria Math"/>
                                                  </a:rPr>
                                                  <m:t>2</m:t>
                                                </m:r>
                                              </m:sup>
                                            </m:sSubSup>
                                          </m:e>
                                        </m:box>
                                      </m:e>
                                      <m:e>
                                        <m:box>
                                          <m:e>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J</m:t>
                                                </m:r>
                                              </m:sub>
                                            </m:sSub>
                                            <m:box>
                                              <m:e>
                                                <m:r>
                                                  <m:rPr>
                                                    <m:sty m:val="p"/>
                                                  </m:rPr>
                                                  <a:rPr lang="en-US" i="0" sz="1568">
                                                    <a:latin typeface="Cambria Math"/>
                                                  </a:rPr>
                                                  <m:t>/</m:t>
                                                </m:r>
                                              </m:e>
                                            </m:box>
                                            <m:r>
                                              <m:rPr>
                                                <m:sty m:val="p"/>
                                              </m:rPr>
                                              <a:rPr lang="en-US" i="0" sz="1568">
                                                <a:latin typeface="Cambria Math"/>
                                              </a:rPr>
                                              <m:t>2</m:t>
                                            </m:r>
                                          </m:e>
                                        </m:box>
                                      </m:e>
                                    </m:mr>
                                    <m:mr>
                                      <m:e>
                                        <m:box>
                                          <m:e>
                                            <m:r>
                                              <m:rPr>
                                                <m:sty m:val="p"/>
                                              </m:rPr>
                                              <a:rPr lang="en-US" i="0" sz="1568">
                                                <a:latin typeface="Cambria Math"/>
                                              </a:rPr>
                                              <m:t>−</m:t>
                                            </m:r>
                                            <m:sSub>
                                              <m:e>
                                                <m:r>
                                                  <m:rPr>
                                                    <m:sty m:val="i"/>
                                                  </m:rPr>
                                                  <a:rPr lang="en-US" i="1" sz="1568">
                                                    <a:latin typeface="Cambria Math"/>
                                                  </a:rPr>
                                                  <m:t>E</m:t>
                                                </m:r>
                                              </m:e>
                                              <m:sub>
                                                <m:r>
                                                  <m:rPr>
                                                    <m:sty m:val="i"/>
                                                  </m:rPr>
                                                  <a:rPr lang="en-US" i="1" sz="1568">
                                                    <a:latin typeface="Cambria Math"/>
                                                  </a:rPr>
                                                  <m:t>J</m:t>
                                                </m:r>
                                              </m:sub>
                                            </m:sSub>
                                            <m:box>
                                              <m:e>
                                                <m:r>
                                                  <m:rPr>
                                                    <m:sty m:val="p"/>
                                                  </m:rPr>
                                                  <a:rPr lang="en-US" i="0" sz="1568">
                                                    <a:latin typeface="Cambria Math"/>
                                                  </a:rPr>
                                                  <m:t>/</m:t>
                                                </m:r>
                                              </m:e>
                                            </m:box>
                                            <m:r>
                                              <m:rPr>
                                                <m:sty m:val="p"/>
                                              </m:rPr>
                                              <a:rPr lang="en-US" i="0" sz="1568">
                                                <a:latin typeface="Cambria Math"/>
                                              </a:rPr>
                                              <m:t>2</m:t>
                                            </m:r>
                                          </m:e>
                                        </m:box>
                                      </m:e>
                                      <m:e>
                                        <m:box>
                                          <m:e>
                                            <m:r>
                                              <m:rPr>
                                                <m:sty m:val="p"/>
                                              </m:rPr>
                                              <a:rPr lang="en-US" i="0" sz="1568">
                                                <a:latin typeface="Cambria Math"/>
                                              </a:rPr>
                                              <m:t>4</m:t>
                                            </m:r>
                                            <m:sSub>
                                              <m:e>
                                                <m:r>
                                                  <m:rPr>
                                                    <m:sty m:val="i"/>
                                                  </m:rPr>
                                                  <a:rPr lang="en-US" i="1" sz="1568">
                                                    <a:latin typeface="Cambria Math"/>
                                                  </a:rPr>
                                                  <m:t>E</m:t>
                                                </m:r>
                                              </m:e>
                                              <m:sub>
                                                <m:r>
                                                  <m:rPr>
                                                    <m:sty m:val="i"/>
                                                  </m:rPr>
                                                  <a:rPr lang="en-US" i="1" sz="1568">
                                                    <a:latin typeface="Cambria Math"/>
                                                  </a:rPr>
                                                  <m:t>C</m:t>
                                                </m:r>
                                              </m:sub>
                                            </m:sSub>
                                            <m:r>
                                              <m:rPr>
                                                <m:sty m:val="p"/>
                                              </m:rPr>
                                              <a:rPr lang="en-US" i="0" sz="1568">
                                                <a:latin typeface="Cambria Math"/>
                                              </a:rPr>
                                              <m:t>(</m:t>
                                            </m:r>
                                            <m:r>
                                              <m:rPr>
                                                <m:sty m:val="p"/>
                                              </m:rPr>
                                              <a:rPr lang="en-US" i="0" sz="1568">
                                                <a:latin typeface="Cambria Math"/>
                                              </a:rPr>
                                              <m:t>1</m:t>
                                            </m:r>
                                            <m:r>
                                              <m:rPr>
                                                <m:sty m:val="p"/>
                                              </m:rPr>
                                              <a:rPr lang="en-US" i="0" sz="1568">
                                                <a:latin typeface="Cambria Math"/>
                                              </a:rPr>
                                              <m:t>−</m:t>
                                            </m:r>
                                            <m:sSub>
                                              <m:e>
                                                <m:r>
                                                  <m:rPr>
                                                    <m:sty m:val="i"/>
                                                  </m:rPr>
                                                  <a:rPr lang="en-US" i="1" sz="1568">
                                                    <a:latin typeface="Cambria Math"/>
                                                  </a:rPr>
                                                  <m:t>n</m:t>
                                                </m:r>
                                              </m:e>
                                              <m:sub>
                                                <m:r>
                                                  <m:rPr>
                                                    <m:sty m:val="i"/>
                                                  </m:rPr>
                                                  <a:rPr lang="en-US" i="1" sz="1568">
                                                    <a:latin typeface="Cambria Math"/>
                                                  </a:rPr>
                                                  <m:t>g</m:t>
                                                </m:r>
                                              </m:sub>
                                            </m:sSub>
                                            <m:sSup>
                                              <m:e>
                                                <m:r>
                                                  <m:rPr>
                                                    <m:sty m:val="p"/>
                                                  </m:rPr>
                                                  <a:rPr lang="en-US" i="0" sz="1568">
                                                    <a:latin typeface="Cambria Math"/>
                                                  </a:rPr>
                                                  <m:t>)</m:t>
                                                </m:r>
                                              </m:e>
                                              <m:sup>
                                                <m:r>
                                                  <m:rPr>
                                                    <m:sty m:val="p"/>
                                                  </m:rPr>
                                                  <a:rPr lang="en-US" i="0" sz="1568">
                                                    <a:latin typeface="Cambria Math"/>
                                                  </a:rPr>
                                                  <m:t>2</m:t>
                                                </m:r>
                                              </m:sup>
                                            </m:sSup>
                                          </m:e>
                                        </m:box>
                                      </m:e>
                                    </m:mr>
                                  </m:m>
                                </m:e>
                              </m:box>
                            </m:e>
                          </m:d>
                        </m:e>
                      </m:box>
                      <m:r>
                        <m:rPr>
                          <m:sty m:val="p"/>
                        </m:rPr>
                        <a:rPr lang="en-US" i="0" sz="1568">
                          <a:latin typeface="Cambria Math"/>
                        </a:rPr>
                        <m:t>.</m:t>
                      </m:r>
                    </m:oMath>
                  </m:oMathPara>
                </a14:m>
              </mc:Choice>
              <mc:Fallback>
                <a:r>
                  <a:rPr lang="en-US" sz="1567" i="1"/>
                  <a:t>
                    \hat H_{\{0,1\}}
                    \approx
                    \begin{pmatrix}
                    4E_Cn_g^2 &amp; -E_J/2\\
                    -E_J/2 &amp; 4E_C(1-n_g)^2
                    \end{pmatrix}.
                    </a:t>
                </a:r>
              </mc:Fallback>
            </mc:AlternateContent>
          </a:p>
        </p:txBody>
      </p:sp>
      <p:sp>
        <p:nvSpPr>
          <p:cNvPr id="7" name="TextBox 6"/>
          <p:cNvSpPr txBox="1"/>
          <p:nvPr/>
        </p:nvSpPr>
        <p:spPr>
          <a:xfrm>
            <a:off x="575733" y="2305844"/>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 so the two-level splitting is approximately </a:t>
            </a:r>
          </a:p>
        </p:txBody>
      </p:sp>
      <p:sp>
        <p:nvSpPr>
          <p:cNvPr id="8" name="equation"/>
          <p:cNvSpPr txBox="1"/>
          <p:nvPr/>
        </p:nvSpPr>
        <p:spPr>
          <a:xfrm>
            <a:off x="575733" y="2728383"/>
            <a:ext cx="11040533" cy="372269"/>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i"/>
                        </m:rPr>
                        <a:rPr lang="en-US" i="1" sz="1568">
                          <a:latin typeface="Cambria Math"/>
                        </a:rPr>
                        <m:t>ℏ</m:t>
                      </m:r>
                      <m:sSub>
                        <m:e>
                          <m:r>
                            <m:rPr>
                              <m:sty m:val="i"/>
                            </m:rPr>
                            <a:rPr lang="en-US" i="1" sz="1568">
                              <a:latin typeface="Cambria Math"/>
                            </a:rPr>
                            <m:t>ω</m:t>
                          </m:r>
                        </m:e>
                        <m:sub>
                          <m:box>
                            <m:e>
                              <m:r>
                                <m:rPr>
                                  <m:sty m:val="p"/>
                                </m:rPr>
                                <a:rPr lang="en-US" i="0" sz="1568">
                                  <a:latin typeface="Cambria Math"/>
                                </a:rPr>
                                <m:t>01</m:t>
                              </m:r>
                            </m:e>
                          </m:box>
                        </m:sub>
                      </m:sSub>
                      <m:r>
                        <m:rPr>
                          <m:sty m:val="p"/>
                        </m:rPr>
                        <a:rPr lang="en-US" i="0" sz="1568">
                          <a:latin typeface="Cambria Math"/>
                        </a:rPr>
                        <m:t>≈</m:t>
                      </m:r>
                      <m:rad>
                        <m:radPr>
                          <m:degHide m:val="1"/>
                        </m:radPr>
                        <m:deg/>
                        <m:e>
                          <m:box>
                            <m:e>
                              <m:d>
                                <m:dPr>
                                  <m:begChr m:val="["/>
                                  <m:endChr m:val=""/>
                                </m:dPr>
                                <m:e>
                                  <m:box>
                                    <m:e>
                                      <m:r>
                                        <m:rPr>
                                          <m:sty m:val="p"/>
                                        </m:rPr>
                                        <a:rPr lang="en-US" i="0" sz="1568">
                                          <a:latin typeface="Cambria Math"/>
                                        </a:rPr>
                                        <m:t>4</m:t>
                                      </m:r>
                                      <m:sSub>
                                        <m:e>
                                          <m:r>
                                            <m:rPr>
                                              <m:sty m:val="i"/>
                                            </m:rPr>
                                            <a:rPr lang="en-US" i="1" sz="1568">
                                              <a:latin typeface="Cambria Math"/>
                                            </a:rPr>
                                            <m:t>E</m:t>
                                          </m:r>
                                        </m:e>
                                        <m:sub>
                                          <m:r>
                                            <m:rPr>
                                              <m:sty m:val="i"/>
                                            </m:rPr>
                                            <a:rPr lang="en-US" i="1" sz="1568">
                                              <a:latin typeface="Cambria Math"/>
                                            </a:rPr>
                                            <m:t>C</m:t>
                                          </m:r>
                                        </m:sub>
                                      </m:sSub>
                                      <m:r>
                                        <m:rPr>
                                          <m:sty m:val="p"/>
                                        </m:rPr>
                                        <a:rPr lang="en-US" i="0" sz="1568">
                                          <a:latin typeface="Cambria Math"/>
                                        </a:rPr>
                                        <m:t>(</m:t>
                                      </m:r>
                                      <m:r>
                                        <m:rPr>
                                          <m:sty m:val="p"/>
                                        </m:rPr>
                                        <a:rPr lang="en-US" i="0" sz="1568">
                                          <a:latin typeface="Cambria Math"/>
                                        </a:rPr>
                                        <m:t>1</m:t>
                                      </m:r>
                                      <m:r>
                                        <m:rPr>
                                          <m:sty m:val="p"/>
                                        </m:rPr>
                                        <a:rPr lang="en-US" i="0" sz="1568">
                                          <a:latin typeface="Cambria Math"/>
                                        </a:rPr>
                                        <m:t>−</m:t>
                                      </m:r>
                                      <m:r>
                                        <m:rPr>
                                          <m:sty m:val="p"/>
                                        </m:rPr>
                                        <a:rPr lang="en-US" i="0" sz="1568">
                                          <a:latin typeface="Cambria Math"/>
                                        </a:rPr>
                                        <m:t>2</m:t>
                                      </m:r>
                                      <m:sSub>
                                        <m:e>
                                          <m:r>
                                            <m:rPr>
                                              <m:sty m:val="i"/>
                                            </m:rPr>
                                            <a:rPr lang="en-US" i="1" sz="1568">
                                              <a:latin typeface="Cambria Math"/>
                                            </a:rPr>
                                            <m:t>n</m:t>
                                          </m:r>
                                        </m:e>
                                        <m:sub>
                                          <m:r>
                                            <m:rPr>
                                              <m:sty m:val="i"/>
                                            </m:rPr>
                                            <a:rPr lang="en-US" i="1" sz="1568">
                                              <a:latin typeface="Cambria Math"/>
                                            </a:rPr>
                                            <m:t>g</m:t>
                                          </m:r>
                                        </m:sub>
                                      </m:sSub>
                                      <m:r>
                                        <m:rPr>
                                          <m:sty m:val="p"/>
                                        </m:rPr>
                                        <a:rPr lang="en-US" i="0" sz="1568">
                                          <a:latin typeface="Cambria Math"/>
                                        </a:rPr>
                                        <m:t>)</m:t>
                                      </m:r>
                                      <m:sSup>
                                        <m:e>
                                          <m:box>
                                            <m:e>
                                              <m:r>
                                                <m:rPr>
                                                  <m:sty m:val="p"/>
                                                </m:rPr>
                                                <a:rPr lang="en-US" i="0" sz="1568">
                                                  <a:latin typeface="Cambria Math"/>
                                                </a:rPr>
                                                <m:t>]</m:t>
                                              </m:r>
                                            </m:e>
                                          </m:box>
                                        </m:e>
                                        <m:sup>
                                          <m:r>
                                            <m:rPr>
                                              <m:sty m:val="p"/>
                                            </m:rPr>
                                            <a:rPr lang="en-US" i="0" sz="1568">
                                              <a:latin typeface="Cambria Math"/>
                                            </a:rPr>
                                            <m:t>2</m:t>
                                          </m:r>
                                        </m:sup>
                                      </m:sSup>
                                      <m:r>
                                        <m:rPr>
                                          <m:sty m:val="p"/>
                                        </m:rPr>
                                        <a:rPr lang="en-US" i="0" sz="1568">
                                          <a:latin typeface="Cambria Math"/>
                                        </a:rPr>
                                        <m:t>+</m:t>
                                      </m:r>
                                      <m:sSubSup>
                                        <m:e>
                                          <m:r>
                                            <m:rPr>
                                              <m:sty m:val="i"/>
                                            </m:rPr>
                                            <a:rPr lang="en-US" i="1" sz="1568">
                                              <a:latin typeface="Cambria Math"/>
                                            </a:rPr>
                                            <m:t>E</m:t>
                                          </m:r>
                                        </m:e>
                                        <m:sub>
                                          <m:r>
                                            <m:rPr>
                                              <m:sty m:val="i"/>
                                            </m:rPr>
                                            <a:rPr lang="en-US" i="1" sz="1568">
                                              <a:latin typeface="Cambria Math"/>
                                            </a:rPr>
                                            <m:t>J</m:t>
                                          </m:r>
                                        </m:sub>
                                        <m:sup>
                                          <m:r>
                                            <m:rPr>
                                              <m:sty m:val="p"/>
                                            </m:rPr>
                                            <a:rPr lang="en-US" i="0" sz="1568">
                                              <a:latin typeface="Cambria Math"/>
                                            </a:rPr>
                                            <m:t>2</m:t>
                                          </m:r>
                                        </m:sup>
                                      </m:sSubSup>
                                    </m:e>
                                  </m:box>
                                </m:e>
                              </m:d>
                            </m:e>
                          </m:box>
                        </m:e>
                      </m:rad>
                      <m:r>
                        <m:rPr>
                          <m:sty m:val="p"/>
                        </m:rPr>
                        <a:rPr lang="en-US" i="0" sz="1568">
                          <a:latin typeface="Cambria Math"/>
                        </a:rPr>
                        <m:t>.</m:t>
                      </m:r>
                    </m:oMath>
                  </m:oMathPara>
                </a14:m>
              </mc:Choice>
              <mc:Fallback>
                <a:r>
                  <a:rPr lang="en-US" sz="1567" i="1"/>
                  <a:t>
                    \hbar\omega_{01}
                    \approx\sqrt{\bigl[4E_C(1-2n_g)\bigr]^2+E_J^2}.
                    </a:t>
                </a:r>
              </mc:Fallback>
            </mc:AlternateContent>
          </a:p>
        </p:txBody>
      </p:sp>
      <p:sp>
        <p:nvSpPr>
          <p:cNvPr id="9" name="TextBox 8"/>
          <p:cNvSpPr txBox="1"/>
          <p:nvPr/>
        </p:nvSpPr>
        <p:spPr>
          <a:xfrm>
            <a:off x="575733" y="3253052"/>
            <a:ext cx="11040533"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At exactly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n</m:t>
                        </m:r>
                      </m:e>
                      <m:sub>
                        <m:r>
                          <m:rPr>
                            <m:sty m:val="i"/>
                          </m:rPr>
                          <a:rPr lang="en-US" i="1" sz="1665">
                            <a:latin typeface="Cambria Math"/>
                          </a:rPr>
                          <m:t>g</m:t>
                        </m:r>
                      </m:sub>
                    </m:sSub>
                    <m:r>
                      <m:rPr>
                        <m:sty m:val="p"/>
                      </m:rPr>
                      <a:rPr lang="en-US" i="0" sz="1665">
                        <a:latin typeface="Cambria Math"/>
                      </a:rPr>
                      <m:t>=</m:t>
                    </m:r>
                    <m:r>
                      <m:rPr>
                        <m:sty m:val="p"/>
                      </m:rPr>
                      <a:rPr lang="en-US" i="0" sz="1665">
                        <a:latin typeface="Cambria Math"/>
                      </a:rPr>
                      <m:t>1</m:t>
                    </m:r>
                    <m:box>
                      <m:e>
                        <m:r>
                          <m:rPr>
                            <m:sty m:val="p"/>
                          </m:rPr>
                          <a:rPr lang="en-US" i="0" sz="1665">
                            <a:latin typeface="Cambria Math"/>
                          </a:rPr>
                          <m:t>/</m:t>
                        </m:r>
                      </m:e>
                    </m:box>
                    <m:r>
                      <m:rPr>
                        <m:sty m:val="p"/>
                      </m:rPr>
                      <a:rPr lang="en-US" i="0" sz="1665">
                        <a:latin typeface="Cambria Math"/>
                      </a:rPr>
                      <m:t>2</m:t>
                    </m:r>
                  </m:oMath>
                </a14:m>
              </mc:Choice>
              <mc:Fallback>
                <a:r>
                  <a:rPr lang="en-US" sz="1664" i="1"/>
                  <a:t>n_g=1/2</a:t>
                </a:r>
              </mc:Fallback>
            </mc:AlternateContent>
            <a:r>
              <a:rPr sz="1400" b="0" i="0">
                <a:solidFill>
                  <a:srgbClr val="4F4C56"/>
                </a:solidFill>
                <a:latin typeface="Montserrat"/>
                <a:ea typeface="Montserrat"/>
                <a:cs typeface="Montserrat"/>
              </a:rPr>
              <a:t> there is a charge sweet spot,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m:t>
                    </m:r>
                    <m:sSub>
                      <m:e>
                        <m:r>
                          <m:rPr>
                            <m:sty m:val="i"/>
                          </m:rPr>
                          <a:rPr lang="en-US" i="1" sz="1665">
                            <a:latin typeface="Cambria Math"/>
                          </a:rPr>
                          <m:t>ω</m:t>
                        </m:r>
                      </m:e>
                      <m:sub>
                        <m:box>
                          <m:e>
                            <m:r>
                              <m:rPr>
                                <m:sty m:val="p"/>
                              </m:rPr>
                              <a:rPr lang="en-US" i="0" sz="1665">
                                <a:latin typeface="Cambria Math"/>
                              </a:rPr>
                              <m:t>01</m:t>
                            </m:r>
                          </m:e>
                        </m:box>
                      </m:sub>
                    </m:sSub>
                    <m:box>
                      <m:e>
                        <m:r>
                          <m:rPr>
                            <m:sty m:val="p"/>
                          </m:rPr>
                          <a:rPr lang="en-US" i="0" sz="1665">
                            <a:latin typeface="Cambria Math"/>
                          </a:rPr>
                          <m:t>/</m:t>
                        </m:r>
                      </m:e>
                    </m:box>
                    <m:r>
                      <m:rPr>
                        <m:sty m:val="i"/>
                      </m:rPr>
                      <a:rPr lang="en-US" i="1" sz="1665">
                        <a:latin typeface="Cambria Math"/>
                      </a:rPr>
                      <m:t>∂</m:t>
                    </m:r>
                    <m:sSub>
                      <m:e>
                        <m:r>
                          <m:rPr>
                            <m:sty m:val="i"/>
                          </m:rPr>
                          <a:rPr lang="en-US" i="1" sz="1665">
                            <a:latin typeface="Cambria Math"/>
                          </a:rPr>
                          <m:t>n</m:t>
                        </m:r>
                      </m:e>
                      <m:sub>
                        <m:r>
                          <m:rPr>
                            <m:sty m:val="i"/>
                          </m:rPr>
                          <a:rPr lang="en-US" i="1" sz="1665">
                            <a:latin typeface="Cambria Math"/>
                          </a:rPr>
                          <m:t>g</m:t>
                        </m:r>
                      </m:sub>
                    </m:sSub>
                    <m:r>
                      <m:rPr>
                        <m:sty m:val="p"/>
                      </m:rPr>
                      <a:rPr lang="en-US" i="0" sz="1665">
                        <a:latin typeface="Cambria Math"/>
                      </a:rPr>
                      <m:t>=</m:t>
                    </m:r>
                    <m:r>
                      <m:rPr>
                        <m:sty m:val="p"/>
                      </m:rPr>
                      <a:rPr lang="en-US" i="0" sz="1665">
                        <a:latin typeface="Cambria Math"/>
                      </a:rPr>
                      <m:t>0</m:t>
                    </m:r>
                  </m:oMath>
                </a14:m>
              </mc:Choice>
              <mc:Fallback>
                <a:r>
                  <a:rPr lang="en-US" sz="1664" i="1"/>
                  <a:t>\partial\omega_{01}/\partial n_g=0</a:t>
                </a:r>
              </mc:Fallback>
            </mc:AlternateContent>
            <a:r>
              <a:rPr sz="1400" b="0" i="0">
                <a:solidFill>
                  <a:srgbClr val="4F4C56"/>
                </a:solidFill>
                <a:latin typeface="Montserrat"/>
                <a:ea typeface="Montserrat"/>
                <a:cs typeface="Montserrat"/>
              </a:rPr>
              <a:t>; but once the operating point drifts away, the frequency changes rapidly. If the background charge jumps, the qubit frequency jumps with it. Precise biasing at one point alone is not robust hardware protection. </a:t>
            </a:r>
          </a:p>
        </p:txBody>
      </p:sp>
      <p:sp>
        <p:nvSpPr>
          <p:cNvPr id="10" name="TextBox 9"/>
          <p:cNvSpPr txBox="1"/>
          <p:nvPr/>
        </p:nvSpPr>
        <p:spPr>
          <a:xfrm>
            <a:off x="575733" y="4241271"/>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The transmon's hardware move is simple: make the capacitance large</a:t>
            </a:r>
          </a:p>
        </p:txBody>
      </p:sp>
      <p:sp>
        <p:nvSpPr>
          <p:cNvPr id="11" name="Rectangle 10"/>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3" name="TextBox 12"/>
          <p:cNvSpPr txBox="1"/>
          <p:nvPr/>
        </p:nvSpPr>
        <p:spPr>
          <a:xfrm>
            <a:off x="11233811" y="6565900"/>
            <a:ext cx="467122"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95 / 100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7087261" y="324115"/>
            <a:ext cx="4613672"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How Does the Transmon Balance Noise Protection and Controllability?</a:t>
            </a:r>
          </a:p>
        </p:txBody>
      </p:sp>
      <p:sp>
        <p:nvSpPr>
          <p:cNvPr id="5" name="TextBox 4"/>
          <p:cNvSpPr txBox="1"/>
          <p:nvPr/>
        </p:nvSpPr>
        <p:spPr>
          <a:xfrm>
            <a:off x="575733" y="863600"/>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 For total capacitance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C</m:t>
                        </m:r>
                      </m:e>
                      <m:sub>
                        <m:r>
                          <m:rPr>
                            <m:sty m:val="p"/>
                          </m:rPr>
                          <a:rPr lang="en-US" i="0" sz="1665">
                            <a:latin typeface="Cambria Math"/>
                          </a:rPr>
                          <m:t>Σ</m:t>
                        </m:r>
                      </m:sub>
                    </m:sSub>
                  </m:oMath>
                </a14:m>
              </mc:Choice>
              <mc:Fallback>
                <a:r>
                  <a:rPr lang="en-US" sz="1664" i="1"/>
                  <a:t>C_\Sigma</a:t>
                </a:r>
              </mc:Fallback>
            </mc:AlternateContent>
            <a:r>
              <a:rPr sz="1400" b="0" i="0">
                <a:solidFill>
                  <a:srgbClr val="4F4C56"/>
                </a:solidFill>
                <a:latin typeface="Montserrat"/>
                <a:ea typeface="Montserrat"/>
                <a:cs typeface="Montserrat"/>
              </a:rPr>
              <a:t>, </a:t>
            </a:r>
          </a:p>
        </p:txBody>
      </p:sp>
      <p:sp>
        <p:nvSpPr>
          <p:cNvPr id="6" name="equation"/>
          <p:cNvSpPr txBox="1"/>
          <p:nvPr/>
        </p:nvSpPr>
        <p:spPr>
          <a:xfrm>
            <a:off x="575733" y="1286140"/>
            <a:ext cx="11040533" cy="466593"/>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sSub>
                        <m:e>
                          <m:r>
                            <m:rPr>
                              <m:sty m:val="i"/>
                            </m:rPr>
                            <a:rPr lang="en-US" i="1" sz="1568">
                              <a:latin typeface="Cambria Math"/>
                            </a:rPr>
                            <m:t>E</m:t>
                          </m:r>
                        </m:e>
                        <m:sub>
                          <m:r>
                            <m:rPr>
                              <m:sty m:val="i"/>
                            </m:rPr>
                            <a:rPr lang="en-US" i="1" sz="1568">
                              <a:latin typeface="Cambria Math"/>
                            </a:rPr>
                            <m:t>C</m:t>
                          </m:r>
                        </m:sub>
                      </m:sSub>
                      <m:r>
                        <m:rPr>
                          <m:sty m:val="p"/>
                        </m:rPr>
                        <a:rPr lang="en-US" i="0" sz="1568">
                          <a:latin typeface="Cambria Math"/>
                        </a:rPr>
                        <m:t>=</m:t>
                      </m:r>
                      <m:f>
                        <m:num>
                          <m:sSup>
                            <m:e>
                              <m:r>
                                <m:rPr>
                                  <m:sty m:val="i"/>
                                </m:rPr>
                                <a:rPr lang="en-US" i="1" sz="1568">
                                  <a:latin typeface="Cambria Math"/>
                                </a:rPr>
                                <m:t>e</m:t>
                              </m:r>
                            </m:e>
                            <m:sup>
                              <m:r>
                                <m:rPr>
                                  <m:sty m:val="p"/>
                                </m:rPr>
                                <a:rPr lang="en-US" i="0" sz="1568">
                                  <a:latin typeface="Cambria Math"/>
                                </a:rPr>
                                <m:t>2</m:t>
                              </m:r>
                            </m:sup>
                          </m:sSup>
                        </m:num>
                        <m:den>
                          <m:box>
                            <m:e>
                              <m:r>
                                <m:rPr>
                                  <m:sty m:val="p"/>
                                </m:rPr>
                                <a:rPr lang="en-US" i="0" sz="1568">
                                  <a:latin typeface="Cambria Math"/>
                                </a:rPr>
                                <m:t>2</m:t>
                              </m:r>
                              <m:sSub>
                                <m:e>
                                  <m:r>
                                    <m:rPr>
                                      <m:sty m:val="i"/>
                                    </m:rPr>
                                    <a:rPr lang="en-US" i="1" sz="1568">
                                      <a:latin typeface="Cambria Math"/>
                                    </a:rPr>
                                    <m:t>C</m:t>
                                  </m:r>
                                </m:e>
                                <m:sub>
                                  <m:r>
                                    <m:rPr>
                                      <m:sty m:val="p"/>
                                    </m:rPr>
                                    <a:rPr lang="en-US" i="0" sz="1568">
                                      <a:latin typeface="Cambria Math"/>
                                    </a:rPr>
                                    <m:t>Σ</m:t>
                                  </m:r>
                                </m:sub>
                              </m:sSub>
                            </m:e>
                          </m:box>
                        </m:den>
                      </m:f>
                      <m:r>
                        <m:rPr>
                          <m:sty m:val="p"/>
                        </m:rPr>
                        <a:rPr lang="en-US" i="0" sz="1568">
                          <a:latin typeface="Cambria Math"/>
                        </a:rPr>
                        <m:t>.</m:t>
                      </m:r>
                    </m:oMath>
                  </m:oMathPara>
                </a14:m>
              </mc:Choice>
              <mc:Fallback>
                <a:r>
                  <a:rPr lang="en-US" sz="1567" i="1"/>
                  <a:t>
                    E_C=\frac{e^2}{2C_\Sigma}.
                    </a:t>
                </a:r>
              </mc:Fallback>
            </mc:AlternateContent>
          </a:p>
        </p:txBody>
      </p:sp>
      <p:sp>
        <p:nvSpPr>
          <p:cNvPr id="7" name="TextBox 6"/>
          <p:cNvSpPr txBox="1"/>
          <p:nvPr/>
        </p:nvSpPr>
        <p:spPr>
          <a:xfrm>
            <a:off x="575733" y="1905132"/>
            <a:ext cx="11040533" cy="81041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Adding a large shunt capacitor increases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C</m:t>
                        </m:r>
                      </m:e>
                      <m:sub>
                        <m:r>
                          <m:rPr>
                            <m:sty m:val="p"/>
                          </m:rPr>
                          <a:rPr lang="en-US" i="0" sz="1665">
                            <a:latin typeface="Cambria Math"/>
                          </a:rPr>
                          <m:t>Σ</m:t>
                        </m:r>
                      </m:sub>
                    </m:sSub>
                  </m:oMath>
                </a14:m>
              </mc:Choice>
              <mc:Fallback>
                <a:r>
                  <a:rPr lang="en-US" sz="1664" i="1"/>
                  <a:t>C_\Sigma</a:t>
                </a:r>
              </mc:Fallback>
            </mc:AlternateContent>
            <a:r>
              <a:rPr sz="1400" b="0" i="0">
                <a:solidFill>
                  <a:srgbClr val="4F4C56"/>
                </a:solidFill>
                <a:latin typeface="Montserrat"/>
                <a:ea typeface="Montserrat"/>
                <a:cs typeface="Montserrat"/>
              </a:rPr>
              <a:t> and lowers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C</m:t>
                        </m:r>
                      </m:sub>
                    </m:sSub>
                  </m:oMath>
                </a14:m>
              </mc:Choice>
              <mc:Fallback>
                <a:r>
                  <a:rPr lang="en-US" sz="1664" i="1"/>
                  <a:t>E_C</a:t>
                </a:r>
              </mc:Fallback>
            </mc:AlternateContent>
            <a:r>
              <a:rPr sz="1400" b="0" i="0">
                <a:solidFill>
                  <a:srgbClr val="4F4C56"/>
                </a:solidFill>
                <a:latin typeface="Montserrat"/>
                <a:ea typeface="Montserrat"/>
                <a:cs typeface="Montserrat"/>
              </a:rPr>
              <a:t>, while the junction critical current can still set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J</m:t>
                        </m:r>
                      </m:sub>
                    </m:sSub>
                  </m:oMath>
                </a14:m>
              </mc:Choice>
              <mc:Fallback>
                <a:r>
                  <a:rPr lang="en-US" sz="1664" i="1"/>
                  <a:t>E_J</a:t>
                </a:r>
              </mc:Fallback>
            </mc:AlternateContent>
            <a:r>
              <a:rPr sz="1400" b="0" i="0">
                <a:solidFill>
                  <a:srgbClr val="4F4C56"/>
                </a:solidFill>
                <a:latin typeface="Montserrat"/>
                <a:ea typeface="Montserrat"/>
                <a:cs typeface="Montserrat"/>
              </a:rPr>
              <a:t> independently. Thus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J</m:t>
                        </m:r>
                      </m:sub>
                    </m:sSub>
                    <m:box>
                      <m:e>
                        <m:r>
                          <m:rPr>
                            <m:sty m:val="p"/>
                          </m:rPr>
                          <a:rPr lang="en-US" i="0" sz="1665">
                            <a:latin typeface="Cambria Math"/>
                          </a:rPr>
                          <m:t>/</m:t>
                        </m:r>
                      </m:e>
                    </m:box>
                    <m:sSub>
                      <m:e>
                        <m:r>
                          <m:rPr>
                            <m:sty m:val="i"/>
                          </m:rPr>
                          <a:rPr lang="en-US" i="1" sz="1665">
                            <a:latin typeface="Cambria Math"/>
                          </a:rPr>
                          <m:t>E</m:t>
                        </m:r>
                      </m:e>
                      <m:sub>
                        <m:r>
                          <m:rPr>
                            <m:sty m:val="i"/>
                          </m:rPr>
                          <a:rPr lang="en-US" i="1" sz="1665">
                            <a:latin typeface="Cambria Math"/>
                          </a:rPr>
                          <m:t>C</m:t>
                        </m:r>
                      </m:sub>
                    </m:sSub>
                  </m:oMath>
                </a14:m>
              </mc:Choice>
              <mc:Fallback>
                <a:r>
                  <a:rPr lang="en-US" sz="1664" i="1"/>
                  <a:t>E_J/E_C</a:t>
                </a:r>
              </mc:Fallback>
            </mc:AlternateContent>
            <a:r>
              <a:rPr sz="1400" b="0" i="0">
                <a:solidFill>
                  <a:srgbClr val="4F4C56"/>
                </a:solidFill>
                <a:latin typeface="Montserrat"/>
                <a:ea typeface="Montserrat"/>
                <a:cs typeface="Montserrat"/>
              </a:rPr>
              <a:t> can be shifted from the charge-qubit regime toward the transmon regime of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J</m:t>
                        </m:r>
                      </m:sub>
                    </m:sSub>
                    <m:box>
                      <m:e>
                        <m:r>
                          <m:rPr>
                            <m:sty m:val="p"/>
                          </m:rPr>
                          <a:rPr lang="en-US" i="0" sz="1665">
                            <a:latin typeface="Cambria Math"/>
                          </a:rPr>
                          <m:t>/</m:t>
                        </m:r>
                      </m:e>
                    </m:box>
                    <m:sSub>
                      <m:e>
                        <m:r>
                          <m:rPr>
                            <m:sty m:val="i"/>
                          </m:rPr>
                          <a:rPr lang="en-US" i="1" sz="1665">
                            <a:latin typeface="Cambria Math"/>
                          </a:rPr>
                          <m:t>E</m:t>
                        </m:r>
                      </m:e>
                      <m:sub>
                        <m:r>
                          <m:rPr>
                            <m:sty m:val="i"/>
                          </m:rPr>
                          <a:rPr lang="en-US" i="1" sz="1665">
                            <a:latin typeface="Cambria Math"/>
                          </a:rPr>
                          <m:t>C</m:t>
                        </m:r>
                      </m:sub>
                    </m:sSub>
                    <m:r>
                      <m:rPr>
                        <m:sty m:val="p"/>
                      </m:rPr>
                      <a:rPr lang="en-US" i="0" sz="1665">
                        <a:latin typeface="Cambria Math"/>
                      </a:rPr>
                      <m:t>≫</m:t>
                    </m:r>
                    <m:r>
                      <m:rPr>
                        <m:sty m:val="p"/>
                      </m:rPr>
                      <a:rPr lang="en-US" i="0" sz="1665">
                        <a:latin typeface="Cambria Math"/>
                      </a:rPr>
                      <m:t>1</m:t>
                    </m:r>
                  </m:oMath>
                </a14:m>
              </mc:Choice>
              <mc:Fallback>
                <a:r>
                  <a:rPr lang="en-US" sz="1664" i="1"/>
                  <a:t>E_J/E_C\gg1</a:t>
                </a:r>
              </mc:Fallback>
            </mc:AlternateContent>
            <a:r>
              <a:rPr sz="1400" b="0" i="0">
                <a:solidFill>
                  <a:srgbClr val="4F4C56"/>
                </a:solidFill>
                <a:latin typeface="Montserrat"/>
                <a:ea typeface="Montserrat"/>
                <a:cs typeface="Montserrat"/>
              </a:rPr>
              <a:t>. This does not introduce a different Hamiltonian; it moves the same Hamiltonian into another parameter regime. </a:t>
            </a:r>
          </a:p>
        </p:txBody>
      </p:sp>
      <p:sp>
        <p:nvSpPr>
          <p:cNvPr id="8" name="TextBox 7"/>
          <p:cNvSpPr txBox="1"/>
          <p:nvPr/>
        </p:nvSpPr>
        <p:spPr>
          <a:xfrm>
            <a:off x="575733" y="2851018"/>
            <a:ext cx="11040533" cy="1080558"/>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In the phase picture, larger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J</m:t>
                        </m:r>
                      </m:sub>
                    </m:sSub>
                    <m:box>
                      <m:e>
                        <m:r>
                          <m:rPr>
                            <m:sty m:val="p"/>
                          </m:rPr>
                          <a:rPr lang="en-US" i="0" sz="1665">
                            <a:latin typeface="Cambria Math"/>
                          </a:rPr>
                          <m:t>/</m:t>
                        </m:r>
                      </m:e>
                    </m:box>
                    <m:sSub>
                      <m:e>
                        <m:r>
                          <m:rPr>
                            <m:sty m:val="i"/>
                          </m:rPr>
                          <a:rPr lang="en-US" i="1" sz="1665">
                            <a:latin typeface="Cambria Math"/>
                          </a:rPr>
                          <m:t>E</m:t>
                        </m:r>
                      </m:e>
                      <m:sub>
                        <m:r>
                          <m:rPr>
                            <m:sty m:val="i"/>
                          </m:rPr>
                          <a:rPr lang="en-US" i="1" sz="1665">
                            <a:latin typeface="Cambria Math"/>
                          </a:rPr>
                          <m:t>C</m:t>
                        </m:r>
                      </m:sub>
                    </m:sSub>
                  </m:oMath>
                </a14:m>
              </mc:Choice>
              <mc:Fallback>
                <a:r>
                  <a:rPr lang="en-US" sz="1664" i="1"/>
                  <a:t>E_J/E_C</a:t>
                </a:r>
              </mc:Fallback>
            </mc:AlternateContent>
            <a:r>
              <a:rPr sz="1400" b="0" i="0">
                <a:solidFill>
                  <a:srgbClr val="4F4C56"/>
                </a:solidFill>
                <a:latin typeface="Montserrat"/>
                <a:ea typeface="Montserrat"/>
                <a:cs typeface="Montserrat"/>
              </a:rPr>
              <a:t> localizes low-energy wavefunctions near a cosine minimum and reduces the quantum phase-slip amplitude between neighboring wells. Offset charge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n</m:t>
                        </m:r>
                      </m:e>
                      <m:sub>
                        <m:r>
                          <m:rPr>
                            <m:sty m:val="i"/>
                          </m:rPr>
                          <a:rPr lang="en-US" i="1" sz="1665">
                            <a:latin typeface="Cambria Math"/>
                          </a:rPr>
                          <m:t>g</m:t>
                        </m:r>
                      </m:sub>
                    </m:sSub>
                  </m:oMath>
                </a14:m>
              </mc:Choice>
              <mc:Fallback>
                <a:r>
                  <a:rPr lang="en-US" sz="1664" i="1"/>
                  <a:t>n_g</a:t>
                </a:r>
              </mc:Fallback>
            </mc:AlternateContent>
            <a:r>
              <a:rPr sz="1400" b="0" i="0">
                <a:solidFill>
                  <a:srgbClr val="4F4C56"/>
                </a:solidFill>
                <a:latin typeface="Montserrat"/>
                <a:ea typeface="Montserrat"/>
                <a:cs typeface="Montserrat"/>
              </a:rPr>
              <a:t> plays the role of a boundary phase for the periodic potential; the dependence of energy on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n</m:t>
                        </m:r>
                      </m:e>
                      <m:sub>
                        <m:r>
                          <m:rPr>
                            <m:sty m:val="i"/>
                          </m:rPr>
                          <a:rPr lang="en-US" i="1" sz="1665">
                            <a:latin typeface="Cambria Math"/>
                          </a:rPr>
                          <m:t>g</m:t>
                        </m:r>
                      </m:sub>
                    </m:sSub>
                  </m:oMath>
                </a14:m>
              </mc:Choice>
              <mc:Fallback>
                <a:r>
                  <a:rPr lang="en-US" sz="1664" i="1"/>
                  <a:t>n_g</a:t>
                </a:r>
              </mc:Fallback>
            </mc:AlternateContent>
            <a:r>
              <a:rPr sz="1400" b="0" i="0">
                <a:solidFill>
                  <a:srgbClr val="4F4C56"/>
                </a:solidFill>
                <a:latin typeface="Montserrat"/>
                <a:ea typeface="Montserrat"/>
                <a:cs typeface="Montserrat"/>
              </a:rPr>
              <a:t> comes precisely from interwell tunneling. As the relative barrier height grows, the energy band flattens with respect to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n</m:t>
                        </m:r>
                      </m:e>
                      <m:sub>
                        <m:r>
                          <m:rPr>
                            <m:sty m:val="i"/>
                          </m:rPr>
                          <a:rPr lang="en-US" i="1" sz="1665">
                            <a:latin typeface="Cambria Math"/>
                          </a:rPr>
                          <m:t>g</m:t>
                        </m:r>
                      </m:sub>
                    </m:sSub>
                  </m:oMath>
                </a14:m>
              </mc:Choice>
              <mc:Fallback>
                <a:r>
                  <a:rPr lang="en-US" sz="1664" i="1"/>
                  <a:t>n_g</a:t>
                </a:r>
              </mc:Fallback>
            </mc:AlternateContent>
            <a:r>
              <a:rPr sz="1400" b="0" i="0">
                <a:solidFill>
                  <a:srgbClr val="4F4C56"/>
                </a:solidFill>
                <a:latin typeface="Montserrat"/>
                <a:ea typeface="Montserrat"/>
                <a:cs typeface="Montserrat"/>
              </a:rPr>
              <a:t>. </a:t>
            </a:r>
          </a:p>
        </p:txBody>
      </p:sp>
      <p:sp>
        <p:nvSpPr>
          <p:cNvPr id="9" name="Rectangle 8"/>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1" name="TextBox 10"/>
          <p:cNvSpPr txBox="1"/>
          <p:nvPr/>
        </p:nvSpPr>
        <p:spPr>
          <a:xfrm>
            <a:off x="11228784" y="6565900"/>
            <a:ext cx="472149"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96 / 100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7087261" y="324115"/>
            <a:ext cx="4613672"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How Does the Transmon Balance Noise Protection and Controllability?</a:t>
            </a:r>
          </a:p>
        </p:txBody>
      </p:sp>
      <p:sp>
        <p:nvSpPr>
          <p:cNvPr id="5" name="TextBox 4"/>
          <p:cNvSpPr txBox="1"/>
          <p:nvPr/>
        </p:nvSpPr>
        <p:spPr>
          <a:xfrm>
            <a:off x="575733" y="1041400"/>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Protection does not turn off control along with noise</a:t>
            </a:r>
          </a:p>
        </p:txBody>
      </p:sp>
      <p:sp>
        <p:nvSpPr>
          <p:cNvPr id="6" name="TextBox 5"/>
          <p:cNvSpPr txBox="1"/>
          <p:nvPr/>
        </p:nvSpPr>
        <p:spPr>
          <a:xfrm>
            <a:off x="575733" y="1418167"/>
            <a:ext cx="11040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 A capacitive microwave drive couples primarily through </a:t>
            </a:r>
            <mc:AlternateContent xmlns:mc="http://schemas.openxmlformats.org/markup-compatibility/2006">
              <mc:Choice xmlns:a14="http://schemas.microsoft.com/office/drawing/2010/main" Requires="a14">
                <a14:m>
                  <m:oMath xmlns:m="http://schemas.openxmlformats.org/officeDocument/2006/math">
                    <m:box>
                      <m:e>
                        <m:limUpp>
                          <m:e>
                            <m:r>
                              <m:rPr>
                                <m:sty m:val="i"/>
                              </m:rPr>
                              <a:rPr lang="en-US" i="1" sz="1665">
                                <a:latin typeface="Cambria Math"/>
                              </a:rPr>
                              <m:t>n</m:t>
                            </m:r>
                          </m:e>
                          <m:lim>
                            <m:r>
                              <m:rPr>
                                <m:sty m:val="p"/>
                              </m:rPr>
                              <a:rPr lang="en-US" i="0" sz="1665">
                                <a:latin typeface="Cambria Math"/>
                              </a:rPr>
                              <m:t>^</m:t>
                            </m:r>
                          </m:lim>
                        </m:limUpp>
                      </m:e>
                    </m:box>
                  </m:oMath>
                </a14:m>
              </mc:Choice>
              <mc:Fallback>
                <a:r>
                  <a:rPr lang="en-US" sz="1664" i="1"/>
                  <a:t>\hat n</a:t>
                </a:r>
              </mc:Fallback>
            </mc:AlternateContent>
            <a:r>
              <a:rPr sz="1400" b="0" i="0">
                <a:solidFill>
                  <a:srgbClr val="4F4C56"/>
                </a:solidFill>
                <a:latin typeface="Montserrat"/>
                <a:ea typeface="Montserrat"/>
                <a:cs typeface="Montserrat"/>
              </a:rPr>
              <a:t>. In the harmonic approximation, </a:t>
            </a:r>
          </a:p>
        </p:txBody>
      </p:sp>
      <p:sp>
        <p:nvSpPr>
          <p:cNvPr id="7" name="equation"/>
          <p:cNvSpPr txBox="1"/>
          <p:nvPr/>
        </p:nvSpPr>
        <p:spPr>
          <a:xfrm>
            <a:off x="575733" y="1840706"/>
            <a:ext cx="11040533" cy="528770"/>
          </a:xfrm>
          <a:prstGeom prst="rect">
            <a:avLst/>
          </a:prstGeom>
          <a:noFill/>
        </p:spPr>
        <p:txBody>
          <a:bodyPr wrap="square" lIns="0" rIns="0" tIns="0" bIns="0" anchor="ctr">
            <a:no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
                    </m:oMathParaPr>
                    <m:oMath>
                      <m:r>
                        <m:rPr>
                          <m:sty m:val="p"/>
                        </m:rPr>
                        <a:rPr lang="en-US" i="0" sz="1568">
                          <a:latin typeface="Cambria Math"/>
                        </a:rPr>
                        <m:t>|</m:t>
                      </m:r>
                      <m:r>
                        <m:rPr>
                          <m:sty m:val="p"/>
                        </m:rPr>
                        <a:rPr lang="en-US" i="0" sz="1568">
                          <a:latin typeface="Cambria Math"/>
                        </a:rPr>
                        <m:t>⟨</m:t>
                      </m:r>
                      <m:r>
                        <m:rPr>
                          <m:sty m:val="p"/>
                        </m:rPr>
                        <a:rPr lang="en-US" i="0" sz="1568">
                          <a:latin typeface="Cambria Math"/>
                        </a:rPr>
                        <m:t>0</m:t>
                      </m:r>
                      <m:r>
                        <m:rPr>
                          <m:sty m:val="p"/>
                        </m:rPr>
                        <a:rPr lang="en-US" i="0" sz="1568">
                          <a:latin typeface="Cambria Math"/>
                        </a:rPr>
                        <m:t>|</m:t>
                      </m:r>
                      <m:box>
                        <m:e>
                          <m:limUpp>
                            <m:e>
                              <m:r>
                                <m:rPr>
                                  <m:sty m:val="i"/>
                                </m:rPr>
                                <a:rPr lang="en-US" i="1" sz="1568">
                                  <a:latin typeface="Cambria Math"/>
                                </a:rPr>
                                <m:t>n</m:t>
                              </m:r>
                            </m:e>
                            <m:lim>
                              <m:r>
                                <m:rPr>
                                  <m:sty m:val="p"/>
                                </m:rPr>
                                <a:rPr lang="en-US" i="0" sz="1568">
                                  <a:latin typeface="Cambria Math"/>
                                </a:rPr>
                                <m:t>^</m:t>
                              </m:r>
                            </m:lim>
                          </m:limUpp>
                        </m:e>
                      </m:box>
                      <m:r>
                        <m:rPr>
                          <m:sty m:val="p"/>
                        </m:rPr>
                        <a:rPr lang="en-US" i="0" sz="1568">
                          <a:latin typeface="Cambria Math"/>
                        </a:rPr>
                        <m:t>|</m:t>
                      </m:r>
                      <m:r>
                        <m:rPr>
                          <m:sty m:val="p"/>
                        </m:rPr>
                        <a:rPr lang="en-US" i="0" sz="1568">
                          <a:latin typeface="Cambria Math"/>
                        </a:rPr>
                        <m:t>1</m:t>
                      </m:r>
                      <m:r>
                        <m:rPr>
                          <m:sty m:val="p"/>
                        </m:rPr>
                        <a:rPr lang="en-US" i="0" sz="1568">
                          <a:latin typeface="Cambria Math"/>
                        </a:rPr>
                        <m:t>⟩</m:t>
                      </m:r>
                      <m:r>
                        <m:rPr>
                          <m:sty m:val="p"/>
                        </m:rPr>
                        <a:rPr lang="en-US" i="0" sz="1568">
                          <a:latin typeface="Cambria Math"/>
                        </a:rPr>
                        <m:t>|</m:t>
                      </m:r>
                      <m:r>
                        <m:rPr>
                          <m:sty m:val="p"/>
                        </m:rPr>
                        <a:rPr lang="en-US" i="0" sz="1568">
                          <a:latin typeface="Cambria Math"/>
                        </a:rPr>
                        <m:t>≈</m:t>
                      </m:r>
                      <m:sSup>
                        <m:e>
                          <m:box>
                            <m:e>
                              <m:d>
                                <m:dPr>
                                  <m:begChr m:val="("/>
                                  <m:endChr m:val=")"/>
                                </m:dPr>
                                <m:e>
                                  <m:box>
                                    <m:e>
                                      <m:f>
                                        <m:num>
                                          <m:sSub>
                                            <m:e>
                                              <m:r>
                                                <m:rPr>
                                                  <m:sty m:val="i"/>
                                                </m:rPr>
                                                <a:rPr lang="en-US" i="1" sz="1568">
                                                  <a:latin typeface="Cambria Math"/>
                                                </a:rPr>
                                                <m:t>E</m:t>
                                              </m:r>
                                            </m:e>
                                            <m:sub>
                                              <m:r>
                                                <m:rPr>
                                                  <m:sty m:val="i"/>
                                                </m:rPr>
                                                <a:rPr lang="en-US" i="1" sz="1568">
                                                  <a:latin typeface="Cambria Math"/>
                                                </a:rPr>
                                                <m:t>J</m:t>
                                              </m:r>
                                            </m:sub>
                                          </m:sSub>
                                        </m:num>
                                        <m:den>
                                          <m:box>
                                            <m:e>
                                              <m:r>
                                                <m:rPr>
                                                  <m:sty m:val="p"/>
                                                </m:rPr>
                                                <a:rPr lang="en-US" i="0" sz="1568">
                                                  <a:latin typeface="Cambria Math"/>
                                                </a:rPr>
                                                <m:t>32</m:t>
                                              </m:r>
                                              <m:sSub>
                                                <m:e>
                                                  <m:r>
                                                    <m:rPr>
                                                      <m:sty m:val="i"/>
                                                    </m:rPr>
                                                    <a:rPr lang="en-US" i="1" sz="1568">
                                                      <a:latin typeface="Cambria Math"/>
                                                    </a:rPr>
                                                    <m:t>E</m:t>
                                                  </m:r>
                                                </m:e>
                                                <m:sub>
                                                  <m:r>
                                                    <m:rPr>
                                                      <m:sty m:val="i"/>
                                                    </m:rPr>
                                                    <a:rPr lang="en-US" i="1" sz="1568">
                                                      <a:latin typeface="Cambria Math"/>
                                                    </a:rPr>
                                                    <m:t>C</m:t>
                                                  </m:r>
                                                </m:sub>
                                              </m:sSub>
                                            </m:e>
                                          </m:box>
                                        </m:den>
                                      </m:f>
                                    </m:e>
                                  </m:box>
                                </m:e>
                              </m:d>
                            </m:e>
                          </m:box>
                        </m:e>
                        <m:sup>
                          <m:box>
                            <m:e>
                              <m:r>
                                <m:rPr>
                                  <m:sty m:val="p"/>
                                </m:rPr>
                                <a:rPr lang="en-US" i="0" sz="1568">
                                  <a:latin typeface="Cambria Math"/>
                                </a:rPr>
                                <m:t>1</m:t>
                              </m:r>
                              <m:box>
                                <m:e>
                                  <m:r>
                                    <m:rPr>
                                      <m:sty m:val="p"/>
                                    </m:rPr>
                                    <a:rPr lang="en-US" i="0" sz="1568">
                                      <a:latin typeface="Cambria Math"/>
                                    </a:rPr>
                                    <m:t>/</m:t>
                                  </m:r>
                                </m:e>
                              </m:box>
                              <m:r>
                                <m:rPr>
                                  <m:sty m:val="p"/>
                                </m:rPr>
                                <a:rPr lang="en-US" i="0" sz="1568">
                                  <a:latin typeface="Cambria Math"/>
                                </a:rPr>
                                <m:t>4</m:t>
                              </m:r>
                            </m:e>
                          </m:box>
                        </m:sup>
                      </m:sSup>
                      <m:r>
                        <m:rPr>
                          <m:sty m:val="p"/>
                        </m:rPr>
                        <a:rPr lang="en-US" i="0" sz="1568">
                          <a:latin typeface="Cambria Math"/>
                        </a:rPr>
                        <m:t>≠</m:t>
                      </m:r>
                      <m:r>
                        <m:rPr>
                          <m:sty m:val="p"/>
                        </m:rPr>
                        <a:rPr lang="en-US" i="0" sz="1568">
                          <a:latin typeface="Cambria Math"/>
                        </a:rPr>
                        <m:t>0.</m:t>
                      </m:r>
                    </m:oMath>
                  </m:oMathPara>
                </a14:m>
              </mc:Choice>
              <mc:Fallback>
                <a:r>
                  <a:rPr lang="en-US" sz="1567" i="1"/>
                  <a:t>
                    |\langle0|\hat n|1\rangle|
                    \approx
                    \left(\frac{E_J}{32E_C}\right)^{1/4}\neq0.
                    </a:t>
                </a:r>
              </mc:Fallback>
            </mc:AlternateContent>
          </a:p>
        </p:txBody>
      </p:sp>
      <p:sp>
        <p:nvSpPr>
          <p:cNvPr id="8" name="TextBox 7"/>
          <p:cNvSpPr txBox="1"/>
          <p:nvPr/>
        </p:nvSpPr>
        <p:spPr>
          <a:xfrm>
            <a:off x="575733" y="2521876"/>
            <a:ext cx="11040533" cy="1080558"/>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 Thus, increasing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J</m:t>
                        </m:r>
                      </m:sub>
                    </m:sSub>
                    <m:box>
                      <m:e>
                        <m:r>
                          <m:rPr>
                            <m:sty m:val="p"/>
                          </m:rPr>
                          <a:rPr lang="en-US" i="0" sz="1665">
                            <a:latin typeface="Cambria Math"/>
                          </a:rPr>
                          <m:t>/</m:t>
                        </m:r>
                      </m:e>
                    </m:box>
                    <m:sSub>
                      <m:e>
                        <m:r>
                          <m:rPr>
                            <m:sty m:val="i"/>
                          </m:rPr>
                          <a:rPr lang="en-US" i="1" sz="1665">
                            <a:latin typeface="Cambria Math"/>
                          </a:rPr>
                          <m:t>E</m:t>
                        </m:r>
                      </m:e>
                      <m:sub>
                        <m:r>
                          <m:rPr>
                            <m:sty m:val="i"/>
                          </m:rPr>
                          <a:rPr lang="en-US" i="1" sz="1665">
                            <a:latin typeface="Cambria Math"/>
                          </a:rPr>
                          <m:t>C</m:t>
                        </m:r>
                      </m:sub>
                    </m:sSub>
                  </m:oMath>
                </a14:m>
              </mc:Choice>
              <mc:Fallback>
                <a:r>
                  <a:rPr lang="en-US" sz="1664" i="1"/>
                  <a:t>E_J/E_C</a:t>
                </a:r>
              </mc:Fallback>
            </mc:AlternateContent>
            <a:r>
              <a:rPr sz="1400" b="0" i="0">
                <a:solidFill>
                  <a:srgbClr val="4F4C56"/>
                </a:solidFill>
                <a:latin typeface="Montserrat"/>
                <a:ea typeface="Montserrat"/>
                <a:cs typeface="Montserrat"/>
              </a:rPr>
              <a:t> suppresses charge dispersion without eliminating the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0</m:t>
                    </m:r>
                    <m:r>
                      <m:rPr>
                        <m:sty m:val="p"/>
                      </m:rPr>
                      <a:rPr lang="en-US" i="0" sz="1665">
                        <a:latin typeface="Cambria Math"/>
                      </a:rPr>
                      <m:t>↔</m:t>
                    </m:r>
                    <m:r>
                      <m:rPr>
                        <m:sty m:val="p"/>
                      </m:rPr>
                      <a:rPr lang="en-US" i="0" sz="1665">
                        <a:latin typeface="Cambria Math"/>
                      </a:rPr>
                      <m:t>1</m:t>
                    </m:r>
                  </m:oMath>
                </a14:m>
              </mc:Choice>
              <mc:Fallback>
                <a:r>
                  <a:rPr lang="en-US" sz="1664" i="1"/>
                  <a:t>0\leftrightarrow1</a:t>
                </a:r>
              </mc:Fallback>
            </mc:AlternateContent>
            <a:r>
              <a:rPr sz="1400" b="0" i="0">
                <a:solidFill>
                  <a:srgbClr val="4F4C56"/>
                </a:solidFill>
                <a:latin typeface="Montserrat"/>
                <a:ea typeface="Montserrat"/>
                <a:cs typeface="Montserrat"/>
              </a:rPr>
              <a:t> electric-dipole matrix element. The transmon therefore retains effective microwave drive and dispersive readout. The converse is that the same nonzero matrix element means a transmon is not automatically immune to all high-frequency electric noise. It primarily addresses low-frequency offset-charge dephasing, not relaxation in general. </a:t>
            </a:r>
          </a:p>
        </p:txBody>
      </p:sp>
      <p:sp>
        <p:nvSpPr>
          <p:cNvPr id="9" name="TextBox 8"/>
          <p:cNvSpPr txBox="1"/>
          <p:nvPr/>
        </p:nvSpPr>
        <p:spPr>
          <a:xfrm>
            <a:off x="575733" y="3780234"/>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Fixed-frequency and tunable transmons introduce the next trade-off</a:t>
            </a:r>
          </a:p>
        </p:txBody>
      </p:sp>
      <p:sp>
        <p:nvSpPr>
          <p:cNvPr id="10" name="Rectangle 9"/>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2" name="TextBox 11"/>
          <p:cNvSpPr txBox="1"/>
          <p:nvPr/>
        </p:nvSpPr>
        <p:spPr>
          <a:xfrm>
            <a:off x="11231298" y="6565900"/>
            <a:ext cx="469635"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97 / 100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7087261" y="324115"/>
            <a:ext cx="4613672"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How Does the Transmon Balance Noise Protection and Controllability?</a:t>
            </a:r>
          </a:p>
        </p:txBody>
      </p:sp>
      <p:sp>
        <p:nvSpPr>
          <p:cNvPr id="5" name="TextBox 4"/>
          <p:cNvSpPr txBox="1"/>
          <p:nvPr/>
        </p:nvSpPr>
        <p:spPr>
          <a:xfrm>
            <a:off x="575733" y="1041400"/>
            <a:ext cx="11040533" cy="275167"/>
          </a:xfrm>
          <a:prstGeom prst="rect">
            <a:avLst/>
          </a:prstGeom>
          <a:noFill/>
        </p:spPr>
        <p:txBody>
          <a:bodyPr wrap="none" lIns="0" rIns="0" tIns="0" bIns="0" anchor="t">
            <a:noAutofit/>
          </a:bodyPr>
          <a:lstStyle/>
          <a:p>
            <a:pPr algn="l">
              <a:lnSpc>
                <a:spcPts val="2170"/>
              </a:lnSpc>
            </a:pPr>
            <a:r>
              <a:rPr sz="1670" b="0" i="0">
                <a:solidFill>
                  <a:srgbClr val="302546"/>
                </a:solidFill>
                <a:latin typeface="Montserrat"/>
                <a:ea typeface="Montserrat"/>
                <a:cs typeface="Montserrat"/>
              </a:rPr>
              <a:t>Reassessing the transmon with four design criteria</a:t>
            </a:r>
          </a:p>
        </p:txBody>
      </p:sp>
      <p:sp>
        <p:nvSpPr>
          <p:cNvPr id="6" name="TextBox 5"/>
          <p:cNvSpPr txBox="1"/>
          <p:nvPr/>
        </p:nvSpPr>
        <p:spPr>
          <a:xfrm>
            <a:off x="829733" y="1418167"/>
            <a:ext cx="10786533" cy="270140"/>
          </a:xfrm>
          <a:prstGeom prst="rect">
            <a:avLst/>
          </a:prstGeom>
          <a:noFill/>
        </p:spPr>
        <p:txBody>
          <a:bodyPr wrap="none" lIns="0" rIns="0" tIns="0" bIns="0" anchor="t">
            <a:noAutofit/>
          </a:bodyPr>
          <a:lstStyle/>
          <a:p>
            <a:pPr algn="l">
              <a:lnSpc>
                <a:spcPts val="2130"/>
              </a:lnSpc>
            </a:pPr>
            <a:r>
              <a:rPr sz="1400" b="1" i="0">
                <a:solidFill>
                  <a:srgbClr val="4F4C56"/>
                </a:solidFill>
                <a:latin typeface="Montserrat"/>
                <a:ea typeface="Montserrat"/>
                <a:cs typeface="Montserrat"/>
              </a:rPr>
              <a:t>Dephasing protection: </a:t>
            </a:r>
            <mc:AlternateContent xmlns:mc="http://schemas.openxmlformats.org/markup-compatibility/2006">
              <mc:Choice xmlns:a14="http://schemas.microsoft.com/office/drawing/2010/main" Requires="a14">
                <a14:m>
                  <m:oMath xmlns:m="http://schemas.openxmlformats.org/officeDocument/2006/math">
                    <m:r>
                      <m:rPr>
                        <m:sty m:val="i"/>
                      </m:rPr>
                      <a:rPr lang="en-US" i="1" sz="1665">
                        <a:latin typeface="Cambria Math"/>
                      </a:rPr>
                      <m:t>∂</m:t>
                    </m:r>
                    <m:sSub>
                      <m:e>
                        <m:r>
                          <m:rPr>
                            <m:sty m:val="i"/>
                          </m:rPr>
                          <a:rPr lang="en-US" i="1" sz="1665">
                            <a:latin typeface="Cambria Math"/>
                          </a:rPr>
                          <m:t>ω</m:t>
                        </m:r>
                      </m:e>
                      <m:sub>
                        <m:box>
                          <m:e>
                            <m:r>
                              <m:rPr>
                                <m:sty m:val="p"/>
                              </m:rPr>
                              <a:rPr lang="en-US" i="0" sz="1665">
                                <a:latin typeface="Cambria Math"/>
                              </a:rPr>
                              <m:t>01</m:t>
                            </m:r>
                          </m:e>
                        </m:box>
                      </m:sub>
                    </m:sSub>
                    <m:box>
                      <m:e>
                        <m:r>
                          <m:rPr>
                            <m:sty m:val="p"/>
                          </m:rPr>
                          <a:rPr lang="en-US" i="0" sz="1665">
                            <a:latin typeface="Cambria Math"/>
                          </a:rPr>
                          <m:t>/</m:t>
                        </m:r>
                      </m:e>
                    </m:box>
                    <m:r>
                      <m:rPr>
                        <m:sty m:val="i"/>
                      </m:rPr>
                      <a:rPr lang="en-US" i="1" sz="1665">
                        <a:latin typeface="Cambria Math"/>
                      </a:rPr>
                      <m:t>∂</m:t>
                    </m:r>
                    <m:sSub>
                      <m:e>
                        <m:r>
                          <m:rPr>
                            <m:sty m:val="i"/>
                          </m:rPr>
                          <a:rPr lang="en-US" i="1" sz="1665">
                            <a:latin typeface="Cambria Math"/>
                          </a:rPr>
                          <m:t>n</m:t>
                        </m:r>
                      </m:e>
                      <m:sub>
                        <m:r>
                          <m:rPr>
                            <m:sty m:val="i"/>
                          </m:rPr>
                          <a:rPr lang="en-US" i="1" sz="1665">
                            <a:latin typeface="Cambria Math"/>
                          </a:rPr>
                          <m:t>g</m:t>
                        </m:r>
                      </m:sub>
                    </m:sSub>
                  </m:oMath>
                </a14:m>
              </mc:Choice>
              <mc:Fallback>
                <a:r>
                  <a:rPr lang="en-US" sz="1664" i="1"/>
                  <a:t>\partial\omega_{01}/\partial n_g</a:t>
                </a:r>
              </mc:Fallback>
            </mc:AlternateContent>
            <a:r>
              <a:rPr sz="1400" b="0" i="0">
                <a:solidFill>
                  <a:srgbClr val="4F4C56"/>
                </a:solidFill>
                <a:latin typeface="Montserrat"/>
                <a:ea typeface="Montserrat"/>
                <a:cs typeface="Montserrat"/>
              </a:rPr>
              <a:t> receives exponential suppression from charge dispersion. </a:t>
            </a:r>
          </a:p>
        </p:txBody>
      </p:sp>
      <p:sp>
        <p:nvSpPr>
          <p:cNvPr id="7" name="TextBox 6"/>
          <p:cNvSpPr txBox="1"/>
          <p:nvPr/>
        </p:nvSpPr>
        <p:spPr>
          <a:xfrm>
            <a:off x="829733" y="1739106"/>
            <a:ext cx="10786533" cy="580496"/>
          </a:xfrm>
          <a:prstGeom prst="rect">
            <a:avLst/>
          </a:prstGeom>
          <a:noFill/>
        </p:spPr>
        <p:txBody>
          <a:bodyPr wrap="square" lIns="0" rIns="0" tIns="0" bIns="0" anchor="t">
            <a:noAutofit/>
          </a:bodyPr>
          <a:lstStyle/>
          <a:p>
            <a:pPr algn="l">
              <a:lnSpc>
                <a:spcPts val="2130"/>
              </a:lnSpc>
            </a:pPr>
            <a:r>
              <a:rPr sz="1400" b="1" i="0">
                <a:solidFill>
                  <a:srgbClr val="4F4C56"/>
                </a:solidFill>
                <a:latin typeface="Montserrat"/>
                <a:ea typeface="Montserrat"/>
                <a:cs typeface="Montserrat"/>
              </a:rPr>
              <a:t>Relaxation protection: </a:t>
            </a:r>
            <a:r>
              <a:rPr sz="1400" b="0" i="0">
                <a:solidFill>
                  <a:srgbClr val="4F4C56"/>
                </a:solidFill>
                <a:latin typeface="Montserrat"/>
                <a:ea typeface="Montserrat"/>
                <a:cs typeface="Montserrat"/>
              </a:rPr>
              <a:t> There is no generic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r>
                      <m:rPr>
                        <m:sty m:val="p"/>
                      </m:rPr>
                      <a:rPr lang="en-US" i="0" sz="1665">
                        <a:latin typeface="Cambria Math"/>
                      </a:rPr>
                      <m:t>0</m:t>
                    </m:r>
                    <m:r>
                      <m:rPr>
                        <m:sty m:val="p"/>
                      </m:rPr>
                      <a:rPr lang="en-US" i="0" sz="1665">
                        <a:latin typeface="Cambria Math"/>
                      </a:rPr>
                      <m:t>|</m:t>
                    </m:r>
                    <m:sSub>
                      <m:e>
                        <m:box>
                          <m:e>
                            <m:limUpp>
                              <m:e>
                                <m:r>
                                  <m:rPr>
                                    <m:sty m:val="i"/>
                                  </m:rPr>
                                  <a:rPr lang="en-US" i="1" sz="1665">
                                    <a:latin typeface="Cambria Math"/>
                                  </a:rPr>
                                  <m:t>O</m:t>
                                </m:r>
                              </m:e>
                              <m:lim>
                                <m:r>
                                  <m:rPr>
                                    <m:sty m:val="p"/>
                                  </m:rPr>
                                  <a:rPr lang="en-US" i="0" sz="1665">
                                    <a:latin typeface="Cambria Math"/>
                                  </a:rPr>
                                  <m:t>^</m:t>
                                </m:r>
                              </m:lim>
                            </m:limUpp>
                          </m:e>
                        </m:box>
                      </m:e>
                      <m:sub>
                        <m:box>
                          <m:e>
                            <m:r>
                              <m:rPr>
                                <m:sty m:val="p"/>
                              </m:rPr>
                              <a:rPr lang="en-US" i="0" sz="1665">
                                <a:latin typeface="Cambria Math"/>
                              </a:rPr>
                              <m:t>n</m:t>
                            </m:r>
                            <m:r>
                              <m:rPr>
                                <m:sty m:val="p"/>
                              </m:rPr>
                              <a:rPr lang="en-US" i="0" sz="1665">
                                <a:latin typeface="Cambria Math"/>
                              </a:rPr>
                              <m:t>o</m:t>
                            </m:r>
                            <m:r>
                              <m:rPr>
                                <m:sty m:val="p"/>
                              </m:rPr>
                              <a:rPr lang="en-US" i="0" sz="1665">
                                <a:latin typeface="Cambria Math"/>
                              </a:rPr>
                              <m:t>i</m:t>
                            </m:r>
                            <m:r>
                              <m:rPr>
                                <m:sty m:val="p"/>
                              </m:rPr>
                              <a:rPr lang="en-US" i="0" sz="1665">
                                <a:latin typeface="Cambria Math"/>
                              </a:rPr>
                              <m:t>s</m:t>
                            </m:r>
                            <m:r>
                              <m:rPr>
                                <m:sty m:val="p"/>
                              </m:rPr>
                              <a:rPr lang="en-US" i="0" sz="1665">
                                <a:latin typeface="Cambria Math"/>
                              </a:rPr>
                              <m:t>e</m:t>
                            </m:r>
                          </m:e>
                        </m:box>
                      </m:sub>
                    </m:sSub>
                    <m:r>
                      <m:rPr>
                        <m:sty m:val="p"/>
                      </m:rPr>
                      <a:rPr lang="en-US" i="0" sz="1665">
                        <a:latin typeface="Cambria Math"/>
                      </a:rPr>
                      <m:t>|</m:t>
                    </m:r>
                    <m:r>
                      <m:rPr>
                        <m:sty m:val="p"/>
                      </m:rPr>
                      <a:rPr lang="en-US" i="0" sz="1665">
                        <a:latin typeface="Cambria Math"/>
                      </a:rPr>
                      <m:t>1</m:t>
                    </m:r>
                    <m:r>
                      <m:rPr>
                        <m:sty m:val="p"/>
                      </m:rPr>
                      <a:rPr lang="en-US" i="0" sz="1665">
                        <a:latin typeface="Cambria Math"/>
                      </a:rPr>
                      <m:t>⟩</m:t>
                    </m:r>
                    <m:r>
                      <m:rPr>
                        <m:sty m:val="p"/>
                      </m:rPr>
                      <a:rPr lang="en-US" i="0" sz="1665">
                        <a:latin typeface="Cambria Math"/>
                      </a:rPr>
                      <m:t>≈</m:t>
                    </m:r>
                    <m:r>
                      <m:rPr>
                        <m:sty m:val="p"/>
                      </m:rPr>
                      <a:rPr lang="en-US" i="0" sz="1665">
                        <a:latin typeface="Cambria Math"/>
                      </a:rPr>
                      <m:t>0</m:t>
                    </m:r>
                  </m:oMath>
                </a14:m>
              </mc:Choice>
              <mc:Fallback>
                <a:r>
                  <a:rPr lang="en-US" sz="1664" i="1"/>
                  <a:t>\langle0|\hat O_{\rm
                        noise}|1\rangle\approx0</a:t>
                </a:r>
              </mc:Fallback>
            </mc:AlternateContent>
            <a:r>
              <a:rPr sz="1400" b="0" i="0">
                <a:solidFill>
                  <a:srgbClr val="4F4C56"/>
                </a:solidFill>
                <a:latin typeface="Montserrat"/>
                <a:ea typeface="Montserrat"/>
                <a:cs typeface="Montserrat"/>
              </a:rPr>
              <a:t>; material loss, Purcell loss, and high-frequency electric noise must still be engineered separately. </a:t>
            </a:r>
          </a:p>
        </p:txBody>
      </p:sp>
      <p:sp>
        <p:nvSpPr>
          <p:cNvPr id="8" name="TextBox 7"/>
          <p:cNvSpPr txBox="1"/>
          <p:nvPr/>
        </p:nvSpPr>
        <p:spPr>
          <a:xfrm>
            <a:off x="829733" y="2370402"/>
            <a:ext cx="10786533" cy="270140"/>
          </a:xfrm>
          <a:prstGeom prst="rect">
            <a:avLst/>
          </a:prstGeom>
          <a:noFill/>
        </p:spPr>
        <p:txBody>
          <a:bodyPr wrap="none" lIns="0" rIns="0" tIns="0" bIns="0" anchor="t">
            <a:noAutofit/>
          </a:bodyPr>
          <a:lstStyle/>
          <a:p>
            <a:pPr algn="l">
              <a:lnSpc>
                <a:spcPts val="2130"/>
              </a:lnSpc>
            </a:pPr>
            <a:r>
              <a:rPr sz="1400" b="1" i="0">
                <a:solidFill>
                  <a:srgbClr val="4F4C56"/>
                </a:solidFill>
                <a:latin typeface="Montserrat"/>
                <a:ea typeface="Montserrat"/>
                <a:cs typeface="Montserrat"/>
              </a:rPr>
              <a:t>Controllability: </a:t>
            </a:r>
            <mc:AlternateContent xmlns:mc="http://schemas.openxmlformats.org/markup-compatibility/2006">
              <mc:Choice xmlns:a14="http://schemas.microsoft.com/office/drawing/2010/main" Requires="a14">
                <a14:m>
                  <m:oMath xmlns:m="http://schemas.openxmlformats.org/officeDocument/2006/math">
                    <m:r>
                      <m:rPr>
                        <m:sty m:val="p"/>
                      </m:rPr>
                      <a:rPr lang="en-US" i="0" sz="1665">
                        <a:latin typeface="Cambria Math"/>
                      </a:rPr>
                      <m:t>⟨</m:t>
                    </m:r>
                    <m:r>
                      <m:rPr>
                        <m:sty m:val="p"/>
                      </m:rPr>
                      <a:rPr lang="en-US" i="0" sz="1665">
                        <a:latin typeface="Cambria Math"/>
                      </a:rPr>
                      <m:t>0</m:t>
                    </m:r>
                    <m:r>
                      <m:rPr>
                        <m:sty m:val="p"/>
                      </m:rPr>
                      <a:rPr lang="en-US" i="0" sz="1665">
                        <a:latin typeface="Cambria Math"/>
                      </a:rPr>
                      <m:t>|</m:t>
                    </m:r>
                    <m:box>
                      <m:e>
                        <m:limUpp>
                          <m:e>
                            <m:r>
                              <m:rPr>
                                <m:sty m:val="i"/>
                              </m:rPr>
                              <a:rPr lang="en-US" i="1" sz="1665">
                                <a:latin typeface="Cambria Math"/>
                              </a:rPr>
                              <m:t>n</m:t>
                            </m:r>
                          </m:e>
                          <m:lim>
                            <m:r>
                              <m:rPr>
                                <m:sty m:val="p"/>
                              </m:rPr>
                              <a:rPr lang="en-US" i="0" sz="1665">
                                <a:latin typeface="Cambria Math"/>
                              </a:rPr>
                              <m:t>^</m:t>
                            </m:r>
                          </m:lim>
                        </m:limUpp>
                      </m:e>
                    </m:box>
                    <m:r>
                      <m:rPr>
                        <m:sty m:val="p"/>
                      </m:rPr>
                      <a:rPr lang="en-US" i="0" sz="1665">
                        <a:latin typeface="Cambria Math"/>
                      </a:rPr>
                      <m:t>|</m:t>
                    </m:r>
                    <m:r>
                      <m:rPr>
                        <m:sty m:val="p"/>
                      </m:rPr>
                      <a:rPr lang="en-US" i="0" sz="1665">
                        <a:latin typeface="Cambria Math"/>
                      </a:rPr>
                      <m:t>1</m:t>
                    </m:r>
                    <m:r>
                      <m:rPr>
                        <m:sty m:val="p"/>
                      </m:rPr>
                      <a:rPr lang="en-US" i="0" sz="1665">
                        <a:latin typeface="Cambria Math"/>
                      </a:rPr>
                      <m:t>⟩</m:t>
                    </m:r>
                    <m:r>
                      <m:rPr>
                        <m:sty m:val="p"/>
                      </m:rPr>
                      <a:rPr lang="en-US" i="0" sz="1665">
                        <a:latin typeface="Cambria Math"/>
                      </a:rPr>
                      <m:t>≠</m:t>
                    </m:r>
                    <m:r>
                      <m:rPr>
                        <m:sty m:val="p"/>
                      </m:rPr>
                      <a:rPr lang="en-US" i="0" sz="1665">
                        <a:latin typeface="Cambria Math"/>
                      </a:rPr>
                      <m:t>0</m:t>
                    </m:r>
                  </m:oMath>
                </a14:m>
              </mc:Choice>
              <mc:Fallback>
                <a:r>
                  <a:rPr lang="en-US" sz="1664" i="1"/>
                  <a:t>\langle0|\hat n|1\rangle\neq0</a:t>
                </a:r>
              </mc:Fallback>
            </mc:AlternateContent>
            <a:r>
              <a:rPr sz="1400" b="0" i="0">
                <a:solidFill>
                  <a:srgbClr val="4F4C56"/>
                </a:solidFill>
                <a:latin typeface="Montserrat"/>
                <a:ea typeface="Montserrat"/>
                <a:cs typeface="Montserrat"/>
              </a:rPr>
              <a:t>, preserving effective microwave control and readout coupling. </a:t>
            </a:r>
          </a:p>
        </p:txBody>
      </p:sp>
      <p:sp>
        <p:nvSpPr>
          <p:cNvPr id="9" name="TextBox 8"/>
          <p:cNvSpPr txBox="1"/>
          <p:nvPr/>
        </p:nvSpPr>
        <p:spPr>
          <a:xfrm>
            <a:off x="829733" y="2691342"/>
            <a:ext cx="10786533" cy="270140"/>
          </a:xfrm>
          <a:prstGeom prst="rect">
            <a:avLst/>
          </a:prstGeom>
          <a:noFill/>
        </p:spPr>
        <p:txBody>
          <a:bodyPr wrap="none" lIns="0" rIns="0" tIns="0" bIns="0" anchor="t">
            <a:noAutofit/>
          </a:bodyPr>
          <a:lstStyle/>
          <a:p>
            <a:pPr algn="l">
              <a:lnSpc>
                <a:spcPts val="2130"/>
              </a:lnSpc>
            </a:pPr>
            <a:r>
              <a:rPr sz="1400" b="1" i="0">
                <a:solidFill>
                  <a:srgbClr val="4F4C56"/>
                </a:solidFill>
                <a:latin typeface="Montserrat"/>
                <a:ea typeface="Montserrat"/>
                <a:cs typeface="Montserrat"/>
              </a:rPr>
              <a:t>Leakage suppression: </a:t>
            </a:r>
            <mc:AlternateContent xmlns:mc="http://schemas.openxmlformats.org/markup-compatibility/2006">
              <mc:Choice xmlns:a14="http://schemas.microsoft.com/office/drawing/2010/main" Requires="a14">
                <a14:m>
                  <m:oMath xmlns:m="http://schemas.openxmlformats.org/officeDocument/2006/math">
                    <m:sSub>
                      <m:e>
                        <m:r>
                          <m:rPr>
                            <m:sty m:val="p"/>
                          </m:rPr>
                          <a:rPr lang="en-US" i="0" sz="1665">
                            <a:latin typeface="Cambria Math"/>
                          </a:rPr>
                          <m:t>Δ</m:t>
                        </m:r>
                      </m:e>
                      <m:sub>
                        <m:box>
                          <m:e>
                            <m:r>
                              <m:rPr>
                                <m:sty m:val="p"/>
                              </m:rPr>
                              <a:rPr lang="en-US" i="0" sz="1665">
                                <a:latin typeface="Cambria Math"/>
                              </a:rPr>
                              <m:t>l</m:t>
                            </m:r>
                            <m:r>
                              <m:rPr>
                                <m:sty m:val="p"/>
                              </m:rPr>
                              <a:rPr lang="en-US" i="0" sz="1665">
                                <a:latin typeface="Cambria Math"/>
                              </a:rPr>
                              <m:t>e</m:t>
                            </m:r>
                            <m:r>
                              <m:rPr>
                                <m:sty m:val="p"/>
                              </m:rPr>
                              <a:rPr lang="en-US" i="0" sz="1665">
                                <a:latin typeface="Cambria Math"/>
                              </a:rPr>
                              <m:t>a</m:t>
                            </m:r>
                            <m:r>
                              <m:rPr>
                                <m:sty m:val="p"/>
                              </m:rPr>
                              <a:rPr lang="en-US" i="0" sz="1665">
                                <a:latin typeface="Cambria Math"/>
                              </a:rPr>
                              <m:t>k</m:t>
                            </m:r>
                            <m:r>
                              <m:rPr>
                                <m:sty m:val="p"/>
                              </m:rPr>
                              <a:rPr lang="en-US" i="0" sz="1665">
                                <a:latin typeface="Cambria Math"/>
                              </a:rPr>
                              <m:t>a</m:t>
                            </m:r>
                            <m:r>
                              <m:rPr>
                                <m:sty m:val="p"/>
                              </m:rPr>
                              <a:rPr lang="en-US" i="0" sz="1665">
                                <a:latin typeface="Cambria Math"/>
                              </a:rPr>
                              <m:t>g</m:t>
                            </m:r>
                            <m:r>
                              <m:rPr>
                                <m:sty m:val="p"/>
                              </m:rPr>
                              <a:rPr lang="en-US" i="0" sz="1665">
                                <a:latin typeface="Cambria Math"/>
                              </a:rPr>
                              <m:t>e</m:t>
                            </m:r>
                          </m:e>
                        </m:box>
                      </m:sub>
                    </m:sSub>
                    <m:r>
                      <m:rPr>
                        <m:sty m:val="p"/>
                      </m:rPr>
                      <a:rPr lang="en-US" i="0" sz="1665">
                        <a:latin typeface="Cambria Math"/>
                      </a:rPr>
                      <m:t>∼</m:t>
                    </m:r>
                    <m:r>
                      <m:rPr>
                        <m:sty m:val="i"/>
                      </m:rPr>
                      <a:rPr lang="en-US" i="1" sz="1665">
                        <a:latin typeface="Cambria Math"/>
                      </a:rPr>
                      <m:t>ℏ</m:t>
                    </m:r>
                    <m:r>
                      <m:rPr>
                        <m:sty m:val="p"/>
                      </m:rPr>
                      <a:rPr lang="en-US" i="0" sz="1665">
                        <a:latin typeface="Cambria Math"/>
                      </a:rPr>
                      <m:t>|</m:t>
                    </m:r>
                    <m:r>
                      <m:rPr>
                        <m:sty m:val="i"/>
                      </m:rPr>
                      <a:rPr lang="en-US" i="1" sz="1665">
                        <a:latin typeface="Cambria Math"/>
                      </a:rPr>
                      <m:t>α</m:t>
                    </m:r>
                    <m:r>
                      <m:rPr>
                        <m:sty m:val="p"/>
                      </m:rPr>
                      <a:rPr lang="en-US" i="0" sz="1665">
                        <a:latin typeface="Cambria Math"/>
                      </a:rPr>
                      <m:t>|</m:t>
                    </m:r>
                  </m:oMath>
                </a14:m>
              </mc:Choice>
              <mc:Fallback>
                <a:r>
                  <a:rPr lang="en-US" sz="1664" i="1"/>
                  <a:t>\Delta_{\rm leakage}\sim\hbar|\alpha|</a:t>
                </a:r>
              </mc:Fallback>
            </mc:AlternateContent>
            <a:r>
              <a:rPr sz="1400" b="0" i="0">
                <a:solidFill>
                  <a:srgbClr val="4F4C56"/>
                </a:solidFill>
                <a:latin typeface="Montserrat"/>
                <a:ea typeface="Montserrat"/>
                <a:cs typeface="Montserrat"/>
              </a:rPr>
              <a:t> is finite; gate speed, pulse shaping, and residual anharmonicity must be balanced. </a:t>
            </a:r>
          </a:p>
        </p:txBody>
      </p:sp>
      <p:sp>
        <p:nvSpPr>
          <p:cNvPr id="10" name="TextBox 9"/>
          <p:cNvSpPr txBox="1"/>
          <p:nvPr/>
        </p:nvSpPr>
        <p:spPr>
          <a:xfrm>
            <a:off x="829733" y="3130815"/>
            <a:ext cx="10786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Benefits: lower charge dispersion, mature microwave control, and a designable frequency range. </a:t>
            </a:r>
          </a:p>
        </p:txBody>
      </p:sp>
      <p:sp>
        <p:nvSpPr>
          <p:cNvPr id="11" name="TextBox 10"/>
          <p:cNvSpPr txBox="1"/>
          <p:nvPr/>
        </p:nvSpPr>
        <p:spPr>
          <a:xfrm>
            <a:off x="829733" y="3451754"/>
            <a:ext cx="10786533" cy="270140"/>
          </a:xfrm>
          <a:prstGeom prst="rect">
            <a:avLst/>
          </a:prstGeom>
          <a:noFill/>
        </p:spPr>
        <p:txBody>
          <a:bodyPr wrap="none" lIns="0" rIns="0" tIns="0" bIns="0" anchor="t">
            <a:noAutofit/>
          </a:bodyPr>
          <a:lstStyle/>
          <a:p>
            <a:pPr algn="l">
              <a:lnSpc>
                <a:spcPts val="2130"/>
              </a:lnSpc>
            </a:pPr>
            <a:r>
              <a:rPr sz="1400" b="0" i="0">
                <a:solidFill>
                  <a:srgbClr val="4F4C56"/>
                </a:solidFill>
                <a:latin typeface="Montserrat"/>
                <a:ea typeface="Montserrat"/>
                <a:cs typeface="Montserrat"/>
              </a:rPr>
              <a:t>Costs: weaker anharmonicity, possible leakage, and different noise and calibration burdens for fixed and tunable designs.</a:t>
            </a:r>
          </a:p>
        </p:txBody>
      </p:sp>
      <p:sp>
        <p:nvSpPr>
          <p:cNvPr id="12" name="TextBox 11"/>
          <p:cNvSpPr txBox="1"/>
          <p:nvPr/>
        </p:nvSpPr>
        <p:spPr>
          <a:xfrm>
            <a:off x="829733" y="3772694"/>
            <a:ext cx="10786533" cy="540279"/>
          </a:xfrm>
          <a:prstGeom prst="rect">
            <a:avLst/>
          </a:prstGeom>
          <a:noFill/>
        </p:spPr>
        <p:txBody>
          <a:bodyPr wrap="square" lIns="0" rIns="0" tIns="0" bIns="0" anchor="t">
            <a:noAutofit/>
          </a:bodyPr>
          <a:lstStyle/>
          <a:p>
            <a:pPr algn="l">
              <a:lnSpc>
                <a:spcPts val="2130"/>
              </a:lnSpc>
            </a:pPr>
            <a:r>
              <a:rPr sz="1400" b="0" i="0">
                <a:solidFill>
                  <a:srgbClr val="4F4C56"/>
                </a:solidFill>
                <a:latin typeface="Montserrat"/>
                <a:ea typeface="Montserrat"/>
                <a:cs typeface="Montserrat"/>
              </a:rPr>
              <a:t>Design principle: the transmon is not the “best artificial atom,” but a successful parameter choice balancing noise sensitivity, control, and manufacturability.</a:t>
            </a:r>
          </a:p>
        </p:txBody>
      </p:sp>
      <p:sp>
        <p:nvSpPr>
          <p:cNvPr id="13" name="Rectangle 12"/>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15" name="TextBox 14"/>
          <p:cNvSpPr txBox="1"/>
          <p:nvPr/>
        </p:nvSpPr>
        <p:spPr>
          <a:xfrm>
            <a:off x="11226139" y="6565900"/>
            <a:ext cx="474795"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98 / 100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accent-strip"/>
          <p:cNvSpPr/>
          <p:nvPr/>
        </p:nvSpPr>
        <p:spPr>
          <a:xfrm>
            <a:off x="8212667" y="0"/>
            <a:ext cx="3979333" cy="84667"/>
          </a:xfrm>
          <a:prstGeom prst="rect">
            <a:avLst/>
          </a:prstGeom>
          <a:gradFill rotWithShape="1">
            <a:gsLst>
              <a:gs pos="0">
                <a:srgbClr val="5F4B8B">
                  <a:alpha val="0"/>
                </a:srgbClr>
              </a:gs>
              <a:gs pos="100000">
                <a:srgbClr val="5F4B8B"/>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5F4B8B"/>
                </a:solidFill>
                <a:latin typeface="Montserrat"/>
                <a:ea typeface="Montserrat"/>
                <a:cs typeface="Montserrat"/>
              </a:rPr>
              <a:t>PHYS598500 · WEEK 2</a:t>
            </a:r>
          </a:p>
        </p:txBody>
      </p:sp>
      <p:sp>
        <p:nvSpPr>
          <p:cNvPr id="4" name="TextBox 3"/>
          <p:cNvSpPr txBox="1"/>
          <p:nvPr/>
        </p:nvSpPr>
        <p:spPr>
          <a:xfrm>
            <a:off x="7087261" y="324115"/>
            <a:ext cx="4613672" cy="181372"/>
          </a:xfrm>
          <a:prstGeom prst="rect">
            <a:avLst/>
          </a:prstGeom>
          <a:noFill/>
        </p:spPr>
        <p:txBody>
          <a:bodyPr wrap="none" lIns="0" rIns="0" tIns="0" bIns="0" anchor="t">
            <a:noAutofit/>
          </a:bodyPr>
          <a:lstStyle/>
          <a:p>
            <a:pPr algn="l">
              <a:lnSpc>
                <a:spcPts val="1430"/>
              </a:lnSpc>
            </a:pPr>
            <a:r>
              <a:rPr sz="1000" b="1" i="0">
                <a:solidFill>
                  <a:srgbClr val="6D6974"/>
                </a:solidFill>
                <a:latin typeface="Montserrat"/>
                <a:ea typeface="Montserrat"/>
                <a:cs typeface="Montserrat"/>
              </a:rPr>
              <a:t>How Does the Transmon Balance Noise Protection and Controllability?</a:t>
            </a:r>
          </a:p>
        </p:txBody>
      </p:sp>
      <p:sp>
        <p:nvSpPr>
          <p:cNvPr id="5" name="TextBox 4"/>
          <p:cNvSpPr txBox="1"/>
          <p:nvPr/>
        </p:nvSpPr>
        <p:spPr>
          <a:xfrm>
            <a:off x="575733" y="863600"/>
            <a:ext cx="11040533" cy="1080558"/>
          </a:xfrm>
          <a:prstGeom prst="rect">
            <a:avLst/>
          </a:prstGeom>
          <a:noFill/>
        </p:spPr>
        <p:txBody>
          <a:bodyPr wrap="square" lIns="0" rIns="0" tIns="0" bIns="0" anchor="t">
            <a:noAutofit/>
          </a:bodyPr>
          <a:lstStyle/>
          <a:p>
            <a:pPr algn="l">
              <a:lnSpc>
                <a:spcPts val="2130"/>
              </a:lnSpc>
            </a:pPr>
            <a:r>
              <a:rPr sz="1400" b="1" i="0">
                <a:solidFill>
                  <a:srgbClr val="4F4C56"/>
                </a:solidFill>
                <a:latin typeface="Montserrat"/>
                <a:ea typeface="Montserrat"/>
                <a:cs typeface="Montserrat"/>
              </a:rPr>
              <a:t>Conclusion for this week:</a:t>
            </a:r>
            <a:r>
              <a:rPr sz="1400" b="0" i="0">
                <a:solidFill>
                  <a:srgbClr val="4F4C56"/>
                </a:solidFill>
                <a:latin typeface="Montserrat"/>
                <a:ea typeface="Montserrat"/>
                <a:cs typeface="Montserrat"/>
              </a:rPr>
              <a:t> Discrete energy levels alone do not make a qubit. Josephson nonlinearity must create a selectively controllable spectrum, after which </a:t>
            </a:r>
            <mc:AlternateContent xmlns:mc="http://schemas.openxmlformats.org/markup-compatibility/2006">
              <mc:Choice xmlns:a14="http://schemas.microsoft.com/office/drawing/2010/main" Requires="a14">
                <a14:m>
                  <m:oMath xmlns:m="http://schemas.openxmlformats.org/officeDocument/2006/math">
                    <m:sSub>
                      <m:e>
                        <m:r>
                          <m:rPr>
                            <m:sty m:val="i"/>
                          </m:rPr>
                          <a:rPr lang="en-US" i="1" sz="1665">
                            <a:latin typeface="Cambria Math"/>
                          </a:rPr>
                          <m:t>E</m:t>
                        </m:r>
                      </m:e>
                      <m:sub>
                        <m:r>
                          <m:rPr>
                            <m:sty m:val="i"/>
                          </m:rPr>
                          <a:rPr lang="en-US" i="1" sz="1665">
                            <a:latin typeface="Cambria Math"/>
                          </a:rPr>
                          <m:t>J</m:t>
                        </m:r>
                      </m:sub>
                    </m:sSub>
                    <m:box>
                      <m:e>
                        <m:r>
                          <m:rPr>
                            <m:sty m:val="p"/>
                          </m:rPr>
                          <a:rPr lang="en-US" i="0" sz="1665">
                            <a:latin typeface="Cambria Math"/>
                          </a:rPr>
                          <m:t>/</m:t>
                        </m:r>
                      </m:e>
                    </m:box>
                    <m:sSub>
                      <m:e>
                        <m:r>
                          <m:rPr>
                            <m:sty m:val="i"/>
                          </m:rPr>
                          <a:rPr lang="en-US" i="1" sz="1665">
                            <a:latin typeface="Cambria Math"/>
                          </a:rPr>
                          <m:t>E</m:t>
                        </m:r>
                      </m:e>
                      <m:sub>
                        <m:r>
                          <m:rPr>
                            <m:sty m:val="i"/>
                          </m:rPr>
                          <a:rPr lang="en-US" i="1" sz="1665">
                            <a:latin typeface="Cambria Math"/>
                          </a:rPr>
                          <m:t>C</m:t>
                        </m:r>
                      </m:sub>
                    </m:sSub>
                  </m:oMath>
                </a14:m>
              </mc:Choice>
              <mc:Fallback>
                <a:r>
                  <a:rPr lang="en-US" sz="1664" i="1"/>
                  <a:t>E_J/E_C</a:t>
                </a:r>
              </mc:Fallback>
            </mc:AlternateContent>
            <a:r>
              <a:rPr sz="1400" b="0" i="0">
                <a:solidFill>
                  <a:srgbClr val="4F4C56"/>
                </a:solidFill>
                <a:latin typeface="Montserrat"/>
                <a:ea typeface="Montserrat"/>
                <a:cs typeface="Montserrat"/>
              </a:rPr>
              <a:t> tunes the trade-off between charge sensitivity and anharmonicity. The transmon became mainstream not because it eliminates every source of noise, but because exponential-versus-linear scaling places it at an especially effective Pareto point that remains controllable and manufacturable. </a:t>
            </a:r>
          </a:p>
        </p:txBody>
      </p:sp>
      <p:sp>
        <p:nvSpPr>
          <p:cNvPr id="6" name="Rectangle 5"/>
          <p:cNvSpPr/>
          <p:nvPr/>
        </p:nvSpPr>
        <p:spPr>
          <a:xfrm>
            <a:off x="491067" y="6434667"/>
            <a:ext cx="11209867" cy="8467"/>
          </a:xfrm>
          <a:prstGeom prst="rect">
            <a:avLst/>
          </a:prstGeom>
          <a:solidFill>
            <a:srgbClr val="DDD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77727E"/>
                </a:solidFill>
                <a:latin typeface="Montserrat"/>
                <a:ea typeface="Montserrat"/>
                <a:cs typeface="Montserrat"/>
              </a:rPr>
              <a:t>Manual slide source</a:t>
            </a:r>
          </a:p>
        </p:txBody>
      </p:sp>
      <p:sp>
        <p:nvSpPr>
          <p:cNvPr id="8" name="TextBox 7"/>
          <p:cNvSpPr txBox="1"/>
          <p:nvPr/>
        </p:nvSpPr>
        <p:spPr>
          <a:xfrm>
            <a:off x="11228784" y="6565900"/>
            <a:ext cx="472149" cy="169333"/>
          </a:xfrm>
          <a:prstGeom prst="rect">
            <a:avLst/>
          </a:prstGeom>
          <a:noFill/>
        </p:spPr>
        <p:txBody>
          <a:bodyPr wrap="none" lIns="0" rIns="0" tIns="0" bIns="0" anchor="t">
            <a:noAutofit/>
          </a:bodyPr>
          <a:lstStyle/>
          <a:p>
            <a:pPr algn="l">
              <a:lnSpc>
                <a:spcPts val="1330"/>
              </a:lnSpc>
            </a:pPr>
            <a:r>
              <a:rPr sz="930" b="1" i="0">
                <a:solidFill>
                  <a:srgbClr val="5F4B8B"/>
                </a:solidFill>
                <a:latin typeface="Montserrat"/>
                <a:ea typeface="Montserrat"/>
                <a:cs typeface="Montserrat"/>
              </a:rPr>
              <a:t>99 / 100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s-000.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491067" y="312076"/>
            <a:ext cx="1948127" cy="205581"/>
          </a:xfrm>
          <a:prstGeom prst="rect">
            <a:avLst/>
          </a:prstGeom>
          <a:noFill/>
        </p:spPr>
        <p:txBody>
          <a:bodyPr wrap="none" lIns="0" rIns="0" tIns="0" bIns="0" anchor="t">
            <a:noAutofit/>
          </a:bodyPr>
          <a:lstStyle/>
          <a:p>
            <a:pPr algn="l">
              <a:lnSpc>
                <a:spcPts val="1620"/>
              </a:lnSpc>
            </a:pPr>
            <a:r>
              <a:rPr sz="1130" b="1" i="0" cap="all" spc="113">
                <a:solidFill>
                  <a:srgbClr val="FFFFFF"/>
                </a:solidFill>
                <a:latin typeface="Montserrat"/>
                <a:ea typeface="Montserrat"/>
                <a:cs typeface="Montserrat"/>
              </a:rPr>
              <a:t>PHYS598500 · WEEK 2</a:t>
            </a:r>
          </a:p>
        </p:txBody>
      </p:sp>
      <p:sp>
        <p:nvSpPr>
          <p:cNvPr id="4" name="TextBox 3"/>
          <p:cNvSpPr txBox="1"/>
          <p:nvPr/>
        </p:nvSpPr>
        <p:spPr>
          <a:xfrm>
            <a:off x="10982325" y="324115"/>
            <a:ext cx="718608" cy="181372"/>
          </a:xfrm>
          <a:prstGeom prst="rect">
            <a:avLst/>
          </a:prstGeom>
          <a:noFill/>
        </p:spPr>
        <p:txBody>
          <a:bodyPr wrap="none" lIns="0" rIns="0" tIns="0" bIns="0" anchor="t">
            <a:noAutofit/>
          </a:bodyPr>
          <a:lstStyle/>
          <a:p>
            <a:pPr algn="l">
              <a:lnSpc>
                <a:spcPts val="1430"/>
              </a:lnSpc>
            </a:pPr>
            <a:r>
              <a:rPr sz="1000" b="1" i="0">
                <a:solidFill>
                  <a:srgbClr val="FFFFFF"/>
                </a:solidFill>
                <a:latin typeface="Montserrat"/>
                <a:ea typeface="Montserrat"/>
                <a:cs typeface="Montserrat"/>
              </a:rPr>
              <a:t>Thank you!</a:t>
            </a:r>
          </a:p>
        </p:txBody>
      </p:sp>
      <p:sp>
        <p:nvSpPr>
          <p:cNvPr id="5" name="TextBox 4"/>
          <p:cNvSpPr txBox="1"/>
          <p:nvPr/>
        </p:nvSpPr>
        <p:spPr>
          <a:xfrm>
            <a:off x="1016000" y="3046677"/>
            <a:ext cx="10160000" cy="231643"/>
          </a:xfrm>
          <a:prstGeom prst="rect">
            <a:avLst/>
          </a:prstGeom>
          <a:noFill/>
        </p:spPr>
        <p:txBody>
          <a:bodyPr wrap="none" lIns="0" rIns="0" tIns="0" bIns="0" anchor="t">
            <a:noAutofit/>
          </a:bodyPr>
          <a:lstStyle/>
          <a:p>
            <a:pPr algn="ctr">
              <a:lnSpc>
                <a:spcPts val="1820"/>
              </a:lnSpc>
            </a:pPr>
            <a:r>
              <a:rPr sz="1200" b="1" i="0" spc="144">
                <a:solidFill>
                  <a:srgbClr val="FFFFFF"/>
                </a:solidFill>
                <a:latin typeface="Montserrat"/>
                <a:ea typeface="Montserrat"/>
                <a:cs typeface="Montserrat"/>
              </a:rPr>
              <a:t>PHYS598500 · Week 2</a:t>
            </a:r>
          </a:p>
        </p:txBody>
      </p:sp>
      <p:sp>
        <p:nvSpPr>
          <p:cNvPr id="6" name="TextBox 5"/>
          <p:cNvSpPr txBox="1"/>
          <p:nvPr/>
        </p:nvSpPr>
        <p:spPr>
          <a:xfrm>
            <a:off x="1016000" y="3413786"/>
            <a:ext cx="10160000" cy="549936"/>
          </a:xfrm>
          <a:prstGeom prst="rect">
            <a:avLst/>
          </a:prstGeom>
          <a:noFill/>
        </p:spPr>
        <p:txBody>
          <a:bodyPr wrap="none" lIns="0" rIns="0" tIns="0" bIns="0" anchor="t">
            <a:noAutofit/>
          </a:bodyPr>
          <a:lstStyle/>
          <a:p>
            <a:pPr algn="ctr">
              <a:lnSpc>
                <a:spcPts val="4330"/>
              </a:lnSpc>
            </a:pPr>
            <a:r>
              <a:rPr sz="3870" b="1" i="0" spc="-97">
                <a:solidFill>
                  <a:srgbClr val="FFFFFF"/>
                </a:solidFill>
                <a:latin typeface="Montserrat"/>
                <a:ea typeface="Montserrat"/>
                <a:cs typeface="Montserrat"/>
              </a:rPr>
              <a:t>Thank you!</a:t>
            </a:r>
          </a:p>
        </p:txBody>
      </p:sp>
      <p:sp>
        <p:nvSpPr>
          <p:cNvPr id="7" name="Rectangle 6"/>
          <p:cNvSpPr/>
          <p:nvPr/>
        </p:nvSpPr>
        <p:spPr>
          <a:xfrm>
            <a:off x="491067" y="6434667"/>
            <a:ext cx="11209867" cy="8467"/>
          </a:xfrm>
          <a:prstGeom prst="rect">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91067" y="6565900"/>
            <a:ext cx="1176073" cy="169333"/>
          </a:xfrm>
          <a:prstGeom prst="rect">
            <a:avLst/>
          </a:prstGeom>
          <a:noFill/>
        </p:spPr>
        <p:txBody>
          <a:bodyPr wrap="none" lIns="0" rIns="0" tIns="0" bIns="0" anchor="t">
            <a:noAutofit/>
          </a:bodyPr>
          <a:lstStyle/>
          <a:p>
            <a:pPr algn="l">
              <a:lnSpc>
                <a:spcPts val="1330"/>
              </a:lnSpc>
            </a:pPr>
            <a:r>
              <a:rPr sz="930" b="0" i="0">
                <a:solidFill>
                  <a:srgbClr val="FFFFFF"/>
                </a:solidFill>
                <a:latin typeface="Montserrat"/>
                <a:ea typeface="Montserrat"/>
                <a:cs typeface="Montserrat"/>
              </a:rPr>
              <a:t>Manual slide source</a:t>
            </a:r>
          </a:p>
        </p:txBody>
      </p:sp>
      <p:sp>
        <p:nvSpPr>
          <p:cNvPr id="9" name="TextBox 8"/>
          <p:cNvSpPr txBox="1"/>
          <p:nvPr/>
        </p:nvSpPr>
        <p:spPr>
          <a:xfrm>
            <a:off x="11172560" y="6565900"/>
            <a:ext cx="528373" cy="169333"/>
          </a:xfrm>
          <a:prstGeom prst="rect">
            <a:avLst/>
          </a:prstGeom>
          <a:noFill/>
        </p:spPr>
        <p:txBody>
          <a:bodyPr wrap="none" lIns="0" rIns="0" tIns="0" bIns="0" anchor="t">
            <a:noAutofit/>
          </a:bodyPr>
          <a:lstStyle/>
          <a:p>
            <a:pPr algn="l">
              <a:lnSpc>
                <a:spcPts val="1330"/>
              </a:lnSpc>
            </a:pPr>
            <a:r>
              <a:rPr sz="930" b="1" i="0">
                <a:solidFill>
                  <a:srgbClr val="FFFFFF"/>
                </a:solidFill>
                <a:latin typeface="Montserrat"/>
                <a:ea typeface="Montserrat"/>
                <a:cs typeface="Montserrat"/>
              </a:rPr>
              <a:t>100 / 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